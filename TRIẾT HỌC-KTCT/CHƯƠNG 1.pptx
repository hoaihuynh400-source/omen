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7" r:id="rId3"/>
    <p:sldId id="294" r:id="rId4"/>
    <p:sldId id="260" r:id="rId5"/>
    <p:sldId id="284" r:id="rId6"/>
    <p:sldId id="285" r:id="rId7"/>
    <p:sldId id="288" r:id="rId8"/>
    <p:sldId id="262" r:id="rId9"/>
    <p:sldId id="263" r:id="rId10"/>
    <p:sldId id="287" r:id="rId11"/>
    <p:sldId id="265" r:id="rId12"/>
    <p:sldId id="266" r:id="rId13"/>
    <p:sldId id="267" r:id="rId14"/>
    <p:sldId id="270" r:id="rId15"/>
    <p:sldId id="269" r:id="rId16"/>
    <p:sldId id="271" r:id="rId17"/>
    <p:sldId id="272" r:id="rId18"/>
    <p:sldId id="289" r:id="rId19"/>
    <p:sldId id="274" r:id="rId20"/>
    <p:sldId id="276" r:id="rId21"/>
    <p:sldId id="275" r:id="rId22"/>
    <p:sldId id="290" r:id="rId23"/>
    <p:sldId id="278" r:id="rId24"/>
    <p:sldId id="279" r:id="rId25"/>
    <p:sldId id="280" r:id="rId26"/>
    <p:sldId id="281" r:id="rId27"/>
    <p:sldId id="282" r:id="rId28"/>
    <p:sldId id="283" r:id="rId29"/>
    <p:sldId id="29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76"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92EE299-CE74-4145-96DA-E5473A88F85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92EE299-CE74-4145-96DA-E5473A88F85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292EE299-CE74-4145-96DA-E5473A88F85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92EE299-CE74-4145-96DA-E5473A88F85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92EE299-CE74-4145-96DA-E5473A88F85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292EE299-CE74-4145-96DA-E5473A88F85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EE299-CE74-4145-96DA-E5473A88F85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292EE299-CE74-4145-96DA-E5473A88F85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292EE299-CE74-4145-96DA-E5473A88F85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92EE299-CE74-4145-96DA-E5473A88F85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92EE299-CE74-4145-96DA-E5473A88F85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F01E3-443B-4AE5-9AA4-0452B1BFB8B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EE299-CE74-4145-96DA-E5473A88F85F}"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F01E3-443B-4AE5-9AA4-0452B1BFB8B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mailto:(ngocbich7083@gmail.com" TargetMode="Externa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hyperlink" Target="https://hvdic.thivien.net/whv/%E5%93%B2%E5%AD%B8" TargetMode="External"/><Relationship Id="rId1" Type="http://schemas.openxmlformats.org/officeDocument/2006/relationships/hyperlink" Target="https://hvdic.thivien.net/whv/%E5%93%B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9028"/>
          </a:xfrm>
        </p:spPr>
        <p:txBody>
          <a:bodyPr>
            <a:normAutofit fontScale="90000"/>
          </a:bodyPr>
          <a:lstStyle/>
          <a:p>
            <a:pPr algn="ctr"/>
            <a:br>
              <a:rPr lang="en-US" altLang="en-US" b="1" dirty="0">
                <a:latin typeface="Times New Roman" panose="02020603050405020304" pitchFamily="18" charset="0"/>
              </a:rPr>
            </a:br>
            <a:r>
              <a:rPr lang="en-US" altLang="en-US" sz="3100" b="1" dirty="0" err="1">
                <a:solidFill>
                  <a:srgbClr val="002060"/>
                </a:solidFill>
                <a:latin typeface="Times New Roman" panose="02020603050405020304" pitchFamily="18" charset="0"/>
              </a:rPr>
              <a:t>Chương</a:t>
            </a:r>
            <a:r>
              <a:rPr lang="vi-VN" altLang="en-US" sz="3100" b="1" dirty="0">
                <a:solidFill>
                  <a:srgbClr val="002060"/>
                </a:solidFill>
              </a:rPr>
              <a:t> I</a:t>
            </a:r>
            <a:br>
              <a:rPr lang="en-US" altLang="en-US" sz="3100" b="1" dirty="0">
                <a:solidFill>
                  <a:srgbClr val="002060"/>
                </a:solidFill>
              </a:rPr>
            </a:br>
            <a:endParaRPr lang="en-US" sz="3100" dirty="0">
              <a:solidFill>
                <a:srgbClr val="002060"/>
              </a:solidFill>
            </a:endParaRPr>
          </a:p>
        </p:txBody>
      </p:sp>
      <p:sp>
        <p:nvSpPr>
          <p:cNvPr id="3" name="Content Placeholder 2"/>
          <p:cNvSpPr>
            <a:spLocks noGrp="1"/>
          </p:cNvSpPr>
          <p:nvPr>
            <p:ph idx="1"/>
          </p:nvPr>
        </p:nvSpPr>
        <p:spPr>
          <a:xfrm>
            <a:off x="838200" y="1097280"/>
            <a:ext cx="10515600" cy="5063058"/>
          </a:xfrm>
        </p:spPr>
        <p:txBody>
          <a:bodyPr>
            <a:normAutofit/>
          </a:bodyPr>
          <a:lstStyle/>
          <a:p>
            <a:pPr marL="0" indent="0" algn="ctr">
              <a:buNone/>
            </a:pPr>
            <a:r>
              <a:rPr lang="vi-VN" altLang="en-US" sz="2000" b="1" dirty="0">
                <a:solidFill>
                  <a:srgbClr val="FF0000"/>
                </a:solidFill>
                <a:latin typeface="+mj-lt"/>
              </a:rPr>
              <a:t>TRIẾT HỌC VÀ VAI TRÒ CỦA TRIẾT HỌC TRONG ĐỜI SỐNG XÃ HỘI</a:t>
            </a:r>
            <a:br>
              <a:rPr lang="en-US" altLang="en-US" sz="2000" b="1" dirty="0">
                <a:solidFill>
                  <a:srgbClr val="FF0000"/>
                </a:solidFill>
                <a:latin typeface="+mj-lt"/>
              </a:rPr>
            </a:br>
            <a:endParaRPr lang="en-US" sz="2000" dirty="0">
              <a:solidFill>
                <a:srgbClr val="FF0000"/>
              </a:solidFill>
              <a:latin typeface="+mj-lt"/>
              <a:cs typeface="Times New Roman" panose="02020603050405020304" pitchFamily="18" charset="0"/>
            </a:endParaRPr>
          </a:p>
        </p:txBody>
      </p:sp>
      <p:sp>
        <p:nvSpPr>
          <p:cNvPr id="4" name="Rectangle: Rounded Corners 3"/>
          <p:cNvSpPr/>
          <p:nvPr/>
        </p:nvSpPr>
        <p:spPr>
          <a:xfrm>
            <a:off x="1529542" y="2072640"/>
            <a:ext cx="1762298" cy="1117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002060"/>
                </a:solidFill>
                <a:latin typeface="Times New Roman" panose="02020603050405020304" pitchFamily="18" charset="0"/>
              </a:rPr>
              <a:t>I. </a:t>
            </a:r>
            <a:r>
              <a:rPr lang="vi-VN" altLang="en-US" sz="1600" b="1" dirty="0">
                <a:solidFill>
                  <a:srgbClr val="002060"/>
                </a:solidFill>
                <a:latin typeface="+mj-lt"/>
              </a:rPr>
              <a:t>TRIẾT </a:t>
            </a:r>
            <a:r>
              <a:rPr lang="vi-VN" altLang="en-US" sz="1600" b="1" dirty="0">
                <a:solidFill>
                  <a:srgbClr val="002060"/>
                </a:solidFill>
                <a:latin typeface="+mj-lt"/>
                <a:cs typeface="Times New Roman" panose="02020603050405020304" pitchFamily="18" charset="0"/>
              </a:rPr>
              <a:t>HỌC VÀ VẤN ĐỀ CƠ BẢN CỦA TRIẾT </a:t>
            </a:r>
            <a:r>
              <a:rPr lang="vi-VN" altLang="en-US" sz="1600" b="1" dirty="0">
                <a:solidFill>
                  <a:srgbClr val="002060"/>
                </a:solidFill>
                <a:latin typeface="+mj-lt"/>
              </a:rPr>
              <a:t>HỌC</a:t>
            </a:r>
            <a:endParaRPr lang="en-US" sz="1600" dirty="0">
              <a:solidFill>
                <a:srgbClr val="002060"/>
              </a:solidFill>
              <a:latin typeface="+mj-lt"/>
              <a:cs typeface="Times New Roman" panose="02020603050405020304" pitchFamily="18" charset="0"/>
            </a:endParaRPr>
          </a:p>
        </p:txBody>
      </p:sp>
      <p:sp>
        <p:nvSpPr>
          <p:cNvPr id="5" name="Rectangle: Rounded Corners 4"/>
          <p:cNvSpPr/>
          <p:nvPr/>
        </p:nvSpPr>
        <p:spPr>
          <a:xfrm>
            <a:off x="3891280" y="1920240"/>
            <a:ext cx="2844800" cy="4165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en-US" b="1" i="1" dirty="0">
                <a:solidFill>
                  <a:srgbClr val="002060"/>
                </a:solidFill>
                <a:latin typeface="Times New Roman" panose="02020603050405020304" pitchFamily="18" charset="0"/>
                <a:cs typeface="Times New Roman" panose="02020603050405020304" pitchFamily="18" charset="0"/>
              </a:rPr>
              <a:t>1. </a:t>
            </a:r>
            <a:r>
              <a:rPr lang="vi-VN" altLang="en-US" b="1" i="1" dirty="0">
                <a:solidFill>
                  <a:srgbClr val="002060"/>
                </a:solidFill>
                <a:latin typeface="Times New Roman" panose="02020603050405020304" pitchFamily="18" charset="0"/>
                <a:cs typeface="Times New Roman" panose="02020603050405020304" pitchFamily="18" charset="0"/>
              </a:rPr>
              <a:t>Khái lược về triết học</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3891280" y="2419926"/>
            <a:ext cx="2844800" cy="4165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tLang="en-US" b="1" i="1" dirty="0">
              <a:solidFill>
                <a:srgbClr val="002060"/>
              </a:solidFill>
              <a:latin typeface="Times New Roman" panose="02020603050405020304" pitchFamily="18" charset="0"/>
              <a:cs typeface="Times New Roman" panose="02020603050405020304" pitchFamily="18" charset="0"/>
            </a:endParaRPr>
          </a:p>
          <a:p>
            <a:pPr algn="just"/>
            <a:r>
              <a:rPr lang="en-US" altLang="en-US" b="1" i="1" dirty="0">
                <a:solidFill>
                  <a:srgbClr val="002060"/>
                </a:solidFill>
                <a:latin typeface="Times New Roman" panose="02020603050405020304" pitchFamily="18" charset="0"/>
                <a:cs typeface="Times New Roman" panose="02020603050405020304" pitchFamily="18" charset="0"/>
              </a:rPr>
              <a:t>2.  </a:t>
            </a:r>
            <a:r>
              <a:rPr lang="vi-VN" altLang="en-US" b="1" i="1" dirty="0">
                <a:solidFill>
                  <a:srgbClr val="002060"/>
                </a:solidFill>
                <a:latin typeface="Times New Roman" panose="02020603050405020304" pitchFamily="18" charset="0"/>
                <a:cs typeface="Times New Roman" panose="02020603050405020304" pitchFamily="18" charset="0"/>
              </a:rPr>
              <a:t>Vấn đề cơ bản của triết </a:t>
            </a:r>
            <a:r>
              <a:rPr lang="vi-VN" altLang="en-US" b="1" i="1" dirty="0"/>
              <a:t>học</a:t>
            </a:r>
            <a:endParaRPr lang="en-US"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891280" y="2919612"/>
            <a:ext cx="2844800" cy="4165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tLang="en-US" b="1" i="1" dirty="0">
                <a:solidFill>
                  <a:srgbClr val="002060"/>
                </a:solidFill>
                <a:latin typeface="Times New Roman" panose="02020603050405020304" pitchFamily="18" charset="0"/>
                <a:cs typeface="Times New Roman" panose="02020603050405020304" pitchFamily="18" charset="0"/>
              </a:rPr>
              <a:t>3. Biện chứng và siêu hình</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1529542" y="3921760"/>
            <a:ext cx="1762298" cy="1676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b="1" dirty="0">
                <a:solidFill>
                  <a:srgbClr val="002060"/>
                </a:solidFill>
                <a:latin typeface="Times New Roman" panose="02020603050405020304" pitchFamily="18" charset="0"/>
                <a:cs typeface="Times New Roman" panose="02020603050405020304" pitchFamily="18" charset="0"/>
              </a:rPr>
              <a:t>II. </a:t>
            </a:r>
            <a:r>
              <a:rPr lang="vi-VN" altLang="en-US" sz="1400" b="1" dirty="0">
                <a:solidFill>
                  <a:srgbClr val="002060"/>
                </a:solidFill>
                <a:latin typeface="Times New Roman" panose="02020603050405020304" pitchFamily="18" charset="0"/>
                <a:cs typeface="Times New Roman" panose="02020603050405020304" pitchFamily="18" charset="0"/>
              </a:rPr>
              <a:t>TRIẾT HỌC VÀ VẤN ĐỀ CƠ BẢN CỦA TRIẾT HỌC IẾT HỌC VÀ VẤN ĐỀ CƠ BẢN CỦA TRIẾT HỌC</a:t>
            </a:r>
            <a:endParaRPr lang="en-US" sz="1400" dirty="0">
              <a:solidFill>
                <a:srgbClr val="002060"/>
              </a:solidFill>
              <a:latin typeface="Times New Roman" panose="02020603050405020304" pitchFamily="18" charset="0"/>
              <a:cs typeface="Times New Roman" panose="02020603050405020304" pitchFamily="18" charset="0"/>
            </a:endParaRPr>
          </a:p>
        </p:txBody>
      </p:sp>
      <p:sp>
        <p:nvSpPr>
          <p:cNvPr id="9" name="Rectangle: Rounded Corners 8"/>
          <p:cNvSpPr/>
          <p:nvPr/>
        </p:nvSpPr>
        <p:spPr>
          <a:xfrm>
            <a:off x="3891280" y="3660379"/>
            <a:ext cx="5090160" cy="5661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en-US" sz="1600" b="1" i="1" dirty="0">
                <a:solidFill>
                  <a:srgbClr val="002060"/>
                </a:solidFill>
                <a:latin typeface="Times New Roman" panose="02020603050405020304" pitchFamily="18" charset="0"/>
              </a:rPr>
              <a:t>1. </a:t>
            </a:r>
            <a:r>
              <a:rPr lang="vi-VN" altLang="en-US" b="1" i="1" dirty="0">
                <a:solidFill>
                  <a:srgbClr val="002060"/>
                </a:solidFill>
                <a:latin typeface="Times New Roman" panose="02020603050405020304" pitchFamily="18" charset="0"/>
                <a:cs typeface="Times New Roman" panose="02020603050405020304" pitchFamily="18" charset="0"/>
              </a:rPr>
              <a:t>Sự ra đời và phát triển của triết học Mac – Lênin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0" name="Rectangle: Rounded Corners 9"/>
          <p:cNvSpPr/>
          <p:nvPr/>
        </p:nvSpPr>
        <p:spPr>
          <a:xfrm>
            <a:off x="3891280" y="4381739"/>
            <a:ext cx="5303520" cy="5661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en-US" b="1" i="1" dirty="0">
                <a:solidFill>
                  <a:srgbClr val="002060"/>
                </a:solidFill>
                <a:latin typeface="Times New Roman" panose="02020603050405020304" pitchFamily="18" charset="0"/>
              </a:rPr>
              <a:t>2</a:t>
            </a:r>
            <a:r>
              <a:rPr lang="en-US" altLang="en-US" b="1" i="1" dirty="0">
                <a:solidFill>
                  <a:srgbClr val="002060"/>
                </a:solidFill>
                <a:latin typeface="Times New Roman" panose="02020603050405020304" pitchFamily="18" charset="0"/>
                <a:cs typeface="Times New Roman" panose="02020603050405020304" pitchFamily="18" charset="0"/>
              </a:rPr>
              <a:t>. </a:t>
            </a:r>
            <a:r>
              <a:rPr lang="vi-VN" altLang="en-US" b="1" i="1" dirty="0">
                <a:solidFill>
                  <a:srgbClr val="002060"/>
                </a:solidFill>
                <a:latin typeface="Times New Roman" panose="02020603050405020304" pitchFamily="18" charset="0"/>
                <a:cs typeface="Times New Roman" panose="02020603050405020304" pitchFamily="18" charset="0"/>
              </a:rPr>
              <a:t>Đối tượng và chức năng của triết học Mac – Lênin</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11" name="Rectangle: Rounded Corners 10"/>
          <p:cNvSpPr/>
          <p:nvPr/>
        </p:nvSpPr>
        <p:spPr>
          <a:xfrm>
            <a:off x="3891280" y="5194539"/>
            <a:ext cx="6771178" cy="5661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vi-VN" altLang="en-US" sz="2000" b="1" i="1" dirty="0">
                <a:solidFill>
                  <a:srgbClr val="002060"/>
                </a:solidFill>
                <a:latin typeface="+mj-lt"/>
              </a:rPr>
              <a:t>3</a:t>
            </a:r>
            <a:r>
              <a:rPr lang="vi-VN" altLang="en-US" sz="2000" b="1" i="1" dirty="0">
                <a:solidFill>
                  <a:srgbClr val="002060"/>
                </a:solidFill>
                <a:latin typeface="+mj-lt"/>
                <a:cs typeface="Times New Roman" panose="02020603050405020304" pitchFamily="18" charset="0"/>
              </a:rPr>
              <a:t>. Vai trò của </a:t>
            </a:r>
            <a:r>
              <a:rPr lang="vi-VN" altLang="en-US" b="1" i="1" dirty="0">
                <a:solidFill>
                  <a:srgbClr val="002060"/>
                </a:solidFill>
                <a:latin typeface="+mj-lt"/>
                <a:cs typeface="Times New Roman" panose="02020603050405020304" pitchFamily="18" charset="0"/>
              </a:rPr>
              <a:t>triết học Mac – Lênin xã hội và trong sự nghiệp đổi mới ở Việt Nam hiện nay</a:t>
            </a:r>
            <a:endParaRPr lang="en-US" dirty="0">
              <a:solidFill>
                <a:srgbClr val="002060"/>
              </a:solidFill>
              <a:latin typeface="+mj-lt"/>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984" y="895103"/>
            <a:ext cx="3604930" cy="442511"/>
          </a:xfrm>
          <a:prstGeom prst="rect">
            <a:avLst/>
          </a:prstGeom>
        </p:spPr>
        <p:txBody>
          <a:bodyPr vert="horz" wrap="square" lIns="0" tIns="8145" rIns="0" bIns="0" rtlCol="0" anchor="ctr">
            <a:spAutoFit/>
          </a:bodyPr>
          <a:lstStyle/>
          <a:p>
            <a:pPr marL="8255">
              <a:lnSpc>
                <a:spcPct val="100000"/>
              </a:lnSpc>
              <a:spcBef>
                <a:spcPts val="65"/>
              </a:spcBef>
            </a:pPr>
            <a:r>
              <a:rPr sz="2820" dirty="0">
                <a:latin typeface="Times New Roman" panose="02020603050405020304"/>
                <a:cs typeface="Times New Roman" panose="02020603050405020304"/>
              </a:rPr>
              <a:t>1.</a:t>
            </a:r>
            <a:r>
              <a:rPr sz="2820" spc="-32" dirty="0">
                <a:latin typeface="Times New Roman" panose="02020603050405020304"/>
                <a:cs typeface="Times New Roman" panose="02020603050405020304"/>
              </a:rPr>
              <a:t> </a:t>
            </a:r>
            <a:r>
              <a:rPr sz="2820" dirty="0">
                <a:latin typeface="Times New Roman" panose="02020603050405020304"/>
                <a:cs typeface="Times New Roman" panose="02020603050405020304"/>
              </a:rPr>
              <a:t>Khái</a:t>
            </a:r>
            <a:r>
              <a:rPr sz="2820" spc="-51" dirty="0">
                <a:latin typeface="Times New Roman" panose="02020603050405020304"/>
                <a:cs typeface="Times New Roman" panose="02020603050405020304"/>
              </a:rPr>
              <a:t> </a:t>
            </a:r>
            <a:r>
              <a:rPr sz="2820" dirty="0">
                <a:latin typeface="Times New Roman" panose="02020603050405020304"/>
                <a:cs typeface="Times New Roman" panose="02020603050405020304"/>
              </a:rPr>
              <a:t>lược</a:t>
            </a:r>
            <a:r>
              <a:rPr sz="2820" spc="-42" dirty="0">
                <a:latin typeface="Times New Roman" panose="02020603050405020304"/>
                <a:cs typeface="Times New Roman" panose="02020603050405020304"/>
              </a:rPr>
              <a:t> </a:t>
            </a:r>
            <a:r>
              <a:rPr sz="2820" dirty="0">
                <a:latin typeface="Times New Roman" panose="02020603050405020304"/>
                <a:cs typeface="Times New Roman" panose="02020603050405020304"/>
              </a:rPr>
              <a:t>về</a:t>
            </a:r>
            <a:r>
              <a:rPr sz="2820" spc="-64" dirty="0">
                <a:latin typeface="Times New Roman" panose="02020603050405020304"/>
                <a:cs typeface="Times New Roman" panose="02020603050405020304"/>
              </a:rPr>
              <a:t> </a:t>
            </a:r>
            <a:r>
              <a:rPr sz="2820" dirty="0">
                <a:latin typeface="Times New Roman" panose="02020603050405020304"/>
                <a:cs typeface="Times New Roman" panose="02020603050405020304"/>
              </a:rPr>
              <a:t>Triết</a:t>
            </a:r>
            <a:r>
              <a:rPr sz="2820" spc="-51" dirty="0">
                <a:latin typeface="Times New Roman" panose="02020603050405020304"/>
                <a:cs typeface="Times New Roman" panose="02020603050405020304"/>
              </a:rPr>
              <a:t> </a:t>
            </a:r>
            <a:r>
              <a:rPr sz="2820" spc="-16" dirty="0">
                <a:latin typeface="Times New Roman" panose="02020603050405020304"/>
                <a:cs typeface="Times New Roman" panose="02020603050405020304"/>
              </a:rPr>
              <a:t>học</a:t>
            </a:r>
            <a:endParaRPr sz="2820">
              <a:latin typeface="Times New Roman" panose="02020603050405020304"/>
              <a:cs typeface="Times New Roman" panose="02020603050405020304"/>
            </a:endParaRPr>
          </a:p>
        </p:txBody>
      </p:sp>
      <p:grpSp>
        <p:nvGrpSpPr>
          <p:cNvPr id="4" name="object 4"/>
          <p:cNvGrpSpPr/>
          <p:nvPr/>
        </p:nvGrpSpPr>
        <p:grpSpPr>
          <a:xfrm>
            <a:off x="3449236" y="1471945"/>
            <a:ext cx="5367891" cy="527789"/>
            <a:chOff x="902208" y="2295144"/>
            <a:chExt cx="8369934" cy="822960"/>
          </a:xfrm>
        </p:grpSpPr>
        <p:sp>
          <p:nvSpPr>
            <p:cNvPr id="5" name="object 5"/>
            <p:cNvSpPr/>
            <p:nvPr/>
          </p:nvSpPr>
          <p:spPr>
            <a:xfrm>
              <a:off x="902208" y="2311908"/>
              <a:ext cx="8369934" cy="706120"/>
            </a:xfrm>
            <a:custGeom>
              <a:avLst/>
              <a:gdLst/>
              <a:ahLst/>
              <a:cxnLst/>
              <a:rect l="l" t="t" r="r" b="b"/>
              <a:pathLst>
                <a:path w="8369934" h="706119">
                  <a:moveTo>
                    <a:pt x="8363712" y="705612"/>
                  </a:moveTo>
                  <a:lnTo>
                    <a:pt x="6096" y="705612"/>
                  </a:lnTo>
                  <a:lnTo>
                    <a:pt x="0" y="699516"/>
                  </a:lnTo>
                  <a:lnTo>
                    <a:pt x="0" y="6096"/>
                  </a:lnTo>
                  <a:lnTo>
                    <a:pt x="6096" y="0"/>
                  </a:lnTo>
                  <a:lnTo>
                    <a:pt x="8363712" y="0"/>
                  </a:lnTo>
                  <a:lnTo>
                    <a:pt x="8369808" y="6096"/>
                  </a:lnTo>
                  <a:lnTo>
                    <a:pt x="8369808" y="12192"/>
                  </a:lnTo>
                  <a:lnTo>
                    <a:pt x="25908" y="12192"/>
                  </a:lnTo>
                  <a:lnTo>
                    <a:pt x="12192" y="24384"/>
                  </a:lnTo>
                  <a:lnTo>
                    <a:pt x="25908" y="24384"/>
                  </a:lnTo>
                  <a:lnTo>
                    <a:pt x="25908" y="679704"/>
                  </a:lnTo>
                  <a:lnTo>
                    <a:pt x="12192" y="679704"/>
                  </a:lnTo>
                  <a:lnTo>
                    <a:pt x="25908" y="693420"/>
                  </a:lnTo>
                  <a:lnTo>
                    <a:pt x="8369808" y="693420"/>
                  </a:lnTo>
                  <a:lnTo>
                    <a:pt x="8369808" y="699516"/>
                  </a:lnTo>
                  <a:lnTo>
                    <a:pt x="8363712" y="705612"/>
                  </a:lnTo>
                  <a:close/>
                </a:path>
                <a:path w="8369934" h="706119">
                  <a:moveTo>
                    <a:pt x="25908" y="24384"/>
                  </a:moveTo>
                  <a:lnTo>
                    <a:pt x="12192" y="24384"/>
                  </a:lnTo>
                  <a:lnTo>
                    <a:pt x="25908" y="12192"/>
                  </a:lnTo>
                  <a:lnTo>
                    <a:pt x="25908" y="24384"/>
                  </a:lnTo>
                  <a:close/>
                </a:path>
                <a:path w="8369934" h="706119">
                  <a:moveTo>
                    <a:pt x="8343900" y="24384"/>
                  </a:moveTo>
                  <a:lnTo>
                    <a:pt x="25908" y="24384"/>
                  </a:lnTo>
                  <a:lnTo>
                    <a:pt x="25908" y="12192"/>
                  </a:lnTo>
                  <a:lnTo>
                    <a:pt x="8343900" y="12192"/>
                  </a:lnTo>
                  <a:lnTo>
                    <a:pt x="8343900" y="24384"/>
                  </a:lnTo>
                  <a:close/>
                </a:path>
                <a:path w="8369934" h="706119">
                  <a:moveTo>
                    <a:pt x="8343900" y="693420"/>
                  </a:moveTo>
                  <a:lnTo>
                    <a:pt x="8343900" y="12192"/>
                  </a:lnTo>
                  <a:lnTo>
                    <a:pt x="8356092" y="24384"/>
                  </a:lnTo>
                  <a:lnTo>
                    <a:pt x="8369808" y="24384"/>
                  </a:lnTo>
                  <a:lnTo>
                    <a:pt x="8369808" y="679704"/>
                  </a:lnTo>
                  <a:lnTo>
                    <a:pt x="8356092" y="679704"/>
                  </a:lnTo>
                  <a:lnTo>
                    <a:pt x="8343900" y="693420"/>
                  </a:lnTo>
                  <a:close/>
                </a:path>
                <a:path w="8369934" h="706119">
                  <a:moveTo>
                    <a:pt x="8369808" y="24384"/>
                  </a:moveTo>
                  <a:lnTo>
                    <a:pt x="8356092" y="24384"/>
                  </a:lnTo>
                  <a:lnTo>
                    <a:pt x="8343900" y="12192"/>
                  </a:lnTo>
                  <a:lnTo>
                    <a:pt x="8369808" y="12192"/>
                  </a:lnTo>
                  <a:lnTo>
                    <a:pt x="8369808" y="24384"/>
                  </a:lnTo>
                  <a:close/>
                </a:path>
                <a:path w="8369934" h="706119">
                  <a:moveTo>
                    <a:pt x="25908" y="693420"/>
                  </a:moveTo>
                  <a:lnTo>
                    <a:pt x="12192" y="679704"/>
                  </a:lnTo>
                  <a:lnTo>
                    <a:pt x="25908" y="679704"/>
                  </a:lnTo>
                  <a:lnTo>
                    <a:pt x="25908" y="693420"/>
                  </a:lnTo>
                  <a:close/>
                </a:path>
                <a:path w="8369934" h="706119">
                  <a:moveTo>
                    <a:pt x="8343900" y="693420"/>
                  </a:moveTo>
                  <a:lnTo>
                    <a:pt x="25908" y="693420"/>
                  </a:lnTo>
                  <a:lnTo>
                    <a:pt x="25908" y="679704"/>
                  </a:lnTo>
                  <a:lnTo>
                    <a:pt x="8343900" y="679704"/>
                  </a:lnTo>
                  <a:lnTo>
                    <a:pt x="8343900" y="693420"/>
                  </a:lnTo>
                  <a:close/>
                </a:path>
                <a:path w="8369934" h="706119">
                  <a:moveTo>
                    <a:pt x="8369808" y="693420"/>
                  </a:moveTo>
                  <a:lnTo>
                    <a:pt x="8343900" y="693420"/>
                  </a:lnTo>
                  <a:lnTo>
                    <a:pt x="8356092" y="679704"/>
                  </a:lnTo>
                  <a:lnTo>
                    <a:pt x="8369808" y="679704"/>
                  </a:lnTo>
                  <a:lnTo>
                    <a:pt x="8369808" y="693420"/>
                  </a:lnTo>
                  <a:close/>
                </a:path>
              </a:pathLst>
            </a:custGeom>
            <a:solidFill>
              <a:srgbClr val="4F80BC"/>
            </a:solidFill>
          </p:spPr>
          <p:txBody>
            <a:bodyPr wrap="square" lIns="0" tIns="0" rIns="0" bIns="0" rtlCol="0"/>
            <a:lstStyle/>
            <a:p>
              <a:endParaRPr sz="1155"/>
            </a:p>
          </p:txBody>
        </p:sp>
        <p:sp>
          <p:nvSpPr>
            <p:cNvPr id="6" name="object 6"/>
            <p:cNvSpPr/>
            <p:nvPr/>
          </p:nvSpPr>
          <p:spPr>
            <a:xfrm>
              <a:off x="1127760" y="2307336"/>
              <a:ext cx="5840095" cy="797560"/>
            </a:xfrm>
            <a:custGeom>
              <a:avLst/>
              <a:gdLst/>
              <a:ahLst/>
              <a:cxnLst/>
              <a:rect l="l" t="t" r="r" b="b"/>
              <a:pathLst>
                <a:path w="5840095" h="797560">
                  <a:moveTo>
                    <a:pt x="5707380" y="797052"/>
                  </a:moveTo>
                  <a:lnTo>
                    <a:pt x="132588" y="797052"/>
                  </a:lnTo>
                  <a:lnTo>
                    <a:pt x="90708" y="790285"/>
                  </a:lnTo>
                  <a:lnTo>
                    <a:pt x="54315" y="771448"/>
                  </a:lnTo>
                  <a:lnTo>
                    <a:pt x="25603" y="742736"/>
                  </a:lnTo>
                  <a:lnTo>
                    <a:pt x="6766" y="706343"/>
                  </a:lnTo>
                  <a:lnTo>
                    <a:pt x="0" y="664464"/>
                  </a:lnTo>
                  <a:lnTo>
                    <a:pt x="0" y="134112"/>
                  </a:lnTo>
                  <a:lnTo>
                    <a:pt x="6766" y="91488"/>
                  </a:lnTo>
                  <a:lnTo>
                    <a:pt x="25603" y="54644"/>
                  </a:lnTo>
                  <a:lnTo>
                    <a:pt x="54315" y="25700"/>
                  </a:lnTo>
                  <a:lnTo>
                    <a:pt x="90708" y="6778"/>
                  </a:lnTo>
                  <a:lnTo>
                    <a:pt x="132588" y="0"/>
                  </a:lnTo>
                  <a:lnTo>
                    <a:pt x="5707380" y="0"/>
                  </a:lnTo>
                  <a:lnTo>
                    <a:pt x="5749259" y="6778"/>
                  </a:lnTo>
                  <a:lnTo>
                    <a:pt x="5785652" y="25700"/>
                  </a:lnTo>
                  <a:lnTo>
                    <a:pt x="5814364" y="54644"/>
                  </a:lnTo>
                  <a:lnTo>
                    <a:pt x="5833201" y="91488"/>
                  </a:lnTo>
                  <a:lnTo>
                    <a:pt x="5839968" y="134112"/>
                  </a:lnTo>
                  <a:lnTo>
                    <a:pt x="5839968" y="664464"/>
                  </a:lnTo>
                  <a:lnTo>
                    <a:pt x="5833201" y="706343"/>
                  </a:lnTo>
                  <a:lnTo>
                    <a:pt x="5814364" y="742736"/>
                  </a:lnTo>
                  <a:lnTo>
                    <a:pt x="5785652" y="771448"/>
                  </a:lnTo>
                  <a:lnTo>
                    <a:pt x="5749259" y="790285"/>
                  </a:lnTo>
                  <a:lnTo>
                    <a:pt x="5707380" y="797052"/>
                  </a:lnTo>
                  <a:close/>
                </a:path>
              </a:pathLst>
            </a:custGeom>
            <a:solidFill>
              <a:srgbClr val="FFFFFF"/>
            </a:solidFill>
          </p:spPr>
          <p:txBody>
            <a:bodyPr wrap="square" lIns="0" tIns="0" rIns="0" bIns="0" rtlCol="0"/>
            <a:lstStyle/>
            <a:p>
              <a:endParaRPr sz="1155"/>
            </a:p>
          </p:txBody>
        </p:sp>
        <p:sp>
          <p:nvSpPr>
            <p:cNvPr id="7" name="object 7"/>
            <p:cNvSpPr/>
            <p:nvPr/>
          </p:nvSpPr>
          <p:spPr>
            <a:xfrm>
              <a:off x="1115568" y="2295144"/>
              <a:ext cx="5866130" cy="822960"/>
            </a:xfrm>
            <a:custGeom>
              <a:avLst/>
              <a:gdLst/>
              <a:ahLst/>
              <a:cxnLst/>
              <a:rect l="l" t="t" r="r" b="b"/>
              <a:pathLst>
                <a:path w="5866130" h="822960">
                  <a:moveTo>
                    <a:pt x="5721096" y="822960"/>
                  </a:moveTo>
                  <a:lnTo>
                    <a:pt x="144780" y="822960"/>
                  </a:lnTo>
                  <a:lnTo>
                    <a:pt x="131064" y="821436"/>
                  </a:lnTo>
                  <a:lnTo>
                    <a:pt x="115824" y="819912"/>
                  </a:lnTo>
                  <a:lnTo>
                    <a:pt x="64008" y="798576"/>
                  </a:lnTo>
                  <a:lnTo>
                    <a:pt x="24384" y="758952"/>
                  </a:lnTo>
                  <a:lnTo>
                    <a:pt x="6096" y="720852"/>
                  </a:lnTo>
                  <a:lnTo>
                    <a:pt x="0" y="691896"/>
                  </a:lnTo>
                  <a:lnTo>
                    <a:pt x="0" y="131064"/>
                  </a:lnTo>
                  <a:lnTo>
                    <a:pt x="1524" y="117348"/>
                  </a:lnTo>
                  <a:lnTo>
                    <a:pt x="10668" y="89916"/>
                  </a:lnTo>
                  <a:lnTo>
                    <a:pt x="16764" y="76200"/>
                  </a:lnTo>
                  <a:lnTo>
                    <a:pt x="24384" y="65532"/>
                  </a:lnTo>
                  <a:lnTo>
                    <a:pt x="32004" y="53340"/>
                  </a:lnTo>
                  <a:lnTo>
                    <a:pt x="62484" y="25908"/>
                  </a:lnTo>
                  <a:lnTo>
                    <a:pt x="100584" y="7620"/>
                  </a:lnTo>
                  <a:lnTo>
                    <a:pt x="144780" y="0"/>
                  </a:lnTo>
                  <a:lnTo>
                    <a:pt x="5719572" y="0"/>
                  </a:lnTo>
                  <a:lnTo>
                    <a:pt x="5762244" y="6096"/>
                  </a:lnTo>
                  <a:lnTo>
                    <a:pt x="5800344" y="24384"/>
                  </a:lnTo>
                  <a:lnTo>
                    <a:pt x="5802376" y="25908"/>
                  </a:lnTo>
                  <a:lnTo>
                    <a:pt x="132588" y="25908"/>
                  </a:lnTo>
                  <a:lnTo>
                    <a:pt x="121920" y="27432"/>
                  </a:lnTo>
                  <a:lnTo>
                    <a:pt x="77724" y="45720"/>
                  </a:lnTo>
                  <a:lnTo>
                    <a:pt x="60960" y="60960"/>
                  </a:lnTo>
                  <a:lnTo>
                    <a:pt x="53340" y="68580"/>
                  </a:lnTo>
                  <a:lnTo>
                    <a:pt x="30480" y="109728"/>
                  </a:lnTo>
                  <a:lnTo>
                    <a:pt x="24384" y="146304"/>
                  </a:lnTo>
                  <a:lnTo>
                    <a:pt x="24384" y="676656"/>
                  </a:lnTo>
                  <a:lnTo>
                    <a:pt x="27432" y="701040"/>
                  </a:lnTo>
                  <a:lnTo>
                    <a:pt x="30480" y="711708"/>
                  </a:lnTo>
                  <a:lnTo>
                    <a:pt x="33528" y="723900"/>
                  </a:lnTo>
                  <a:lnTo>
                    <a:pt x="39624" y="733044"/>
                  </a:lnTo>
                  <a:lnTo>
                    <a:pt x="44196" y="743712"/>
                  </a:lnTo>
                  <a:lnTo>
                    <a:pt x="59436" y="762000"/>
                  </a:lnTo>
                  <a:lnTo>
                    <a:pt x="97536" y="787908"/>
                  </a:lnTo>
                  <a:lnTo>
                    <a:pt x="132588" y="797052"/>
                  </a:lnTo>
                  <a:lnTo>
                    <a:pt x="5801868" y="797052"/>
                  </a:lnTo>
                  <a:lnTo>
                    <a:pt x="5789676" y="804672"/>
                  </a:lnTo>
                  <a:lnTo>
                    <a:pt x="5777484" y="810768"/>
                  </a:lnTo>
                  <a:lnTo>
                    <a:pt x="5750052" y="819912"/>
                  </a:lnTo>
                  <a:lnTo>
                    <a:pt x="5734812" y="821436"/>
                  </a:lnTo>
                  <a:lnTo>
                    <a:pt x="5721096" y="822960"/>
                  </a:lnTo>
                  <a:close/>
                </a:path>
                <a:path w="5866130" h="822960">
                  <a:moveTo>
                    <a:pt x="5801868" y="797052"/>
                  </a:moveTo>
                  <a:lnTo>
                    <a:pt x="5731764" y="797052"/>
                  </a:lnTo>
                  <a:lnTo>
                    <a:pt x="5743956" y="795528"/>
                  </a:lnTo>
                  <a:lnTo>
                    <a:pt x="5754624" y="792480"/>
                  </a:lnTo>
                  <a:lnTo>
                    <a:pt x="5804916" y="762000"/>
                  </a:lnTo>
                  <a:lnTo>
                    <a:pt x="5830824" y="723900"/>
                  </a:lnTo>
                  <a:lnTo>
                    <a:pt x="5839968" y="690372"/>
                  </a:lnTo>
                  <a:lnTo>
                    <a:pt x="5839968" y="134112"/>
                  </a:lnTo>
                  <a:lnTo>
                    <a:pt x="5826252" y="88392"/>
                  </a:lnTo>
                  <a:lnTo>
                    <a:pt x="5797296" y="53340"/>
                  </a:lnTo>
                  <a:lnTo>
                    <a:pt x="5756148" y="30480"/>
                  </a:lnTo>
                  <a:lnTo>
                    <a:pt x="5733288" y="25908"/>
                  </a:lnTo>
                  <a:lnTo>
                    <a:pt x="5802376" y="25908"/>
                  </a:lnTo>
                  <a:lnTo>
                    <a:pt x="5832348" y="51816"/>
                  </a:lnTo>
                  <a:lnTo>
                    <a:pt x="5853684" y="88392"/>
                  </a:lnTo>
                  <a:lnTo>
                    <a:pt x="5864352" y="129540"/>
                  </a:lnTo>
                  <a:lnTo>
                    <a:pt x="5865876" y="144780"/>
                  </a:lnTo>
                  <a:lnTo>
                    <a:pt x="5865876" y="676656"/>
                  </a:lnTo>
                  <a:lnTo>
                    <a:pt x="5859780" y="719328"/>
                  </a:lnTo>
                  <a:lnTo>
                    <a:pt x="5841492" y="757428"/>
                  </a:lnTo>
                  <a:lnTo>
                    <a:pt x="5812536" y="789432"/>
                  </a:lnTo>
                  <a:lnTo>
                    <a:pt x="5801868" y="797052"/>
                  </a:lnTo>
                  <a:close/>
                </a:path>
              </a:pathLst>
            </a:custGeom>
            <a:solidFill>
              <a:srgbClr val="4F80BC"/>
            </a:solidFill>
          </p:spPr>
          <p:txBody>
            <a:bodyPr wrap="square" lIns="0" tIns="0" rIns="0" bIns="0" rtlCol="0"/>
            <a:lstStyle/>
            <a:p>
              <a:endParaRPr sz="1155"/>
            </a:p>
          </p:txBody>
        </p:sp>
      </p:grpSp>
      <p:grpSp>
        <p:nvGrpSpPr>
          <p:cNvPr id="8" name="object 8"/>
          <p:cNvGrpSpPr/>
          <p:nvPr/>
        </p:nvGrpSpPr>
        <p:grpSpPr>
          <a:xfrm>
            <a:off x="3449236" y="2248967"/>
            <a:ext cx="5367891" cy="526975"/>
            <a:chOff x="902208" y="3506723"/>
            <a:chExt cx="8369934" cy="821690"/>
          </a:xfrm>
        </p:grpSpPr>
        <p:sp>
          <p:nvSpPr>
            <p:cNvPr id="9" name="object 9"/>
            <p:cNvSpPr/>
            <p:nvPr/>
          </p:nvSpPr>
          <p:spPr>
            <a:xfrm>
              <a:off x="902208" y="3535679"/>
              <a:ext cx="8369934" cy="707390"/>
            </a:xfrm>
            <a:custGeom>
              <a:avLst/>
              <a:gdLst/>
              <a:ahLst/>
              <a:cxnLst/>
              <a:rect l="l" t="t" r="r" b="b"/>
              <a:pathLst>
                <a:path w="8369934" h="707389">
                  <a:moveTo>
                    <a:pt x="8363712" y="707136"/>
                  </a:moveTo>
                  <a:lnTo>
                    <a:pt x="6096" y="707136"/>
                  </a:lnTo>
                  <a:lnTo>
                    <a:pt x="0" y="701040"/>
                  </a:lnTo>
                  <a:lnTo>
                    <a:pt x="0" y="6096"/>
                  </a:lnTo>
                  <a:lnTo>
                    <a:pt x="6096" y="0"/>
                  </a:lnTo>
                  <a:lnTo>
                    <a:pt x="8363712" y="0"/>
                  </a:lnTo>
                  <a:lnTo>
                    <a:pt x="8369808" y="6096"/>
                  </a:lnTo>
                  <a:lnTo>
                    <a:pt x="8369808" y="13716"/>
                  </a:lnTo>
                  <a:lnTo>
                    <a:pt x="25908" y="13716"/>
                  </a:lnTo>
                  <a:lnTo>
                    <a:pt x="12192" y="25908"/>
                  </a:lnTo>
                  <a:lnTo>
                    <a:pt x="25908" y="25908"/>
                  </a:lnTo>
                  <a:lnTo>
                    <a:pt x="25908" y="681228"/>
                  </a:lnTo>
                  <a:lnTo>
                    <a:pt x="12192" y="681228"/>
                  </a:lnTo>
                  <a:lnTo>
                    <a:pt x="25908" y="693420"/>
                  </a:lnTo>
                  <a:lnTo>
                    <a:pt x="8369808" y="693420"/>
                  </a:lnTo>
                  <a:lnTo>
                    <a:pt x="8369808" y="701040"/>
                  </a:lnTo>
                  <a:lnTo>
                    <a:pt x="8363712" y="707136"/>
                  </a:lnTo>
                  <a:close/>
                </a:path>
                <a:path w="8369934" h="707389">
                  <a:moveTo>
                    <a:pt x="25908" y="25908"/>
                  </a:moveTo>
                  <a:lnTo>
                    <a:pt x="12192" y="25908"/>
                  </a:lnTo>
                  <a:lnTo>
                    <a:pt x="25908" y="13716"/>
                  </a:lnTo>
                  <a:lnTo>
                    <a:pt x="25908" y="25908"/>
                  </a:lnTo>
                  <a:close/>
                </a:path>
                <a:path w="8369934" h="707389">
                  <a:moveTo>
                    <a:pt x="8343900" y="25908"/>
                  </a:moveTo>
                  <a:lnTo>
                    <a:pt x="25908" y="25908"/>
                  </a:lnTo>
                  <a:lnTo>
                    <a:pt x="25908" y="13716"/>
                  </a:lnTo>
                  <a:lnTo>
                    <a:pt x="8343900" y="13716"/>
                  </a:lnTo>
                  <a:lnTo>
                    <a:pt x="8343900" y="25908"/>
                  </a:lnTo>
                  <a:close/>
                </a:path>
                <a:path w="8369934" h="707389">
                  <a:moveTo>
                    <a:pt x="8343900" y="693420"/>
                  </a:moveTo>
                  <a:lnTo>
                    <a:pt x="8343900" y="13716"/>
                  </a:lnTo>
                  <a:lnTo>
                    <a:pt x="8356092" y="25908"/>
                  </a:lnTo>
                  <a:lnTo>
                    <a:pt x="8369808" y="25908"/>
                  </a:lnTo>
                  <a:lnTo>
                    <a:pt x="8369808" y="681228"/>
                  </a:lnTo>
                  <a:lnTo>
                    <a:pt x="8356092" y="681228"/>
                  </a:lnTo>
                  <a:lnTo>
                    <a:pt x="8343900" y="693420"/>
                  </a:lnTo>
                  <a:close/>
                </a:path>
                <a:path w="8369934" h="707389">
                  <a:moveTo>
                    <a:pt x="8369808" y="25908"/>
                  </a:moveTo>
                  <a:lnTo>
                    <a:pt x="8356092" y="25908"/>
                  </a:lnTo>
                  <a:lnTo>
                    <a:pt x="8343900" y="13716"/>
                  </a:lnTo>
                  <a:lnTo>
                    <a:pt x="8369808" y="13716"/>
                  </a:lnTo>
                  <a:lnTo>
                    <a:pt x="8369808" y="25908"/>
                  </a:lnTo>
                  <a:close/>
                </a:path>
                <a:path w="8369934" h="707389">
                  <a:moveTo>
                    <a:pt x="25908" y="693420"/>
                  </a:moveTo>
                  <a:lnTo>
                    <a:pt x="12192" y="681228"/>
                  </a:lnTo>
                  <a:lnTo>
                    <a:pt x="25908" y="681228"/>
                  </a:lnTo>
                  <a:lnTo>
                    <a:pt x="25908" y="693420"/>
                  </a:lnTo>
                  <a:close/>
                </a:path>
                <a:path w="8369934" h="707389">
                  <a:moveTo>
                    <a:pt x="8343900" y="693420"/>
                  </a:moveTo>
                  <a:lnTo>
                    <a:pt x="25908" y="693420"/>
                  </a:lnTo>
                  <a:lnTo>
                    <a:pt x="25908" y="681228"/>
                  </a:lnTo>
                  <a:lnTo>
                    <a:pt x="8343900" y="681228"/>
                  </a:lnTo>
                  <a:lnTo>
                    <a:pt x="8343900" y="693420"/>
                  </a:lnTo>
                  <a:close/>
                </a:path>
                <a:path w="8369934" h="707389">
                  <a:moveTo>
                    <a:pt x="8369808" y="693420"/>
                  </a:moveTo>
                  <a:lnTo>
                    <a:pt x="8343900" y="693420"/>
                  </a:lnTo>
                  <a:lnTo>
                    <a:pt x="8356092" y="681228"/>
                  </a:lnTo>
                  <a:lnTo>
                    <a:pt x="8369808" y="681228"/>
                  </a:lnTo>
                  <a:lnTo>
                    <a:pt x="8369808" y="693420"/>
                  </a:lnTo>
                  <a:close/>
                </a:path>
              </a:pathLst>
            </a:custGeom>
            <a:solidFill>
              <a:srgbClr val="4F80BC"/>
            </a:solidFill>
          </p:spPr>
          <p:txBody>
            <a:bodyPr wrap="square" lIns="0" tIns="0" rIns="0" bIns="0" rtlCol="0"/>
            <a:lstStyle/>
            <a:p>
              <a:endParaRPr sz="1155"/>
            </a:p>
          </p:txBody>
        </p:sp>
        <p:sp>
          <p:nvSpPr>
            <p:cNvPr id="10" name="object 10"/>
            <p:cNvSpPr/>
            <p:nvPr/>
          </p:nvSpPr>
          <p:spPr>
            <a:xfrm>
              <a:off x="1114044" y="3518915"/>
              <a:ext cx="6600825" cy="797560"/>
            </a:xfrm>
            <a:custGeom>
              <a:avLst/>
              <a:gdLst/>
              <a:ahLst/>
              <a:cxnLst/>
              <a:rect l="l" t="t" r="r" b="b"/>
              <a:pathLst>
                <a:path w="6600825" h="797560">
                  <a:moveTo>
                    <a:pt x="6467856" y="797052"/>
                  </a:moveTo>
                  <a:lnTo>
                    <a:pt x="132588" y="797052"/>
                  </a:lnTo>
                  <a:lnTo>
                    <a:pt x="90708" y="790285"/>
                  </a:lnTo>
                  <a:lnTo>
                    <a:pt x="54315" y="771448"/>
                  </a:lnTo>
                  <a:lnTo>
                    <a:pt x="25603" y="742736"/>
                  </a:lnTo>
                  <a:lnTo>
                    <a:pt x="6766" y="706343"/>
                  </a:lnTo>
                  <a:lnTo>
                    <a:pt x="0" y="664464"/>
                  </a:lnTo>
                  <a:lnTo>
                    <a:pt x="0" y="132587"/>
                  </a:lnTo>
                  <a:lnTo>
                    <a:pt x="6766" y="90708"/>
                  </a:lnTo>
                  <a:lnTo>
                    <a:pt x="25603" y="54315"/>
                  </a:lnTo>
                  <a:lnTo>
                    <a:pt x="54315" y="25603"/>
                  </a:lnTo>
                  <a:lnTo>
                    <a:pt x="90708" y="6766"/>
                  </a:lnTo>
                  <a:lnTo>
                    <a:pt x="132588" y="0"/>
                  </a:lnTo>
                  <a:lnTo>
                    <a:pt x="6467856" y="0"/>
                  </a:lnTo>
                  <a:lnTo>
                    <a:pt x="6509735" y="6766"/>
                  </a:lnTo>
                  <a:lnTo>
                    <a:pt x="6546128" y="25603"/>
                  </a:lnTo>
                  <a:lnTo>
                    <a:pt x="6574840" y="54315"/>
                  </a:lnTo>
                  <a:lnTo>
                    <a:pt x="6593677" y="90708"/>
                  </a:lnTo>
                  <a:lnTo>
                    <a:pt x="6600444" y="132587"/>
                  </a:lnTo>
                  <a:lnTo>
                    <a:pt x="6600444" y="664464"/>
                  </a:lnTo>
                  <a:lnTo>
                    <a:pt x="6593677" y="706343"/>
                  </a:lnTo>
                  <a:lnTo>
                    <a:pt x="6574840" y="742736"/>
                  </a:lnTo>
                  <a:lnTo>
                    <a:pt x="6546128" y="771448"/>
                  </a:lnTo>
                  <a:lnTo>
                    <a:pt x="6509735" y="790285"/>
                  </a:lnTo>
                  <a:lnTo>
                    <a:pt x="6467856" y="797052"/>
                  </a:lnTo>
                  <a:close/>
                </a:path>
              </a:pathLst>
            </a:custGeom>
            <a:solidFill>
              <a:srgbClr val="FFFFFF"/>
            </a:solidFill>
          </p:spPr>
          <p:txBody>
            <a:bodyPr wrap="square" lIns="0" tIns="0" rIns="0" bIns="0" rtlCol="0"/>
            <a:lstStyle/>
            <a:p>
              <a:endParaRPr sz="1155"/>
            </a:p>
          </p:txBody>
        </p:sp>
        <p:sp>
          <p:nvSpPr>
            <p:cNvPr id="11" name="object 11"/>
            <p:cNvSpPr/>
            <p:nvPr/>
          </p:nvSpPr>
          <p:spPr>
            <a:xfrm>
              <a:off x="1101852" y="3506723"/>
              <a:ext cx="6626859" cy="821690"/>
            </a:xfrm>
            <a:custGeom>
              <a:avLst/>
              <a:gdLst/>
              <a:ahLst/>
              <a:cxnLst/>
              <a:rect l="l" t="t" r="r" b="b"/>
              <a:pathLst>
                <a:path w="6626859" h="821689">
                  <a:moveTo>
                    <a:pt x="6495288" y="821436"/>
                  </a:moveTo>
                  <a:lnTo>
                    <a:pt x="131064" y="821436"/>
                  </a:lnTo>
                  <a:lnTo>
                    <a:pt x="115824" y="819912"/>
                  </a:lnTo>
                  <a:lnTo>
                    <a:pt x="76200" y="804672"/>
                  </a:lnTo>
                  <a:lnTo>
                    <a:pt x="42672" y="780288"/>
                  </a:lnTo>
                  <a:lnTo>
                    <a:pt x="16764" y="746760"/>
                  </a:lnTo>
                  <a:lnTo>
                    <a:pt x="3048" y="707136"/>
                  </a:lnTo>
                  <a:lnTo>
                    <a:pt x="0" y="691896"/>
                  </a:lnTo>
                  <a:lnTo>
                    <a:pt x="0" y="131064"/>
                  </a:lnTo>
                  <a:lnTo>
                    <a:pt x="10668" y="88392"/>
                  </a:lnTo>
                  <a:lnTo>
                    <a:pt x="32004" y="53340"/>
                  </a:lnTo>
                  <a:lnTo>
                    <a:pt x="62484" y="24384"/>
                  </a:lnTo>
                  <a:lnTo>
                    <a:pt x="100584" y="6096"/>
                  </a:lnTo>
                  <a:lnTo>
                    <a:pt x="129540" y="0"/>
                  </a:lnTo>
                  <a:lnTo>
                    <a:pt x="6495288" y="0"/>
                  </a:lnTo>
                  <a:lnTo>
                    <a:pt x="6522720" y="6096"/>
                  </a:lnTo>
                  <a:lnTo>
                    <a:pt x="6536436" y="10668"/>
                  </a:lnTo>
                  <a:lnTo>
                    <a:pt x="6548628" y="16764"/>
                  </a:lnTo>
                  <a:lnTo>
                    <a:pt x="6560820" y="24384"/>
                  </a:lnTo>
                  <a:lnTo>
                    <a:pt x="146304" y="24384"/>
                  </a:lnTo>
                  <a:lnTo>
                    <a:pt x="132588" y="25908"/>
                  </a:lnTo>
                  <a:lnTo>
                    <a:pt x="77724" y="45720"/>
                  </a:lnTo>
                  <a:lnTo>
                    <a:pt x="45720" y="77724"/>
                  </a:lnTo>
                  <a:lnTo>
                    <a:pt x="27432" y="120396"/>
                  </a:lnTo>
                  <a:lnTo>
                    <a:pt x="24384" y="144780"/>
                  </a:lnTo>
                  <a:lnTo>
                    <a:pt x="24384" y="675132"/>
                  </a:lnTo>
                  <a:lnTo>
                    <a:pt x="33528" y="722376"/>
                  </a:lnTo>
                  <a:lnTo>
                    <a:pt x="59436" y="760476"/>
                  </a:lnTo>
                  <a:lnTo>
                    <a:pt x="108204" y="790956"/>
                  </a:lnTo>
                  <a:lnTo>
                    <a:pt x="144780" y="797052"/>
                  </a:lnTo>
                  <a:lnTo>
                    <a:pt x="6562344" y="797052"/>
                  </a:lnTo>
                  <a:lnTo>
                    <a:pt x="6550152" y="804672"/>
                  </a:lnTo>
                  <a:lnTo>
                    <a:pt x="6537960" y="810768"/>
                  </a:lnTo>
                  <a:lnTo>
                    <a:pt x="6524244" y="815340"/>
                  </a:lnTo>
                  <a:lnTo>
                    <a:pt x="6510528" y="818388"/>
                  </a:lnTo>
                  <a:lnTo>
                    <a:pt x="6495288" y="821436"/>
                  </a:lnTo>
                  <a:close/>
                </a:path>
                <a:path w="6626859" h="821689">
                  <a:moveTo>
                    <a:pt x="6562344" y="797052"/>
                  </a:moveTo>
                  <a:lnTo>
                    <a:pt x="6480048" y="797052"/>
                  </a:lnTo>
                  <a:lnTo>
                    <a:pt x="6504432" y="794004"/>
                  </a:lnTo>
                  <a:lnTo>
                    <a:pt x="6515100" y="790956"/>
                  </a:lnTo>
                  <a:lnTo>
                    <a:pt x="6527292" y="787908"/>
                  </a:lnTo>
                  <a:lnTo>
                    <a:pt x="6536436" y="781812"/>
                  </a:lnTo>
                  <a:lnTo>
                    <a:pt x="6547104" y="775716"/>
                  </a:lnTo>
                  <a:lnTo>
                    <a:pt x="6585204" y="734568"/>
                  </a:lnTo>
                  <a:lnTo>
                    <a:pt x="6600444" y="688848"/>
                  </a:lnTo>
                  <a:lnTo>
                    <a:pt x="6600444" y="134112"/>
                  </a:lnTo>
                  <a:lnTo>
                    <a:pt x="6586728" y="88392"/>
                  </a:lnTo>
                  <a:lnTo>
                    <a:pt x="6557772" y="53340"/>
                  </a:lnTo>
                  <a:lnTo>
                    <a:pt x="6516624" y="30480"/>
                  </a:lnTo>
                  <a:lnTo>
                    <a:pt x="6480048" y="24384"/>
                  </a:lnTo>
                  <a:lnTo>
                    <a:pt x="6560820" y="24384"/>
                  </a:lnTo>
                  <a:lnTo>
                    <a:pt x="6592824" y="51816"/>
                  </a:lnTo>
                  <a:lnTo>
                    <a:pt x="6614160" y="88392"/>
                  </a:lnTo>
                  <a:lnTo>
                    <a:pt x="6624828" y="129540"/>
                  </a:lnTo>
                  <a:lnTo>
                    <a:pt x="6626352" y="144780"/>
                  </a:lnTo>
                  <a:lnTo>
                    <a:pt x="6626352" y="676656"/>
                  </a:lnTo>
                  <a:lnTo>
                    <a:pt x="6624828" y="690372"/>
                  </a:lnTo>
                  <a:lnTo>
                    <a:pt x="6623304" y="705612"/>
                  </a:lnTo>
                  <a:lnTo>
                    <a:pt x="6620256" y="719328"/>
                  </a:lnTo>
                  <a:lnTo>
                    <a:pt x="6614160" y="733044"/>
                  </a:lnTo>
                  <a:lnTo>
                    <a:pt x="6601968" y="757428"/>
                  </a:lnTo>
                  <a:lnTo>
                    <a:pt x="6583680" y="778764"/>
                  </a:lnTo>
                  <a:lnTo>
                    <a:pt x="6562344" y="797052"/>
                  </a:lnTo>
                  <a:close/>
                </a:path>
              </a:pathLst>
            </a:custGeom>
            <a:solidFill>
              <a:srgbClr val="BF504D"/>
            </a:solidFill>
          </p:spPr>
          <p:txBody>
            <a:bodyPr wrap="square" lIns="0" tIns="0" rIns="0" bIns="0" rtlCol="0"/>
            <a:lstStyle/>
            <a:p>
              <a:endParaRPr sz="1155"/>
            </a:p>
          </p:txBody>
        </p:sp>
      </p:grpSp>
      <p:grpSp>
        <p:nvGrpSpPr>
          <p:cNvPr id="12" name="object 12"/>
          <p:cNvGrpSpPr/>
          <p:nvPr/>
        </p:nvGrpSpPr>
        <p:grpSpPr>
          <a:xfrm>
            <a:off x="3449236" y="3025013"/>
            <a:ext cx="5367891" cy="527789"/>
            <a:chOff x="902208" y="4716779"/>
            <a:chExt cx="8369934" cy="822960"/>
          </a:xfrm>
        </p:grpSpPr>
        <p:sp>
          <p:nvSpPr>
            <p:cNvPr id="13" name="object 13"/>
            <p:cNvSpPr/>
            <p:nvPr/>
          </p:nvSpPr>
          <p:spPr>
            <a:xfrm>
              <a:off x="902208" y="4760975"/>
              <a:ext cx="8369934" cy="706120"/>
            </a:xfrm>
            <a:custGeom>
              <a:avLst/>
              <a:gdLst/>
              <a:ahLst/>
              <a:cxnLst/>
              <a:rect l="l" t="t" r="r" b="b"/>
              <a:pathLst>
                <a:path w="8369934" h="706120">
                  <a:moveTo>
                    <a:pt x="8363712" y="705612"/>
                  </a:moveTo>
                  <a:lnTo>
                    <a:pt x="6096" y="705612"/>
                  </a:lnTo>
                  <a:lnTo>
                    <a:pt x="0" y="699516"/>
                  </a:lnTo>
                  <a:lnTo>
                    <a:pt x="0" y="6096"/>
                  </a:lnTo>
                  <a:lnTo>
                    <a:pt x="6096" y="0"/>
                  </a:lnTo>
                  <a:lnTo>
                    <a:pt x="8363712" y="0"/>
                  </a:lnTo>
                  <a:lnTo>
                    <a:pt x="8369808" y="6096"/>
                  </a:lnTo>
                  <a:lnTo>
                    <a:pt x="8369808" y="12192"/>
                  </a:lnTo>
                  <a:lnTo>
                    <a:pt x="25908" y="12192"/>
                  </a:lnTo>
                  <a:lnTo>
                    <a:pt x="12192" y="25908"/>
                  </a:lnTo>
                  <a:lnTo>
                    <a:pt x="25908" y="25908"/>
                  </a:lnTo>
                  <a:lnTo>
                    <a:pt x="25908" y="679704"/>
                  </a:lnTo>
                  <a:lnTo>
                    <a:pt x="12192" y="679704"/>
                  </a:lnTo>
                  <a:lnTo>
                    <a:pt x="25908" y="693420"/>
                  </a:lnTo>
                  <a:lnTo>
                    <a:pt x="8369808" y="693420"/>
                  </a:lnTo>
                  <a:lnTo>
                    <a:pt x="8369808" y="699516"/>
                  </a:lnTo>
                  <a:lnTo>
                    <a:pt x="8363712" y="705612"/>
                  </a:lnTo>
                  <a:close/>
                </a:path>
                <a:path w="8369934" h="706120">
                  <a:moveTo>
                    <a:pt x="25908" y="25908"/>
                  </a:moveTo>
                  <a:lnTo>
                    <a:pt x="12192" y="25908"/>
                  </a:lnTo>
                  <a:lnTo>
                    <a:pt x="25908" y="12192"/>
                  </a:lnTo>
                  <a:lnTo>
                    <a:pt x="25908" y="25908"/>
                  </a:lnTo>
                  <a:close/>
                </a:path>
                <a:path w="8369934" h="706120">
                  <a:moveTo>
                    <a:pt x="8343900" y="25908"/>
                  </a:moveTo>
                  <a:lnTo>
                    <a:pt x="25908" y="25908"/>
                  </a:lnTo>
                  <a:lnTo>
                    <a:pt x="25908" y="12192"/>
                  </a:lnTo>
                  <a:lnTo>
                    <a:pt x="8343900" y="12192"/>
                  </a:lnTo>
                  <a:lnTo>
                    <a:pt x="8343900" y="25908"/>
                  </a:lnTo>
                  <a:close/>
                </a:path>
                <a:path w="8369934" h="706120">
                  <a:moveTo>
                    <a:pt x="8343900" y="693420"/>
                  </a:moveTo>
                  <a:lnTo>
                    <a:pt x="8343900" y="12192"/>
                  </a:lnTo>
                  <a:lnTo>
                    <a:pt x="8356092" y="25908"/>
                  </a:lnTo>
                  <a:lnTo>
                    <a:pt x="8369808" y="25908"/>
                  </a:lnTo>
                  <a:lnTo>
                    <a:pt x="8369808" y="679704"/>
                  </a:lnTo>
                  <a:lnTo>
                    <a:pt x="8356092" y="679704"/>
                  </a:lnTo>
                  <a:lnTo>
                    <a:pt x="8343900" y="693420"/>
                  </a:lnTo>
                  <a:close/>
                </a:path>
                <a:path w="8369934" h="706120">
                  <a:moveTo>
                    <a:pt x="8369808" y="25908"/>
                  </a:moveTo>
                  <a:lnTo>
                    <a:pt x="8356092" y="25908"/>
                  </a:lnTo>
                  <a:lnTo>
                    <a:pt x="8343900" y="12192"/>
                  </a:lnTo>
                  <a:lnTo>
                    <a:pt x="8369808" y="12192"/>
                  </a:lnTo>
                  <a:lnTo>
                    <a:pt x="8369808" y="25908"/>
                  </a:lnTo>
                  <a:close/>
                </a:path>
                <a:path w="8369934" h="706120">
                  <a:moveTo>
                    <a:pt x="25908" y="693420"/>
                  </a:moveTo>
                  <a:lnTo>
                    <a:pt x="12192" y="679704"/>
                  </a:lnTo>
                  <a:lnTo>
                    <a:pt x="25908" y="679704"/>
                  </a:lnTo>
                  <a:lnTo>
                    <a:pt x="25908" y="693420"/>
                  </a:lnTo>
                  <a:close/>
                </a:path>
                <a:path w="8369934" h="706120">
                  <a:moveTo>
                    <a:pt x="8343900" y="693420"/>
                  </a:moveTo>
                  <a:lnTo>
                    <a:pt x="25908" y="693420"/>
                  </a:lnTo>
                  <a:lnTo>
                    <a:pt x="25908" y="679704"/>
                  </a:lnTo>
                  <a:lnTo>
                    <a:pt x="8343900" y="679704"/>
                  </a:lnTo>
                  <a:lnTo>
                    <a:pt x="8343900" y="693420"/>
                  </a:lnTo>
                  <a:close/>
                </a:path>
                <a:path w="8369934" h="706120">
                  <a:moveTo>
                    <a:pt x="8369808" y="693420"/>
                  </a:moveTo>
                  <a:lnTo>
                    <a:pt x="8343900" y="693420"/>
                  </a:lnTo>
                  <a:lnTo>
                    <a:pt x="8356092" y="679704"/>
                  </a:lnTo>
                  <a:lnTo>
                    <a:pt x="8369808" y="679704"/>
                  </a:lnTo>
                  <a:lnTo>
                    <a:pt x="8369808" y="693420"/>
                  </a:lnTo>
                  <a:close/>
                </a:path>
              </a:pathLst>
            </a:custGeom>
            <a:solidFill>
              <a:srgbClr val="4F80BC"/>
            </a:solidFill>
          </p:spPr>
          <p:txBody>
            <a:bodyPr wrap="square" lIns="0" tIns="0" rIns="0" bIns="0" rtlCol="0"/>
            <a:lstStyle/>
            <a:p>
              <a:endParaRPr sz="1155"/>
            </a:p>
          </p:txBody>
        </p:sp>
        <p:sp>
          <p:nvSpPr>
            <p:cNvPr id="14" name="object 14"/>
            <p:cNvSpPr/>
            <p:nvPr/>
          </p:nvSpPr>
          <p:spPr>
            <a:xfrm>
              <a:off x="963168" y="4730495"/>
              <a:ext cx="7434580" cy="797560"/>
            </a:xfrm>
            <a:custGeom>
              <a:avLst/>
              <a:gdLst/>
              <a:ahLst/>
              <a:cxnLst/>
              <a:rect l="l" t="t" r="r" b="b"/>
              <a:pathLst>
                <a:path w="7434580" h="797560">
                  <a:moveTo>
                    <a:pt x="7301483" y="797052"/>
                  </a:moveTo>
                  <a:lnTo>
                    <a:pt x="134112" y="797052"/>
                  </a:lnTo>
                  <a:lnTo>
                    <a:pt x="91488" y="790285"/>
                  </a:lnTo>
                  <a:lnTo>
                    <a:pt x="54644" y="771448"/>
                  </a:lnTo>
                  <a:lnTo>
                    <a:pt x="25700" y="742736"/>
                  </a:lnTo>
                  <a:lnTo>
                    <a:pt x="6778" y="706343"/>
                  </a:lnTo>
                  <a:lnTo>
                    <a:pt x="0" y="664464"/>
                  </a:lnTo>
                  <a:lnTo>
                    <a:pt x="0" y="132587"/>
                  </a:lnTo>
                  <a:lnTo>
                    <a:pt x="6778" y="90708"/>
                  </a:lnTo>
                  <a:lnTo>
                    <a:pt x="25700" y="54315"/>
                  </a:lnTo>
                  <a:lnTo>
                    <a:pt x="54644" y="25603"/>
                  </a:lnTo>
                  <a:lnTo>
                    <a:pt x="91488" y="6766"/>
                  </a:lnTo>
                  <a:lnTo>
                    <a:pt x="134112" y="0"/>
                  </a:lnTo>
                  <a:lnTo>
                    <a:pt x="7301483" y="0"/>
                  </a:lnTo>
                  <a:lnTo>
                    <a:pt x="7343363" y="6766"/>
                  </a:lnTo>
                  <a:lnTo>
                    <a:pt x="7379756" y="25603"/>
                  </a:lnTo>
                  <a:lnTo>
                    <a:pt x="7408468" y="54315"/>
                  </a:lnTo>
                  <a:lnTo>
                    <a:pt x="7427305" y="90708"/>
                  </a:lnTo>
                  <a:lnTo>
                    <a:pt x="7434072" y="132587"/>
                  </a:lnTo>
                  <a:lnTo>
                    <a:pt x="7434072" y="664464"/>
                  </a:lnTo>
                  <a:lnTo>
                    <a:pt x="7427305" y="706343"/>
                  </a:lnTo>
                  <a:lnTo>
                    <a:pt x="7408468" y="742736"/>
                  </a:lnTo>
                  <a:lnTo>
                    <a:pt x="7379756" y="771448"/>
                  </a:lnTo>
                  <a:lnTo>
                    <a:pt x="7343363" y="790285"/>
                  </a:lnTo>
                  <a:lnTo>
                    <a:pt x="7301483" y="797052"/>
                  </a:lnTo>
                  <a:close/>
                </a:path>
              </a:pathLst>
            </a:custGeom>
            <a:solidFill>
              <a:srgbClr val="FFFFFF"/>
            </a:solidFill>
          </p:spPr>
          <p:txBody>
            <a:bodyPr wrap="square" lIns="0" tIns="0" rIns="0" bIns="0" rtlCol="0"/>
            <a:lstStyle/>
            <a:p>
              <a:endParaRPr sz="1155"/>
            </a:p>
          </p:txBody>
        </p:sp>
        <p:sp>
          <p:nvSpPr>
            <p:cNvPr id="15" name="object 15"/>
            <p:cNvSpPr/>
            <p:nvPr/>
          </p:nvSpPr>
          <p:spPr>
            <a:xfrm>
              <a:off x="950976" y="4716779"/>
              <a:ext cx="7459980" cy="822960"/>
            </a:xfrm>
            <a:custGeom>
              <a:avLst/>
              <a:gdLst/>
              <a:ahLst/>
              <a:cxnLst/>
              <a:rect l="l" t="t" r="r" b="b"/>
              <a:pathLst>
                <a:path w="7459980" h="822960">
                  <a:moveTo>
                    <a:pt x="7328916" y="822960"/>
                  </a:moveTo>
                  <a:lnTo>
                    <a:pt x="131064" y="822960"/>
                  </a:lnTo>
                  <a:lnTo>
                    <a:pt x="103632" y="816864"/>
                  </a:lnTo>
                  <a:lnTo>
                    <a:pt x="89916" y="812292"/>
                  </a:lnTo>
                  <a:lnTo>
                    <a:pt x="76200" y="806196"/>
                  </a:lnTo>
                  <a:lnTo>
                    <a:pt x="65532" y="798576"/>
                  </a:lnTo>
                  <a:lnTo>
                    <a:pt x="53340" y="790956"/>
                  </a:lnTo>
                  <a:lnTo>
                    <a:pt x="18288" y="746760"/>
                  </a:lnTo>
                  <a:lnTo>
                    <a:pt x="3048" y="707136"/>
                  </a:lnTo>
                  <a:lnTo>
                    <a:pt x="0" y="678180"/>
                  </a:lnTo>
                  <a:lnTo>
                    <a:pt x="0" y="146304"/>
                  </a:lnTo>
                  <a:lnTo>
                    <a:pt x="1524" y="132588"/>
                  </a:lnTo>
                  <a:lnTo>
                    <a:pt x="3048" y="117348"/>
                  </a:lnTo>
                  <a:lnTo>
                    <a:pt x="6096" y="103632"/>
                  </a:lnTo>
                  <a:lnTo>
                    <a:pt x="12192" y="89916"/>
                  </a:lnTo>
                  <a:lnTo>
                    <a:pt x="16764" y="77724"/>
                  </a:lnTo>
                  <a:lnTo>
                    <a:pt x="53340" y="33528"/>
                  </a:lnTo>
                  <a:lnTo>
                    <a:pt x="88392" y="12192"/>
                  </a:lnTo>
                  <a:lnTo>
                    <a:pt x="129540" y="1524"/>
                  </a:lnTo>
                  <a:lnTo>
                    <a:pt x="144780" y="0"/>
                  </a:lnTo>
                  <a:lnTo>
                    <a:pt x="7313676" y="0"/>
                  </a:lnTo>
                  <a:lnTo>
                    <a:pt x="7370064" y="12192"/>
                  </a:lnTo>
                  <a:lnTo>
                    <a:pt x="7396480" y="25908"/>
                  </a:lnTo>
                  <a:lnTo>
                    <a:pt x="134112" y="25908"/>
                  </a:lnTo>
                  <a:lnTo>
                    <a:pt x="121920" y="28956"/>
                  </a:lnTo>
                  <a:lnTo>
                    <a:pt x="79248" y="45720"/>
                  </a:lnTo>
                  <a:lnTo>
                    <a:pt x="45720" y="77724"/>
                  </a:lnTo>
                  <a:lnTo>
                    <a:pt x="27432" y="121920"/>
                  </a:lnTo>
                  <a:lnTo>
                    <a:pt x="25908" y="132588"/>
                  </a:lnTo>
                  <a:lnTo>
                    <a:pt x="25908" y="688848"/>
                  </a:lnTo>
                  <a:lnTo>
                    <a:pt x="39624" y="734568"/>
                  </a:lnTo>
                  <a:lnTo>
                    <a:pt x="68580" y="769620"/>
                  </a:lnTo>
                  <a:lnTo>
                    <a:pt x="109728" y="792480"/>
                  </a:lnTo>
                  <a:lnTo>
                    <a:pt x="132588" y="797052"/>
                  </a:lnTo>
                  <a:lnTo>
                    <a:pt x="7397750" y="797052"/>
                  </a:lnTo>
                  <a:lnTo>
                    <a:pt x="7395972" y="798576"/>
                  </a:lnTo>
                  <a:lnTo>
                    <a:pt x="7371588" y="810768"/>
                  </a:lnTo>
                  <a:lnTo>
                    <a:pt x="7357872" y="816864"/>
                  </a:lnTo>
                  <a:lnTo>
                    <a:pt x="7344156" y="819912"/>
                  </a:lnTo>
                  <a:lnTo>
                    <a:pt x="7328916" y="822960"/>
                  </a:lnTo>
                  <a:close/>
                </a:path>
                <a:path w="7459980" h="822960">
                  <a:moveTo>
                    <a:pt x="7397750" y="797052"/>
                  </a:moveTo>
                  <a:lnTo>
                    <a:pt x="7325868" y="797052"/>
                  </a:lnTo>
                  <a:lnTo>
                    <a:pt x="7338060" y="795528"/>
                  </a:lnTo>
                  <a:lnTo>
                    <a:pt x="7348728" y="792480"/>
                  </a:lnTo>
                  <a:lnTo>
                    <a:pt x="7389876" y="771144"/>
                  </a:lnTo>
                  <a:lnTo>
                    <a:pt x="7418832" y="736092"/>
                  </a:lnTo>
                  <a:lnTo>
                    <a:pt x="7427976" y="713232"/>
                  </a:lnTo>
                  <a:lnTo>
                    <a:pt x="7431024" y="702564"/>
                  </a:lnTo>
                  <a:lnTo>
                    <a:pt x="7434072" y="690372"/>
                  </a:lnTo>
                  <a:lnTo>
                    <a:pt x="7434072" y="134112"/>
                  </a:lnTo>
                  <a:lnTo>
                    <a:pt x="7420356" y="89916"/>
                  </a:lnTo>
                  <a:lnTo>
                    <a:pt x="7391400" y="53340"/>
                  </a:lnTo>
                  <a:lnTo>
                    <a:pt x="7339584" y="28956"/>
                  </a:lnTo>
                  <a:lnTo>
                    <a:pt x="7327392" y="25908"/>
                  </a:lnTo>
                  <a:lnTo>
                    <a:pt x="7396480" y="25908"/>
                  </a:lnTo>
                  <a:lnTo>
                    <a:pt x="7426452" y="53340"/>
                  </a:lnTo>
                  <a:lnTo>
                    <a:pt x="7447788" y="88392"/>
                  </a:lnTo>
                  <a:lnTo>
                    <a:pt x="7458456" y="131064"/>
                  </a:lnTo>
                  <a:lnTo>
                    <a:pt x="7459980" y="144780"/>
                  </a:lnTo>
                  <a:lnTo>
                    <a:pt x="7459980" y="678180"/>
                  </a:lnTo>
                  <a:lnTo>
                    <a:pt x="7456932" y="705612"/>
                  </a:lnTo>
                  <a:lnTo>
                    <a:pt x="7453884" y="720852"/>
                  </a:lnTo>
                  <a:lnTo>
                    <a:pt x="7447788" y="733044"/>
                  </a:lnTo>
                  <a:lnTo>
                    <a:pt x="7441692" y="746760"/>
                  </a:lnTo>
                  <a:lnTo>
                    <a:pt x="7435596" y="758952"/>
                  </a:lnTo>
                  <a:lnTo>
                    <a:pt x="7417308" y="780288"/>
                  </a:lnTo>
                  <a:lnTo>
                    <a:pt x="7397750" y="797052"/>
                  </a:lnTo>
                  <a:close/>
                </a:path>
              </a:pathLst>
            </a:custGeom>
            <a:solidFill>
              <a:srgbClr val="9ABA59"/>
            </a:solidFill>
          </p:spPr>
          <p:txBody>
            <a:bodyPr wrap="square" lIns="0" tIns="0" rIns="0" bIns="0" rtlCol="0"/>
            <a:lstStyle/>
            <a:p>
              <a:endParaRPr sz="1155"/>
            </a:p>
          </p:txBody>
        </p:sp>
      </p:grpSp>
      <p:grpSp>
        <p:nvGrpSpPr>
          <p:cNvPr id="16" name="object 16"/>
          <p:cNvGrpSpPr/>
          <p:nvPr/>
        </p:nvGrpSpPr>
        <p:grpSpPr>
          <a:xfrm>
            <a:off x="3449236" y="3779556"/>
            <a:ext cx="5367891" cy="527789"/>
            <a:chOff x="902208" y="5893308"/>
            <a:chExt cx="8369934" cy="822960"/>
          </a:xfrm>
        </p:grpSpPr>
        <p:sp>
          <p:nvSpPr>
            <p:cNvPr id="17" name="object 17"/>
            <p:cNvSpPr/>
            <p:nvPr/>
          </p:nvSpPr>
          <p:spPr>
            <a:xfrm>
              <a:off x="902208" y="5986272"/>
              <a:ext cx="8369934" cy="706120"/>
            </a:xfrm>
            <a:custGeom>
              <a:avLst/>
              <a:gdLst/>
              <a:ahLst/>
              <a:cxnLst/>
              <a:rect l="l" t="t" r="r" b="b"/>
              <a:pathLst>
                <a:path w="8369934" h="706120">
                  <a:moveTo>
                    <a:pt x="8363712" y="705612"/>
                  </a:moveTo>
                  <a:lnTo>
                    <a:pt x="6096" y="705612"/>
                  </a:lnTo>
                  <a:lnTo>
                    <a:pt x="0" y="699516"/>
                  </a:lnTo>
                  <a:lnTo>
                    <a:pt x="0" y="4572"/>
                  </a:lnTo>
                  <a:lnTo>
                    <a:pt x="6096" y="0"/>
                  </a:lnTo>
                  <a:lnTo>
                    <a:pt x="8363712" y="0"/>
                  </a:lnTo>
                  <a:lnTo>
                    <a:pt x="8369808" y="4572"/>
                  </a:lnTo>
                  <a:lnTo>
                    <a:pt x="8369808" y="12192"/>
                  </a:lnTo>
                  <a:lnTo>
                    <a:pt x="25908" y="12192"/>
                  </a:lnTo>
                  <a:lnTo>
                    <a:pt x="12192" y="24384"/>
                  </a:lnTo>
                  <a:lnTo>
                    <a:pt x="25908" y="24384"/>
                  </a:lnTo>
                  <a:lnTo>
                    <a:pt x="25908" y="679704"/>
                  </a:lnTo>
                  <a:lnTo>
                    <a:pt x="12192" y="679704"/>
                  </a:lnTo>
                  <a:lnTo>
                    <a:pt x="25908" y="691896"/>
                  </a:lnTo>
                  <a:lnTo>
                    <a:pt x="8369808" y="691896"/>
                  </a:lnTo>
                  <a:lnTo>
                    <a:pt x="8369808" y="699516"/>
                  </a:lnTo>
                  <a:lnTo>
                    <a:pt x="8363712" y="705612"/>
                  </a:lnTo>
                  <a:close/>
                </a:path>
                <a:path w="8369934" h="706120">
                  <a:moveTo>
                    <a:pt x="25908" y="24384"/>
                  </a:moveTo>
                  <a:lnTo>
                    <a:pt x="12192" y="24384"/>
                  </a:lnTo>
                  <a:lnTo>
                    <a:pt x="25908" y="12192"/>
                  </a:lnTo>
                  <a:lnTo>
                    <a:pt x="25908" y="24384"/>
                  </a:lnTo>
                  <a:close/>
                </a:path>
                <a:path w="8369934" h="706120">
                  <a:moveTo>
                    <a:pt x="8343900" y="24384"/>
                  </a:moveTo>
                  <a:lnTo>
                    <a:pt x="25908" y="24384"/>
                  </a:lnTo>
                  <a:lnTo>
                    <a:pt x="25908" y="12192"/>
                  </a:lnTo>
                  <a:lnTo>
                    <a:pt x="8343900" y="12192"/>
                  </a:lnTo>
                  <a:lnTo>
                    <a:pt x="8343900" y="24384"/>
                  </a:lnTo>
                  <a:close/>
                </a:path>
                <a:path w="8369934" h="706120">
                  <a:moveTo>
                    <a:pt x="8343900" y="691896"/>
                  </a:moveTo>
                  <a:lnTo>
                    <a:pt x="8343900" y="12192"/>
                  </a:lnTo>
                  <a:lnTo>
                    <a:pt x="8356092" y="24384"/>
                  </a:lnTo>
                  <a:lnTo>
                    <a:pt x="8369808" y="24384"/>
                  </a:lnTo>
                  <a:lnTo>
                    <a:pt x="8369808" y="679704"/>
                  </a:lnTo>
                  <a:lnTo>
                    <a:pt x="8356092" y="679704"/>
                  </a:lnTo>
                  <a:lnTo>
                    <a:pt x="8343900" y="691896"/>
                  </a:lnTo>
                  <a:close/>
                </a:path>
                <a:path w="8369934" h="706120">
                  <a:moveTo>
                    <a:pt x="8369808" y="24384"/>
                  </a:moveTo>
                  <a:lnTo>
                    <a:pt x="8356092" y="24384"/>
                  </a:lnTo>
                  <a:lnTo>
                    <a:pt x="8343900" y="12192"/>
                  </a:lnTo>
                  <a:lnTo>
                    <a:pt x="8369808" y="12192"/>
                  </a:lnTo>
                  <a:lnTo>
                    <a:pt x="8369808" y="24384"/>
                  </a:lnTo>
                  <a:close/>
                </a:path>
                <a:path w="8369934" h="706120">
                  <a:moveTo>
                    <a:pt x="25908" y="691896"/>
                  </a:moveTo>
                  <a:lnTo>
                    <a:pt x="12192" y="679704"/>
                  </a:lnTo>
                  <a:lnTo>
                    <a:pt x="25908" y="679704"/>
                  </a:lnTo>
                  <a:lnTo>
                    <a:pt x="25908" y="691896"/>
                  </a:lnTo>
                  <a:close/>
                </a:path>
                <a:path w="8369934" h="706120">
                  <a:moveTo>
                    <a:pt x="8343900" y="691896"/>
                  </a:moveTo>
                  <a:lnTo>
                    <a:pt x="25908" y="691896"/>
                  </a:lnTo>
                  <a:lnTo>
                    <a:pt x="25908" y="679704"/>
                  </a:lnTo>
                  <a:lnTo>
                    <a:pt x="8343900" y="679704"/>
                  </a:lnTo>
                  <a:lnTo>
                    <a:pt x="8343900" y="691896"/>
                  </a:lnTo>
                  <a:close/>
                </a:path>
                <a:path w="8369934" h="706120">
                  <a:moveTo>
                    <a:pt x="8369808" y="691896"/>
                  </a:moveTo>
                  <a:lnTo>
                    <a:pt x="8343900" y="691896"/>
                  </a:lnTo>
                  <a:lnTo>
                    <a:pt x="8356092" y="679704"/>
                  </a:lnTo>
                  <a:lnTo>
                    <a:pt x="8369808" y="679704"/>
                  </a:lnTo>
                  <a:lnTo>
                    <a:pt x="8369808" y="691896"/>
                  </a:lnTo>
                  <a:close/>
                </a:path>
              </a:pathLst>
            </a:custGeom>
            <a:solidFill>
              <a:srgbClr val="4F80BC"/>
            </a:solidFill>
          </p:spPr>
          <p:txBody>
            <a:bodyPr wrap="square" lIns="0" tIns="0" rIns="0" bIns="0" rtlCol="0"/>
            <a:lstStyle/>
            <a:p>
              <a:endParaRPr sz="1155"/>
            </a:p>
          </p:txBody>
        </p:sp>
        <p:sp>
          <p:nvSpPr>
            <p:cNvPr id="18" name="object 18"/>
            <p:cNvSpPr/>
            <p:nvPr/>
          </p:nvSpPr>
          <p:spPr>
            <a:xfrm>
              <a:off x="1030224" y="5905500"/>
              <a:ext cx="7926705" cy="797560"/>
            </a:xfrm>
            <a:custGeom>
              <a:avLst/>
              <a:gdLst/>
              <a:ahLst/>
              <a:cxnLst/>
              <a:rect l="l" t="t" r="r" b="b"/>
              <a:pathLst>
                <a:path w="7926705" h="797559">
                  <a:moveTo>
                    <a:pt x="7793736" y="797052"/>
                  </a:moveTo>
                  <a:lnTo>
                    <a:pt x="132588" y="797052"/>
                  </a:lnTo>
                  <a:lnTo>
                    <a:pt x="90708" y="790285"/>
                  </a:lnTo>
                  <a:lnTo>
                    <a:pt x="54315" y="771448"/>
                  </a:lnTo>
                  <a:lnTo>
                    <a:pt x="25603" y="742736"/>
                  </a:lnTo>
                  <a:lnTo>
                    <a:pt x="6766" y="706343"/>
                  </a:lnTo>
                  <a:lnTo>
                    <a:pt x="0" y="664464"/>
                  </a:lnTo>
                  <a:lnTo>
                    <a:pt x="0" y="134112"/>
                  </a:lnTo>
                  <a:lnTo>
                    <a:pt x="6766" y="91488"/>
                  </a:lnTo>
                  <a:lnTo>
                    <a:pt x="25603" y="54644"/>
                  </a:lnTo>
                  <a:lnTo>
                    <a:pt x="54315" y="25700"/>
                  </a:lnTo>
                  <a:lnTo>
                    <a:pt x="90708" y="6778"/>
                  </a:lnTo>
                  <a:lnTo>
                    <a:pt x="132588" y="0"/>
                  </a:lnTo>
                  <a:lnTo>
                    <a:pt x="7793736" y="0"/>
                  </a:lnTo>
                  <a:lnTo>
                    <a:pt x="7835615" y="6778"/>
                  </a:lnTo>
                  <a:lnTo>
                    <a:pt x="7872008" y="25700"/>
                  </a:lnTo>
                  <a:lnTo>
                    <a:pt x="7900720" y="54644"/>
                  </a:lnTo>
                  <a:lnTo>
                    <a:pt x="7919557" y="91488"/>
                  </a:lnTo>
                  <a:lnTo>
                    <a:pt x="7926324" y="134112"/>
                  </a:lnTo>
                  <a:lnTo>
                    <a:pt x="7926324" y="664464"/>
                  </a:lnTo>
                  <a:lnTo>
                    <a:pt x="7919557" y="706343"/>
                  </a:lnTo>
                  <a:lnTo>
                    <a:pt x="7900720" y="742736"/>
                  </a:lnTo>
                  <a:lnTo>
                    <a:pt x="7872008" y="771448"/>
                  </a:lnTo>
                  <a:lnTo>
                    <a:pt x="7835615" y="790285"/>
                  </a:lnTo>
                  <a:lnTo>
                    <a:pt x="7793736" y="797052"/>
                  </a:lnTo>
                  <a:close/>
                </a:path>
              </a:pathLst>
            </a:custGeom>
            <a:solidFill>
              <a:srgbClr val="FFFFFF"/>
            </a:solidFill>
          </p:spPr>
          <p:txBody>
            <a:bodyPr wrap="square" lIns="0" tIns="0" rIns="0" bIns="0" rtlCol="0"/>
            <a:lstStyle/>
            <a:p>
              <a:endParaRPr sz="1155"/>
            </a:p>
          </p:txBody>
        </p:sp>
        <p:sp>
          <p:nvSpPr>
            <p:cNvPr id="19" name="object 19"/>
            <p:cNvSpPr/>
            <p:nvPr/>
          </p:nvSpPr>
          <p:spPr>
            <a:xfrm>
              <a:off x="1018032" y="5893308"/>
              <a:ext cx="7950834" cy="822960"/>
            </a:xfrm>
            <a:custGeom>
              <a:avLst/>
              <a:gdLst/>
              <a:ahLst/>
              <a:cxnLst/>
              <a:rect l="l" t="t" r="r" b="b"/>
              <a:pathLst>
                <a:path w="7950834" h="822959">
                  <a:moveTo>
                    <a:pt x="7805928" y="822960"/>
                  </a:moveTo>
                  <a:lnTo>
                    <a:pt x="144780" y="822960"/>
                  </a:lnTo>
                  <a:lnTo>
                    <a:pt x="131064" y="821436"/>
                  </a:lnTo>
                  <a:lnTo>
                    <a:pt x="115824" y="819912"/>
                  </a:lnTo>
                  <a:lnTo>
                    <a:pt x="64008" y="798576"/>
                  </a:lnTo>
                  <a:lnTo>
                    <a:pt x="24384" y="758952"/>
                  </a:lnTo>
                  <a:lnTo>
                    <a:pt x="6096" y="720852"/>
                  </a:lnTo>
                  <a:lnTo>
                    <a:pt x="0" y="691896"/>
                  </a:lnTo>
                  <a:lnTo>
                    <a:pt x="0" y="131064"/>
                  </a:lnTo>
                  <a:lnTo>
                    <a:pt x="1524" y="117348"/>
                  </a:lnTo>
                  <a:lnTo>
                    <a:pt x="10668" y="89916"/>
                  </a:lnTo>
                  <a:lnTo>
                    <a:pt x="16764" y="76200"/>
                  </a:lnTo>
                  <a:lnTo>
                    <a:pt x="24384" y="65532"/>
                  </a:lnTo>
                  <a:lnTo>
                    <a:pt x="32004" y="53340"/>
                  </a:lnTo>
                  <a:lnTo>
                    <a:pt x="62484" y="25908"/>
                  </a:lnTo>
                  <a:lnTo>
                    <a:pt x="100584" y="7620"/>
                  </a:lnTo>
                  <a:lnTo>
                    <a:pt x="144780" y="0"/>
                  </a:lnTo>
                  <a:lnTo>
                    <a:pt x="7805928" y="0"/>
                  </a:lnTo>
                  <a:lnTo>
                    <a:pt x="7848600" y="6096"/>
                  </a:lnTo>
                  <a:lnTo>
                    <a:pt x="7886700" y="24384"/>
                  </a:lnTo>
                  <a:lnTo>
                    <a:pt x="7888478" y="25908"/>
                  </a:lnTo>
                  <a:lnTo>
                    <a:pt x="132588" y="25908"/>
                  </a:lnTo>
                  <a:lnTo>
                    <a:pt x="121920" y="27432"/>
                  </a:lnTo>
                  <a:lnTo>
                    <a:pt x="77724" y="45720"/>
                  </a:lnTo>
                  <a:lnTo>
                    <a:pt x="60960" y="60960"/>
                  </a:lnTo>
                  <a:lnTo>
                    <a:pt x="51816" y="68580"/>
                  </a:lnTo>
                  <a:lnTo>
                    <a:pt x="30480" y="109728"/>
                  </a:lnTo>
                  <a:lnTo>
                    <a:pt x="24384" y="146304"/>
                  </a:lnTo>
                  <a:lnTo>
                    <a:pt x="24384" y="676656"/>
                  </a:lnTo>
                  <a:lnTo>
                    <a:pt x="27432" y="701040"/>
                  </a:lnTo>
                  <a:lnTo>
                    <a:pt x="30480" y="711708"/>
                  </a:lnTo>
                  <a:lnTo>
                    <a:pt x="33528" y="723900"/>
                  </a:lnTo>
                  <a:lnTo>
                    <a:pt x="39624" y="733044"/>
                  </a:lnTo>
                  <a:lnTo>
                    <a:pt x="44196" y="743712"/>
                  </a:lnTo>
                  <a:lnTo>
                    <a:pt x="59436" y="762000"/>
                  </a:lnTo>
                  <a:lnTo>
                    <a:pt x="97536" y="787908"/>
                  </a:lnTo>
                  <a:lnTo>
                    <a:pt x="132588" y="797052"/>
                  </a:lnTo>
                  <a:lnTo>
                    <a:pt x="7886700" y="797052"/>
                  </a:lnTo>
                  <a:lnTo>
                    <a:pt x="7874508" y="804672"/>
                  </a:lnTo>
                  <a:lnTo>
                    <a:pt x="7862316" y="810768"/>
                  </a:lnTo>
                  <a:lnTo>
                    <a:pt x="7834884" y="819912"/>
                  </a:lnTo>
                  <a:lnTo>
                    <a:pt x="7821168" y="821436"/>
                  </a:lnTo>
                  <a:lnTo>
                    <a:pt x="7805928" y="822960"/>
                  </a:lnTo>
                  <a:close/>
                </a:path>
                <a:path w="7950834" h="822959">
                  <a:moveTo>
                    <a:pt x="7886700" y="797052"/>
                  </a:moveTo>
                  <a:lnTo>
                    <a:pt x="7816596" y="797052"/>
                  </a:lnTo>
                  <a:lnTo>
                    <a:pt x="7828788" y="795528"/>
                  </a:lnTo>
                  <a:lnTo>
                    <a:pt x="7840980" y="792480"/>
                  </a:lnTo>
                  <a:lnTo>
                    <a:pt x="7889748" y="762000"/>
                  </a:lnTo>
                  <a:lnTo>
                    <a:pt x="7920228" y="713232"/>
                  </a:lnTo>
                  <a:lnTo>
                    <a:pt x="7924800" y="690372"/>
                  </a:lnTo>
                  <a:lnTo>
                    <a:pt x="7924800" y="134112"/>
                  </a:lnTo>
                  <a:lnTo>
                    <a:pt x="7911084" y="88392"/>
                  </a:lnTo>
                  <a:lnTo>
                    <a:pt x="7872984" y="45720"/>
                  </a:lnTo>
                  <a:lnTo>
                    <a:pt x="7830312" y="27432"/>
                  </a:lnTo>
                  <a:lnTo>
                    <a:pt x="7818120" y="25908"/>
                  </a:lnTo>
                  <a:lnTo>
                    <a:pt x="7888478" y="25908"/>
                  </a:lnTo>
                  <a:lnTo>
                    <a:pt x="7926324" y="64008"/>
                  </a:lnTo>
                  <a:lnTo>
                    <a:pt x="7944612" y="102108"/>
                  </a:lnTo>
                  <a:lnTo>
                    <a:pt x="7950708" y="129540"/>
                  </a:lnTo>
                  <a:lnTo>
                    <a:pt x="7950708" y="691896"/>
                  </a:lnTo>
                  <a:lnTo>
                    <a:pt x="7940040" y="733044"/>
                  </a:lnTo>
                  <a:lnTo>
                    <a:pt x="7918704" y="769620"/>
                  </a:lnTo>
                  <a:lnTo>
                    <a:pt x="7898892" y="789432"/>
                  </a:lnTo>
                  <a:lnTo>
                    <a:pt x="7886700" y="797052"/>
                  </a:lnTo>
                  <a:close/>
                </a:path>
              </a:pathLst>
            </a:custGeom>
            <a:solidFill>
              <a:srgbClr val="4F80BC"/>
            </a:solidFill>
          </p:spPr>
          <p:txBody>
            <a:bodyPr wrap="square" lIns="0" tIns="0" rIns="0" bIns="0" rtlCol="0"/>
            <a:lstStyle/>
            <a:p>
              <a:endParaRPr sz="1155"/>
            </a:p>
          </p:txBody>
        </p:sp>
      </p:grpSp>
      <p:sp>
        <p:nvSpPr>
          <p:cNvPr id="20" name="object 20"/>
          <p:cNvSpPr txBox="1"/>
          <p:nvPr/>
        </p:nvSpPr>
        <p:spPr>
          <a:xfrm>
            <a:off x="3646308" y="1568411"/>
            <a:ext cx="4597385" cy="2647639"/>
          </a:xfrm>
          <a:prstGeom prst="rect">
            <a:avLst/>
          </a:prstGeom>
        </p:spPr>
        <p:txBody>
          <a:bodyPr vert="horz" wrap="square" lIns="0" tIns="7738" rIns="0" bIns="0" rtlCol="0">
            <a:spAutoFit/>
          </a:bodyPr>
          <a:lstStyle/>
          <a:p>
            <a:pPr marL="340995" indent="-227330">
              <a:spcBef>
                <a:spcPts val="60"/>
              </a:spcBef>
              <a:buAutoNum type="alphaLcPeriod"/>
              <a:tabLst>
                <a:tab pos="340360" algn="l"/>
              </a:tabLst>
            </a:pPr>
            <a:r>
              <a:rPr sz="1795" b="1" i="1" dirty="0">
                <a:latin typeface="Times New Roman" panose="02020603050405020304"/>
                <a:cs typeface="Times New Roman" panose="02020603050405020304"/>
              </a:rPr>
              <a:t>Nguồn</a:t>
            </a:r>
            <a:r>
              <a:rPr sz="1795" b="1" i="1" spc="-2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gốc</a:t>
            </a:r>
            <a:r>
              <a:rPr sz="1795" b="1" i="1" spc="-13"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của</a:t>
            </a:r>
            <a:r>
              <a:rPr sz="1795" b="1" i="1" spc="-29"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triết</a:t>
            </a:r>
            <a:r>
              <a:rPr sz="1795" b="1" i="1" spc="-19" dirty="0">
                <a:latin typeface="Times New Roman" panose="02020603050405020304"/>
                <a:cs typeface="Times New Roman" panose="02020603050405020304"/>
              </a:rPr>
              <a:t> </a:t>
            </a:r>
            <a:r>
              <a:rPr sz="1795" b="1" i="1" spc="-16" dirty="0">
                <a:latin typeface="Times New Roman" panose="02020603050405020304"/>
                <a:cs typeface="Times New Roman" panose="02020603050405020304"/>
              </a:rPr>
              <a:t>học</a:t>
            </a:r>
            <a:endParaRPr sz="1795">
              <a:latin typeface="Times New Roman" panose="02020603050405020304"/>
              <a:cs typeface="Times New Roman" panose="02020603050405020304"/>
            </a:endParaRPr>
          </a:p>
          <a:p>
            <a:pPr>
              <a:spcBef>
                <a:spcPts val="1900"/>
              </a:spcBef>
              <a:buFont typeface="Times New Roman" panose="02020603050405020304"/>
              <a:buAutoNum type="alphaLcPeriod"/>
            </a:pPr>
            <a:endParaRPr sz="1795">
              <a:latin typeface="Times New Roman" panose="02020603050405020304"/>
              <a:cs typeface="Times New Roman" panose="02020603050405020304"/>
            </a:endParaRPr>
          </a:p>
          <a:p>
            <a:pPr marL="332105" indent="-227330">
              <a:buAutoNum type="alphaLcPeriod"/>
              <a:tabLst>
                <a:tab pos="331470" algn="l"/>
              </a:tabLst>
            </a:pPr>
            <a:r>
              <a:rPr sz="1795" b="1" i="1" dirty="0">
                <a:latin typeface="Times New Roman" panose="02020603050405020304"/>
                <a:cs typeface="Times New Roman" panose="02020603050405020304"/>
              </a:rPr>
              <a:t>Khái</a:t>
            </a:r>
            <a:r>
              <a:rPr sz="1795" b="1" i="1" spc="-4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niệm</a:t>
            </a:r>
            <a:r>
              <a:rPr sz="1795" b="1" i="1" spc="-45"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Triết</a:t>
            </a:r>
            <a:r>
              <a:rPr sz="1795" b="1" i="1" spc="-38" dirty="0">
                <a:latin typeface="Times New Roman" panose="02020603050405020304"/>
                <a:cs typeface="Times New Roman" panose="02020603050405020304"/>
              </a:rPr>
              <a:t> </a:t>
            </a:r>
            <a:r>
              <a:rPr sz="1795" b="1" i="1" spc="-16" dirty="0">
                <a:latin typeface="Times New Roman" panose="02020603050405020304"/>
                <a:cs typeface="Times New Roman" panose="02020603050405020304"/>
              </a:rPr>
              <a:t>học</a:t>
            </a:r>
            <a:endParaRPr sz="1795">
              <a:latin typeface="Times New Roman" panose="02020603050405020304"/>
              <a:cs typeface="Times New Roman" panose="02020603050405020304"/>
            </a:endParaRPr>
          </a:p>
          <a:p>
            <a:pPr>
              <a:spcBef>
                <a:spcPts val="1900"/>
              </a:spcBef>
              <a:buFont typeface="Times New Roman" panose="02020603050405020304"/>
              <a:buAutoNum type="alphaLcPeriod"/>
            </a:pPr>
            <a:endParaRPr sz="1795">
              <a:latin typeface="Times New Roman" panose="02020603050405020304"/>
              <a:cs typeface="Times New Roman" panose="02020603050405020304"/>
            </a:endParaRPr>
          </a:p>
          <a:p>
            <a:pPr marL="221615" indent="-213360">
              <a:buAutoNum type="alphaLcPeriod"/>
              <a:tabLst>
                <a:tab pos="220980" algn="l"/>
              </a:tabLst>
            </a:pPr>
            <a:r>
              <a:rPr sz="1795" b="1" i="1" dirty="0">
                <a:latin typeface="Times New Roman" panose="02020603050405020304"/>
                <a:cs typeface="Times New Roman" panose="02020603050405020304"/>
              </a:rPr>
              <a:t>Vấn</a:t>
            </a:r>
            <a:r>
              <a:rPr sz="1795" b="1" i="1" spc="-10"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đề</a:t>
            </a:r>
            <a:r>
              <a:rPr sz="1795" b="1" i="1" spc="-2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đối</a:t>
            </a:r>
            <a:r>
              <a:rPr sz="1795" b="1" i="1" spc="-6"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tượng</a:t>
            </a:r>
            <a:r>
              <a:rPr sz="1795" b="1" i="1" spc="-16"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của</a:t>
            </a:r>
            <a:r>
              <a:rPr sz="1795" b="1" i="1" spc="-13"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triết</a:t>
            </a:r>
            <a:r>
              <a:rPr sz="1795" b="1" i="1" spc="-29"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học</a:t>
            </a:r>
            <a:r>
              <a:rPr sz="1795" b="1" i="1" spc="-19"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trong</a:t>
            </a:r>
            <a:r>
              <a:rPr sz="1795" b="1" i="1" spc="-16"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lịch</a:t>
            </a:r>
            <a:r>
              <a:rPr sz="1795" b="1" i="1" spc="-6" dirty="0">
                <a:latin typeface="Times New Roman" panose="02020603050405020304"/>
                <a:cs typeface="Times New Roman" panose="02020603050405020304"/>
              </a:rPr>
              <a:t> </a:t>
            </a:r>
            <a:r>
              <a:rPr sz="1795" b="1" i="1" spc="-16" dirty="0">
                <a:latin typeface="Times New Roman" panose="02020603050405020304"/>
                <a:cs typeface="Times New Roman" panose="02020603050405020304"/>
              </a:rPr>
              <a:t>sử</a:t>
            </a:r>
            <a:endParaRPr sz="1795">
              <a:latin typeface="Times New Roman" panose="02020603050405020304"/>
              <a:cs typeface="Times New Roman" panose="02020603050405020304"/>
            </a:endParaRPr>
          </a:p>
          <a:p>
            <a:pPr>
              <a:spcBef>
                <a:spcPts val="1710"/>
              </a:spcBef>
              <a:buFont typeface="Times New Roman" panose="02020603050405020304"/>
              <a:buAutoNum type="alphaLcPeriod"/>
            </a:pPr>
            <a:endParaRPr sz="1795">
              <a:latin typeface="Times New Roman" panose="02020603050405020304"/>
              <a:cs typeface="Times New Roman" panose="02020603050405020304"/>
            </a:endParaRPr>
          </a:p>
          <a:p>
            <a:pPr marL="278130" indent="-227330">
              <a:buAutoNum type="alphaLcPeriod"/>
              <a:tabLst>
                <a:tab pos="278130" algn="l"/>
              </a:tabLst>
            </a:pPr>
            <a:r>
              <a:rPr sz="1795" b="1" i="1" dirty="0">
                <a:latin typeface="Times New Roman" panose="02020603050405020304"/>
                <a:cs typeface="Times New Roman" panose="02020603050405020304"/>
              </a:rPr>
              <a:t>Triết</a:t>
            </a:r>
            <a:r>
              <a:rPr sz="1795" b="1" i="1" spc="-3"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học</a:t>
            </a:r>
            <a:r>
              <a:rPr sz="1795" b="1" i="1" spc="-29"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a:t>
            </a:r>
            <a:r>
              <a:rPr sz="1795" b="1" i="1" spc="-26"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hạt</a:t>
            </a:r>
            <a:r>
              <a:rPr sz="1795" b="1" i="1" spc="-16"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nhân</a:t>
            </a:r>
            <a:r>
              <a:rPr sz="1795" b="1" i="1" spc="-3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lý</a:t>
            </a:r>
            <a:r>
              <a:rPr sz="1795" b="1" i="1" spc="-10"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luận</a:t>
            </a:r>
            <a:r>
              <a:rPr sz="1795" b="1" i="1" spc="-3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của</a:t>
            </a:r>
            <a:r>
              <a:rPr sz="1795" b="1" i="1" spc="-22"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thế</a:t>
            </a:r>
            <a:r>
              <a:rPr sz="1795" b="1" i="1" spc="-29" dirty="0">
                <a:latin typeface="Times New Roman" panose="02020603050405020304"/>
                <a:cs typeface="Times New Roman" panose="02020603050405020304"/>
              </a:rPr>
              <a:t> </a:t>
            </a:r>
            <a:r>
              <a:rPr sz="1795" b="1" i="1" dirty="0">
                <a:latin typeface="Times New Roman" panose="02020603050405020304"/>
                <a:cs typeface="Times New Roman" panose="02020603050405020304"/>
              </a:rPr>
              <a:t>giới</a:t>
            </a:r>
            <a:r>
              <a:rPr sz="1795" b="1" i="1" spc="-16" dirty="0">
                <a:latin typeface="Times New Roman" panose="02020603050405020304"/>
                <a:cs typeface="Times New Roman" panose="02020603050405020304"/>
              </a:rPr>
              <a:t> </a:t>
            </a:r>
            <a:r>
              <a:rPr sz="1795" b="1" i="1" spc="-13" dirty="0">
                <a:latin typeface="Times New Roman" panose="02020603050405020304"/>
                <a:cs typeface="Times New Roman" panose="02020603050405020304"/>
              </a:rPr>
              <a:t>quan</a:t>
            </a:r>
            <a:endParaRPr sz="1795">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08480" y="992769"/>
            <a:ext cx="9022080" cy="808918"/>
          </a:xfrm>
          <a:prstGeom prst="rect">
            <a:avLst/>
          </a:prstGeom>
        </p:spPr>
        <p:txBody>
          <a:bodyPr vert="horz" wrap="square" lIns="0" tIns="39095" rIns="0" bIns="0" rtlCol="0">
            <a:spAutoFit/>
          </a:bodyPr>
          <a:lstStyle/>
          <a:p>
            <a:pPr marL="153670" marR="3175" indent="-146050">
              <a:lnSpc>
                <a:spcPts val="1935"/>
              </a:lnSpc>
              <a:spcBef>
                <a:spcPts val="310"/>
              </a:spcBef>
              <a:buFont typeface="Arial" panose="020B0604020202020204"/>
              <a:buChar char="•"/>
              <a:tabLst>
                <a:tab pos="154305" algn="l"/>
              </a:tabLst>
            </a:pPr>
            <a:r>
              <a:rPr lang="en-US" altLang="en-US" sz="2000" b="1" i="1" dirty="0">
                <a:latin typeface="Times New Roman" panose="02020603050405020304" pitchFamily="18" charset="0"/>
              </a:rPr>
              <a:t>L</a:t>
            </a:r>
            <a:r>
              <a:rPr lang="vi-VN" altLang="en-US" sz="2000" b="1" i="1" dirty="0">
                <a:latin typeface="Times New Roman" panose="02020603050405020304" pitchFamily="18" charset="0"/>
              </a:rPr>
              <a:t>à một loại hình nhận thức đặc thù của con người, triết học ra đời cả ở Phương Đông và Phương Tây gần như cùng một thời gian (khoảng TK VIII  - TK VI tr CN).</a:t>
            </a:r>
            <a:endParaRPr lang="vi-VN" altLang="en-US" sz="2000" b="1" i="1" dirty="0">
              <a:latin typeface="Times New Roman" panose="02020603050405020304" pitchFamily="18" charset="0"/>
            </a:endParaRPr>
          </a:p>
          <a:p>
            <a:pPr marL="7620" marR="3175">
              <a:lnSpc>
                <a:spcPts val="1935"/>
              </a:lnSpc>
              <a:spcBef>
                <a:spcPts val="310"/>
              </a:spcBef>
              <a:tabLst>
                <a:tab pos="154305" algn="l"/>
              </a:tabLst>
            </a:pPr>
            <a:endParaRPr sz="1795" dirty="0">
              <a:latin typeface="Times New Roman" panose="02020603050405020304"/>
              <a:cs typeface="Times New Roman" panose="02020603050405020304"/>
            </a:endParaRPr>
          </a:p>
        </p:txBody>
      </p:sp>
      <p:sp>
        <p:nvSpPr>
          <p:cNvPr id="3" name="object 3"/>
          <p:cNvSpPr txBox="1"/>
          <p:nvPr/>
        </p:nvSpPr>
        <p:spPr>
          <a:xfrm>
            <a:off x="3515682" y="4373023"/>
            <a:ext cx="731411" cy="166712"/>
          </a:xfrm>
          <a:prstGeom prst="rect">
            <a:avLst/>
          </a:prstGeom>
        </p:spPr>
        <p:txBody>
          <a:bodyPr vert="horz" wrap="square" lIns="0" tIns="0" rIns="0" bIns="0" rtlCol="0">
            <a:spAutoFit/>
          </a:bodyPr>
          <a:lstStyle/>
          <a:p>
            <a:pPr>
              <a:lnSpc>
                <a:spcPts val="1275"/>
              </a:lnSpc>
            </a:pPr>
            <a:r>
              <a:rPr sz="1155" spc="-6" dirty="0">
                <a:latin typeface="Arial" panose="020B0604020202020204"/>
                <a:cs typeface="Arial" panose="020B0604020202020204"/>
              </a:rPr>
              <a:t>10/13/2021</a:t>
            </a:r>
            <a:endParaRPr sz="1155">
              <a:latin typeface="Arial" panose="020B0604020202020204"/>
              <a:cs typeface="Arial" panose="020B0604020202020204"/>
            </a:endParaRPr>
          </a:p>
        </p:txBody>
      </p:sp>
      <p:pic>
        <p:nvPicPr>
          <p:cNvPr id="4" name="object 4"/>
          <p:cNvPicPr/>
          <p:nvPr/>
        </p:nvPicPr>
        <p:blipFill>
          <a:blip r:embed="rId1" cstate="print"/>
          <a:stretch>
            <a:fillRect/>
          </a:stretch>
        </p:blipFill>
        <p:spPr>
          <a:xfrm>
            <a:off x="1808481" y="2390689"/>
            <a:ext cx="3410804" cy="2841711"/>
          </a:xfrm>
          <a:prstGeom prst="rect">
            <a:avLst/>
          </a:prstGeom>
        </p:spPr>
      </p:pic>
      <p:pic>
        <p:nvPicPr>
          <p:cNvPr id="5" name="object 5"/>
          <p:cNvPicPr/>
          <p:nvPr/>
        </p:nvPicPr>
        <p:blipFill>
          <a:blip r:embed="rId2" cstate="print"/>
          <a:stretch>
            <a:fillRect/>
          </a:stretch>
        </p:blipFill>
        <p:spPr>
          <a:xfrm>
            <a:off x="5297931" y="2390689"/>
            <a:ext cx="5802929" cy="2841711"/>
          </a:xfrm>
          <a:prstGeom prst="rect">
            <a:avLst/>
          </a:prstGeom>
        </p:spPr>
      </p:pic>
      <p:grpSp>
        <p:nvGrpSpPr>
          <p:cNvPr id="6" name="object 6"/>
          <p:cNvGrpSpPr/>
          <p:nvPr/>
        </p:nvGrpSpPr>
        <p:grpSpPr>
          <a:xfrm>
            <a:off x="2733041" y="300104"/>
            <a:ext cx="4197534" cy="542403"/>
            <a:chOff x="457200" y="627887"/>
            <a:chExt cx="5730240" cy="685800"/>
          </a:xfrm>
        </p:grpSpPr>
        <p:sp>
          <p:nvSpPr>
            <p:cNvPr id="7" name="object 7"/>
            <p:cNvSpPr/>
            <p:nvPr/>
          </p:nvSpPr>
          <p:spPr>
            <a:xfrm>
              <a:off x="457200" y="640080"/>
              <a:ext cx="5715000" cy="661670"/>
            </a:xfrm>
            <a:custGeom>
              <a:avLst/>
              <a:gdLst/>
              <a:ahLst/>
              <a:cxnLst/>
              <a:rect l="l" t="t" r="r" b="b"/>
              <a:pathLst>
                <a:path w="5715000" h="661669">
                  <a:moveTo>
                    <a:pt x="5385816" y="661416"/>
                  </a:moveTo>
                  <a:lnTo>
                    <a:pt x="0" y="661416"/>
                  </a:lnTo>
                  <a:lnTo>
                    <a:pt x="0" y="0"/>
                  </a:lnTo>
                  <a:lnTo>
                    <a:pt x="5385816" y="0"/>
                  </a:lnTo>
                  <a:lnTo>
                    <a:pt x="5715000" y="330708"/>
                  </a:lnTo>
                  <a:lnTo>
                    <a:pt x="5385816" y="661416"/>
                  </a:lnTo>
                  <a:close/>
                </a:path>
              </a:pathLst>
            </a:custGeom>
            <a:solidFill>
              <a:srgbClr val="DBE6F2"/>
            </a:solidFill>
          </p:spPr>
          <p:txBody>
            <a:bodyPr wrap="square" lIns="0" tIns="0" rIns="0" bIns="0" rtlCol="0"/>
            <a:lstStyle/>
            <a:p>
              <a:endParaRPr sz="1155"/>
            </a:p>
          </p:txBody>
        </p:sp>
        <p:sp>
          <p:nvSpPr>
            <p:cNvPr id="8" name="object 8"/>
            <p:cNvSpPr/>
            <p:nvPr/>
          </p:nvSpPr>
          <p:spPr>
            <a:xfrm>
              <a:off x="457200" y="627887"/>
              <a:ext cx="5730240" cy="685800"/>
            </a:xfrm>
            <a:custGeom>
              <a:avLst/>
              <a:gdLst/>
              <a:ahLst/>
              <a:cxnLst/>
              <a:rect l="l" t="t" r="r" b="b"/>
              <a:pathLst>
                <a:path w="5730240" h="685800">
                  <a:moveTo>
                    <a:pt x="0" y="25908"/>
                  </a:moveTo>
                  <a:lnTo>
                    <a:pt x="0" y="0"/>
                  </a:lnTo>
                  <a:lnTo>
                    <a:pt x="5388864" y="0"/>
                  </a:lnTo>
                  <a:lnTo>
                    <a:pt x="5394960" y="3048"/>
                  </a:lnTo>
                  <a:lnTo>
                    <a:pt x="5404062" y="12192"/>
                  </a:lnTo>
                  <a:lnTo>
                    <a:pt x="13716" y="12192"/>
                  </a:lnTo>
                  <a:lnTo>
                    <a:pt x="0" y="25908"/>
                  </a:lnTo>
                  <a:close/>
                </a:path>
                <a:path w="5730240" h="685800">
                  <a:moveTo>
                    <a:pt x="13716" y="673608"/>
                  </a:moveTo>
                  <a:lnTo>
                    <a:pt x="0" y="659892"/>
                  </a:lnTo>
                  <a:lnTo>
                    <a:pt x="0" y="25908"/>
                  </a:lnTo>
                  <a:lnTo>
                    <a:pt x="13716" y="12192"/>
                  </a:lnTo>
                  <a:lnTo>
                    <a:pt x="13716" y="673608"/>
                  </a:lnTo>
                  <a:close/>
                </a:path>
                <a:path w="5730240" h="685800">
                  <a:moveTo>
                    <a:pt x="5381244" y="25908"/>
                  </a:moveTo>
                  <a:lnTo>
                    <a:pt x="13716" y="25908"/>
                  </a:lnTo>
                  <a:lnTo>
                    <a:pt x="13716" y="12192"/>
                  </a:lnTo>
                  <a:lnTo>
                    <a:pt x="5404062" y="12192"/>
                  </a:lnTo>
                  <a:lnTo>
                    <a:pt x="5413164" y="21336"/>
                  </a:lnTo>
                  <a:lnTo>
                    <a:pt x="5376672" y="21336"/>
                  </a:lnTo>
                  <a:lnTo>
                    <a:pt x="5381244" y="25908"/>
                  </a:lnTo>
                  <a:close/>
                </a:path>
                <a:path w="5730240" h="685800">
                  <a:moveTo>
                    <a:pt x="5698236" y="342900"/>
                  </a:moveTo>
                  <a:lnTo>
                    <a:pt x="5376672" y="21336"/>
                  </a:lnTo>
                  <a:lnTo>
                    <a:pt x="5385816" y="25908"/>
                  </a:lnTo>
                  <a:lnTo>
                    <a:pt x="5417714" y="25908"/>
                  </a:lnTo>
                  <a:lnTo>
                    <a:pt x="5724144" y="333756"/>
                  </a:lnTo>
                  <a:lnTo>
                    <a:pt x="5707380" y="333756"/>
                  </a:lnTo>
                  <a:lnTo>
                    <a:pt x="5698236" y="342900"/>
                  </a:lnTo>
                  <a:close/>
                </a:path>
                <a:path w="5730240" h="685800">
                  <a:moveTo>
                    <a:pt x="5417714" y="25908"/>
                  </a:moveTo>
                  <a:lnTo>
                    <a:pt x="5385816" y="25908"/>
                  </a:lnTo>
                  <a:lnTo>
                    <a:pt x="5376672" y="21336"/>
                  </a:lnTo>
                  <a:lnTo>
                    <a:pt x="5413164" y="21336"/>
                  </a:lnTo>
                  <a:lnTo>
                    <a:pt x="5417714" y="25908"/>
                  </a:lnTo>
                  <a:close/>
                </a:path>
                <a:path w="5730240" h="685800">
                  <a:moveTo>
                    <a:pt x="5707380" y="352044"/>
                  </a:moveTo>
                  <a:lnTo>
                    <a:pt x="5698236" y="342900"/>
                  </a:lnTo>
                  <a:lnTo>
                    <a:pt x="5707380" y="333756"/>
                  </a:lnTo>
                  <a:lnTo>
                    <a:pt x="5707380" y="352044"/>
                  </a:lnTo>
                  <a:close/>
                </a:path>
                <a:path w="5730240" h="685800">
                  <a:moveTo>
                    <a:pt x="5724144" y="352044"/>
                  </a:moveTo>
                  <a:lnTo>
                    <a:pt x="5707380" y="352044"/>
                  </a:lnTo>
                  <a:lnTo>
                    <a:pt x="5707380" y="333756"/>
                  </a:lnTo>
                  <a:lnTo>
                    <a:pt x="5724144" y="333756"/>
                  </a:lnTo>
                  <a:lnTo>
                    <a:pt x="5730240" y="338328"/>
                  </a:lnTo>
                  <a:lnTo>
                    <a:pt x="5730240" y="347472"/>
                  </a:lnTo>
                  <a:lnTo>
                    <a:pt x="5724144" y="352044"/>
                  </a:lnTo>
                  <a:close/>
                </a:path>
                <a:path w="5730240" h="685800">
                  <a:moveTo>
                    <a:pt x="5376672" y="664464"/>
                  </a:moveTo>
                  <a:lnTo>
                    <a:pt x="5698236" y="342900"/>
                  </a:lnTo>
                  <a:lnTo>
                    <a:pt x="5707380" y="352044"/>
                  </a:lnTo>
                  <a:lnTo>
                    <a:pt x="5724144" y="352044"/>
                  </a:lnTo>
                  <a:lnTo>
                    <a:pt x="5416296" y="659892"/>
                  </a:lnTo>
                  <a:lnTo>
                    <a:pt x="5385816" y="659892"/>
                  </a:lnTo>
                  <a:lnTo>
                    <a:pt x="5376672" y="664464"/>
                  </a:lnTo>
                  <a:close/>
                </a:path>
                <a:path w="5730240" h="685800">
                  <a:moveTo>
                    <a:pt x="5388864" y="685800"/>
                  </a:moveTo>
                  <a:lnTo>
                    <a:pt x="0" y="685800"/>
                  </a:lnTo>
                  <a:lnTo>
                    <a:pt x="0" y="659892"/>
                  </a:lnTo>
                  <a:lnTo>
                    <a:pt x="13716" y="673608"/>
                  </a:lnTo>
                  <a:lnTo>
                    <a:pt x="5402580" y="673608"/>
                  </a:lnTo>
                  <a:lnTo>
                    <a:pt x="5391912" y="684276"/>
                  </a:lnTo>
                  <a:lnTo>
                    <a:pt x="5388864" y="685800"/>
                  </a:lnTo>
                  <a:close/>
                </a:path>
                <a:path w="5730240" h="685800">
                  <a:moveTo>
                    <a:pt x="5402580" y="673608"/>
                  </a:moveTo>
                  <a:lnTo>
                    <a:pt x="13716" y="673608"/>
                  </a:lnTo>
                  <a:lnTo>
                    <a:pt x="13716" y="659892"/>
                  </a:lnTo>
                  <a:lnTo>
                    <a:pt x="5381244" y="659892"/>
                  </a:lnTo>
                  <a:lnTo>
                    <a:pt x="5376672" y="664464"/>
                  </a:lnTo>
                  <a:lnTo>
                    <a:pt x="5411724" y="664464"/>
                  </a:lnTo>
                  <a:lnTo>
                    <a:pt x="5402580" y="673608"/>
                  </a:lnTo>
                  <a:close/>
                </a:path>
                <a:path w="5730240" h="685800">
                  <a:moveTo>
                    <a:pt x="5411724" y="664464"/>
                  </a:moveTo>
                  <a:lnTo>
                    <a:pt x="5376672" y="664464"/>
                  </a:lnTo>
                  <a:lnTo>
                    <a:pt x="5385816" y="659892"/>
                  </a:lnTo>
                  <a:lnTo>
                    <a:pt x="5416296" y="659892"/>
                  </a:lnTo>
                  <a:lnTo>
                    <a:pt x="5411724" y="664464"/>
                  </a:lnTo>
                  <a:close/>
                </a:path>
              </a:pathLst>
            </a:custGeom>
            <a:solidFill>
              <a:srgbClr val="F7F6F2"/>
            </a:solidFill>
          </p:spPr>
          <p:txBody>
            <a:bodyPr wrap="square" lIns="0" tIns="0" rIns="0" bIns="0" rtlCol="0"/>
            <a:lstStyle/>
            <a:p>
              <a:endParaRPr sz="1155"/>
            </a:p>
          </p:txBody>
        </p:sp>
      </p:grpSp>
      <p:sp>
        <p:nvSpPr>
          <p:cNvPr id="9" name="object 9"/>
          <p:cNvSpPr txBox="1">
            <a:spLocks noGrp="1"/>
          </p:cNvSpPr>
          <p:nvPr>
            <p:ph type="title"/>
          </p:nvPr>
        </p:nvSpPr>
        <p:spPr>
          <a:xfrm>
            <a:off x="2882052" y="430098"/>
            <a:ext cx="3674976" cy="363578"/>
          </a:xfrm>
          <a:prstGeom prst="rect">
            <a:avLst/>
          </a:prstGeom>
        </p:spPr>
        <p:txBody>
          <a:bodyPr vert="horz" wrap="square" lIns="0" tIns="8145" rIns="0" bIns="0" rtlCol="0" anchor="ctr">
            <a:spAutoFit/>
          </a:bodyPr>
          <a:lstStyle/>
          <a:p>
            <a:pPr marL="8255">
              <a:lnSpc>
                <a:spcPct val="100000"/>
              </a:lnSpc>
              <a:spcBef>
                <a:spcPts val="65"/>
              </a:spcBef>
            </a:pPr>
            <a:r>
              <a:rPr sz="2310" b="1" dirty="0">
                <a:solidFill>
                  <a:srgbClr val="000066"/>
                </a:solidFill>
                <a:latin typeface="Times New Roman" panose="02020603050405020304"/>
                <a:cs typeface="Times New Roman" panose="02020603050405020304"/>
              </a:rPr>
              <a:t>a.</a:t>
            </a:r>
            <a:r>
              <a:rPr sz="2310" b="1" spc="-13" dirty="0">
                <a:solidFill>
                  <a:srgbClr val="000066"/>
                </a:solidFill>
                <a:latin typeface="Times New Roman" panose="02020603050405020304"/>
                <a:cs typeface="Times New Roman" panose="02020603050405020304"/>
              </a:rPr>
              <a:t> </a:t>
            </a:r>
            <a:r>
              <a:rPr sz="2310" b="1" dirty="0">
                <a:solidFill>
                  <a:srgbClr val="000066"/>
                </a:solidFill>
                <a:latin typeface="Times New Roman" panose="02020603050405020304"/>
                <a:cs typeface="Times New Roman" panose="02020603050405020304"/>
              </a:rPr>
              <a:t>Nguồn</a:t>
            </a:r>
            <a:r>
              <a:rPr sz="2310" b="1" spc="-29" dirty="0">
                <a:solidFill>
                  <a:srgbClr val="000066"/>
                </a:solidFill>
                <a:latin typeface="Times New Roman" panose="02020603050405020304"/>
                <a:cs typeface="Times New Roman" panose="02020603050405020304"/>
              </a:rPr>
              <a:t> </a:t>
            </a:r>
            <a:r>
              <a:rPr sz="2310" b="1" dirty="0">
                <a:solidFill>
                  <a:srgbClr val="000066"/>
                </a:solidFill>
                <a:latin typeface="Times New Roman" panose="02020603050405020304"/>
                <a:cs typeface="Times New Roman" panose="02020603050405020304"/>
              </a:rPr>
              <a:t>gốc của</a:t>
            </a:r>
            <a:r>
              <a:rPr sz="2310" b="1" spc="-10" dirty="0">
                <a:solidFill>
                  <a:srgbClr val="000066"/>
                </a:solidFill>
                <a:latin typeface="Times New Roman" panose="02020603050405020304"/>
                <a:cs typeface="Times New Roman" panose="02020603050405020304"/>
              </a:rPr>
              <a:t> </a:t>
            </a:r>
            <a:r>
              <a:rPr sz="2310" b="1" dirty="0">
                <a:solidFill>
                  <a:srgbClr val="000066"/>
                </a:solidFill>
                <a:latin typeface="Times New Roman" panose="02020603050405020304"/>
                <a:cs typeface="Times New Roman" panose="02020603050405020304"/>
              </a:rPr>
              <a:t>triết</a:t>
            </a:r>
            <a:r>
              <a:rPr sz="2310" b="1" spc="-10" dirty="0">
                <a:solidFill>
                  <a:srgbClr val="000066"/>
                </a:solidFill>
                <a:latin typeface="Times New Roman" panose="02020603050405020304"/>
                <a:cs typeface="Times New Roman" panose="02020603050405020304"/>
              </a:rPr>
              <a:t> </a:t>
            </a:r>
            <a:r>
              <a:rPr sz="2310" b="1" spc="-16" dirty="0">
                <a:solidFill>
                  <a:srgbClr val="000066"/>
                </a:solidFill>
                <a:latin typeface="Times New Roman" panose="02020603050405020304"/>
                <a:cs typeface="Times New Roman" panose="02020603050405020304"/>
              </a:rPr>
              <a:t>học</a:t>
            </a:r>
            <a:endParaRPr sz="2310" dirty="0">
              <a:latin typeface="Times New Roman" panose="02020603050405020304"/>
              <a:cs typeface="Times New Roman" panose="02020603050405020304"/>
            </a:endParaRPr>
          </a:p>
        </p:txBody>
      </p:sp>
      <p:sp>
        <p:nvSpPr>
          <p:cNvPr id="10" name="object 10"/>
          <p:cNvSpPr txBox="1"/>
          <p:nvPr/>
        </p:nvSpPr>
        <p:spPr>
          <a:xfrm>
            <a:off x="5297931" y="4845867"/>
            <a:ext cx="1632644" cy="80988"/>
          </a:xfrm>
          <a:prstGeom prst="rect">
            <a:avLst/>
          </a:prstGeom>
        </p:spPr>
        <p:txBody>
          <a:bodyPr vert="horz" wrap="square" lIns="0" tIns="2036" rIns="0" bIns="0" rtlCol="0">
            <a:spAutoFit/>
          </a:bodyPr>
          <a:lstStyle/>
          <a:p>
            <a:pPr marL="8255">
              <a:spcBef>
                <a:spcPts val="15"/>
              </a:spcBef>
            </a:pPr>
            <a:r>
              <a:rPr sz="515" dirty="0">
                <a:solidFill>
                  <a:srgbClr val="4C4C4C"/>
                </a:solidFill>
                <a:latin typeface="Arial" panose="020B0604020202020204"/>
                <a:cs typeface="Arial" panose="020B0604020202020204"/>
              </a:rPr>
              <a:t>Downloaded</a:t>
            </a:r>
            <a:r>
              <a:rPr sz="515" spc="-13" dirty="0">
                <a:solidFill>
                  <a:srgbClr val="4C4C4C"/>
                </a:solidFill>
                <a:latin typeface="Arial" panose="020B0604020202020204"/>
                <a:cs typeface="Arial" panose="020B0604020202020204"/>
              </a:rPr>
              <a:t> </a:t>
            </a:r>
            <a:r>
              <a:rPr sz="515" dirty="0">
                <a:solidFill>
                  <a:srgbClr val="4C4C4C"/>
                </a:solidFill>
                <a:latin typeface="Arial" panose="020B0604020202020204"/>
                <a:cs typeface="Arial" panose="020B0604020202020204"/>
              </a:rPr>
              <a:t>by</a:t>
            </a:r>
            <a:r>
              <a:rPr sz="515" spc="-13" dirty="0">
                <a:solidFill>
                  <a:srgbClr val="4C4C4C"/>
                </a:solidFill>
                <a:latin typeface="Arial" panose="020B0604020202020204"/>
                <a:cs typeface="Arial" panose="020B0604020202020204"/>
              </a:rPr>
              <a:t> </a:t>
            </a:r>
            <a:r>
              <a:rPr sz="515" dirty="0">
                <a:solidFill>
                  <a:srgbClr val="4C4C4C"/>
                </a:solidFill>
                <a:latin typeface="Arial" panose="020B0604020202020204"/>
                <a:cs typeface="Arial" panose="020B0604020202020204"/>
              </a:rPr>
              <a:t>Ng?c</a:t>
            </a:r>
            <a:r>
              <a:rPr sz="515" spc="-10" dirty="0">
                <a:solidFill>
                  <a:srgbClr val="4C4C4C"/>
                </a:solidFill>
                <a:latin typeface="Arial" panose="020B0604020202020204"/>
                <a:cs typeface="Arial" panose="020B0604020202020204"/>
              </a:rPr>
              <a:t> </a:t>
            </a:r>
            <a:r>
              <a:rPr sz="515" dirty="0">
                <a:solidFill>
                  <a:srgbClr val="4C4C4C"/>
                </a:solidFill>
                <a:latin typeface="Arial" panose="020B0604020202020204"/>
                <a:cs typeface="Arial" panose="020B0604020202020204"/>
              </a:rPr>
              <a:t>Bích</a:t>
            </a:r>
            <a:r>
              <a:rPr sz="515" spc="122" dirty="0">
                <a:solidFill>
                  <a:srgbClr val="4C4C4C"/>
                </a:solidFill>
                <a:latin typeface="Arial" panose="020B0604020202020204"/>
                <a:cs typeface="Arial" panose="020B0604020202020204"/>
              </a:rPr>
              <a:t> </a:t>
            </a:r>
            <a:r>
              <a:rPr sz="515" spc="-6" dirty="0">
                <a:solidFill>
                  <a:srgbClr val="4C4C4C"/>
                </a:solidFill>
                <a:latin typeface="Arial" panose="020B0604020202020204"/>
                <a:cs typeface="Arial" panose="020B0604020202020204"/>
                <a:hlinkClick r:id="rId3"/>
              </a:rPr>
              <a:t>(ngocbich7083@gmail.com)</a:t>
            </a:r>
            <a:endParaRPr sz="515">
              <a:latin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3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34458"/>
          </a:xfrm>
        </p:spPr>
        <p:txBody>
          <a:bodyPr>
            <a:normAutofit/>
          </a:bodyPr>
          <a:lstStyle/>
          <a:p>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rot="10800000" flipV="1">
            <a:off x="1026160" y="2332382"/>
            <a:ext cx="1451988" cy="15080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i="1" dirty="0">
                <a:solidFill>
                  <a:schemeClr val="tx1"/>
                </a:solidFill>
                <a:latin typeface="Times New Roman" panose="02020603050405020304" pitchFamily="18" charset="0"/>
                <a:cs typeface="Times New Roman" panose="02020603050405020304" pitchFamily="18" charset="0"/>
              </a:rPr>
              <a:t>Nguồn gốc của </a:t>
            </a:r>
            <a:r>
              <a:rPr lang="vi-VN" altLang="en-US" sz="2400" b="1" i="1" dirty="0">
                <a:solidFill>
                  <a:schemeClr val="tx1"/>
                </a:solidFill>
                <a:latin typeface="Times New Roman" panose="02020603050405020304" pitchFamily="18" charset="0"/>
              </a:rPr>
              <a:t>triết học</a:t>
            </a:r>
            <a:endParaRPr lang="en-US" sz="2400" dirty="0">
              <a:solidFill>
                <a:schemeClr val="tx1"/>
              </a:solidFill>
            </a:endParaRPr>
          </a:p>
        </p:txBody>
      </p:sp>
      <p:sp>
        <p:nvSpPr>
          <p:cNvPr id="4" name="Rectangle 3"/>
          <p:cNvSpPr/>
          <p:nvPr/>
        </p:nvSpPr>
        <p:spPr>
          <a:xfrm rot="10800000" flipV="1">
            <a:off x="3578084" y="940902"/>
            <a:ext cx="6851376" cy="212034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en-US" b="1" i="1" dirty="0">
              <a:latin typeface="Times New Roman" panose="02020603050405020304" pitchFamily="18" charset="0"/>
            </a:endParaRPr>
          </a:p>
          <a:p>
            <a:pPr algn="just"/>
            <a:endParaRPr lang="en-US" altLang="en-US" b="1" i="1" dirty="0">
              <a:latin typeface="Times New Roman" panose="02020603050405020304" pitchFamily="18" charset="0"/>
            </a:endParaRPr>
          </a:p>
          <a:p>
            <a:pPr algn="just"/>
            <a:endParaRPr lang="en-US" altLang="en-US" b="1" i="1" dirty="0">
              <a:latin typeface="Times New Roman" panose="02020603050405020304" pitchFamily="18" charset="0"/>
            </a:endParaRPr>
          </a:p>
          <a:p>
            <a:pPr marL="285750" indent="-285750" algn="just">
              <a:buFont typeface="Wingdings" panose="05000000000000000000" pitchFamily="2" charset="2"/>
              <a:buChar char="v"/>
            </a:pPr>
            <a:r>
              <a:rPr lang="vi-VN" altLang="en-US" sz="2000" b="1" i="1" dirty="0">
                <a:solidFill>
                  <a:schemeClr val="tx1"/>
                </a:solidFill>
                <a:latin typeface="Times New Roman" panose="02020603050405020304" pitchFamily="18" charset="0"/>
              </a:rPr>
              <a:t>Nguồn gốc nhận thức: </a:t>
            </a:r>
            <a:endParaRPr lang="en-US" altLang="en-US" sz="2000" b="1" i="1" dirty="0">
              <a:solidFill>
                <a:schemeClr val="tx1"/>
              </a:solidFill>
              <a:latin typeface="Times New Roman" panose="02020603050405020304" pitchFamily="18" charset="0"/>
            </a:endParaRPr>
          </a:p>
          <a:p>
            <a:pPr marL="285750" indent="-285750" algn="just">
              <a:buFontTx/>
              <a:buChar char="-"/>
            </a:pPr>
            <a:r>
              <a:rPr lang="vi-VN" altLang="en-US" sz="2000" b="1" i="1" dirty="0">
                <a:solidFill>
                  <a:schemeClr val="tx1"/>
                </a:solidFill>
                <a:latin typeface="Times New Roman" panose="02020603050405020304" pitchFamily="18" charset="0"/>
              </a:rPr>
              <a:t>Nhận thức thế giới là một nhu cầu tự nhiên, khách quan của con người.</a:t>
            </a:r>
            <a:endParaRPr lang="en-US" altLang="en-US" sz="2000" b="1" i="1" dirty="0">
              <a:solidFill>
                <a:schemeClr val="tx1"/>
              </a:solidFill>
              <a:latin typeface="Times New Roman" panose="02020603050405020304" pitchFamily="18" charset="0"/>
            </a:endParaRPr>
          </a:p>
          <a:p>
            <a:pPr marL="285750" indent="-285750" algn="just">
              <a:buFontTx/>
              <a:buChar char="-"/>
            </a:pPr>
            <a:r>
              <a:rPr lang="vi-VN" altLang="en-US" sz="2000" b="1" i="1" dirty="0">
                <a:solidFill>
                  <a:schemeClr val="tx1"/>
                </a:solidFill>
                <a:latin typeface="Times New Roman" panose="02020603050405020304" pitchFamily="18" charset="0"/>
              </a:rPr>
              <a:t>Thế giới quan thần thoại, tôn giáo chi phối hoạt động nhận thức của con người</a:t>
            </a:r>
            <a:endParaRPr lang="vi-VN" altLang="en-US" sz="2000" b="1" i="1" dirty="0">
              <a:solidFill>
                <a:schemeClr val="tx1"/>
              </a:solidFill>
              <a:latin typeface="Times New Roman" panose="02020603050405020304" pitchFamily="18" charset="0"/>
            </a:endParaRPr>
          </a:p>
          <a:p>
            <a:pPr marL="285750" indent="-285750" algn="just">
              <a:buFontTx/>
              <a:buChar char="-"/>
            </a:pPr>
            <a:r>
              <a:rPr lang="vi-VN" altLang="en-US" sz="2000" b="1" i="1" dirty="0">
                <a:solidFill>
                  <a:schemeClr val="tx1"/>
                </a:solidFill>
                <a:latin typeface="Times New Roman" panose="02020603050405020304" pitchFamily="18" charset="0"/>
              </a:rPr>
              <a:t>Sự hình thành, phát triển tư duy trừu tượng, năng lực khái quát hóa nhận thức của con người</a:t>
            </a:r>
            <a:endParaRPr lang="vi-VN" altLang="en-US" sz="2000" b="1" i="1" dirty="0">
              <a:solidFill>
                <a:schemeClr val="tx1"/>
              </a:solidFill>
              <a:latin typeface="Times New Roman" panose="02020603050405020304" pitchFamily="18" charset="0"/>
            </a:endParaRPr>
          </a:p>
          <a:p>
            <a:pPr marL="285750" indent="-285750" algn="just">
              <a:buFontTx/>
              <a:buChar char="-"/>
            </a:pPr>
            <a:endParaRPr lang="en-US" altLang="en-US" sz="2000" b="1" i="1" dirty="0">
              <a:solidFill>
                <a:schemeClr val="tx1"/>
              </a:solidFill>
              <a:latin typeface="Times New Roman" panose="02020603050405020304" pitchFamily="18" charset="0"/>
            </a:endParaRPr>
          </a:p>
          <a:p>
            <a:pPr marL="285750" indent="-285750" algn="just">
              <a:buFontTx/>
              <a:buChar char="-"/>
            </a:pPr>
            <a:endParaRPr lang="vi-VN" altLang="en-US" b="1" i="1" dirty="0">
              <a:latin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3578084" y="3737111"/>
            <a:ext cx="6851376" cy="15902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Wingdings" panose="05000000000000000000" pitchFamily="2" charset="2"/>
              <a:buChar char="v"/>
            </a:pPr>
            <a:r>
              <a:rPr lang="vi-VN" altLang="en-US" sz="2000" b="1" i="1" dirty="0">
                <a:solidFill>
                  <a:schemeClr val="tx1"/>
                </a:solidFill>
                <a:latin typeface="Times New Roman" panose="02020603050405020304" pitchFamily="18" charset="0"/>
              </a:rPr>
              <a:t>Nguồn gốc xã hội: triết học ra đời khi nền sx xã hội có sự phân công lao động &amp; loài người đã xuất hiện giai cấp.</a:t>
            </a:r>
            <a:endParaRPr lang="vi-VN" altLang="en-US" sz="2000" b="1" i="1" dirty="0">
              <a:solidFill>
                <a:schemeClr val="tx1"/>
              </a:solidFill>
              <a:latin typeface="Times New Roman" panose="02020603050405020304" pitchFamily="18" charset="0"/>
            </a:endParaRPr>
          </a:p>
          <a:p>
            <a:pPr algn="just"/>
            <a:r>
              <a:rPr lang="vi-VN" altLang="en-US" sz="2000" b="1" i="1" dirty="0">
                <a:solidFill>
                  <a:schemeClr val="tx1"/>
                </a:solidFill>
                <a:latin typeface="Times New Roman" panose="02020603050405020304" pitchFamily="18" charset="0"/>
              </a:rPr>
              <a:t>-  Triết học ra đời mang tính “Đảng”, tính giai cấp</a:t>
            </a:r>
            <a:endParaRPr lang="vi-VN" altLang="en-US" sz="2000" b="1" i="1" dirty="0">
              <a:solidFill>
                <a:schemeClr val="tx1"/>
              </a:solidFill>
              <a:latin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cxnSp>
        <p:nvCxnSpPr>
          <p:cNvPr id="7" name="Straight Arrow Connector 6"/>
          <p:cNvCxnSpPr>
            <a:endCxn id="5" idx="1"/>
          </p:cNvCxnSpPr>
          <p:nvPr/>
        </p:nvCxnSpPr>
        <p:spPr>
          <a:xfrm>
            <a:off x="2478154" y="3127513"/>
            <a:ext cx="1099930" cy="1404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3" idx="1"/>
          </p:cNvCxnSpPr>
          <p:nvPr/>
        </p:nvCxnSpPr>
        <p:spPr>
          <a:xfrm flipV="1">
            <a:off x="2478148" y="1842052"/>
            <a:ext cx="1099936" cy="124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861" y="365125"/>
            <a:ext cx="10677939" cy="6141692"/>
          </a:xfrm>
        </p:spPr>
        <p:txBody>
          <a:bodyPr>
            <a:normAutofit fontScale="90000"/>
          </a:bodyPr>
          <a:lstStyle/>
          <a:p>
            <a:pPr algn="just"/>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vi-VN" altLang="ja-JP" sz="2400" b="1" dirty="0">
                <a:cs typeface="Times New Roman" panose="02020603050405020304" pitchFamily="18" charset="0"/>
              </a:rPr>
              <a:t>Vậy cả phương Đông và phương Tây từ đầu triết học đã xem là hoạt động tinh thần bậc cao, là loại hình nhận thức có tr</a:t>
            </a:r>
            <a:r>
              <a:rPr lang="en-US" altLang="ja-JP" sz="2400" b="1" dirty="0">
                <a:cs typeface="Times New Roman" panose="02020603050405020304" pitchFamily="18" charset="0"/>
              </a:rPr>
              <a:t>ì</a:t>
            </a:r>
            <a:r>
              <a:rPr lang="vi-VN" altLang="ja-JP" sz="2400" b="1" dirty="0">
                <a:cs typeface="Times New Roman" panose="02020603050405020304" pitchFamily="18" charset="0"/>
              </a:rPr>
              <a:t>nh độ trừu tượng hóa và kh</a:t>
            </a:r>
            <a:r>
              <a:rPr lang="en-US" altLang="ja-JP" sz="2400" b="1" dirty="0" err="1">
                <a:cs typeface="Times New Roman" panose="02020603050405020304" pitchFamily="18" charset="0"/>
              </a:rPr>
              <a:t>ái</a:t>
            </a:r>
            <a:r>
              <a:rPr lang="vi-VN" altLang="ja-JP" sz="2400" b="1" dirty="0">
                <a:cs typeface="Times New Roman" panose="02020603050405020304" pitchFamily="18" charset="0"/>
              </a:rPr>
              <a:t> quát hóa.</a:t>
            </a:r>
            <a:br>
              <a:rPr lang="vi-VN" altLang="ja-JP" sz="2400" b="1" dirty="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838201" y="848139"/>
            <a:ext cx="1600200" cy="35972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2400" b="1" i="1" dirty="0">
                <a:solidFill>
                  <a:schemeClr val="tx1"/>
                </a:solidFill>
                <a:latin typeface="Times New Roman" panose="02020603050405020304" pitchFamily="18" charset="0"/>
                <a:cs typeface="Times New Roman" panose="02020603050405020304" pitchFamily="18" charset="0"/>
              </a:rPr>
              <a:t>b. </a:t>
            </a:r>
            <a:r>
              <a:rPr lang="vi-VN" altLang="en-US" sz="2400" b="1" i="1" dirty="0">
                <a:solidFill>
                  <a:schemeClr val="tx1"/>
                </a:solidFill>
                <a:latin typeface="Times New Roman" panose="02020603050405020304" pitchFamily="18" charset="0"/>
                <a:cs typeface="Times New Roman" panose="02020603050405020304" pitchFamily="18" charset="0"/>
              </a:rPr>
              <a:t>Khái niệm triết học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4147929" y="437321"/>
            <a:ext cx="7205870" cy="17492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 typeface="Wingdings" panose="05000000000000000000" pitchFamily="2" charset="2"/>
              <a:buChar char="v"/>
              <a:defRPr/>
            </a:pPr>
            <a:r>
              <a:rPr lang="vi-VN" altLang="ja-JP" sz="2000" dirty="0">
                <a:solidFill>
                  <a:schemeClr val="tx1"/>
                </a:solidFill>
                <a:latin typeface="Times New Roman" panose="02020603050405020304" pitchFamily="18" charset="0"/>
                <a:cs typeface="Times New Roman" panose="02020603050405020304" pitchFamily="18" charset="0"/>
              </a:rPr>
              <a:t>Ở Trung Quốc,  chữ triết (</a:t>
            </a:r>
            <a:r>
              <a:rPr lang="ja-JP" altLang="en-US" sz="2000" b="1" dirty="0">
                <a:solidFill>
                  <a:schemeClr val="tx1"/>
                </a:solidFill>
                <a:latin typeface="Times New Roman" panose="02020603050405020304" pitchFamily="18" charset="0"/>
                <a:cs typeface="Times New Roman" panose="02020603050405020304" pitchFamily="18" charset="0"/>
                <a:hlinkClick r:id="rId1"/>
              </a:rPr>
              <a:t>哲</a:t>
            </a:r>
            <a:r>
              <a:rPr lang="vi-VN" altLang="ja-JP" sz="2000" b="1" dirty="0">
                <a:solidFill>
                  <a:schemeClr val="tx1"/>
                </a:solidFill>
                <a:latin typeface="Times New Roman" panose="02020603050405020304" pitchFamily="18" charset="0"/>
                <a:cs typeface="Times New Roman" panose="02020603050405020304" pitchFamily="18" charset="0"/>
              </a:rPr>
              <a:t>)</a:t>
            </a:r>
            <a:r>
              <a:rPr lang="vi-VN" altLang="ja-JP" sz="2000" dirty="0">
                <a:solidFill>
                  <a:schemeClr val="tx1"/>
                </a:solidFill>
                <a:latin typeface="Times New Roman" panose="02020603050405020304" pitchFamily="18" charset="0"/>
                <a:cs typeface="Times New Roman" panose="02020603050405020304" pitchFamily="18" charset="0"/>
              </a:rPr>
              <a:t> đã có từ rất sớm</a:t>
            </a:r>
            <a:endParaRPr lang="vi-VN" altLang="ja-JP" sz="2000" dirty="0">
              <a:solidFill>
                <a:schemeClr val="tx1"/>
              </a:solidFill>
              <a:latin typeface="Times New Roman" panose="02020603050405020304" pitchFamily="18" charset="0"/>
              <a:cs typeface="Times New Roman" panose="02020603050405020304" pitchFamily="18" charset="0"/>
            </a:endParaRPr>
          </a:p>
          <a:p>
            <a:pPr marL="342900" indent="-342900" algn="just" fontAlgn="t">
              <a:buFontTx/>
              <a:buChar char="-"/>
            </a:pPr>
            <a:r>
              <a:rPr lang="en-US" altLang="ja-JP" sz="2000" dirty="0">
                <a:solidFill>
                  <a:schemeClr val="tx1"/>
                </a:solidFill>
                <a:latin typeface="Times New Roman" panose="02020603050405020304" pitchFamily="18" charset="0"/>
                <a:cs typeface="Times New Roman" panose="02020603050405020304" pitchFamily="18" charset="0"/>
              </a:rPr>
              <a:t>C</a:t>
            </a:r>
            <a:r>
              <a:rPr lang="vi-VN" altLang="ja-JP" sz="2000" dirty="0">
                <a:solidFill>
                  <a:schemeClr val="tx1"/>
                </a:solidFill>
                <a:latin typeface="Times New Roman" panose="02020603050405020304" pitchFamily="18" charset="0"/>
                <a:cs typeface="Times New Roman" panose="02020603050405020304" pitchFamily="18" charset="0"/>
              </a:rPr>
              <a:t>hữ triết học (</a:t>
            </a:r>
            <a:r>
              <a:rPr lang="ja-JP" altLang="en-US" sz="2000" b="1" dirty="0">
                <a:solidFill>
                  <a:schemeClr val="tx1"/>
                </a:solidFill>
                <a:latin typeface="Times New Roman" panose="02020603050405020304" pitchFamily="18" charset="0"/>
                <a:cs typeface="Times New Roman" panose="02020603050405020304" pitchFamily="18" charset="0"/>
                <a:hlinkClick r:id="rId2"/>
              </a:rPr>
              <a:t>哲學</a:t>
            </a:r>
            <a:r>
              <a:rPr lang="vi-VN" altLang="ja-JP" sz="2000" b="1" dirty="0">
                <a:solidFill>
                  <a:schemeClr val="tx1"/>
                </a:solidFill>
                <a:latin typeface="Times New Roman" panose="02020603050405020304" pitchFamily="18" charset="0"/>
                <a:cs typeface="Times New Roman" panose="02020603050405020304" pitchFamily="18" charset="0"/>
              </a:rPr>
              <a:t>)</a:t>
            </a:r>
            <a:r>
              <a:rPr lang="vi-VN" altLang="ja-JP" sz="2000" dirty="0">
                <a:solidFill>
                  <a:schemeClr val="tx1"/>
                </a:solidFill>
                <a:latin typeface="Times New Roman" panose="02020603050405020304" pitchFamily="18" charset="0"/>
                <a:cs typeface="Times New Roman" panose="02020603050405020304" pitchFamily="18" charset="0"/>
              </a:rPr>
              <a:t> tương đương với </a:t>
            </a:r>
            <a:r>
              <a:rPr lang="vi-VN" altLang="ja-JP" sz="2000" b="1" i="1" dirty="0">
                <a:solidFill>
                  <a:schemeClr val="tx1"/>
                </a:solidFill>
                <a:latin typeface="Times New Roman" panose="02020603050405020304" pitchFamily="18" charset="0"/>
                <a:cs typeface="Times New Roman" panose="02020603050405020304" pitchFamily="18" charset="0"/>
              </a:rPr>
              <a:t>philosophia </a:t>
            </a:r>
            <a:r>
              <a:rPr lang="vi-VN" altLang="ja-JP" sz="2000" dirty="0">
                <a:solidFill>
                  <a:schemeClr val="tx1"/>
                </a:solidFill>
                <a:latin typeface="Times New Roman" panose="02020603050405020304" pitchFamily="18" charset="0"/>
                <a:cs typeface="Times New Roman" panose="02020603050405020304" pitchFamily="18" charset="0"/>
              </a:rPr>
              <a:t>của Hy Lạp</a:t>
            </a:r>
            <a:endParaRPr lang="en-US" altLang="ja-JP" sz="2000" dirty="0">
              <a:solidFill>
                <a:schemeClr val="tx1"/>
              </a:solidFill>
              <a:latin typeface="Times New Roman" panose="02020603050405020304" pitchFamily="18" charset="0"/>
              <a:cs typeface="Times New Roman" panose="02020603050405020304" pitchFamily="18" charset="0"/>
            </a:endParaRPr>
          </a:p>
          <a:p>
            <a:pPr marL="342900" indent="-342900" algn="just" fontAlgn="t">
              <a:buFontTx/>
              <a:buChar char="-"/>
            </a:pPr>
            <a:r>
              <a:rPr lang="vi-VN" altLang="ja-JP" sz="2000" dirty="0">
                <a:solidFill>
                  <a:schemeClr val="tx1"/>
                </a:solidFill>
                <a:latin typeface="Times New Roman" panose="02020603050405020304" pitchFamily="18" charset="0"/>
                <a:cs typeface="Times New Roman" panose="02020603050405020304" pitchFamily="18" charset="0"/>
              </a:rPr>
              <a:t>Triết là biểu hiện của </a:t>
            </a:r>
            <a:r>
              <a:rPr lang="vi-VN" altLang="ja-JP" sz="2000" b="1" dirty="0">
                <a:solidFill>
                  <a:schemeClr val="tx1"/>
                </a:solidFill>
                <a:latin typeface="Times New Roman" panose="02020603050405020304" pitchFamily="18" charset="0"/>
                <a:cs typeface="Times New Roman" panose="02020603050405020304" pitchFamily="18" charset="0"/>
              </a:rPr>
              <a:t>trí tuệ</a:t>
            </a:r>
            <a:r>
              <a:rPr lang="vi-VN" altLang="ja-JP" sz="2000" dirty="0">
                <a:solidFill>
                  <a:schemeClr val="tx1"/>
                </a:solidFill>
                <a:latin typeface="Times New Roman" panose="02020603050405020304" pitchFamily="18" charset="0"/>
                <a:cs typeface="Times New Roman" panose="02020603050405020304" pitchFamily="18" charset="0"/>
              </a:rPr>
              <a:t>, là sự hiểu biết sâu sắc của con người về thế giới.</a:t>
            </a:r>
            <a:endParaRPr lang="vi-VN" altLang="ja-JP" sz="20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rot="10800000" flipH="1" flipV="1">
            <a:off x="4147928" y="2517914"/>
            <a:ext cx="7205870" cy="1120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fontAlgn="t">
              <a:buFont typeface="Wingdings" panose="05000000000000000000" pitchFamily="2" charset="2"/>
              <a:buChar char="v"/>
            </a:pPr>
            <a:r>
              <a:rPr lang="vi-VN" altLang="ja-JP" sz="2000" dirty="0">
                <a:solidFill>
                  <a:schemeClr val="tx1"/>
                </a:solidFill>
                <a:latin typeface="Times New Roman" panose="02020603050405020304" pitchFamily="18" charset="0"/>
                <a:cs typeface="Times New Roman" panose="02020603050405020304" pitchFamily="18" charset="0"/>
              </a:rPr>
              <a:t>Ở Ấn Độ, thuật ngữ Dar’sana (triết học) là </a:t>
            </a:r>
            <a:r>
              <a:rPr lang="vi-VN" altLang="ja-JP" sz="2000" b="1" dirty="0">
                <a:solidFill>
                  <a:schemeClr val="tx1"/>
                </a:solidFill>
                <a:latin typeface="Times New Roman" panose="02020603050405020304" pitchFamily="18" charset="0"/>
                <a:cs typeface="Times New Roman" panose="02020603050405020304" pitchFamily="18" charset="0"/>
              </a:rPr>
              <a:t>chiêm ngưỡng là tri thức dựa trên lý tr</a:t>
            </a:r>
            <a:r>
              <a:rPr lang="vi-VN" altLang="ja-JP" sz="2000" dirty="0">
                <a:solidFill>
                  <a:schemeClr val="tx1"/>
                </a:solidFill>
                <a:latin typeface="Times New Roman" panose="02020603050405020304" pitchFamily="18" charset="0"/>
                <a:cs typeface="Times New Roman" panose="02020603050405020304" pitchFamily="18" charset="0"/>
              </a:rPr>
              <a:t>í, là con đường suy ngẫm để dẫn con người đến với lẽ phải.</a:t>
            </a:r>
            <a:endParaRPr lang="vi-VN" altLang="ja-JP" sz="20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rot="10800000" flipH="1" flipV="1">
            <a:off x="4147926" y="4081671"/>
            <a:ext cx="7205869" cy="11205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fontAlgn="t">
              <a:buFont typeface="Wingdings" panose="05000000000000000000" pitchFamily="2" charset="2"/>
              <a:buChar char="v"/>
            </a:pPr>
            <a:r>
              <a:rPr lang="vi-VN" altLang="ja-JP" sz="2000" dirty="0">
                <a:solidFill>
                  <a:schemeClr val="tx1"/>
                </a:solidFill>
                <a:latin typeface="Times New Roman" panose="02020603050405020304" pitchFamily="18" charset="0"/>
                <a:cs typeface="Times New Roman" panose="02020603050405020304" pitchFamily="18" charset="0"/>
              </a:rPr>
              <a:t>Ở phương Tây, triết học, Philo – sophia (Hy Lạp Cổ đại) nghĩa là yêu mến sự thông th</a:t>
            </a:r>
            <a:r>
              <a:rPr lang="en-US" altLang="ja-JP" sz="2000" dirty="0" err="1">
                <a:solidFill>
                  <a:schemeClr val="tx1"/>
                </a:solidFill>
                <a:latin typeface="Times New Roman" panose="02020603050405020304" pitchFamily="18" charset="0"/>
                <a:cs typeface="Times New Roman" panose="02020603050405020304" pitchFamily="18" charset="0"/>
              </a:rPr>
              <a:t>ái</a:t>
            </a:r>
            <a:r>
              <a:rPr lang="vi-VN" altLang="ja-JP" sz="2000" dirty="0">
                <a:solidFill>
                  <a:schemeClr val="tx1"/>
                </a:solidFill>
                <a:latin typeface="Times New Roman" panose="02020603050405020304" pitchFamily="18" charset="0"/>
                <a:cs typeface="Times New Roman" panose="02020603050405020304" pitchFamily="18" charset="0"/>
              </a:rPr>
              <a:t>. Triết học vừa mang tính định hướng, vừa nhấn mạnh đến khát vọng tìm kiếm chân lý của con người</a:t>
            </a:r>
            <a:endParaRPr lang="vi-VN" altLang="ja-JP" sz="2000" dirty="0">
              <a:solidFill>
                <a:schemeClr val="tx1"/>
              </a:solidFill>
              <a:latin typeface="Times New Roman" panose="02020603050405020304" pitchFamily="18" charset="0"/>
              <a:cs typeface="Times New Roman" panose="02020603050405020304" pitchFamily="18" charset="0"/>
            </a:endParaRPr>
          </a:p>
        </p:txBody>
      </p:sp>
      <p:cxnSp>
        <p:nvCxnSpPr>
          <p:cNvPr id="9" name="Straight Arrow Connector 8"/>
          <p:cNvCxnSpPr>
            <a:endCxn id="4" idx="1"/>
          </p:cNvCxnSpPr>
          <p:nvPr/>
        </p:nvCxnSpPr>
        <p:spPr>
          <a:xfrm flipV="1">
            <a:off x="2491409" y="1311966"/>
            <a:ext cx="1656520" cy="1298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5" idx="1"/>
          </p:cNvCxnSpPr>
          <p:nvPr/>
        </p:nvCxnSpPr>
        <p:spPr>
          <a:xfrm>
            <a:off x="2438401" y="2676939"/>
            <a:ext cx="1709527" cy="401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3" idx="3"/>
          </p:cNvCxnSpPr>
          <p:nvPr/>
        </p:nvCxnSpPr>
        <p:spPr>
          <a:xfrm>
            <a:off x="2438401" y="2646776"/>
            <a:ext cx="1709526" cy="21372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ppt_x"/>
                                          </p:val>
                                        </p:tav>
                                        <p:tav tm="100000">
                                          <p:val>
                                            <p:strVal val="#ppt_x"/>
                                          </p:val>
                                        </p:tav>
                                      </p:tavLst>
                                    </p:anim>
                                    <p:anim calcmode="lin" valueType="num">
                                      <p:cBhvr additive="base">
                                        <p:cTn id="5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bldLvl="0" animBg="1"/>
      <p:bldP spid="5" grpId="0" bldLvl="0" animBg="1"/>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638"/>
            <a:ext cx="8756374" cy="1027040"/>
          </a:xfrm>
        </p:spPr>
        <p:txBody>
          <a:bodyPr>
            <a:normAutofit fontScale="90000"/>
          </a:bodyPr>
          <a:lstStyle/>
          <a:p>
            <a:br>
              <a:rPr lang="en-US" sz="4400" dirty="0">
                <a:cs typeface="Times New Roman" panose="02020603050405020304" pitchFamily="18" charset="0"/>
              </a:rPr>
            </a:br>
            <a:r>
              <a:rPr lang="vi-VN" sz="4400" dirty="0">
                <a:cs typeface="Times New Roman" panose="02020603050405020304" pitchFamily="18" charset="0"/>
              </a:rPr>
              <a:t>Các định nghĩa bao hàm nội dung:</a:t>
            </a:r>
            <a:br>
              <a:rPr lang="vi-VN" sz="4400" dirty="0">
                <a:cs typeface="Times New Roman" panose="02020603050405020304" pitchFamily="18" charset="0"/>
              </a:rPr>
            </a:br>
            <a:endParaRPr lang="en-US" dirty="0"/>
          </a:p>
        </p:txBody>
      </p:sp>
      <p:sp>
        <p:nvSpPr>
          <p:cNvPr id="3" name="Content Placeholder 2"/>
          <p:cNvSpPr>
            <a:spLocks noGrp="1"/>
          </p:cNvSpPr>
          <p:nvPr>
            <p:ph idx="1"/>
          </p:nvPr>
        </p:nvSpPr>
        <p:spPr>
          <a:xfrm>
            <a:off x="702364" y="1086678"/>
            <a:ext cx="11489635" cy="5605671"/>
          </a:xfrm>
        </p:spPr>
        <p:txBody>
          <a:bodyPr>
            <a:normAutofit lnSpcReduction="1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vi-VN" dirty="0">
                <a:latin typeface="Times New Roman" panose="02020603050405020304" pitchFamily="18" charset="0"/>
                <a:cs typeface="Times New Roman" panose="02020603050405020304" pitchFamily="18" charset="0"/>
              </a:rPr>
              <a:t>riết học</a:t>
            </a:r>
            <a:r>
              <a:rPr lang="en-US" dirty="0">
                <a:latin typeface="Times New Roman" panose="02020603050405020304" pitchFamily="18" charset="0"/>
                <a:cs typeface="Times New Roman" panose="02020603050405020304" pitchFamily="18" charset="0"/>
              </a:rPr>
              <a:t> Mac – </a:t>
            </a:r>
            <a:r>
              <a:rPr lang="en-US"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khoa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Rectangle 3"/>
          <p:cNvSpPr/>
          <p:nvPr/>
        </p:nvSpPr>
        <p:spPr>
          <a:xfrm>
            <a:off x="1431237" y="1868558"/>
            <a:ext cx="914400" cy="26769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a:t>
            </a:r>
            <a:r>
              <a:rPr lang="vi-VN" sz="2400" dirty="0">
                <a:solidFill>
                  <a:schemeClr val="tx1"/>
                </a:solidFill>
                <a:latin typeface="Times New Roman" panose="02020603050405020304" pitchFamily="18" charset="0"/>
                <a:cs typeface="Times New Roman" panose="02020603050405020304" pitchFamily="18" charset="0"/>
              </a:rPr>
              <a:t>riết học</a:t>
            </a:r>
            <a:endParaRPr lang="en-US" sz="2400" dirty="0">
              <a:solidFill>
                <a:schemeClr val="tx1"/>
              </a:solidFill>
            </a:endParaRPr>
          </a:p>
        </p:txBody>
      </p:sp>
      <p:sp>
        <p:nvSpPr>
          <p:cNvPr id="5" name="Rectangle 4"/>
          <p:cNvSpPr/>
          <p:nvPr/>
        </p:nvSpPr>
        <p:spPr>
          <a:xfrm rot="10800000" flipV="1">
            <a:off x="3525077" y="1325217"/>
            <a:ext cx="6321286" cy="5433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sz="2400" dirty="0">
                <a:solidFill>
                  <a:schemeClr val="tx1"/>
                </a:solidFill>
                <a:latin typeface="Times New Roman" panose="02020603050405020304" pitchFamily="18" charset="0"/>
                <a:cs typeface="Times New Roman" panose="02020603050405020304" pitchFamily="18" charset="0"/>
              </a:rPr>
              <a:t>là một hình thái ý thức xã hội.</a:t>
            </a:r>
            <a:endParaRPr lang="vi-VN" sz="24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3525077" y="2093844"/>
            <a:ext cx="6997148" cy="7023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sz="2400" dirty="0">
                <a:solidFill>
                  <a:schemeClr val="tx1"/>
                </a:solidFill>
                <a:latin typeface="Times New Roman" panose="02020603050405020304" pitchFamily="18" charset="0"/>
                <a:cs typeface="Times New Roman" panose="02020603050405020304" pitchFamily="18" charset="0"/>
              </a:rPr>
              <a:t>Khách thể khám phá của triết học là thế giới</a:t>
            </a:r>
            <a:endParaRPr lang="vi-VN" sz="24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3525077" y="3047999"/>
            <a:ext cx="8542231" cy="11264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G</a:t>
            </a:r>
            <a:r>
              <a:rPr lang="vi-VN" sz="2400" dirty="0">
                <a:solidFill>
                  <a:schemeClr val="tx1"/>
                </a:solidFill>
                <a:latin typeface="Times New Roman" panose="02020603050405020304" pitchFamily="18" charset="0"/>
                <a:cs typeface="Times New Roman" panose="02020603050405020304" pitchFamily="18" charset="0"/>
              </a:rPr>
              <a:t>iải thích tất cả mọi sự vật, hiện tượng, quá tr</a:t>
            </a:r>
            <a:r>
              <a:rPr lang="en-US" sz="2400" dirty="0">
                <a:solidFill>
                  <a:schemeClr val="tx1"/>
                </a:solidFill>
                <a:latin typeface="Times New Roman" panose="02020603050405020304" pitchFamily="18" charset="0"/>
                <a:cs typeface="Times New Roman" panose="02020603050405020304" pitchFamily="18" charset="0"/>
              </a:rPr>
              <a:t>ì</a:t>
            </a:r>
            <a:r>
              <a:rPr lang="vi-VN" sz="2400" dirty="0">
                <a:solidFill>
                  <a:schemeClr val="tx1"/>
                </a:solidFill>
                <a:latin typeface="Times New Roman" panose="02020603050405020304" pitchFamily="18" charset="0"/>
                <a:cs typeface="Times New Roman" panose="02020603050405020304" pitchFamily="18" charset="0"/>
              </a:rPr>
              <a:t>nh và quan hệ của thế giới, với mục đích</a:t>
            </a:r>
            <a:r>
              <a:rPr lang="en-US" sz="2400" dirty="0">
                <a:solidFill>
                  <a:schemeClr val="tx1"/>
                </a:solidFill>
                <a:latin typeface="Times New Roman" panose="02020603050405020304" pitchFamily="18" charset="0"/>
                <a:cs typeface="Times New Roman" panose="02020603050405020304" pitchFamily="18" charset="0"/>
              </a:rPr>
              <a:t> </a:t>
            </a:r>
            <a:r>
              <a:rPr lang="vi-VN" sz="2400" dirty="0">
                <a:solidFill>
                  <a:schemeClr val="tx1"/>
                </a:solidFill>
                <a:latin typeface="Times New Roman" panose="02020603050405020304" pitchFamily="18" charset="0"/>
                <a:cs typeface="Times New Roman" panose="02020603050405020304" pitchFamily="18" charset="0"/>
              </a:rPr>
              <a:t>tìm</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ra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những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luật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phổ</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biến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nhất</a:t>
            </a:r>
            <a:r>
              <a:rPr lang="en-US" sz="2400" dirty="0">
                <a:solidFill>
                  <a:schemeClr val="tx1"/>
                </a:solidFill>
                <a:latin typeface="Times New Roman" panose="02020603050405020304" pitchFamily="18" charset="0"/>
                <a:cs typeface="Times New Roman" panose="02020603050405020304" pitchFamily="18" charset="0"/>
              </a:rPr>
              <a:t> chi </a:t>
            </a:r>
            <a:r>
              <a:rPr lang="en-US" sz="2400" dirty="0" err="1">
                <a:solidFill>
                  <a:schemeClr val="tx1"/>
                </a:solidFill>
                <a:latin typeface="Times New Roman" panose="02020603050405020304" pitchFamily="18" charset="0"/>
                <a:cs typeface="Times New Roman" panose="02020603050405020304" pitchFamily="18" charset="0"/>
              </a:rPr>
              <a:t>phối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sự</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vận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động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giới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con </a:t>
            </a:r>
            <a:r>
              <a:rPr lang="en-US" sz="2400" dirty="0" err="1">
                <a:solidFill>
                  <a:schemeClr val="tx1"/>
                </a:solidFill>
                <a:latin typeface="Times New Roman" panose="02020603050405020304" pitchFamily="18" charset="0"/>
                <a:cs typeface="Times New Roman" panose="02020603050405020304" pitchFamily="18" charset="0"/>
              </a:rPr>
              <a:t>người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tư</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duy</a:t>
            </a:r>
            <a:endParaRPr lang="en-US" sz="2400" dirty="0">
              <a:solidFill>
                <a:schemeClr val="tx1"/>
              </a:solidFill>
            </a:endParaRPr>
          </a:p>
        </p:txBody>
      </p:sp>
      <p:sp>
        <p:nvSpPr>
          <p:cNvPr id="8" name="Rectangle 7"/>
          <p:cNvSpPr/>
          <p:nvPr/>
        </p:nvSpPr>
        <p:spPr>
          <a:xfrm flipH="1">
            <a:off x="3525077" y="4412973"/>
            <a:ext cx="6997146" cy="8216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400" dirty="0" err="1">
                <a:solidFill>
                  <a:schemeClr val="tx1"/>
                </a:solidFill>
                <a:latin typeface="Times New Roman" panose="02020603050405020304" pitchFamily="18" charset="0"/>
                <a:cs typeface="Times New Roman" panose="02020603050405020304" pitchFamily="18" charset="0"/>
              </a:rPr>
              <a:t>Mang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hệ</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thống</a:t>
            </a:r>
            <a:r>
              <a:rPr lang="en-US" sz="2400" dirty="0">
                <a:solidFill>
                  <a:schemeClr val="tx1"/>
                </a:solidFill>
                <a:latin typeface="Times New Roman" panose="02020603050405020304" pitchFamily="18" charset="0"/>
                <a:cs typeface="Times New Roman" panose="02020603050405020304" pitchFamily="18" charset="0"/>
              </a:rPr>
              <a:t>, logic </a:t>
            </a:r>
            <a:r>
              <a:rPr lang="en-US" sz="2400" dirty="0" err="1">
                <a:solidFill>
                  <a:schemeClr val="tx1"/>
                </a:solidFill>
                <a:latin typeface="Times New Roman" panose="02020603050405020304" pitchFamily="18" charset="0"/>
                <a:cs typeface="Times New Roman" panose="02020603050405020304" pitchFamily="18" charset="0"/>
              </a:rPr>
              <a:t>và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trừu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tượng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về</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giới</a:t>
            </a:r>
            <a:r>
              <a:rPr lang="en-US" sz="2400" dirty="0">
                <a:solidFill>
                  <a:schemeClr val="tx1"/>
                </a:solidFill>
                <a:latin typeface="Times New Roman" panose="02020603050405020304" pitchFamily="18" charset="0"/>
                <a:cs typeface="Times New Roman" panose="02020603050405020304" pitchFamily="18" charset="0"/>
              </a:rPr>
              <a:t>.</a:t>
            </a:r>
            <a:endParaRPr lang="en-US" sz="24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err="1">
                <a:solidFill>
                  <a:schemeClr val="tx1"/>
                </a:solidFill>
                <a:latin typeface="Times New Roman" panose="02020603050405020304" pitchFamily="18" charset="0"/>
                <a:cs typeface="Times New Roman" panose="02020603050405020304" pitchFamily="18" charset="0"/>
              </a:rPr>
              <a:t>Là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hạt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nhân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giới</a:t>
            </a:r>
            <a:r>
              <a:rPr lang="en-US" sz="2400" dirty="0">
                <a:solidFill>
                  <a:schemeClr val="tx1"/>
                </a:solidFill>
                <a:latin typeface="Times New Roman" panose="02020603050405020304" pitchFamily="18" charset="0"/>
                <a:cs typeface="Times New Roman" panose="02020603050405020304" pitchFamily="18" charset="0"/>
              </a:rPr>
              <a:t>.</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12" name="Straight Arrow Connector 11"/>
          <p:cNvCxnSpPr>
            <a:stCxn id="4" idx="3"/>
          </p:cNvCxnSpPr>
          <p:nvPr/>
        </p:nvCxnSpPr>
        <p:spPr>
          <a:xfrm flipV="1">
            <a:off x="2345637" y="1643270"/>
            <a:ext cx="1179440" cy="1563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345637" y="2445027"/>
            <a:ext cx="1179440" cy="775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4" idx="3"/>
          </p:cNvCxnSpPr>
          <p:nvPr/>
        </p:nvCxnSpPr>
        <p:spPr>
          <a:xfrm>
            <a:off x="2345637" y="3207027"/>
            <a:ext cx="1179440" cy="44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4" idx="3"/>
            <a:endCxn id="8" idx="3"/>
          </p:cNvCxnSpPr>
          <p:nvPr/>
        </p:nvCxnSpPr>
        <p:spPr>
          <a:xfrm>
            <a:off x="2345637" y="3207027"/>
            <a:ext cx="1179440" cy="1676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ppt_x"/>
                                          </p:val>
                                        </p:tav>
                                        <p:tav tm="100000">
                                          <p:val>
                                            <p:strVal val="#ppt_x"/>
                                          </p:val>
                                        </p:tav>
                                      </p:tavLst>
                                    </p:anim>
                                    <p:anim calcmode="lin" valueType="num">
                                      <p:cBhvr additive="base">
                                        <p:cTn id="6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ldLvl="0" animBg="1"/>
      <p:bldP spid="5" grpId="0" bldLvl="0" animBg="1"/>
      <p:bldP spid="6" grpId="0" bldLvl="0" animBg="1"/>
      <p:bldP spid="7" grpId="0" bldLvl="0" animBg="1"/>
      <p:bldP spid="8"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25084"/>
            <a:ext cx="10515600" cy="900332"/>
          </a:xfrm>
        </p:spPr>
        <p:txBody>
          <a:bodyPr>
            <a:normAutofit/>
          </a:bodyPr>
          <a:lstStyle/>
          <a:p>
            <a:pPr algn="just"/>
            <a:r>
              <a:rPr lang="en-US" sz="2400" b="1" dirty="0">
                <a:latin typeface="Times New Roman" panose="02020603050405020304" pitchFamily="18" charset="0"/>
                <a:cs typeface="Times New Roman" panose="02020603050405020304" pitchFamily="18" charset="0"/>
              </a:rPr>
              <a:t>c. </a:t>
            </a:r>
            <a:r>
              <a:rPr lang="en-US" sz="3200" b="1" dirty="0" err="1">
                <a:latin typeface="Times New Roman" panose="02020603050405020304" pitchFamily="18" charset="0"/>
                <a:cs typeface="Times New Roman" panose="02020603050405020304" pitchFamily="18" charset="0"/>
              </a:rPr>
              <a:t>Vấn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đối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tượng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học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25416"/>
            <a:ext cx="10515600" cy="5051547"/>
          </a:xfrm>
        </p:spPr>
        <p:txBody>
          <a:bodyPr/>
          <a:lstStyle/>
          <a:p>
            <a:pPr marL="0" indent="0" algn="just">
              <a:buNone/>
            </a:pP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duy</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Thời kỳ Hy Lạp cổ đại: Triết học – tự nhiên “là khoa học của mọi khoa học”</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Thời trung cổ: Triết học kinh viện, duy tâm tôn giáo</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Thời kỳ phục hưng, cận đại: Các khoa học thực nghiệm ra đời, tách ra khỏi triết học</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Triết học cổ điển Đức: khôi phục triết học “là khoa học của mọi khoa học”</a:t>
            </a:r>
            <a:endParaRPr lang="vi-VN"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Triết học Mac: nghiên cứu những vấn đề chung nhất mang tính quy luật của tự nhiên, xã hội và tư duy</a:t>
            </a:r>
            <a:endParaRPr lang="vi-VN" sz="2400"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25287"/>
            <a:ext cx="10515600" cy="689114"/>
          </a:xfrm>
        </p:spPr>
        <p:txBody>
          <a:bodyPr>
            <a:normAutofit/>
          </a:bodyPr>
          <a:lstStyle/>
          <a:p>
            <a:pPr algn="just"/>
            <a:r>
              <a:rPr lang="en-US" sz="3200" b="1" dirty="0">
                <a:latin typeface="Times New Roman" panose="02020603050405020304" pitchFamily="18" charset="0"/>
                <a:cs typeface="Times New Roman" panose="02020603050405020304" pitchFamily="18" charset="0"/>
              </a:rPr>
              <a:t>d. </a:t>
            </a:r>
            <a:r>
              <a:rPr lang="en-US" sz="3200" b="1" dirty="0" err="1">
                <a:latin typeface="Times New Roman" panose="02020603050405020304" pitchFamily="18" charset="0"/>
                <a:cs typeface="Times New Roman" panose="02020603050405020304" pitchFamily="18" charset="0"/>
              </a:rPr>
              <a:t>Triết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học</a:t>
            </a:r>
            <a:r>
              <a:rPr lang="en-US" sz="3200" b="1" dirty="0">
                <a:latin typeface="Times New Roman" panose="02020603050405020304" pitchFamily="18" charset="0"/>
                <a:cs typeface="Times New Roman" panose="02020603050405020304" pitchFamily="18" charset="0"/>
              </a:rPr>
              <a:t> – </a:t>
            </a:r>
            <a:r>
              <a:rPr lang="en-US" sz="3200" b="1" dirty="0" err="1">
                <a:latin typeface="Times New Roman" panose="02020603050405020304" pitchFamily="18" charset="0"/>
                <a:cs typeface="Times New Roman" panose="02020603050405020304" pitchFamily="18" charset="0"/>
              </a:rPr>
              <a:t>hạt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luận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thế</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giới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39484"/>
            <a:ext cx="10515600" cy="5353390"/>
          </a:xfrm>
        </p:spPr>
        <p:txBody>
          <a:bodyPr>
            <a:normAutofit/>
          </a:bodyPr>
          <a:lstStyle/>
          <a:p>
            <a:pPr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là</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khái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niệm</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triết</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học</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chỉ</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hệ</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thống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các</a:t>
            </a:r>
            <a:r>
              <a:rPr lang="en-US" sz="2400" i="1" dirty="0">
                <a:latin typeface="Times New Roman" panose="02020603050405020304" pitchFamily="18" charset="0"/>
                <a:cs typeface="Times New Roman" panose="02020603050405020304" pitchFamily="18" charset="0"/>
              </a:rPr>
              <a:t> tri </a:t>
            </a:r>
            <a:r>
              <a:rPr lang="en-US" sz="2400" i="1" dirty="0" err="1">
                <a:latin typeface="Times New Roman" panose="02020603050405020304" pitchFamily="18" charset="0"/>
                <a:cs typeface="Times New Roman" panose="02020603050405020304" pitchFamily="18" charset="0"/>
              </a:rPr>
              <a:t>thức</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quan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điểm</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tình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cảm</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niềm</a:t>
            </a:r>
            <a:r>
              <a:rPr lang="en-US" sz="2400" i="1" dirty="0">
                <a:latin typeface="Times New Roman" panose="02020603050405020304" pitchFamily="18" charset="0"/>
                <a:cs typeface="Times New Roman" panose="02020603050405020304" pitchFamily="18" charset="0"/>
              </a:rPr>
              <a:t> tin, </a:t>
            </a:r>
            <a:r>
              <a:rPr lang="en-US" sz="2400" i="1" dirty="0" err="1">
                <a:latin typeface="Times New Roman" panose="02020603050405020304" pitchFamily="18" charset="0"/>
                <a:cs typeface="Times New Roman" panose="02020603050405020304" pitchFamily="18" charset="0"/>
              </a:rPr>
              <a:t>lý</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tưởng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xác</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định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về</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thế</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giới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và</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về</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vị</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trí</a:t>
            </a:r>
            <a:r>
              <a:rPr lang="en-US" sz="2400" i="1" dirty="0">
                <a:latin typeface="Times New Roman" panose="02020603050405020304" pitchFamily="18" charset="0"/>
                <a:cs typeface="Times New Roman" panose="02020603050405020304" pitchFamily="18" charset="0"/>
              </a:rPr>
              <a:t> con </a:t>
            </a:r>
            <a:r>
              <a:rPr lang="en-US" sz="2400" i="1" dirty="0" err="1">
                <a:latin typeface="Times New Roman" panose="02020603050405020304" pitchFamily="18" charset="0"/>
                <a:cs typeface="Times New Roman" panose="02020603050405020304" pitchFamily="18" charset="0"/>
              </a:rPr>
              <a:t>người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trong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thế</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giới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đó</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Thế</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giới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quan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quy</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định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các</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nguyên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tắc</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thái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độ</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giá</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trị</a:t>
            </a:r>
            <a:r>
              <a:rPr lang="en-US" sz="2400"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trong</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định</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hướng</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nhận</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thức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và</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hoạt</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động</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thực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tiễn</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của</a:t>
            </a:r>
            <a:r>
              <a:rPr lang="en-US" sz="2400" b="1" i="1" dirty="0">
                <a:latin typeface="Times New Roman" panose="02020603050405020304" pitchFamily="18" charset="0"/>
                <a:cs typeface="Times New Roman" panose="02020603050405020304" pitchFamily="18" charset="0"/>
              </a:rPr>
              <a:t> con </a:t>
            </a:r>
            <a:r>
              <a:rPr lang="en-US" sz="2400" b="1" i="1" dirty="0" err="1">
                <a:latin typeface="Times New Roman" panose="02020603050405020304" pitchFamily="18" charset="0"/>
                <a:cs typeface="Times New Roman" panose="02020603050405020304" pitchFamily="18" charset="0"/>
              </a:rPr>
              <a:t>người</a:t>
            </a:r>
            <a:endParaRPr lang="en-US" sz="2400" b="1" i="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Hạt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buFontTx/>
              <a:buChar char="-"/>
            </a:pP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a:p>
            <a:pPr algn="just">
              <a:buFontTx/>
              <a:buChar char="-"/>
            </a:pPr>
            <a:r>
              <a:rPr lang="vi-VN" sz="2400" dirty="0">
                <a:latin typeface="Times New Roman" panose="02020603050405020304" pitchFamily="18" charset="0"/>
                <a:cs typeface="Times New Roman" panose="02020603050405020304" pitchFamily="18" charset="0"/>
              </a:rPr>
              <a:t>T</a:t>
            </a:r>
            <a:r>
              <a:rPr lang="en-US" sz="2400" dirty="0" err="1">
                <a:latin typeface="Times New Roman" panose="02020603050405020304" pitchFamily="18" charset="0"/>
                <a:cs typeface="Times New Roman" panose="02020603050405020304" pitchFamily="18" charset="0"/>
              </a:rPr>
              <a:t>riết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bao </a:t>
            </a:r>
            <a:r>
              <a:rPr lang="en-US" sz="2400" dirty="0" err="1">
                <a:latin typeface="Times New Roman" panose="02020603050405020304" pitchFamily="18" charset="0"/>
                <a:cs typeface="Times New Roman" panose="02020603050405020304" pitchFamily="18" charset="0"/>
              </a:rPr>
              <a:t>giờ</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trò</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cốt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lõi</a:t>
            </a:r>
            <a:endParaRPr lang="en-US" sz="2400" dirty="0">
              <a:latin typeface="Times New Roman" panose="02020603050405020304" pitchFamily="18" charset="0"/>
              <a:cs typeface="Times New Roman" panose="02020603050405020304" pitchFamily="18" charset="0"/>
            </a:endParaRPr>
          </a:p>
          <a:p>
            <a:pPr algn="just">
              <a:buFontTx/>
              <a:buChar char="-"/>
            </a:pP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trò</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ko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giác</a:t>
            </a:r>
            <a:endParaRPr lang="en-US" sz="2400" dirty="0">
              <a:latin typeface="Times New Roman" panose="02020603050405020304" pitchFamily="18" charset="0"/>
              <a:cs typeface="Times New Roman" panose="02020603050405020304" pitchFamily="18" charset="0"/>
            </a:endParaRPr>
          </a:p>
          <a:p>
            <a:pPr algn="just">
              <a:buFontTx/>
              <a:buChar char="-"/>
            </a:pP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endParaRPr lang="vi-V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vi-VN" sz="2400" dirty="0">
                <a:latin typeface="Times New Roman" panose="02020603050405020304" pitchFamily="18" charset="0"/>
                <a:cs typeface="Times New Roman" panose="02020603050405020304" pitchFamily="18" charset="0"/>
              </a:rPr>
              <a:t>Thế giới quan DV BC là đỉnh cao của thế giới quan trong lịch sử.</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849"/>
          </a:xfrm>
        </p:spPr>
        <p:txBody>
          <a:bodyPr>
            <a:normAutofit fontScale="90000"/>
          </a:bodyPr>
          <a:lstStyle/>
          <a:p>
            <a:br>
              <a:rPr lang="en-US" sz="24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2. </a:t>
            </a:r>
            <a:r>
              <a:rPr lang="en-US" sz="3600" b="1" dirty="0" err="1">
                <a:latin typeface="Times New Roman" panose="02020603050405020304" pitchFamily="18" charset="0"/>
                <a:cs typeface="Times New Roman" panose="02020603050405020304" pitchFamily="18" charset="0"/>
              </a:rPr>
              <a:t>Vấn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đề</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cơ</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triết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học</a:t>
            </a:r>
            <a:r>
              <a:rPr lang="en-US" sz="3600" b="1" dirty="0">
                <a:latin typeface="Times New Roman" panose="02020603050405020304" pitchFamily="18" charset="0"/>
                <a:cs typeface="Times New Roman" panose="02020603050405020304" pitchFamily="18" charset="0"/>
              </a:rPr>
              <a:t>.</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 </a:t>
            </a:r>
            <a:r>
              <a:rPr lang="en-US" sz="3600" b="1" dirty="0" err="1">
                <a:latin typeface="Times New Roman" panose="02020603050405020304" pitchFamily="18" charset="0"/>
                <a:cs typeface="Times New Roman" panose="02020603050405020304" pitchFamily="18" charset="0"/>
              </a:rPr>
              <a:t>Nội</a:t>
            </a:r>
            <a:r>
              <a:rPr lang="en-US" sz="3600" b="1" dirty="0">
                <a:latin typeface="Times New Roman" panose="02020603050405020304" pitchFamily="18" charset="0"/>
                <a:cs typeface="Times New Roman" panose="02020603050405020304" pitchFamily="18" charset="0"/>
              </a:rPr>
              <a:t> dung </a:t>
            </a:r>
            <a:r>
              <a:rPr lang="en-US" sz="3600" b="1" dirty="0" err="1">
                <a:latin typeface="Times New Roman" panose="02020603050405020304" pitchFamily="18" charset="0"/>
                <a:cs typeface="Times New Roman" panose="02020603050405020304" pitchFamily="18" charset="0"/>
              </a:rPr>
              <a:t>vấn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đề</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cơ</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Triết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a:t>
            </a:r>
            <a:r>
              <a:rPr lang="en-US" sz="3600" dirty="0" err="1">
                <a:latin typeface="Times New Roman" panose="02020603050405020304" pitchFamily="18" charset="0"/>
                <a:cs typeface="Times New Roman" panose="02020603050405020304" pitchFamily="18" charset="0"/>
              </a:rPr>
              <a:t>c</a:t>
            </a:r>
            <a:br>
              <a:rPr lang="en-US" sz="2400" dirty="0">
                <a:latin typeface="Times New Roman" panose="02020603050405020304" pitchFamily="18" charset="0"/>
                <a:cs typeface="Times New Roman" panose="02020603050405020304" pitchFamily="18" charset="0"/>
              </a:rPr>
            </a:br>
            <a:endParaRPr lang="en-US" sz="2400" dirty="0"/>
          </a:p>
        </p:txBody>
      </p:sp>
      <p:sp>
        <p:nvSpPr>
          <p:cNvPr id="3" name="Content Placeholder 2"/>
          <p:cNvSpPr>
            <a:spLocks noGrp="1"/>
          </p:cNvSpPr>
          <p:nvPr>
            <p:ph idx="1"/>
          </p:nvPr>
        </p:nvSpPr>
        <p:spPr>
          <a:xfrm>
            <a:off x="838200" y="1510748"/>
            <a:ext cx="10770704" cy="5194852"/>
          </a:xfrm>
        </p:spPr>
        <p:txBody>
          <a:bodyPr>
            <a:normAutofit lnSpcReduction="10000"/>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dirty="0" err="1">
                <a:latin typeface="Times New Roman" panose="02020603050405020304" pitchFamily="18" charset="0"/>
                <a:cs typeface="Times New Roman" panose="02020603050405020304" pitchFamily="18" charset="0"/>
              </a:rPr>
              <a:t>Việc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mặt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vấn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đề</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bản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học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sở</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phân</a:t>
            </a:r>
            <a:r>
              <a:rPr lang="en-US" altLang="en-US" dirty="0">
                <a:latin typeface="Times New Roman" panose="02020603050405020304" pitchFamily="18" charset="0"/>
                <a:cs typeface="Times New Roman" panose="02020603050405020304" pitchFamily="18" charset="0"/>
              </a:rPr>
              <a:t> chia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học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lớn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lịch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sử</a:t>
            </a:r>
            <a:r>
              <a:rPr lang="en-US" altLang="en-US" dirty="0">
                <a:latin typeface="Times New Roman" panose="02020603050405020304" pitchFamily="18" charset="0"/>
                <a:cs typeface="Times New Roman" panose="02020603050405020304" pitchFamily="18" charset="0"/>
              </a:rPr>
              <a:t>: CNDV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CNDT;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tri </a:t>
            </a:r>
            <a:r>
              <a:rPr lang="en-US" altLang="en-US" dirty="0" err="1">
                <a:latin typeface="Times New Roman" panose="02020603050405020304" pitchFamily="18" charset="0"/>
                <a:cs typeface="Times New Roman" panose="02020603050405020304" pitchFamily="18" charset="0"/>
              </a:rPr>
              <a:t>luận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khả</a:t>
            </a:r>
            <a:r>
              <a:rPr lang="en-US" altLang="en-US" dirty="0">
                <a:latin typeface="Times New Roman" panose="02020603050405020304" pitchFamily="18" charset="0"/>
                <a:cs typeface="Times New Roman" panose="02020603050405020304" pitchFamily="18" charset="0"/>
              </a:rPr>
              <a:t> tri </a:t>
            </a:r>
            <a:r>
              <a:rPr lang="en-US" altLang="en-US" dirty="0" err="1">
                <a:latin typeface="Times New Roman" panose="02020603050405020304" pitchFamily="18" charset="0"/>
                <a:cs typeface="Times New Roman" panose="02020603050405020304" pitchFamily="18" charset="0"/>
              </a:rPr>
              <a:t>luận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Ngoài</a:t>
            </a:r>
            <a:r>
              <a:rPr lang="en-US" altLang="en-US" dirty="0">
                <a:latin typeface="Times New Roman" panose="02020603050405020304" pitchFamily="18" charset="0"/>
                <a:cs typeface="Times New Roman" panose="02020603050405020304" pitchFamily="18" charset="0"/>
              </a:rPr>
              <a:t> ra </a:t>
            </a:r>
            <a:r>
              <a:rPr lang="en-US" altLang="en-US" dirty="0" err="1">
                <a:latin typeface="Times New Roman" panose="02020603050405020304" pitchFamily="18" charset="0"/>
                <a:cs typeface="Times New Roman" panose="02020603050405020304" pitchFamily="18" charset="0"/>
              </a:rPr>
              <a:t>còn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CN </a:t>
            </a:r>
            <a:r>
              <a:rPr lang="en-US" altLang="en-US" dirty="0" err="1">
                <a:latin typeface="Times New Roman" panose="02020603050405020304" pitchFamily="18" charset="0"/>
                <a:cs typeface="Times New Roman" panose="02020603050405020304" pitchFamily="18" charset="0"/>
              </a:rPr>
              <a:t>nhị</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nguyên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hoài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nghi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luận</a:t>
            </a:r>
            <a:r>
              <a:rPr lang="en-US" altLang="en-US" dirty="0">
                <a:latin typeface="Times New Roman" panose="02020603050405020304" pitchFamily="18" charset="0"/>
                <a:cs typeface="Times New Roman" panose="02020603050405020304" pitchFamily="18" charset="0"/>
              </a:rPr>
              <a:t>.</a:t>
            </a:r>
            <a:endParaRPr lang="vi-VN" altLang="en-US" sz="1600" dirty="0"/>
          </a:p>
          <a:p>
            <a:pPr marL="0" indent="0" algn="just">
              <a:buNone/>
            </a:pPr>
            <a:endParaRPr lang="en-US" dirty="0"/>
          </a:p>
        </p:txBody>
      </p:sp>
      <p:sp>
        <p:nvSpPr>
          <p:cNvPr id="4" name="Rectangle 3"/>
          <p:cNvSpPr/>
          <p:nvPr/>
        </p:nvSpPr>
        <p:spPr>
          <a:xfrm>
            <a:off x="3776870" y="1616766"/>
            <a:ext cx="3949147"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i="1" dirty="0">
                <a:solidFill>
                  <a:schemeClr val="tx1"/>
                </a:solidFill>
                <a:latin typeface="Times New Roman" panose="02020603050405020304" pitchFamily="18" charset="0"/>
                <a:cs typeface="Times New Roman" panose="02020603050405020304" pitchFamily="18" charset="0"/>
              </a:rPr>
              <a:t>V</a:t>
            </a:r>
            <a:r>
              <a:rPr lang="vi-VN" altLang="en-US" sz="2400" b="1" i="1" dirty="0">
                <a:solidFill>
                  <a:schemeClr val="tx1"/>
                </a:solidFill>
                <a:latin typeface="Times New Roman" panose="02020603050405020304" pitchFamily="18" charset="0"/>
                <a:cs typeface="Times New Roman" panose="02020603050405020304" pitchFamily="18" charset="0"/>
              </a:rPr>
              <a:t>ấn đề cơ bản của triết học</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có</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hai</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mặt</a:t>
            </a:r>
            <a:r>
              <a:rPr lang="en-US" altLang="en-US" b="1" i="1" dirty="0">
                <a:latin typeface="Times New Roman" panose="02020603050405020304" pitchFamily="18" charset="0"/>
                <a:cs typeface="Times New Roman" panose="02020603050405020304" pitchFamily="18" charset="0"/>
              </a:rPr>
              <a:t>.</a:t>
            </a:r>
            <a:endParaRPr lang="en-US" altLang="en-US" b="1" i="1" dirty="0">
              <a:latin typeface="Times New Roman" panose="02020603050405020304" pitchFamily="18" charset="0"/>
              <a:cs typeface="Times New Roman" panose="02020603050405020304" pitchFamily="18" charset="0"/>
            </a:endParaRPr>
          </a:p>
        </p:txBody>
      </p:sp>
      <p:sp>
        <p:nvSpPr>
          <p:cNvPr id="5" name="Rectangle 4"/>
          <p:cNvSpPr/>
          <p:nvPr/>
        </p:nvSpPr>
        <p:spPr>
          <a:xfrm>
            <a:off x="1590262" y="2981739"/>
            <a:ext cx="3551582" cy="19348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buNone/>
            </a:pPr>
            <a:r>
              <a:rPr lang="en-US" altLang="en-US" sz="2000" b="1" dirty="0">
                <a:solidFill>
                  <a:schemeClr val="tx1"/>
                </a:solidFill>
                <a:latin typeface="Times New Roman" panose="02020603050405020304" pitchFamily="18" charset="0"/>
                <a:cs typeface="Times New Roman" panose="02020603050405020304" pitchFamily="18" charset="0"/>
              </a:rPr>
              <a:t>T</a:t>
            </a:r>
            <a:r>
              <a:rPr lang="vi-VN" altLang="en-US" sz="2000" b="1" dirty="0">
                <a:solidFill>
                  <a:schemeClr val="tx1"/>
                </a:solidFill>
                <a:latin typeface="Times New Roman" panose="02020603050405020304" pitchFamily="18" charset="0"/>
                <a:cs typeface="Times New Roman" panose="02020603050405020304" pitchFamily="18" charset="0"/>
              </a:rPr>
              <a:t>hứ nhất</a:t>
            </a:r>
            <a:r>
              <a:rPr lang="vi-VN" altLang="en-US" sz="2000" dirty="0">
                <a:solidFill>
                  <a:schemeClr val="tx1"/>
                </a:solidFill>
                <a:latin typeface="Times New Roman" panose="02020603050405020304" pitchFamily="18" charset="0"/>
                <a:cs typeface="Times New Roman" panose="02020603050405020304" pitchFamily="18" charset="0"/>
              </a:rPr>
              <a:t>: Giữa vật chất  và ý thức thì cái nào có trước, cái nào có sau, cái nào quyết định cái nào?</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6450493" y="2981739"/>
            <a:ext cx="3687419" cy="19348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80000"/>
              </a:lnSpc>
              <a:buNone/>
            </a:pPr>
            <a:r>
              <a:rPr lang="en-US" altLang="en-US" sz="2000" b="1" dirty="0">
                <a:solidFill>
                  <a:schemeClr val="tx1"/>
                </a:solidFill>
                <a:latin typeface="Times New Roman" panose="02020603050405020304" pitchFamily="18" charset="0"/>
                <a:cs typeface="Times New Roman" panose="02020603050405020304" pitchFamily="18" charset="0"/>
              </a:rPr>
              <a:t>T</a:t>
            </a:r>
            <a:r>
              <a:rPr lang="vi-VN" altLang="en-US" sz="2000" b="1" dirty="0">
                <a:solidFill>
                  <a:schemeClr val="tx1"/>
                </a:solidFill>
                <a:latin typeface="Times New Roman" panose="02020603050405020304" pitchFamily="18" charset="0"/>
                <a:cs typeface="Times New Roman" panose="02020603050405020304" pitchFamily="18" charset="0"/>
              </a:rPr>
              <a:t>hứ hai: </a:t>
            </a:r>
            <a:r>
              <a:rPr lang="en-US" altLang="vi-VN" sz="2000" b="1" dirty="0">
                <a:solidFill>
                  <a:schemeClr val="tx1"/>
                </a:solidFill>
                <a:latin typeface="Times New Roman" panose="02020603050405020304" pitchFamily="18" charset="0"/>
                <a:cs typeface="Times New Roman" panose="02020603050405020304" pitchFamily="18" charset="0"/>
              </a:rPr>
              <a:t>c</a:t>
            </a:r>
            <a:r>
              <a:rPr lang="vi-VN" altLang="en-US" sz="2000" dirty="0">
                <a:solidFill>
                  <a:schemeClr val="tx1"/>
                </a:solidFill>
                <a:latin typeface="Times New Roman" panose="02020603050405020304" pitchFamily="18" charset="0"/>
                <a:cs typeface="Times New Roman" panose="02020603050405020304" pitchFamily="18" charset="0"/>
              </a:rPr>
              <a:t>on người có khả năng nhận thức thế giới hay không?</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cxnSp>
        <p:nvCxnSpPr>
          <p:cNvPr id="8" name="Straight Arrow Connector 7"/>
          <p:cNvCxnSpPr>
            <a:stCxn id="4" idx="2"/>
          </p:cNvCxnSpPr>
          <p:nvPr/>
        </p:nvCxnSpPr>
        <p:spPr>
          <a:xfrm flipH="1">
            <a:off x="3670852" y="2531166"/>
            <a:ext cx="2080592" cy="450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44209" y="2531166"/>
            <a:ext cx="1881808" cy="450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ldLvl="0" animBg="1"/>
      <p:bldP spid="5" grpId="0" bldLvl="0" animBg="1"/>
      <p:bldP spid="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3472"/>
          </a:xfrm>
        </p:spPr>
        <p:txBody>
          <a:bodyPr/>
          <a:lstStyle/>
          <a:p>
            <a:endParaRPr lang="en-US" i="1" dirty="0"/>
          </a:p>
        </p:txBody>
      </p:sp>
      <p:sp>
        <p:nvSpPr>
          <p:cNvPr id="3" name="Rectangle 2"/>
          <p:cNvSpPr/>
          <p:nvPr/>
        </p:nvSpPr>
        <p:spPr>
          <a:xfrm rot="10800000" flipV="1">
            <a:off x="4009291" y="661182"/>
            <a:ext cx="4346917" cy="7455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CHỦ NGHĨA DUY VẬT</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rot="10800000" flipH="1" flipV="1">
            <a:off x="1083212" y="2025746"/>
            <a:ext cx="2672862" cy="40796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CNDV </a:t>
            </a:r>
            <a:r>
              <a:rPr lang="en-US" sz="2400" dirty="0" err="1">
                <a:solidFill>
                  <a:schemeClr val="tx1"/>
                </a:solidFill>
                <a:latin typeface="Times New Roman" panose="02020603050405020304" pitchFamily="18" charset="0"/>
                <a:cs typeface="Times New Roman" panose="02020603050405020304" pitchFamily="18" charset="0"/>
              </a:rPr>
              <a:t>chất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phát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cổ</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đại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thừa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nhận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thứ</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nhất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VC, </a:t>
            </a:r>
            <a:r>
              <a:rPr lang="en-US" sz="2400" dirty="0" err="1">
                <a:solidFill>
                  <a:schemeClr val="tx1"/>
                </a:solidFill>
                <a:latin typeface="Times New Roman" panose="02020603050405020304" pitchFamily="18" charset="0"/>
                <a:cs typeface="Times New Roman" panose="02020603050405020304" pitchFamily="18" charset="0"/>
              </a:rPr>
              <a:t>nhưng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đồng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nhất</a:t>
            </a:r>
            <a:r>
              <a:rPr lang="en-US" sz="2400" dirty="0">
                <a:solidFill>
                  <a:schemeClr val="tx1"/>
                </a:solidFill>
                <a:latin typeface="Times New Roman" panose="02020603050405020304" pitchFamily="18" charset="0"/>
                <a:cs typeface="Times New Roman" panose="02020603050405020304" pitchFamily="18" charset="0"/>
              </a:rPr>
              <a:t> VC </a:t>
            </a:r>
            <a:r>
              <a:rPr lang="en-US" sz="2400" dirty="0" err="1">
                <a:solidFill>
                  <a:schemeClr val="tx1"/>
                </a:solidFill>
                <a:latin typeface="Times New Roman" panose="02020603050405020304" pitchFamily="18" charset="0"/>
                <a:cs typeface="Times New Roman" panose="02020603050405020304" pitchFamily="18" charset="0"/>
              </a:rPr>
              <a:t>với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một</a:t>
            </a:r>
            <a:r>
              <a:rPr lang="en-US" sz="2400" dirty="0">
                <a:solidFill>
                  <a:schemeClr val="tx1"/>
                </a:solidFill>
                <a:latin typeface="Times New Roman" panose="02020603050405020304" pitchFamily="18" charset="0"/>
                <a:cs typeface="Times New Roman" panose="02020603050405020304" pitchFamily="18" charset="0"/>
              </a:rPr>
              <a:t> hay </a:t>
            </a:r>
            <a:r>
              <a:rPr lang="en-US" sz="2400" dirty="0" err="1">
                <a:solidFill>
                  <a:schemeClr val="tx1"/>
                </a:solidFill>
                <a:latin typeface="Times New Roman" panose="02020603050405020304" pitchFamily="18" charset="0"/>
                <a:cs typeface="Times New Roman" panose="02020603050405020304" pitchFamily="18" charset="0"/>
              </a:rPr>
              <a:t>một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số</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chất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cụ</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thể</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VC </a:t>
            </a:r>
            <a:r>
              <a:rPr lang="en-US" sz="2400" dirty="0" err="1">
                <a:solidFill>
                  <a:schemeClr val="tx1"/>
                </a:solidFill>
                <a:latin typeface="Times New Roman" panose="02020603050405020304" pitchFamily="18" charset="0"/>
                <a:cs typeface="Times New Roman" panose="02020603050405020304" pitchFamily="18" charset="0"/>
              </a:rPr>
              <a:t>và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đưa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ra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kết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luận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mang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nặng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quan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ngây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thơ</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chất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phát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4529797" y="2025746"/>
            <a:ext cx="2799471" cy="40796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CNDV </a:t>
            </a:r>
            <a:r>
              <a:rPr lang="en-US" sz="2400" dirty="0" err="1">
                <a:solidFill>
                  <a:schemeClr val="tx1"/>
                </a:solidFill>
                <a:latin typeface="Times New Roman" panose="02020603050405020304" pitchFamily="18" charset="0"/>
                <a:cs typeface="Times New Roman" panose="02020603050405020304" pitchFamily="18" charset="0"/>
              </a:rPr>
              <a:t>siêu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hình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đây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thời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kỳ</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cơ</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học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cổ</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điển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đạt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được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những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thành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tựu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rực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rỡ</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họ</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cho</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rằng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mỗi</a:t>
            </a: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bộ</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phận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tạo</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nên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thế</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giới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về</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cơ</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bản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là</a:t>
            </a:r>
            <a:r>
              <a:rPr lang="en-US" sz="2400" b="1" dirty="0">
                <a:solidFill>
                  <a:schemeClr val="tx1"/>
                </a:solidFill>
                <a:latin typeface="Times New Roman" panose="02020603050405020304" pitchFamily="18" charset="0"/>
                <a:cs typeface="Times New Roman" panose="02020603050405020304" pitchFamily="18" charset="0"/>
              </a:rPr>
              <a:t> ở </a:t>
            </a:r>
            <a:r>
              <a:rPr lang="en-US" sz="2400" b="1" dirty="0" err="1">
                <a:solidFill>
                  <a:schemeClr val="tx1"/>
                </a:solidFill>
                <a:latin typeface="Times New Roman" panose="02020603050405020304" pitchFamily="18" charset="0"/>
                <a:cs typeface="Times New Roman" panose="02020603050405020304" pitchFamily="18" charset="0"/>
              </a:rPr>
              <a:t>trạng</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thái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biệt</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lập</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và</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tĩnh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tại</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rot="10800000" flipV="1">
            <a:off x="8102991" y="2025748"/>
            <a:ext cx="2841674" cy="40796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CNDV </a:t>
            </a:r>
            <a:r>
              <a:rPr lang="en-US" sz="2400" dirty="0" err="1">
                <a:solidFill>
                  <a:schemeClr val="tx1"/>
                </a:solidFill>
                <a:latin typeface="Times New Roman" panose="02020603050405020304" pitchFamily="18" charset="0"/>
                <a:cs typeface="Times New Roman" panose="02020603050405020304" pitchFamily="18" charset="0"/>
              </a:rPr>
              <a:t>biện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chứng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ko</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chỉ</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ánh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hiện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đúng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như</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chính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thân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nó</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tồn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tại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còn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một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công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cụ</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hữu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hiệu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giúp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những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lượng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tiến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bộ</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trong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xã</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hôi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cải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tạo</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hiện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thực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ấy</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H="1">
            <a:off x="2813539" y="1406767"/>
            <a:ext cx="2785403" cy="61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598942" y="1406766"/>
            <a:ext cx="77958" cy="61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731413" y="1406766"/>
            <a:ext cx="2849879" cy="618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1607"/>
          </a:xfrm>
        </p:spPr>
        <p:txBody>
          <a:bodyPr/>
          <a:lstStyle/>
          <a:p>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rot="10800000" flipH="1" flipV="1">
            <a:off x="4343658" y="537539"/>
            <a:ext cx="3900010" cy="8051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Times New Roman" panose="02020603050405020304" pitchFamily="18" charset="0"/>
                <a:cs typeface="Times New Roman" panose="02020603050405020304" pitchFamily="18" charset="0"/>
              </a:rPr>
              <a:t>CHỦ NGHĨA DUY TÂM</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flipH="1">
            <a:off x="1871001" y="2363371"/>
            <a:ext cx="3432518" cy="35309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CNDT </a:t>
            </a:r>
            <a:r>
              <a:rPr lang="en-US" sz="2400" dirty="0" err="1">
                <a:solidFill>
                  <a:schemeClr val="tx1"/>
                </a:solidFill>
                <a:latin typeface="Times New Roman" panose="02020603050405020304" pitchFamily="18" charset="0"/>
                <a:cs typeface="Times New Roman" panose="02020603050405020304" pitchFamily="18" charset="0"/>
              </a:rPr>
              <a:t>chủ</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quan</a:t>
            </a: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thừa</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nhận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tính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thứ</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nhất</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của</a:t>
            </a:r>
            <a:r>
              <a:rPr lang="en-US" sz="2400" b="1" dirty="0">
                <a:solidFill>
                  <a:schemeClr val="tx1"/>
                </a:solidFill>
                <a:latin typeface="Times New Roman" panose="02020603050405020304" pitchFamily="18" charset="0"/>
                <a:cs typeface="Times New Roman" panose="02020603050405020304" pitchFamily="18" charset="0"/>
              </a:rPr>
              <a:t> ý </a:t>
            </a:r>
            <a:r>
              <a:rPr lang="en-US" sz="2400" b="1" dirty="0" err="1">
                <a:solidFill>
                  <a:schemeClr val="tx1"/>
                </a:solidFill>
                <a:latin typeface="Times New Roman" panose="02020603050405020304" pitchFamily="18" charset="0"/>
                <a:cs typeface="Times New Roman" panose="02020603050405020304" pitchFamily="18" charset="0"/>
              </a:rPr>
              <a:t>thức</a:t>
            </a:r>
            <a:r>
              <a:rPr lang="en-US" sz="2400" b="1" dirty="0">
                <a:solidFill>
                  <a:schemeClr val="tx1"/>
                </a:solidFill>
                <a:latin typeface="Times New Roman" panose="02020603050405020304" pitchFamily="18" charset="0"/>
                <a:cs typeface="Times New Roman" panose="02020603050405020304" pitchFamily="18" charset="0"/>
              </a:rPr>
              <a:t> con </a:t>
            </a:r>
            <a:r>
              <a:rPr lang="en-US" sz="2400" b="1" dirty="0" err="1">
                <a:solidFill>
                  <a:schemeClr val="tx1"/>
                </a:solidFill>
                <a:latin typeface="Times New Roman" panose="02020603050405020304" pitchFamily="18" charset="0"/>
                <a:cs typeface="Times New Roman" panose="02020603050405020304" pitchFamily="18" charset="0"/>
              </a:rPr>
              <a:t>người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phủ</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nhận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sự</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tồn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tại</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khách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quan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của</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hiện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thực</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CNDT CQ </a:t>
            </a:r>
            <a:r>
              <a:rPr lang="en-US" sz="2400" dirty="0" err="1">
                <a:solidFill>
                  <a:schemeClr val="tx1"/>
                </a:solidFill>
                <a:latin typeface="Times New Roman" panose="02020603050405020304" pitchFamily="18" charset="0"/>
                <a:cs typeface="Times New Roman" panose="02020603050405020304" pitchFamily="18" charset="0"/>
              </a:rPr>
              <a:t>khẳng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định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mọi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sự</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vật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hiện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tượng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chỉ</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phức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hợp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những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cảm</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giác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rot="10800000" flipH="1" flipV="1">
            <a:off x="6850965" y="2363370"/>
            <a:ext cx="3545057" cy="35309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solidFill>
                <a:latin typeface="Times New Roman" panose="02020603050405020304" pitchFamily="18" charset="0"/>
                <a:cs typeface="Times New Roman" panose="02020603050405020304" pitchFamily="18" charset="0"/>
              </a:rPr>
              <a:t>CNDT </a:t>
            </a:r>
            <a:r>
              <a:rPr lang="en-US" sz="2400" dirty="0" err="1">
                <a:solidFill>
                  <a:schemeClr val="tx1"/>
                </a:solidFill>
                <a:latin typeface="Times New Roman" panose="02020603050405020304" pitchFamily="18" charset="0"/>
                <a:cs typeface="Times New Roman" panose="02020603050405020304" pitchFamily="18" charset="0"/>
              </a:rPr>
              <a:t>khách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quan</a:t>
            </a:r>
            <a:r>
              <a:rPr 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Thừa</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nhận</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tính</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thứ</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nhất</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của</a:t>
            </a:r>
            <a:r>
              <a:rPr lang="en-US" altLang="en-US" sz="2400" dirty="0">
                <a:solidFill>
                  <a:schemeClr val="tx1"/>
                </a:solidFill>
                <a:latin typeface="Times New Roman" panose="02020603050405020304" pitchFamily="18" charset="0"/>
                <a:cs typeface="Times New Roman" panose="02020603050405020304" pitchFamily="18" charset="0"/>
              </a:rPr>
              <a:t> ý </a:t>
            </a:r>
            <a:r>
              <a:rPr lang="en-US" altLang="en-US" sz="2400" dirty="0" err="1">
                <a:solidFill>
                  <a:schemeClr val="tx1"/>
                </a:solidFill>
                <a:latin typeface="Times New Roman" panose="02020603050405020304" pitchFamily="18" charset="0"/>
                <a:cs typeface="Times New Roman" panose="02020603050405020304" pitchFamily="18" charset="0"/>
              </a:rPr>
              <a:t>thức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coi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đó</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là</a:t>
            </a:r>
            <a:r>
              <a:rPr lang="vi-VN" altLang="en-US" sz="2400" dirty="0">
                <a:solidFill>
                  <a:schemeClr val="tx1"/>
                </a:solidFill>
                <a:latin typeface="Times New Roman" panose="02020603050405020304" pitchFamily="18" charset="0"/>
                <a:cs typeface="Times New Roman" panose="02020603050405020304" pitchFamily="18" charset="0"/>
              </a:rPr>
              <a:t> tinh </a:t>
            </a:r>
            <a:r>
              <a:rPr lang="vi-VN" altLang="en-US" sz="2400" dirty="0" err="1">
                <a:solidFill>
                  <a:schemeClr val="tx1"/>
                </a:solidFill>
                <a:latin typeface="Times New Roman" panose="02020603050405020304" pitchFamily="18" charset="0"/>
                <a:cs typeface="Times New Roman" panose="02020603050405020304" pitchFamily="18" charset="0"/>
              </a:rPr>
              <a:t>thần</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khách</a:t>
            </a:r>
            <a:r>
              <a:rPr lang="vi-VN" altLang="en-US" sz="2400" dirty="0">
                <a:solidFill>
                  <a:schemeClr val="tx1"/>
                </a:solidFill>
                <a:latin typeface="Times New Roman" panose="02020603050405020304" pitchFamily="18" charset="0"/>
                <a:cs typeface="Times New Roman" panose="02020603050405020304" pitchFamily="18" charset="0"/>
              </a:rPr>
              <a:t> quan </a:t>
            </a:r>
            <a:r>
              <a:rPr lang="vi-VN" altLang="en-US" sz="2400" dirty="0" err="1">
                <a:solidFill>
                  <a:schemeClr val="tx1"/>
                </a:solidFill>
                <a:latin typeface="Times New Roman" panose="02020603050405020304" pitchFamily="18" charset="0"/>
                <a:cs typeface="Times New Roman" panose="02020603050405020304" pitchFamily="18" charset="0"/>
              </a:rPr>
              <a:t>có</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trước</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và</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tồn</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tại</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độc</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lập</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với</a:t>
            </a:r>
            <a:r>
              <a:rPr lang="vi-VN" altLang="en-US" sz="2400" dirty="0">
                <a:solidFill>
                  <a:schemeClr val="tx1"/>
                </a:solidFill>
                <a:latin typeface="Times New Roman" panose="02020603050405020304" pitchFamily="18" charset="0"/>
                <a:cs typeface="Times New Roman" panose="02020603050405020304" pitchFamily="18" charset="0"/>
              </a:rPr>
              <a:t> con </a:t>
            </a:r>
            <a:r>
              <a:rPr lang="vi-VN" altLang="en-US" sz="2400" dirty="0" err="1">
                <a:solidFill>
                  <a:schemeClr val="tx1"/>
                </a:solidFill>
                <a:latin typeface="Times New Roman" panose="02020603050405020304" pitchFamily="18" charset="0"/>
                <a:cs typeface="Times New Roman" panose="02020603050405020304" pitchFamily="18" charset="0"/>
              </a:rPr>
              <a:t>người</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thường</a:t>
            </a:r>
            <a:r>
              <a:rPr lang="vi-VN" altLang="en-US" sz="2400" dirty="0">
                <a:solidFill>
                  <a:schemeClr val="tx1"/>
                </a:solidFill>
                <a:latin typeface="Times New Roman" panose="02020603050405020304" pitchFamily="18" charset="0"/>
                <a:cs typeface="Times New Roman" panose="02020603050405020304" pitchFamily="18" charset="0"/>
              </a:rPr>
              <a:t> mang </a:t>
            </a:r>
            <a:r>
              <a:rPr lang="vi-VN" altLang="en-US" sz="2400" dirty="0" err="1">
                <a:solidFill>
                  <a:schemeClr val="tx1"/>
                </a:solidFill>
                <a:latin typeface="Times New Roman" panose="02020603050405020304" pitchFamily="18" charset="0"/>
                <a:cs typeface="Times New Roman" panose="02020603050405020304" pitchFamily="18" charset="0"/>
              </a:rPr>
              <a:t>những</a:t>
            </a:r>
            <a:r>
              <a:rPr lang="vi-VN" altLang="en-US" sz="2400" dirty="0">
                <a:solidFill>
                  <a:schemeClr val="tx1"/>
                </a:solidFill>
                <a:latin typeface="Times New Roman" panose="02020603050405020304" pitchFamily="18" charset="0"/>
                <a:cs typeface="Times New Roman" panose="02020603050405020304" pitchFamily="18" charset="0"/>
              </a:rPr>
              <a:t> tên </a:t>
            </a:r>
            <a:r>
              <a:rPr lang="vi-VN" altLang="en-US" sz="2400" dirty="0" err="1">
                <a:solidFill>
                  <a:schemeClr val="tx1"/>
                </a:solidFill>
                <a:latin typeface="Times New Roman" panose="02020603050405020304" pitchFamily="18" charset="0"/>
                <a:cs typeface="Times New Roman" panose="02020603050405020304" pitchFamily="18" charset="0"/>
              </a:rPr>
              <a:t>gọi</a:t>
            </a:r>
            <a:r>
              <a:rPr lang="vi-VN" altLang="en-US" sz="2400" dirty="0">
                <a:solidFill>
                  <a:schemeClr val="tx1"/>
                </a:solidFill>
                <a:latin typeface="Times New Roman" panose="02020603050405020304" pitchFamily="18" charset="0"/>
                <a:cs typeface="Times New Roman" panose="02020603050405020304" pitchFamily="18" charset="0"/>
              </a:rPr>
              <a:t> như ý </a:t>
            </a:r>
            <a:r>
              <a:rPr lang="vi-VN" altLang="en-US" sz="2400" dirty="0" err="1">
                <a:solidFill>
                  <a:schemeClr val="tx1"/>
                </a:solidFill>
                <a:latin typeface="Times New Roman" panose="02020603050405020304" pitchFamily="18" charset="0"/>
                <a:cs typeface="Times New Roman" panose="02020603050405020304" pitchFamily="18" charset="0"/>
              </a:rPr>
              <a:t>niệm</a:t>
            </a:r>
            <a:r>
              <a:rPr lang="vi-VN" altLang="en-US" sz="2400" dirty="0">
                <a:solidFill>
                  <a:schemeClr val="tx1"/>
                </a:solidFill>
                <a:latin typeface="Times New Roman" panose="02020603050405020304" pitchFamily="18" charset="0"/>
                <a:cs typeface="Times New Roman" panose="02020603050405020304" pitchFamily="18" charset="0"/>
              </a:rPr>
              <a:t>, tinh </a:t>
            </a:r>
            <a:r>
              <a:rPr lang="vi-VN" altLang="en-US" sz="2400" dirty="0" err="1">
                <a:solidFill>
                  <a:schemeClr val="tx1"/>
                </a:solidFill>
                <a:latin typeface="Times New Roman" panose="02020603050405020304" pitchFamily="18" charset="0"/>
                <a:cs typeface="Times New Roman" panose="02020603050405020304" pitchFamily="18" charset="0"/>
              </a:rPr>
              <a:t>thần</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tuyệt</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đối</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lý</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tính</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thế</a:t>
            </a:r>
            <a:r>
              <a:rPr lang="vi-VN" altLang="en-US" sz="2400" dirty="0">
                <a:solidFill>
                  <a:schemeClr val="tx1"/>
                </a:solidFill>
                <a:latin typeface="Times New Roman" panose="02020603050405020304" pitchFamily="18" charset="0"/>
                <a:cs typeface="Times New Roman" panose="02020603050405020304" pitchFamily="18" charset="0"/>
              </a:rPr>
              <a:t> </a:t>
            </a:r>
            <a:r>
              <a:rPr lang="vi-VN" altLang="en-US" sz="2400" dirty="0" err="1">
                <a:solidFill>
                  <a:schemeClr val="tx1"/>
                </a:solidFill>
                <a:latin typeface="Times New Roman" panose="02020603050405020304" pitchFamily="18" charset="0"/>
                <a:cs typeface="Times New Roman" panose="02020603050405020304" pitchFamily="18" charset="0"/>
              </a:rPr>
              <a:t>giới</a:t>
            </a:r>
            <a:r>
              <a:rPr lang="vi-VN" altLang="en-US" sz="2400" dirty="0">
                <a:solidFill>
                  <a:schemeClr val="tx1"/>
                </a:solidFill>
                <a:latin typeface="Times New Roman" panose="02020603050405020304" pitchFamily="18" charset="0"/>
                <a:cs typeface="Times New Roman" panose="02020603050405020304" pitchFamily="18" charset="0"/>
              </a:rPr>
              <a:t>...</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7" name="Straight Arrow Connector 6"/>
          <p:cNvCxnSpPr/>
          <p:nvPr/>
        </p:nvCxnSpPr>
        <p:spPr>
          <a:xfrm flipH="1">
            <a:off x="3587260" y="1342694"/>
            <a:ext cx="2363374" cy="1020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950634" y="1342694"/>
            <a:ext cx="2293034" cy="1020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4697"/>
          </a:xfrm>
        </p:spPr>
        <p:txBody>
          <a:bodyPr>
            <a:normAutofit fontScale="90000"/>
          </a:bodyPr>
          <a:lstStyle/>
          <a:p>
            <a:pPr algn="just"/>
            <a:r>
              <a:rPr lang="en-US" sz="3200" b="1" dirty="0">
                <a:latin typeface="Times New Roman" panose="02020603050405020304" pitchFamily="18" charset="0"/>
                <a:cs typeface="Times New Roman" panose="02020603050405020304" pitchFamily="18" charset="0"/>
              </a:rPr>
              <a:t>c. </a:t>
            </a:r>
            <a:r>
              <a:rPr lang="en-US" sz="3200" b="1" dirty="0" err="1">
                <a:latin typeface="Times New Roman" panose="02020603050405020304" pitchFamily="18" charset="0"/>
                <a:cs typeface="Times New Roman" panose="02020603050405020304" pitchFamily="18" charset="0"/>
              </a:rPr>
              <a:t>Thuyết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có</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thể</a:t>
            </a:r>
            <a:r>
              <a:rPr lang="en-US"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biết</a:t>
            </a:r>
            <a:r>
              <a:rPr lang="vi-VN" sz="32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t>
            </a:r>
            <a:r>
              <a:rPr lang="en-US" altLang="en-US" sz="3200" b="1" i="1" dirty="0" err="1">
                <a:latin typeface="Times New Roman" panose="02020603050405020304" pitchFamily="18" charset="0"/>
                <a:cs typeface="Times New Roman" panose="02020603050405020304" pitchFamily="18" charset="0"/>
              </a:rPr>
              <a:t>Khả</a:t>
            </a:r>
            <a:r>
              <a:rPr lang="en-US" altLang="en-US" sz="3200" b="1" i="1" dirty="0">
                <a:latin typeface="Times New Roman" panose="02020603050405020304" pitchFamily="18" charset="0"/>
                <a:cs typeface="Times New Roman" panose="02020603050405020304" pitchFamily="18" charset="0"/>
              </a:rPr>
              <a:t> tri </a:t>
            </a:r>
            <a:r>
              <a:rPr lang="en-US" altLang="en-US" sz="3200" b="1" i="1" dirty="0" err="1">
                <a:latin typeface="Times New Roman" panose="02020603050405020304" pitchFamily="18" charset="0"/>
                <a:cs typeface="Times New Roman" panose="02020603050405020304" pitchFamily="18" charset="0"/>
              </a:rPr>
              <a:t>luận</a:t>
            </a:r>
            <a:r>
              <a:rPr lang="en-US" alt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thuyết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không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thể</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biết</a:t>
            </a:r>
            <a:r>
              <a:rPr lang="vi-VN" sz="3200" b="1" dirty="0">
                <a:latin typeface="Times New Roman" panose="02020603050405020304" pitchFamily="18" charset="0"/>
                <a:cs typeface="Times New Roman" panose="02020603050405020304" pitchFamily="18" charset="0"/>
              </a:rPr>
              <a:t> (</a:t>
            </a:r>
            <a:r>
              <a:rPr lang="en-US" altLang="en-US" sz="3200" b="1" i="1" dirty="0" err="1">
                <a:latin typeface="Times New Roman" panose="02020603050405020304" pitchFamily="18" charset="0"/>
                <a:cs typeface="Times New Roman" panose="02020603050405020304" pitchFamily="18" charset="0"/>
              </a:rPr>
              <a:t>Bất</a:t>
            </a:r>
            <a:r>
              <a:rPr lang="en-US" altLang="en-US" sz="3200" b="1" i="1" dirty="0">
                <a:latin typeface="Times New Roman" panose="02020603050405020304" pitchFamily="18" charset="0"/>
                <a:cs typeface="Times New Roman" panose="02020603050405020304" pitchFamily="18" charset="0"/>
              </a:rPr>
              <a:t> </a:t>
            </a:r>
            <a:r>
              <a:rPr lang="en-US" altLang="en-US" sz="3200" b="1" i="1" dirty="0" err="1">
                <a:latin typeface="Times New Roman" panose="02020603050405020304" pitchFamily="18" charset="0"/>
                <a:cs typeface="Times New Roman" panose="02020603050405020304" pitchFamily="18" charset="0"/>
              </a:rPr>
              <a:t>khả</a:t>
            </a:r>
            <a:r>
              <a:rPr lang="en-US" altLang="en-US" sz="3200" b="1" i="1" dirty="0">
                <a:latin typeface="Times New Roman" panose="02020603050405020304" pitchFamily="18" charset="0"/>
                <a:cs typeface="Times New Roman" panose="02020603050405020304" pitchFamily="18" charset="0"/>
              </a:rPr>
              <a:t> tri </a:t>
            </a:r>
            <a:r>
              <a:rPr lang="en-US" altLang="en-US" sz="3200" b="1" i="1" dirty="0" err="1">
                <a:latin typeface="Times New Roman" panose="02020603050405020304" pitchFamily="18" charset="0"/>
                <a:cs typeface="Times New Roman" panose="02020603050405020304" pitchFamily="18" charset="0"/>
              </a:rPr>
              <a:t>luận</a:t>
            </a:r>
            <a:r>
              <a:rPr lang="vi-VN" altLang="en-US" sz="3200" b="1" i="1" dirty="0">
                <a:latin typeface="Times New Roman" panose="02020603050405020304" pitchFamily="18" charset="0"/>
                <a:cs typeface="Times New Roman" panose="02020603050405020304" pitchFamily="18" charset="0"/>
              </a:rPr>
              <a:t>)</a:t>
            </a:r>
            <a:endParaRPr lang="en-US" sz="3200"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36431"/>
            <a:ext cx="10515600" cy="4840532"/>
          </a:xfrm>
        </p:spPr>
        <p:txBody>
          <a:bodyP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 name="Oval 3"/>
          <p:cNvSpPr/>
          <p:nvPr/>
        </p:nvSpPr>
        <p:spPr>
          <a:xfrm rot="10800000" flipV="1">
            <a:off x="1434901" y="1336430"/>
            <a:ext cx="3404383" cy="12660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000" b="1" dirty="0" err="1">
                <a:solidFill>
                  <a:schemeClr val="tx1"/>
                </a:solidFill>
                <a:latin typeface="Times New Roman" panose="02020603050405020304" pitchFamily="18" charset="0"/>
                <a:cs typeface="Times New Roman" panose="02020603050405020304" pitchFamily="18" charset="0"/>
              </a:rPr>
              <a:t>Khả</a:t>
            </a:r>
            <a:r>
              <a:rPr lang="en-US" altLang="en-US" sz="2000" b="1" dirty="0">
                <a:solidFill>
                  <a:schemeClr val="tx1"/>
                </a:solidFill>
                <a:latin typeface="Times New Roman" panose="02020603050405020304" pitchFamily="18" charset="0"/>
                <a:cs typeface="Times New Roman" panose="02020603050405020304" pitchFamily="18" charset="0"/>
              </a:rPr>
              <a:t> tri </a:t>
            </a:r>
            <a:r>
              <a:rPr lang="en-US" altLang="en-US" sz="2000" b="1" dirty="0" err="1">
                <a:solidFill>
                  <a:schemeClr val="tx1"/>
                </a:solidFill>
                <a:latin typeface="Times New Roman" panose="02020603050405020304" pitchFamily="18" charset="0"/>
                <a:cs typeface="Times New Roman" panose="02020603050405020304" pitchFamily="18" charset="0"/>
              </a:rPr>
              <a:t>luận</a:t>
            </a:r>
            <a:r>
              <a:rPr lang="en-US" altLang="en-US" sz="2000" b="1" dirty="0">
                <a:solidFill>
                  <a:schemeClr val="tx1"/>
                </a:solidFill>
                <a:latin typeface="Times New Roman" panose="02020603050405020304" pitchFamily="18" charset="0"/>
                <a:cs typeface="Times New Roman" panose="02020603050405020304" pitchFamily="18" charset="0"/>
              </a:rPr>
              <a:t> </a:t>
            </a:r>
            <a:endParaRPr lang="en-US" altLang="en-US" sz="2000" b="1" dirty="0">
              <a:solidFill>
                <a:schemeClr val="tx1"/>
              </a:solidFill>
              <a:latin typeface="Times New Roman" panose="02020603050405020304" pitchFamily="18" charset="0"/>
              <a:cs typeface="Times New Roman" panose="02020603050405020304" pitchFamily="18" charset="0"/>
            </a:endParaRPr>
          </a:p>
          <a:p>
            <a:pPr algn="ctr"/>
            <a:r>
              <a:rPr lang="en-US" altLang="en-US" sz="2000" b="1" dirty="0">
                <a:solidFill>
                  <a:schemeClr val="tx1"/>
                </a:solidFill>
                <a:latin typeface="Times New Roman" panose="02020603050405020304" pitchFamily="18" charset="0"/>
                <a:cs typeface="Times New Roman" panose="02020603050405020304" pitchFamily="18" charset="0"/>
              </a:rPr>
              <a:t>(</a:t>
            </a:r>
            <a:r>
              <a:rPr lang="en-US" altLang="en-US" sz="2000" b="1" dirty="0" err="1">
                <a:solidFill>
                  <a:schemeClr val="tx1"/>
                </a:solidFill>
                <a:latin typeface="Times New Roman" panose="02020603050405020304" pitchFamily="18" charset="0"/>
                <a:cs typeface="Times New Roman" panose="02020603050405020304" pitchFamily="18" charset="0"/>
              </a:rPr>
              <a:t>thuyết</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có</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thể</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biết</a:t>
            </a:r>
            <a:r>
              <a:rPr lang="en-US" altLang="en-US" sz="2000" i="1" dirty="0">
                <a:solidFill>
                  <a:schemeClr val="tx1"/>
                </a:solidFill>
                <a:latin typeface="Times New Roman" panose="02020603050405020304" pitchFamily="18" charset="0"/>
                <a:cs typeface="Times New Roman" panose="02020603050405020304" pitchFamily="18" charset="0"/>
              </a:rPr>
              <a:t>)</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5" name="Oval 4"/>
          <p:cNvSpPr/>
          <p:nvPr/>
        </p:nvSpPr>
        <p:spPr>
          <a:xfrm rot="10800000" flipV="1">
            <a:off x="7090115" y="1336432"/>
            <a:ext cx="3418450" cy="12660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000" b="1" dirty="0" err="1">
                <a:solidFill>
                  <a:schemeClr val="tx1"/>
                </a:solidFill>
                <a:latin typeface="Times New Roman" panose="02020603050405020304" pitchFamily="18" charset="0"/>
                <a:cs typeface="Times New Roman" panose="02020603050405020304" pitchFamily="18" charset="0"/>
              </a:rPr>
              <a:t>Bất</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khả</a:t>
            </a:r>
            <a:r>
              <a:rPr lang="en-US" altLang="en-US" sz="2000" b="1" dirty="0">
                <a:solidFill>
                  <a:schemeClr val="tx1"/>
                </a:solidFill>
                <a:latin typeface="Times New Roman" panose="02020603050405020304" pitchFamily="18" charset="0"/>
                <a:cs typeface="Times New Roman" panose="02020603050405020304" pitchFamily="18" charset="0"/>
              </a:rPr>
              <a:t> tri </a:t>
            </a:r>
            <a:r>
              <a:rPr lang="en-US" altLang="en-US" sz="2000" b="1" dirty="0" err="1">
                <a:solidFill>
                  <a:schemeClr val="tx1"/>
                </a:solidFill>
                <a:latin typeface="Times New Roman" panose="02020603050405020304" pitchFamily="18" charset="0"/>
                <a:cs typeface="Times New Roman" panose="02020603050405020304" pitchFamily="18" charset="0"/>
              </a:rPr>
              <a:t>luận</a:t>
            </a:r>
            <a:r>
              <a:rPr lang="en-US" altLang="en-US" sz="2000" b="1" dirty="0">
                <a:solidFill>
                  <a:schemeClr val="tx1"/>
                </a:solidFill>
                <a:latin typeface="Times New Roman" panose="02020603050405020304" pitchFamily="18" charset="0"/>
                <a:cs typeface="Times New Roman" panose="02020603050405020304" pitchFamily="18" charset="0"/>
              </a:rPr>
              <a:t> </a:t>
            </a:r>
            <a:br>
              <a:rPr lang="en-US" altLang="en-US" sz="2000" b="1"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a:t>
            </a:r>
            <a:r>
              <a:rPr lang="en-US" altLang="en-US" sz="2000" b="1" dirty="0" err="1">
                <a:solidFill>
                  <a:schemeClr val="tx1"/>
                </a:solidFill>
                <a:latin typeface="Times New Roman" panose="02020603050405020304" pitchFamily="18" charset="0"/>
                <a:cs typeface="Times New Roman" panose="02020603050405020304" pitchFamily="18" charset="0"/>
              </a:rPr>
              <a:t>thuyết</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không</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thể</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dirty="0" err="1">
                <a:solidFill>
                  <a:schemeClr val="tx1"/>
                </a:solidFill>
                <a:latin typeface="Times New Roman" panose="02020603050405020304" pitchFamily="18" charset="0"/>
                <a:cs typeface="Times New Roman" panose="02020603050405020304" pitchFamily="18" charset="0"/>
              </a:rPr>
              <a:t>biết</a:t>
            </a:r>
            <a:r>
              <a:rPr lang="en-US" altLang="en-US" sz="2000" b="1" dirty="0">
                <a:solidFill>
                  <a:schemeClr val="tx1"/>
                </a:solidFill>
                <a:latin typeface="Times New Roman" panose="02020603050405020304" pitchFamily="18" charset="0"/>
                <a:cs typeface="Times New Roman" panose="02020603050405020304" pitchFamily="18" charset="0"/>
              </a:rPr>
              <a:t>)</a:t>
            </a:r>
            <a:endParaRPr lang="en-US" altLang="en-US" sz="20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rot="10800000" flipH="1" flipV="1">
            <a:off x="1434900" y="2602521"/>
            <a:ext cx="3404383" cy="29120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vi-VN" sz="2400" i="1" dirty="0" err="1">
                <a:solidFill>
                  <a:schemeClr val="tx1">
                    <a:lumMod val="95000"/>
                    <a:lumOff val="5000"/>
                  </a:schemeClr>
                </a:solidFill>
                <a:latin typeface="+mj-lt"/>
              </a:rPr>
              <a:t>Tuyệt</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đại</a:t>
            </a:r>
            <a:r>
              <a:rPr lang="vi-VN" sz="2400" i="1" dirty="0">
                <a:solidFill>
                  <a:schemeClr val="tx1">
                    <a:lumMod val="95000"/>
                    <a:lumOff val="5000"/>
                  </a:schemeClr>
                </a:solidFill>
                <a:latin typeface="+mj-lt"/>
              </a:rPr>
              <a:t> đa </a:t>
            </a:r>
            <a:r>
              <a:rPr lang="vi-VN" sz="2400" i="1" dirty="0" err="1">
                <a:solidFill>
                  <a:schemeClr val="tx1">
                    <a:lumMod val="95000"/>
                    <a:lumOff val="5000"/>
                  </a:schemeClr>
                </a:solidFill>
                <a:latin typeface="+mj-lt"/>
              </a:rPr>
              <a:t>số</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các</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nhà</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triết</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học</a:t>
            </a:r>
            <a:r>
              <a:rPr lang="vi-VN" sz="2400" i="1" dirty="0">
                <a:solidFill>
                  <a:schemeClr val="tx1">
                    <a:lumMod val="95000"/>
                    <a:lumOff val="5000"/>
                  </a:schemeClr>
                </a:solidFill>
                <a:latin typeface="+mj-lt"/>
              </a:rPr>
              <a:t> trong </a:t>
            </a:r>
            <a:r>
              <a:rPr lang="vi-VN" sz="2400" i="1" dirty="0" err="1">
                <a:solidFill>
                  <a:schemeClr val="tx1">
                    <a:lumMod val="95000"/>
                    <a:lumOff val="5000"/>
                  </a:schemeClr>
                </a:solidFill>
                <a:latin typeface="+mj-lt"/>
              </a:rPr>
              <a:t>lịch</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sử</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cả</a:t>
            </a:r>
            <a:r>
              <a:rPr lang="vi-VN" sz="2400" i="1" dirty="0">
                <a:solidFill>
                  <a:schemeClr val="tx1">
                    <a:lumMod val="95000"/>
                    <a:lumOff val="5000"/>
                  </a:schemeClr>
                </a:solidFill>
                <a:latin typeface="+mj-lt"/>
              </a:rPr>
              <a:t> </a:t>
            </a:r>
            <a:r>
              <a:rPr lang="en-US" sz="2400" i="1" dirty="0">
                <a:solidFill>
                  <a:schemeClr val="tx1">
                    <a:lumMod val="95000"/>
                    <a:lumOff val="5000"/>
                  </a:schemeClr>
                </a:solidFill>
                <a:latin typeface="+mj-lt"/>
              </a:rPr>
              <a:t>DV</a:t>
            </a:r>
            <a:r>
              <a:rPr lang="vi-VN" sz="2400" i="1" dirty="0" err="1">
                <a:solidFill>
                  <a:schemeClr val="tx1">
                    <a:lumMod val="95000"/>
                    <a:lumOff val="5000"/>
                  </a:schemeClr>
                </a:solidFill>
                <a:latin typeface="+mj-lt"/>
              </a:rPr>
              <a:t>và</a:t>
            </a:r>
            <a:r>
              <a:rPr lang="vi-VN" sz="2400" i="1" dirty="0">
                <a:solidFill>
                  <a:schemeClr val="tx1">
                    <a:lumMod val="95000"/>
                    <a:lumOff val="5000"/>
                  </a:schemeClr>
                </a:solidFill>
                <a:latin typeface="+mj-lt"/>
              </a:rPr>
              <a:t> </a:t>
            </a:r>
            <a:r>
              <a:rPr lang="en-US" sz="2400" i="1" dirty="0">
                <a:solidFill>
                  <a:schemeClr val="tx1">
                    <a:lumMod val="95000"/>
                    <a:lumOff val="5000"/>
                  </a:schemeClr>
                </a:solidFill>
                <a:latin typeface="+mj-lt"/>
              </a:rPr>
              <a:t>DT</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đều</a:t>
            </a:r>
            <a:r>
              <a:rPr lang="vi-VN" sz="2400"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thừa</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nhận</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khả</a:t>
            </a:r>
            <a:r>
              <a:rPr lang="vi-VN" sz="2400" b="1" i="1" dirty="0">
                <a:solidFill>
                  <a:schemeClr val="tx1">
                    <a:lumMod val="95000"/>
                    <a:lumOff val="5000"/>
                  </a:schemeClr>
                </a:solidFill>
                <a:latin typeface="+mj-lt"/>
              </a:rPr>
              <a:t> năng </a:t>
            </a:r>
            <a:r>
              <a:rPr lang="vi-VN" sz="2400" b="1" i="1" dirty="0" err="1">
                <a:solidFill>
                  <a:schemeClr val="tx1">
                    <a:lumMod val="95000"/>
                    <a:lumOff val="5000"/>
                  </a:schemeClr>
                </a:solidFill>
                <a:latin typeface="+mj-lt"/>
              </a:rPr>
              <a:t>nhận</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thức</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thế</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giới</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của</a:t>
            </a:r>
            <a:r>
              <a:rPr lang="vi-VN" sz="2400" b="1" i="1" dirty="0">
                <a:solidFill>
                  <a:schemeClr val="tx1">
                    <a:lumMod val="95000"/>
                    <a:lumOff val="5000"/>
                  </a:schemeClr>
                </a:solidFill>
                <a:latin typeface="+mj-lt"/>
              </a:rPr>
              <a:t> con </a:t>
            </a:r>
            <a:r>
              <a:rPr lang="vi-VN" sz="2400" b="1" i="1" dirty="0" err="1">
                <a:solidFill>
                  <a:schemeClr val="tx1">
                    <a:lumMod val="95000"/>
                    <a:lumOff val="5000"/>
                  </a:schemeClr>
                </a:solidFill>
                <a:latin typeface="+mj-lt"/>
              </a:rPr>
              <a:t>người</a:t>
            </a:r>
            <a:r>
              <a:rPr lang="vi-VN" sz="2400" b="1" i="1" dirty="0">
                <a:solidFill>
                  <a:schemeClr val="tx1">
                    <a:lumMod val="95000"/>
                    <a:lumOff val="5000"/>
                  </a:schemeClr>
                </a:solidFill>
                <a:latin typeface="+mj-lt"/>
              </a:rPr>
              <a:t>. </a:t>
            </a:r>
            <a:r>
              <a:rPr lang="vi-VN" sz="2400" i="1" dirty="0">
                <a:solidFill>
                  <a:schemeClr val="tx1">
                    <a:lumMod val="95000"/>
                    <a:lumOff val="5000"/>
                  </a:schemeClr>
                </a:solidFill>
                <a:latin typeface="+mj-lt"/>
              </a:rPr>
              <a:t>Tuy nhiên, </a:t>
            </a:r>
            <a:r>
              <a:rPr lang="vi-VN" sz="2400" i="1" dirty="0" err="1">
                <a:solidFill>
                  <a:schemeClr val="tx1">
                    <a:lumMod val="95000"/>
                    <a:lumOff val="5000"/>
                  </a:schemeClr>
                </a:solidFill>
                <a:latin typeface="+mj-lt"/>
              </a:rPr>
              <a:t>họ</a:t>
            </a:r>
            <a:r>
              <a:rPr lang="vi-VN" sz="2400" i="1" dirty="0">
                <a:solidFill>
                  <a:schemeClr val="tx1">
                    <a:lumMod val="95000"/>
                    <a:lumOff val="5000"/>
                  </a:schemeClr>
                </a:solidFill>
                <a:latin typeface="+mj-lt"/>
              </a:rPr>
              <a:t> quan </a:t>
            </a:r>
            <a:r>
              <a:rPr lang="vi-VN" sz="2400" i="1" dirty="0" err="1">
                <a:solidFill>
                  <a:schemeClr val="tx1">
                    <a:lumMod val="95000"/>
                    <a:lumOff val="5000"/>
                  </a:schemeClr>
                </a:solidFill>
                <a:latin typeface="+mj-lt"/>
              </a:rPr>
              <a:t>niệm</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khác</a:t>
            </a:r>
            <a:r>
              <a:rPr lang="vi-VN" sz="2400" i="1" dirty="0">
                <a:solidFill>
                  <a:schemeClr val="tx1">
                    <a:lumMod val="95000"/>
                    <a:lumOff val="5000"/>
                  </a:schemeClr>
                </a:solidFill>
                <a:latin typeface="+mj-lt"/>
              </a:rPr>
              <a:t> nhau </a:t>
            </a:r>
            <a:r>
              <a:rPr lang="vi-VN" sz="2400" i="1" dirty="0" err="1">
                <a:solidFill>
                  <a:schemeClr val="tx1">
                    <a:lumMod val="95000"/>
                    <a:lumOff val="5000"/>
                  </a:schemeClr>
                </a:solidFill>
                <a:latin typeface="+mj-lt"/>
              </a:rPr>
              <a:t>về</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nhận</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thức</a:t>
            </a:r>
            <a:r>
              <a:rPr lang="vi-VN" sz="2400" i="1" dirty="0">
                <a:solidFill>
                  <a:schemeClr val="tx1">
                    <a:lumMod val="95000"/>
                    <a:lumOff val="5000"/>
                  </a:schemeClr>
                </a:solidFill>
                <a:latin typeface="+mj-lt"/>
              </a:rPr>
              <a:t>.</a:t>
            </a:r>
            <a:endParaRPr lang="en-US" sz="2400" dirty="0">
              <a:solidFill>
                <a:schemeClr val="tx1">
                  <a:lumMod val="95000"/>
                  <a:lumOff val="5000"/>
                </a:schemeClr>
              </a:solidFill>
              <a:latin typeface="+mj-lt"/>
            </a:endParaRPr>
          </a:p>
        </p:txBody>
      </p:sp>
      <p:sp>
        <p:nvSpPr>
          <p:cNvPr id="7" name="Rectangle 6"/>
          <p:cNvSpPr/>
          <p:nvPr/>
        </p:nvSpPr>
        <p:spPr>
          <a:xfrm>
            <a:off x="7315201" y="2602520"/>
            <a:ext cx="3305908" cy="29120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vi-VN" sz="2400" i="1" dirty="0" err="1">
                <a:solidFill>
                  <a:schemeClr val="tx1">
                    <a:lumMod val="95000"/>
                    <a:lumOff val="5000"/>
                  </a:schemeClr>
                </a:solidFill>
                <a:latin typeface="+mj-lt"/>
              </a:rPr>
              <a:t>Những</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nhà</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triết</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học</a:t>
            </a:r>
            <a:r>
              <a:rPr lang="vi-VN" sz="2400" i="1" dirty="0">
                <a:solidFill>
                  <a:schemeClr val="tx1">
                    <a:lumMod val="95000"/>
                    <a:lumOff val="5000"/>
                  </a:schemeClr>
                </a:solidFill>
                <a:latin typeface="+mj-lt"/>
              </a:rPr>
              <a:t> theo </a:t>
            </a:r>
            <a:r>
              <a:rPr lang="vi-VN" sz="2400" i="1" dirty="0" err="1">
                <a:solidFill>
                  <a:schemeClr val="tx1">
                    <a:lumMod val="95000"/>
                    <a:lumOff val="5000"/>
                  </a:schemeClr>
                </a:solidFill>
                <a:latin typeface="+mj-lt"/>
              </a:rPr>
              <a:t>thuyết</a:t>
            </a:r>
            <a:r>
              <a:rPr lang="vi-VN" sz="2400" i="1" dirty="0">
                <a:solidFill>
                  <a:schemeClr val="tx1">
                    <a:lumMod val="95000"/>
                    <a:lumOff val="5000"/>
                  </a:schemeClr>
                </a:solidFill>
                <a:latin typeface="+mj-lt"/>
              </a:rPr>
              <a:t> </a:t>
            </a:r>
            <a:r>
              <a:rPr lang="vi-VN" sz="2400" i="1" dirty="0" err="1">
                <a:solidFill>
                  <a:schemeClr val="tx1">
                    <a:lumMod val="95000"/>
                    <a:lumOff val="5000"/>
                  </a:schemeClr>
                </a:solidFill>
                <a:latin typeface="+mj-lt"/>
              </a:rPr>
              <a:t>này</a:t>
            </a:r>
            <a:r>
              <a:rPr lang="vi-VN" sz="2400"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phủ</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nhận</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hoặc</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hoài</a:t>
            </a:r>
            <a:r>
              <a:rPr lang="vi-VN" sz="2400" b="1" i="1" dirty="0">
                <a:solidFill>
                  <a:schemeClr val="tx1">
                    <a:lumMod val="95000"/>
                    <a:lumOff val="5000"/>
                  </a:schemeClr>
                </a:solidFill>
                <a:latin typeface="+mj-lt"/>
              </a:rPr>
              <a:t> nghi </a:t>
            </a:r>
            <a:r>
              <a:rPr lang="vi-VN" sz="2400" b="1" i="1" dirty="0" err="1">
                <a:solidFill>
                  <a:schemeClr val="tx1">
                    <a:lumMod val="95000"/>
                    <a:lumOff val="5000"/>
                  </a:schemeClr>
                </a:solidFill>
                <a:latin typeface="+mj-lt"/>
              </a:rPr>
              <a:t>khả</a:t>
            </a:r>
            <a:r>
              <a:rPr lang="vi-VN" sz="2400" b="1" i="1" dirty="0">
                <a:solidFill>
                  <a:schemeClr val="tx1">
                    <a:lumMod val="95000"/>
                    <a:lumOff val="5000"/>
                  </a:schemeClr>
                </a:solidFill>
                <a:latin typeface="+mj-lt"/>
              </a:rPr>
              <a:t> năng </a:t>
            </a:r>
            <a:r>
              <a:rPr lang="vi-VN" sz="2400" b="1" i="1" dirty="0" err="1">
                <a:solidFill>
                  <a:schemeClr val="tx1">
                    <a:lumMod val="95000"/>
                    <a:lumOff val="5000"/>
                  </a:schemeClr>
                </a:solidFill>
                <a:latin typeface="+mj-lt"/>
              </a:rPr>
              <a:t>nhận</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thức</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thế</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giới</a:t>
            </a:r>
            <a:r>
              <a:rPr lang="vi-VN" sz="2400" b="1" i="1" dirty="0">
                <a:solidFill>
                  <a:schemeClr val="tx1">
                    <a:lumMod val="95000"/>
                    <a:lumOff val="5000"/>
                  </a:schemeClr>
                </a:solidFill>
                <a:latin typeface="+mj-lt"/>
              </a:rPr>
              <a:t> </a:t>
            </a:r>
            <a:r>
              <a:rPr lang="vi-VN" sz="2400" b="1" i="1" dirty="0" err="1">
                <a:solidFill>
                  <a:schemeClr val="tx1">
                    <a:lumMod val="95000"/>
                    <a:lumOff val="5000"/>
                  </a:schemeClr>
                </a:solidFill>
                <a:latin typeface="+mj-lt"/>
              </a:rPr>
              <a:t>của</a:t>
            </a:r>
            <a:r>
              <a:rPr lang="vi-VN" sz="2400" b="1" i="1" dirty="0">
                <a:solidFill>
                  <a:schemeClr val="tx1">
                    <a:lumMod val="95000"/>
                    <a:lumOff val="5000"/>
                  </a:schemeClr>
                </a:solidFill>
                <a:latin typeface="+mj-lt"/>
              </a:rPr>
              <a:t> con </a:t>
            </a:r>
            <a:r>
              <a:rPr lang="vi-VN" sz="2400" b="1" i="1" dirty="0" err="1">
                <a:solidFill>
                  <a:schemeClr val="tx1">
                    <a:lumMod val="95000"/>
                    <a:lumOff val="5000"/>
                  </a:schemeClr>
                </a:solidFill>
                <a:latin typeface="+mj-lt"/>
              </a:rPr>
              <a:t>người</a:t>
            </a:r>
            <a:r>
              <a:rPr lang="en-US" sz="2400" b="1" i="1" dirty="0">
                <a:solidFill>
                  <a:schemeClr val="tx1">
                    <a:lumMod val="95000"/>
                    <a:lumOff val="5000"/>
                  </a:schemeClr>
                </a:solidFill>
                <a:latin typeface="+mj-lt"/>
              </a:rPr>
              <a:t>.</a:t>
            </a:r>
            <a:endParaRPr lang="en-US" sz="2400" b="1" i="1" dirty="0">
              <a:solidFill>
                <a:schemeClr val="tx1">
                  <a:lumMod val="95000"/>
                  <a:lumOff val="5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ldLvl="0" animBg="1"/>
      <p:bldP spid="5" grpId="0" bldLvl="0" animBg="1"/>
      <p:bldP spid="6" grpId="0" bldLvl="0" animBg="1"/>
      <p:bldP spid="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latin typeface="Times New Roman" panose="02020603050405020304" pitchFamily="18" charset="0"/>
                <a:cs typeface="Times New Roman" panose="02020603050405020304" pitchFamily="18" charset="0"/>
              </a:rPr>
              <a:t>3. </a:t>
            </a:r>
            <a:r>
              <a:rPr lang="vi-VN" b="1" dirty="0" err="1">
                <a:latin typeface="Times New Roman" panose="02020603050405020304" pitchFamily="18" charset="0"/>
                <a:cs typeface="Times New Roman" panose="02020603050405020304" pitchFamily="18" charset="0"/>
              </a:rPr>
              <a:t>Biện</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chứng</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và</a:t>
            </a:r>
            <a:r>
              <a:rPr lang="vi-VN" b="1" dirty="0">
                <a:latin typeface="Times New Roman" panose="02020603050405020304" pitchFamily="18" charset="0"/>
                <a:cs typeface="Times New Roman" panose="02020603050405020304" pitchFamily="18" charset="0"/>
              </a:rPr>
              <a:t> siêu </a:t>
            </a:r>
            <a:r>
              <a:rPr lang="vi-VN" b="1" dirty="0" err="1">
                <a:latin typeface="Times New Roman" panose="02020603050405020304" pitchFamily="18" charset="0"/>
                <a:cs typeface="Times New Roman" panose="02020603050405020304" pitchFamily="18" charset="0"/>
              </a:rPr>
              <a:t>hình</a:t>
            </a:r>
            <a:br>
              <a:rPr lang="vi-VN" b="1" dirty="0">
                <a:latin typeface="Times New Roman" panose="02020603050405020304" pitchFamily="18" charset="0"/>
                <a:cs typeface="Times New Roman" panose="02020603050405020304" pitchFamily="18" charset="0"/>
              </a:rPr>
            </a:br>
            <a:r>
              <a:rPr lang="vi-VN" b="1" dirty="0">
                <a:latin typeface="Times New Roman" panose="02020603050405020304" pitchFamily="18" charset="0"/>
                <a:cs typeface="Times New Roman" panose="02020603050405020304" pitchFamily="18" charset="0"/>
              </a:rPr>
              <a:t>a. </a:t>
            </a:r>
            <a:r>
              <a:rPr lang="vi-VN" b="1" dirty="0" err="1">
                <a:latin typeface="Times New Roman" panose="02020603050405020304" pitchFamily="18" charset="0"/>
                <a:cs typeface="Times New Roman" panose="02020603050405020304" pitchFamily="18" charset="0"/>
              </a:rPr>
              <a:t>Khái</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niệm</a:t>
            </a:r>
            <a:r>
              <a:rPr lang="vi-VN" b="1" dirty="0">
                <a:latin typeface="Times New Roman" panose="02020603050405020304" pitchFamily="18" charset="0"/>
                <a:cs typeface="Times New Roman" panose="02020603050405020304" pitchFamily="18" charset="0"/>
              </a:rPr>
              <a:t> </a:t>
            </a:r>
            <a:r>
              <a:rPr lang="vi-VN" b="1" dirty="0" err="1">
                <a:cs typeface="Times New Roman" panose="02020603050405020304" pitchFamily="18" charset="0"/>
              </a:rPr>
              <a:t>biện</a:t>
            </a:r>
            <a:r>
              <a:rPr lang="vi-VN" b="1" dirty="0">
                <a:cs typeface="Times New Roman" panose="02020603050405020304" pitchFamily="18" charset="0"/>
              </a:rPr>
              <a:t> </a:t>
            </a:r>
            <a:r>
              <a:rPr lang="vi-VN" b="1" dirty="0" err="1">
                <a:cs typeface="Times New Roman" panose="02020603050405020304" pitchFamily="18" charset="0"/>
              </a:rPr>
              <a:t>chứng</a:t>
            </a:r>
            <a:r>
              <a:rPr lang="vi-VN" b="1" dirty="0">
                <a:cs typeface="Times New Roman" panose="02020603050405020304" pitchFamily="18" charset="0"/>
              </a:rPr>
              <a:t> </a:t>
            </a:r>
            <a:r>
              <a:rPr lang="vi-VN" b="1" dirty="0" err="1">
                <a:cs typeface="Times New Roman" panose="02020603050405020304" pitchFamily="18" charset="0"/>
              </a:rPr>
              <a:t>và</a:t>
            </a:r>
            <a:r>
              <a:rPr lang="vi-VN" b="1" dirty="0">
                <a:cs typeface="Times New Roman" panose="02020603050405020304" pitchFamily="18" charset="0"/>
              </a:rPr>
              <a:t> siêu </a:t>
            </a:r>
            <a:r>
              <a:rPr lang="vi-VN" b="1" dirty="0" err="1">
                <a:cs typeface="Times New Roman" panose="02020603050405020304" pitchFamily="18" charset="0"/>
              </a:rPr>
              <a:t>hì</a:t>
            </a:r>
            <a:r>
              <a:rPr lang="en-US" b="1" dirty="0" err="1">
                <a:cs typeface="Times New Roman" panose="02020603050405020304" pitchFamily="18" charset="0"/>
              </a:rPr>
              <a:t>nh</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endParaRPr lang="en-US" b="1" i="1" dirty="0">
              <a:latin typeface="Times New Roman" panose="02020603050405020304" pitchFamily="18" charset="0"/>
              <a:cs typeface="Times New Roman" panose="02020603050405020304" pitchFamily="18" charset="0"/>
            </a:endParaRPr>
          </a:p>
          <a:p>
            <a:pPr algn="just"/>
            <a:r>
              <a:rPr lang="vi-VN" b="1" i="1" dirty="0" err="1">
                <a:latin typeface="Times New Roman" panose="02020603050405020304" pitchFamily="18" charset="0"/>
                <a:cs typeface="Times New Roman" panose="02020603050405020304" pitchFamily="18" charset="0"/>
              </a:rPr>
              <a:t>Biện</a:t>
            </a:r>
            <a:r>
              <a:rPr lang="vi-VN" b="1" i="1" dirty="0">
                <a:latin typeface="Times New Roman" panose="02020603050405020304" pitchFamily="18" charset="0"/>
                <a:cs typeface="Times New Roman" panose="02020603050405020304" pitchFamily="18" charset="0"/>
              </a:rPr>
              <a:t> </a:t>
            </a:r>
            <a:r>
              <a:rPr lang="vi-VN" b="1" i="1" dirty="0" err="1">
                <a:latin typeface="Times New Roman" panose="02020603050405020304" pitchFamily="18" charset="0"/>
                <a:cs typeface="Times New Roman" panose="02020603050405020304" pitchFamily="18" charset="0"/>
              </a:rPr>
              <a:t>chứng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là</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nghệ</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thuật</a:t>
            </a:r>
            <a:r>
              <a:rPr lang="vi-VN" dirty="0">
                <a:latin typeface="Times New Roman" panose="02020603050405020304" pitchFamily="18" charset="0"/>
                <a:cs typeface="Times New Roman" panose="02020603050405020304" pitchFamily="18" charset="0"/>
              </a:rPr>
              <a:t> tranh </a:t>
            </a:r>
            <a:r>
              <a:rPr lang="vi-VN" dirty="0" err="1">
                <a:latin typeface="Times New Roman" panose="02020603050405020304" pitchFamily="18" charset="0"/>
                <a:cs typeface="Times New Roman" panose="02020603050405020304" pitchFamily="18" charset="0"/>
              </a:rPr>
              <a:t>luận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để</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tìm</a:t>
            </a:r>
            <a:r>
              <a:rPr lang="vi-VN" dirty="0">
                <a:latin typeface="Times New Roman" panose="02020603050405020304" pitchFamily="18" charset="0"/>
                <a:cs typeface="Times New Roman" panose="02020603050405020304" pitchFamily="18" charset="0"/>
              </a:rPr>
              <a:t> ra chân </a:t>
            </a:r>
            <a:r>
              <a:rPr lang="vi-VN" dirty="0" err="1">
                <a:latin typeface="Times New Roman" panose="02020603050405020304" pitchFamily="18" charset="0"/>
                <a:cs typeface="Times New Roman" panose="02020603050405020304" pitchFamily="18" charset="0"/>
              </a:rPr>
              <a:t>lý</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bằng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cách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phát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hiện</a:t>
            </a:r>
            <a:r>
              <a:rPr lang="vi-VN" dirty="0">
                <a:latin typeface="Times New Roman" panose="02020603050405020304" pitchFamily="18" charset="0"/>
                <a:cs typeface="Times New Roman" panose="02020603050405020304" pitchFamily="18" charset="0"/>
              </a:rPr>
              <a:t> mâu </a:t>
            </a:r>
            <a:r>
              <a:rPr lang="vi-VN" dirty="0" err="1">
                <a:latin typeface="Times New Roman" panose="02020603050405020304" pitchFamily="18" charset="0"/>
                <a:cs typeface="Times New Roman" panose="02020603050405020304" pitchFamily="18" charset="0"/>
              </a:rPr>
              <a:t>thuẫn</a:t>
            </a:r>
            <a:r>
              <a:rPr lang="vi-VN" dirty="0">
                <a:latin typeface="Times New Roman" panose="02020603050405020304" pitchFamily="18" charset="0"/>
                <a:cs typeface="Times New Roman" panose="02020603050405020304" pitchFamily="18" charset="0"/>
              </a:rPr>
              <a:t> trong </a:t>
            </a:r>
            <a:r>
              <a:rPr lang="vi-VN" dirty="0" err="1">
                <a:latin typeface="Times New Roman" panose="02020603050405020304" pitchFamily="18" charset="0"/>
                <a:cs typeface="Times New Roman" panose="02020603050405020304" pitchFamily="18" charset="0"/>
              </a:rPr>
              <a:t>cách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lập</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luận</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vi-VN" dirty="0">
              <a:latin typeface="Times New Roman" panose="02020603050405020304" pitchFamily="18" charset="0"/>
              <a:cs typeface="Times New Roman" panose="02020603050405020304" pitchFamily="18" charset="0"/>
            </a:endParaRPr>
          </a:p>
          <a:p>
            <a:pPr algn="just"/>
            <a:r>
              <a:rPr lang="vi-VN" b="1" i="1" dirty="0">
                <a:latin typeface="Times New Roman" panose="02020603050405020304" pitchFamily="18" charset="0"/>
                <a:cs typeface="Times New Roman" panose="02020603050405020304" pitchFamily="18" charset="0"/>
              </a:rPr>
              <a:t>Siêu </a:t>
            </a:r>
            <a:r>
              <a:rPr lang="vi-VN" b="1" i="1" dirty="0" err="1">
                <a:latin typeface="Times New Roman" panose="02020603050405020304" pitchFamily="18" charset="0"/>
                <a:cs typeface="Times New Roman" panose="02020603050405020304" pitchFamily="18" charset="0"/>
              </a:rPr>
              <a:t>hình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là</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dùng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để</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chỉ</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với</a:t>
            </a:r>
            <a:r>
              <a:rPr lang="vi-VN" dirty="0">
                <a:latin typeface="Times New Roman" panose="02020603050405020304" pitchFamily="18" charset="0"/>
                <a:cs typeface="Times New Roman" panose="02020603050405020304" pitchFamily="18" charset="0"/>
              </a:rPr>
              <a:t> t</a:t>
            </a:r>
            <a:r>
              <a:rPr lang="en-US" dirty="0">
                <a:latin typeface="Times New Roman" panose="02020603050405020304" pitchFamily="18" charset="0"/>
                <a:cs typeface="Times New Roman" panose="02020603050405020304" pitchFamily="18" charset="0"/>
              </a:rPr>
              <a:t>í</a:t>
            </a:r>
            <a:r>
              <a:rPr lang="vi-VN" dirty="0" err="1">
                <a:latin typeface="Times New Roman" panose="02020603050405020304" pitchFamily="18" charset="0"/>
                <a:cs typeface="Times New Roman" panose="02020603050405020304" pitchFamily="18" charset="0"/>
              </a:rPr>
              <a:t>nh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cách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là</a:t>
            </a:r>
            <a:r>
              <a:rPr lang="vi-VN" dirty="0">
                <a:latin typeface="Times New Roman" panose="02020603050405020304" pitchFamily="18" charset="0"/>
                <a:cs typeface="Times New Roman" panose="02020603050405020304" pitchFamily="18" charset="0"/>
              </a:rPr>
              <a:t> khoa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siêu </a:t>
            </a:r>
            <a:r>
              <a:rPr lang="vi-VN" dirty="0" err="1">
                <a:latin typeface="Times New Roman" panose="02020603050405020304" pitchFamily="18" charset="0"/>
                <a:cs typeface="Times New Roman" panose="02020603050405020304" pitchFamily="18" charset="0"/>
              </a:rPr>
              <a:t>cảm</a:t>
            </a:r>
            <a:r>
              <a:rPr lang="vi-VN" dirty="0">
                <a:latin typeface="Times New Roman" panose="02020603050405020304" pitchFamily="18" charset="0"/>
                <a:cs typeface="Times New Roman" panose="02020603050405020304" pitchFamily="18" charset="0"/>
              </a:rPr>
              <a:t> t</a:t>
            </a:r>
            <a:r>
              <a:rPr lang="en-US" dirty="0">
                <a:latin typeface="Times New Roman" panose="02020603050405020304" pitchFamily="18" charset="0"/>
                <a:cs typeface="Times New Roman" panose="02020603050405020304" pitchFamily="18" charset="0"/>
              </a:rPr>
              <a:t>í</a:t>
            </a:r>
            <a:r>
              <a:rPr lang="vi-VN" dirty="0" err="1">
                <a:latin typeface="Times New Roman" panose="02020603050405020304" pitchFamily="18" charset="0"/>
                <a:cs typeface="Times New Roman" panose="02020603050405020304" pitchFamily="18" charset="0"/>
              </a:rPr>
              <a:t>nh</a:t>
            </a:r>
            <a:r>
              <a:rPr lang="vi-VN" dirty="0">
                <a:latin typeface="Times New Roman" panose="02020603050405020304" pitchFamily="18" charset="0"/>
                <a:cs typeface="Times New Roman" panose="02020603050405020304" pitchFamily="18" charset="0"/>
              </a:rPr>
              <a:t>, phi </a:t>
            </a:r>
            <a:r>
              <a:rPr lang="vi-VN" dirty="0" err="1">
                <a:latin typeface="Times New Roman" panose="02020603050405020304" pitchFamily="18" charset="0"/>
                <a:cs typeface="Times New Roman" panose="02020603050405020304" pitchFamily="18" charset="0"/>
              </a:rPr>
              <a:t>thực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nghiệm</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74418"/>
          </a:xfrm>
        </p:spPr>
        <p:txBody>
          <a:bodyPr>
            <a:normAutofit/>
          </a:bodyPr>
          <a:lstStyle/>
          <a:p>
            <a:r>
              <a:rPr lang="vi-VN" sz="3200" b="1" dirty="0" err="1">
                <a:latin typeface="Times New Roman" panose="02020603050405020304" pitchFamily="18" charset="0"/>
                <a:cs typeface="Times New Roman" panose="02020603050405020304" pitchFamily="18" charset="0"/>
              </a:rPr>
              <a:t>Sự</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đối</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lập</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giữa</a:t>
            </a:r>
            <a:r>
              <a:rPr lang="vi-VN" sz="3200" b="1" dirty="0">
                <a:latin typeface="Times New Roman" panose="02020603050405020304" pitchFamily="18" charset="0"/>
                <a:cs typeface="Times New Roman" panose="02020603050405020304" pitchFamily="18" charset="0"/>
              </a:rPr>
              <a:t> 2 phương </a:t>
            </a:r>
            <a:r>
              <a:rPr lang="vi-VN" sz="3200" b="1" dirty="0" err="1">
                <a:latin typeface="Times New Roman" panose="02020603050405020304" pitchFamily="18" charset="0"/>
                <a:cs typeface="Times New Roman" panose="02020603050405020304" pitchFamily="18" charset="0"/>
              </a:rPr>
              <a:t>pháp</a:t>
            </a:r>
            <a:r>
              <a:rPr lang="vi-VN" sz="3200" b="1" dirty="0">
                <a:latin typeface="Times New Roman" panose="02020603050405020304" pitchFamily="18" charset="0"/>
                <a:cs typeface="Times New Roman" panose="02020603050405020304" pitchFamily="18" charset="0"/>
              </a:rPr>
              <a:t> tư duy.</a:t>
            </a:r>
            <a:br>
              <a:rPr lang="vi-VN" sz="3200" b="1" dirty="0">
                <a:latin typeface="Times New Roman" panose="02020603050405020304" pitchFamily="18" charset="0"/>
                <a:cs typeface="Times New Roman" panose="02020603050405020304" pitchFamily="18" charset="0"/>
              </a:rPr>
            </a:br>
            <a:br>
              <a:rPr lang="vi-VN" sz="3200" b="1"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br>
              <a:rPr lang="vi-VN"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Oval 2"/>
          <p:cNvSpPr/>
          <p:nvPr/>
        </p:nvSpPr>
        <p:spPr>
          <a:xfrm rot="10800000" flipV="1">
            <a:off x="1064618" y="1162591"/>
            <a:ext cx="3873141" cy="7445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latin typeface="Times New Roman" panose="02020603050405020304" pitchFamily="18" charset="0"/>
                <a:cs typeface="Times New Roman" panose="02020603050405020304" pitchFamily="18" charset="0"/>
              </a:rPr>
              <a:t>Phương </a:t>
            </a:r>
            <a:r>
              <a:rPr lang="vi-VN" b="1" dirty="0" err="1">
                <a:solidFill>
                  <a:schemeClr val="tx1"/>
                </a:solidFill>
                <a:latin typeface="Times New Roman" panose="02020603050405020304" pitchFamily="18" charset="0"/>
                <a:cs typeface="Times New Roman" panose="02020603050405020304" pitchFamily="18" charset="0"/>
              </a:rPr>
              <a:t>pháp</a:t>
            </a:r>
            <a:r>
              <a:rPr lang="vi-VN" b="1" dirty="0">
                <a:solidFill>
                  <a:schemeClr val="tx1"/>
                </a:solidFill>
                <a:latin typeface="Times New Roman" panose="02020603050405020304" pitchFamily="18" charset="0"/>
                <a:cs typeface="Times New Roman" panose="02020603050405020304" pitchFamily="18" charset="0"/>
              </a:rPr>
              <a:t> Siêu </a:t>
            </a:r>
            <a:r>
              <a:rPr lang="vi-VN" b="1" dirty="0" err="1">
                <a:solidFill>
                  <a:schemeClr val="tx1"/>
                </a:solidFill>
                <a:latin typeface="Times New Roman" panose="02020603050405020304" pitchFamily="18" charset="0"/>
                <a:cs typeface="Times New Roman" panose="02020603050405020304" pitchFamily="18" charset="0"/>
              </a:rPr>
              <a:t>hình</a:t>
            </a:r>
            <a:endParaRPr lang="en-US" b="1" dirty="0">
              <a:solidFill>
                <a:schemeClr val="tx1"/>
              </a:solidFill>
            </a:endParaRPr>
          </a:p>
        </p:txBody>
      </p:sp>
      <p:sp>
        <p:nvSpPr>
          <p:cNvPr id="4" name="Oval 3"/>
          <p:cNvSpPr/>
          <p:nvPr/>
        </p:nvSpPr>
        <p:spPr>
          <a:xfrm rot="10800000" flipV="1">
            <a:off x="6877595" y="1182172"/>
            <a:ext cx="3801292" cy="7445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tx1"/>
                </a:solidFill>
                <a:latin typeface="Times New Roman" panose="02020603050405020304" pitchFamily="18" charset="0"/>
                <a:cs typeface="Times New Roman" panose="02020603050405020304" pitchFamily="18" charset="0"/>
              </a:rPr>
              <a:t>Phương </a:t>
            </a:r>
            <a:r>
              <a:rPr lang="vi-VN" b="1" dirty="0" err="1">
                <a:solidFill>
                  <a:schemeClr val="tx1"/>
                </a:solidFill>
                <a:latin typeface="Times New Roman" panose="02020603050405020304" pitchFamily="18" charset="0"/>
                <a:cs typeface="Times New Roman" panose="02020603050405020304" pitchFamily="18" charset="0"/>
              </a:rPr>
              <a:t>pháp</a:t>
            </a:r>
            <a:r>
              <a:rPr lang="vi-VN" b="1" dirty="0">
                <a:solidFill>
                  <a:schemeClr val="tx1"/>
                </a:solidFill>
                <a:latin typeface="Times New Roman" panose="02020603050405020304" pitchFamily="18" charset="0"/>
                <a:cs typeface="Times New Roman" panose="02020603050405020304" pitchFamily="18" charset="0"/>
              </a:rPr>
              <a:t> </a:t>
            </a:r>
            <a:r>
              <a:rPr lang="vi-VN" b="1" dirty="0" err="1">
                <a:solidFill>
                  <a:schemeClr val="tx1"/>
                </a:solidFill>
                <a:latin typeface="Times New Roman" panose="02020603050405020304" pitchFamily="18" charset="0"/>
                <a:cs typeface="Times New Roman" panose="02020603050405020304" pitchFamily="18" charset="0"/>
              </a:rPr>
              <a:t>Biện</a:t>
            </a:r>
            <a:r>
              <a:rPr lang="vi-VN" b="1" dirty="0">
                <a:solidFill>
                  <a:schemeClr val="tx1"/>
                </a:solidFill>
                <a:latin typeface="Times New Roman" panose="02020603050405020304" pitchFamily="18" charset="0"/>
                <a:cs typeface="Times New Roman" panose="02020603050405020304" pitchFamily="18" charset="0"/>
              </a:rPr>
              <a:t> </a:t>
            </a:r>
            <a:r>
              <a:rPr lang="vi-VN" b="1" dirty="0" err="1">
                <a:solidFill>
                  <a:schemeClr val="tx1"/>
                </a:solidFill>
                <a:latin typeface="Times New Roman" panose="02020603050405020304" pitchFamily="18" charset="0"/>
                <a:cs typeface="Times New Roman" panose="02020603050405020304" pitchFamily="18" charset="0"/>
              </a:rPr>
              <a:t>chứng</a:t>
            </a:r>
            <a:endParaRPr lang="en-US" b="1" dirty="0">
              <a:solidFill>
                <a:schemeClr val="tx1"/>
              </a:solidFill>
            </a:endParaRPr>
          </a:p>
        </p:txBody>
      </p:sp>
      <p:sp>
        <p:nvSpPr>
          <p:cNvPr id="5" name="Rectangle 4"/>
          <p:cNvSpPr/>
          <p:nvPr/>
        </p:nvSpPr>
        <p:spPr>
          <a:xfrm rot="10800000" flipV="1">
            <a:off x="1064621" y="1907169"/>
            <a:ext cx="4212772" cy="3879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Nhận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trạng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thái</a:t>
            </a:r>
            <a:r>
              <a:rPr lang="vi-VN" sz="2000" dirty="0">
                <a:solidFill>
                  <a:schemeClr val="tx1"/>
                </a:solidFill>
                <a:latin typeface="Times New Roman" panose="02020603050405020304" pitchFamily="18" charset="0"/>
                <a:cs typeface="Times New Roman" panose="02020603050405020304" pitchFamily="18" charset="0"/>
              </a:rPr>
              <a:t> cô </a:t>
            </a:r>
            <a:r>
              <a:rPr lang="vi-VN" sz="2000" dirty="0" err="1">
                <a:solidFill>
                  <a:schemeClr val="tx1"/>
                </a:solidFill>
                <a:latin typeface="Times New Roman" panose="02020603050405020304" pitchFamily="18" charset="0"/>
                <a:cs typeface="Times New Roman" panose="02020603050405020304" pitchFamily="18" charset="0"/>
              </a:rPr>
              <a:t>lập</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tách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rời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ra </a:t>
            </a:r>
            <a:r>
              <a:rPr lang="vi-VN" sz="2000" dirty="0" err="1">
                <a:solidFill>
                  <a:schemeClr val="tx1"/>
                </a:solidFill>
                <a:latin typeface="Times New Roman" panose="02020603050405020304" pitchFamily="18" charset="0"/>
                <a:cs typeface="Times New Roman" panose="02020603050405020304" pitchFamily="18" charset="0"/>
              </a:rPr>
              <a:t>khỏi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quan </a:t>
            </a:r>
            <a:r>
              <a:rPr lang="vi-VN" sz="2000" dirty="0" err="1">
                <a:solidFill>
                  <a:schemeClr val="tx1"/>
                </a:solidFill>
                <a:latin typeface="Times New Roman" panose="02020603050405020304" pitchFamily="18" charset="0"/>
                <a:cs typeface="Times New Roman" panose="02020603050405020304" pitchFamily="18" charset="0"/>
              </a:rPr>
              <a:t>hệ</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được</a:t>
            </a:r>
            <a:r>
              <a:rPr lang="vi-VN" sz="2000" dirty="0">
                <a:solidFill>
                  <a:schemeClr val="tx1"/>
                </a:solidFill>
                <a:latin typeface="Times New Roman" panose="02020603050405020304" pitchFamily="18" charset="0"/>
                <a:cs typeface="Times New Roman" panose="02020603050405020304" pitchFamily="18" charset="0"/>
              </a:rPr>
              <a:t> xem </a:t>
            </a:r>
            <a:r>
              <a:rPr lang="vi-VN" sz="2000" dirty="0" err="1">
                <a:solidFill>
                  <a:schemeClr val="tx1"/>
                </a:solidFill>
                <a:latin typeface="Times New Roman" panose="02020603050405020304" pitchFamily="18" charset="0"/>
                <a:cs typeface="Times New Roman" panose="02020603050405020304" pitchFamily="18" charset="0"/>
              </a:rPr>
              <a:t>xét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và</a:t>
            </a:r>
            <a:r>
              <a:rPr lang="vi-VN" sz="2000" dirty="0">
                <a:solidFill>
                  <a:schemeClr val="tx1"/>
                </a:solidFill>
                <a:latin typeface="Times New Roman" panose="02020603050405020304" pitchFamily="18" charset="0"/>
                <a:cs typeface="Times New Roman" panose="02020603050405020304" pitchFamily="18" charset="0"/>
              </a:rPr>
              <a:t> coi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mặt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lập</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với</a:t>
            </a:r>
            <a:r>
              <a:rPr lang="vi-VN" sz="2000" dirty="0">
                <a:solidFill>
                  <a:schemeClr val="tx1"/>
                </a:solidFill>
                <a:latin typeface="Times New Roman" panose="02020603050405020304" pitchFamily="18" charset="0"/>
                <a:cs typeface="Times New Roman" panose="02020603050405020304" pitchFamily="18" charset="0"/>
              </a:rPr>
              <a:t> nhau </a:t>
            </a:r>
            <a:r>
              <a:rPr lang="vi-VN" sz="2000" dirty="0" err="1">
                <a:solidFill>
                  <a:schemeClr val="tx1"/>
                </a:solidFill>
                <a:latin typeface="Times New Roman" panose="02020603050405020304" pitchFamily="18" charset="0"/>
                <a:cs typeface="Times New Roman" panose="02020603050405020304" pitchFamily="18" charset="0"/>
              </a:rPr>
              <a:t>có</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một</a:t>
            </a:r>
            <a:r>
              <a:rPr lang="vi-VN" sz="2000" dirty="0">
                <a:solidFill>
                  <a:schemeClr val="tx1"/>
                </a:solidFill>
                <a:latin typeface="Times New Roman" panose="02020603050405020304" pitchFamily="18" charset="0"/>
                <a:cs typeface="Times New Roman" panose="02020603050405020304" pitchFamily="18" charset="0"/>
              </a:rPr>
              <a:t> ranh </a:t>
            </a:r>
            <a:r>
              <a:rPr lang="vi-VN" sz="2000" dirty="0" err="1">
                <a:solidFill>
                  <a:schemeClr val="tx1"/>
                </a:solidFill>
                <a:latin typeface="Times New Roman" panose="02020603050405020304" pitchFamily="18" charset="0"/>
                <a:cs typeface="Times New Roman" panose="02020603050405020304" pitchFamily="18" charset="0"/>
              </a:rPr>
              <a:t>giới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nhất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định</a:t>
            </a:r>
            <a:endParaRPr lang="vi-VN" sz="2000" dirty="0">
              <a:solidFill>
                <a:schemeClr val="tx1"/>
              </a:solidFill>
              <a:latin typeface="Times New Roman" panose="02020603050405020304" pitchFamily="18" charset="0"/>
              <a:cs typeface="Times New Roman" panose="02020603050405020304" pitchFamily="18" charset="0"/>
            </a:endParaRPr>
          </a:p>
          <a:p>
            <a:pPr algn="just"/>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Nhận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trạng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thái</a:t>
            </a:r>
            <a:r>
              <a:rPr lang="vi-VN" sz="2000" dirty="0">
                <a:solidFill>
                  <a:schemeClr val="tx1"/>
                </a:solidFill>
                <a:latin typeface="Times New Roman" panose="02020603050405020304" pitchFamily="18" charset="0"/>
                <a:cs typeface="Times New Roman" panose="02020603050405020304" pitchFamily="18" charset="0"/>
              </a:rPr>
              <a:t> t</a:t>
            </a:r>
            <a:r>
              <a:rPr lang="en-US" sz="2000" dirty="0">
                <a:solidFill>
                  <a:schemeClr val="tx1"/>
                </a:solidFill>
                <a:latin typeface="Times New Roman" panose="02020603050405020304" pitchFamily="18" charset="0"/>
                <a:cs typeface="Times New Roman" panose="02020603050405020304" pitchFamily="18" charset="0"/>
              </a:rPr>
              <a:t>ĩ</a:t>
            </a:r>
            <a:r>
              <a:rPr lang="vi-VN" sz="2000" dirty="0" err="1">
                <a:solidFill>
                  <a:schemeClr val="tx1"/>
                </a:solidFill>
                <a:latin typeface="Times New Roman" panose="02020603050405020304" pitchFamily="18" charset="0"/>
                <a:cs typeface="Times New Roman" panose="02020603050405020304" pitchFamily="18" charset="0"/>
              </a:rPr>
              <a:t>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Thừa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nhận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đổi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chỉ</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đổi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về</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số</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lượng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về</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bề</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ngoài</a:t>
            </a:r>
            <a:r>
              <a:rPr lang="vi-VN" sz="2000" dirty="0">
                <a:solidFill>
                  <a:schemeClr val="tx1"/>
                </a:solidFill>
                <a:latin typeface="Times New Roman" panose="02020603050405020304" pitchFamily="18" charset="0"/>
                <a:cs typeface="Times New Roman" panose="02020603050405020304" pitchFamily="18" charset="0"/>
              </a:rPr>
              <a:t>. Nguyên nhân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đổi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nằm</a:t>
            </a:r>
            <a:r>
              <a:rPr lang="vi-VN" sz="2000" dirty="0">
                <a:solidFill>
                  <a:schemeClr val="tx1"/>
                </a:solidFill>
                <a:latin typeface="Times New Roman" panose="02020603050405020304" pitchFamily="18" charset="0"/>
                <a:cs typeface="Times New Roman" panose="02020603050405020304" pitchFamily="18" charset="0"/>
              </a:rPr>
              <a:t> ở bên </a:t>
            </a:r>
            <a:r>
              <a:rPr lang="vi-VN" sz="2000" dirty="0" err="1">
                <a:solidFill>
                  <a:schemeClr val="tx1"/>
                </a:solidFill>
                <a:latin typeface="Times New Roman" panose="02020603050405020304" pitchFamily="18" charset="0"/>
                <a:cs typeface="Times New Roman" panose="02020603050405020304" pitchFamily="18" charset="0"/>
              </a:rPr>
              <a:t>ng</a:t>
            </a:r>
            <a:r>
              <a:rPr lang="en-US" sz="2000" dirty="0" err="1">
                <a:solidFill>
                  <a:schemeClr val="tx1"/>
                </a:solidFill>
                <a:latin typeface="Times New Roman" panose="02020603050405020304" pitchFamily="18" charset="0"/>
                <a:cs typeface="Times New Roman" panose="02020603050405020304" pitchFamily="18" charset="0"/>
              </a:rPr>
              <a:t>oài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rot="10800000" flipH="1" flipV="1">
            <a:off x="6296298" y="1907166"/>
            <a:ext cx="4963886" cy="38796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Nhận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trạng</a:t>
            </a:r>
            <a:r>
              <a:rPr lang="vi-VN" sz="2000" dirty="0">
                <a:solidFill>
                  <a:schemeClr val="tx1"/>
                </a:solidFill>
                <a:latin typeface="Times New Roman" panose="02020603050405020304" pitchFamily="18" charset="0"/>
                <a:cs typeface="Times New Roman" panose="02020603050405020304" pitchFamily="18" charset="0"/>
              </a:rPr>
              <a:t> trong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mối</a:t>
            </a:r>
            <a:r>
              <a:rPr lang="vi-VN" sz="2000" dirty="0">
                <a:solidFill>
                  <a:schemeClr val="tx1"/>
                </a:solidFill>
                <a:latin typeface="Times New Roman" panose="02020603050405020304" pitchFamily="18" charset="0"/>
                <a:cs typeface="Times New Roman" panose="02020603050405020304" pitchFamily="18" charset="0"/>
              </a:rPr>
              <a:t> quan </a:t>
            </a:r>
            <a:r>
              <a:rPr lang="vi-VN" sz="2000" dirty="0" err="1">
                <a:solidFill>
                  <a:schemeClr val="tx1"/>
                </a:solidFill>
                <a:latin typeface="Times New Roman" panose="02020603050405020304" pitchFamily="18" charset="0"/>
                <a:cs typeface="Times New Roman" panose="02020603050405020304" pitchFamily="18" charset="0"/>
              </a:rPr>
              <a:t>hệ</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phổ</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vốn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có</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nó</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à</a:t>
            </a:r>
            <a:r>
              <a:rPr lang="vi-VN" sz="2000" dirty="0" err="1">
                <a:solidFill>
                  <a:schemeClr val="tx1"/>
                </a:solidFill>
                <a:latin typeface="Times New Roman" panose="02020603050405020304" pitchFamily="18" charset="0"/>
                <a:cs typeface="Times New Roman" panose="02020603050405020304" pitchFamily="18" charset="0"/>
              </a:rPr>
              <a:t>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phần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luôn trong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lệ</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thuộc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ảnh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hưởng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rằng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buộc</a:t>
            </a:r>
            <a:r>
              <a:rPr lang="vi-VN" sz="2000" dirty="0">
                <a:solidFill>
                  <a:schemeClr val="tx1"/>
                </a:solidFill>
                <a:latin typeface="Times New Roman" panose="02020603050405020304" pitchFamily="18" charset="0"/>
                <a:cs typeface="Times New Roman" panose="02020603050405020304" pitchFamily="18" charset="0"/>
              </a:rPr>
              <a:t>, quy </a:t>
            </a:r>
            <a:r>
              <a:rPr lang="vi-VN" sz="2000" dirty="0" err="1">
                <a:solidFill>
                  <a:schemeClr val="tx1"/>
                </a:solidFill>
                <a:latin typeface="Times New Roman" panose="02020603050405020304" pitchFamily="18" charset="0"/>
                <a:cs typeface="Times New Roman" panose="02020603050405020304" pitchFamily="18" charset="0"/>
              </a:rPr>
              <a:t>định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lẫn</a:t>
            </a:r>
            <a:r>
              <a:rPr lang="vi-VN" sz="2000" dirty="0">
                <a:solidFill>
                  <a:schemeClr val="tx1"/>
                </a:solidFill>
                <a:latin typeface="Times New Roman" panose="02020603050405020304" pitchFamily="18" charset="0"/>
                <a:cs typeface="Times New Roman" panose="02020603050405020304" pitchFamily="18" charset="0"/>
              </a:rPr>
              <a:t> nhau.</a:t>
            </a:r>
            <a:endParaRPr lang="vi-VN" sz="2000" dirty="0">
              <a:solidFill>
                <a:schemeClr val="tx1"/>
              </a:solidFill>
              <a:latin typeface="Times New Roman" panose="02020603050405020304" pitchFamily="18" charset="0"/>
              <a:cs typeface="Times New Roman" panose="02020603050405020304" pitchFamily="18" charset="0"/>
            </a:endParaRPr>
          </a:p>
          <a:p>
            <a:pPr algn="just"/>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Nhận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trạng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a:t>
            </a:r>
            <a:r>
              <a:rPr lang="en-US" sz="2000" dirty="0" err="1">
                <a:solidFill>
                  <a:schemeClr val="tx1"/>
                </a:solidFill>
                <a:latin typeface="Times New Roman" panose="02020603050405020304" pitchFamily="18" charset="0"/>
                <a:cs typeface="Times New Roman" panose="02020603050405020304" pitchFamily="18" charset="0"/>
              </a:rPr>
              <a:t>ái</a:t>
            </a:r>
            <a:r>
              <a:rPr lang="vi-VN" sz="2000" dirty="0">
                <a:solidFill>
                  <a:schemeClr val="tx1"/>
                </a:solidFill>
                <a:latin typeface="Times New Roman" panose="02020603050405020304" pitchFamily="18" charset="0"/>
                <a:cs typeface="Times New Roman" panose="02020603050405020304" pitchFamily="18" charset="0"/>
              </a:rPr>
              <a:t> luôn </a:t>
            </a:r>
            <a:r>
              <a:rPr lang="vi-VN" sz="2000" dirty="0" err="1">
                <a:solidFill>
                  <a:schemeClr val="tx1"/>
                </a:solidFill>
                <a:latin typeface="Times New Roman" panose="02020603050405020304" pitchFamily="18" charset="0"/>
                <a:cs typeface="Times New Roman" panose="02020603050405020304" pitchFamily="18" charset="0"/>
              </a:rPr>
              <a:t>vận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động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đổi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động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này</a:t>
            </a:r>
            <a:r>
              <a:rPr lang="vi-VN" sz="2000" dirty="0">
                <a:solidFill>
                  <a:schemeClr val="tx1"/>
                </a:solidFill>
                <a:latin typeface="Times New Roman" panose="02020603050405020304" pitchFamily="18" charset="0"/>
                <a:cs typeface="Times New Roman" panose="02020603050405020304" pitchFamily="18" charset="0"/>
              </a:rPr>
              <a:t> thay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cả</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về</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lượng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chất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vật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tượng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Nguồn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gốc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động</a:t>
            </a:r>
            <a:r>
              <a:rPr lang="vi-VN" sz="2000" dirty="0">
                <a:solidFill>
                  <a:schemeClr val="tx1"/>
                </a:solidFill>
                <a:latin typeface="Times New Roman" panose="02020603050405020304" pitchFamily="18" charset="0"/>
                <a:cs typeface="Times New Roman" panose="02020603050405020304" pitchFamily="18" charset="0"/>
              </a:rPr>
              <a:t>, thay </a:t>
            </a:r>
            <a:r>
              <a:rPr lang="vi-VN" sz="2000" dirty="0" err="1">
                <a:solidFill>
                  <a:schemeClr val="tx1"/>
                </a:solidFill>
                <a:latin typeface="Times New Roman" panose="02020603050405020304" pitchFamily="18" charset="0"/>
                <a:cs typeface="Times New Roman" panose="02020603050405020304" pitchFamily="18" charset="0"/>
              </a:rPr>
              <a:t>đổi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đó</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đấu</a:t>
            </a:r>
            <a:r>
              <a:rPr lang="vi-VN" sz="2000" dirty="0">
                <a:solidFill>
                  <a:schemeClr val="tx1"/>
                </a:solidFill>
                <a:latin typeface="Times New Roman" panose="02020603050405020304" pitchFamily="18" charset="0"/>
                <a:cs typeface="Times New Roman" panose="02020603050405020304" pitchFamily="18" charset="0"/>
              </a:rPr>
              <a:t> tranh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mặt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đối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lập</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mâu </a:t>
            </a:r>
            <a:r>
              <a:rPr lang="vi-VN" sz="2000" dirty="0" err="1">
                <a:solidFill>
                  <a:schemeClr val="tx1"/>
                </a:solidFill>
                <a:latin typeface="Times New Roman" panose="02020603050405020304" pitchFamily="18" charset="0"/>
                <a:cs typeface="Times New Roman" panose="02020603050405020304" pitchFamily="18" charset="0"/>
              </a:rPr>
              <a:t>thuẫn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nội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tại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bản</a:t>
            </a:r>
            <a:r>
              <a:rPr lang="vi-VN" sz="2000" dirty="0">
                <a:solidFill>
                  <a:schemeClr val="tx1"/>
                </a:solidFill>
                <a:latin typeface="Times New Roman" panose="02020603050405020304" pitchFamily="18" charset="0"/>
                <a:cs typeface="Times New Roman" panose="02020603050405020304" pitchFamily="18" charset="0"/>
              </a:rPr>
              <a:t> thân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vât</a:t>
            </a:r>
            <a:r>
              <a:rPr lang="vi-VN" sz="2000" dirty="0">
                <a:solidFill>
                  <a:schemeClr val="tx1"/>
                </a:solidFill>
                <a:latin typeface="Times New Roman" panose="02020603050405020304" pitchFamily="18" charset="0"/>
                <a:cs typeface="Times New Roman" panose="02020603050405020304" pitchFamily="18" charset="0"/>
              </a:rPr>
              <a:t>.</a:t>
            </a:r>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bldLvl="0" animBg="1"/>
      <p:bldP spid="5" grpId="0" bldLvl="0" animBg="1"/>
      <p:bldP spid="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27115"/>
          </a:xfrm>
        </p:spPr>
        <p:txBody>
          <a:bodyPr>
            <a:normAutofit/>
          </a:bodyPr>
          <a:lstStyle/>
          <a:p>
            <a:r>
              <a:rPr lang="vi-VN" sz="3200" b="1" dirty="0" err="1">
                <a:latin typeface="Times New Roman" panose="02020603050405020304" pitchFamily="18" charset="0"/>
                <a:cs typeface="Times New Roman" panose="02020603050405020304" pitchFamily="18" charset="0"/>
              </a:rPr>
              <a:t>Các</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hình</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thức</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của</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phép</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biện</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chứng</a:t>
            </a:r>
            <a:r>
              <a:rPr lang="vi-VN" sz="3200" b="1" dirty="0">
                <a:latin typeface="Times New Roman" panose="02020603050405020304" pitchFamily="18" charset="0"/>
                <a:cs typeface="Times New Roman" panose="02020603050405020304" pitchFamily="18" charset="0"/>
              </a:rPr>
              <a:t> trong </a:t>
            </a:r>
            <a:r>
              <a:rPr lang="vi-VN" sz="3200" b="1" dirty="0" err="1">
                <a:latin typeface="Times New Roman" panose="02020603050405020304" pitchFamily="18" charset="0"/>
                <a:cs typeface="Times New Roman" panose="02020603050405020304" pitchFamily="18" charset="0"/>
              </a:rPr>
              <a:t>lịch</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sử</a:t>
            </a:r>
            <a:r>
              <a:rPr lang="vi-VN" sz="3200" b="1" dirty="0">
                <a:latin typeface="Times New Roman" panose="02020603050405020304" pitchFamily="18" charset="0"/>
                <a:cs typeface="Times New Roman" panose="02020603050405020304" pitchFamily="18" charset="0"/>
              </a:rPr>
              <a:t>.</a:t>
            </a:r>
            <a:br>
              <a:rPr lang="vi-VN" sz="3200" b="1" dirty="0">
                <a:latin typeface="Times New Roman" panose="02020603050405020304" pitchFamily="18" charset="0"/>
                <a:cs typeface="Times New Roman" panose="02020603050405020304" pitchFamily="18" charset="0"/>
              </a:rPr>
            </a:br>
            <a:br>
              <a:rPr lang="vi-VN" sz="3200" b="1"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br>
              <a:rPr lang="vi-VN"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Oval 2"/>
          <p:cNvSpPr/>
          <p:nvPr/>
        </p:nvSpPr>
        <p:spPr>
          <a:xfrm rot="10800000" flipH="1" flipV="1">
            <a:off x="838200" y="1476096"/>
            <a:ext cx="2857497" cy="6923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err="1">
                <a:solidFill>
                  <a:schemeClr val="tx1"/>
                </a:solidFill>
                <a:latin typeface="Times New Roman" panose="02020603050405020304" pitchFamily="18" charset="0"/>
                <a:cs typeface="Times New Roman" panose="02020603050405020304" pitchFamily="18" charset="0"/>
              </a:rPr>
              <a:t>Phép</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biện</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chứng</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tự</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phát</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4" name="Oval 3"/>
          <p:cNvSpPr/>
          <p:nvPr/>
        </p:nvSpPr>
        <p:spPr>
          <a:xfrm rot="10800000" flipH="1" flipV="1">
            <a:off x="4991647" y="1515285"/>
            <a:ext cx="2689314" cy="69233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err="1">
                <a:solidFill>
                  <a:schemeClr val="tx1"/>
                </a:solidFill>
                <a:latin typeface="Times New Roman" panose="02020603050405020304" pitchFamily="18" charset="0"/>
                <a:cs typeface="Times New Roman" panose="02020603050405020304" pitchFamily="18" charset="0"/>
              </a:rPr>
              <a:t>Phép</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biện</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chứng</a:t>
            </a:r>
            <a:r>
              <a:rPr lang="vi-VN" sz="2000" b="1" dirty="0">
                <a:solidFill>
                  <a:schemeClr val="tx1"/>
                </a:solidFill>
                <a:latin typeface="Times New Roman" panose="02020603050405020304" pitchFamily="18" charset="0"/>
                <a:cs typeface="Times New Roman" panose="02020603050405020304" pitchFamily="18" charset="0"/>
              </a:rPr>
              <a:t> duy tâm</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5" name="Oval 4"/>
          <p:cNvSpPr/>
          <p:nvPr/>
        </p:nvSpPr>
        <p:spPr>
          <a:xfrm rot="10800000" flipV="1">
            <a:off x="8805452" y="1476094"/>
            <a:ext cx="2548347" cy="6923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000" b="1" dirty="0" err="1">
                <a:solidFill>
                  <a:schemeClr val="tx1"/>
                </a:solidFill>
                <a:latin typeface="Times New Roman" panose="02020603050405020304" pitchFamily="18" charset="0"/>
                <a:cs typeface="Times New Roman" panose="02020603050405020304" pitchFamily="18" charset="0"/>
              </a:rPr>
              <a:t>Phép</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biện</a:t>
            </a:r>
            <a:r>
              <a:rPr lang="vi-VN" sz="2000" b="1" dirty="0">
                <a:solidFill>
                  <a:schemeClr val="tx1"/>
                </a:solidFill>
                <a:latin typeface="Times New Roman" panose="02020603050405020304" pitchFamily="18" charset="0"/>
                <a:cs typeface="Times New Roman" panose="02020603050405020304" pitchFamily="18" charset="0"/>
              </a:rPr>
              <a:t> </a:t>
            </a:r>
            <a:r>
              <a:rPr lang="vi-VN" sz="2000" b="1" dirty="0" err="1">
                <a:solidFill>
                  <a:schemeClr val="tx1"/>
                </a:solidFill>
                <a:latin typeface="Times New Roman" panose="02020603050405020304" pitchFamily="18" charset="0"/>
                <a:cs typeface="Times New Roman" panose="02020603050405020304" pitchFamily="18" charset="0"/>
              </a:rPr>
              <a:t>chứng</a:t>
            </a:r>
            <a:r>
              <a:rPr lang="vi-VN" sz="2000" b="1" dirty="0">
                <a:solidFill>
                  <a:schemeClr val="tx1"/>
                </a:solidFill>
                <a:latin typeface="Times New Roman" panose="02020603050405020304" pitchFamily="18" charset="0"/>
                <a:cs typeface="Times New Roman" panose="02020603050405020304" pitchFamily="18" charset="0"/>
              </a:rPr>
              <a:t> duy </a:t>
            </a:r>
            <a:r>
              <a:rPr lang="vi-VN" sz="2000" b="1" dirty="0" err="1">
                <a:solidFill>
                  <a:schemeClr val="tx1"/>
                </a:solidFill>
                <a:latin typeface="Times New Roman" panose="02020603050405020304" pitchFamily="18" charset="0"/>
                <a:cs typeface="Times New Roman" panose="02020603050405020304" pitchFamily="18" charset="0"/>
              </a:rPr>
              <a:t>vật</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flipH="1">
            <a:off x="683624" y="2168431"/>
            <a:ext cx="3274422" cy="40756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Thời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Cổ</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đại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nhà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triết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học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cả</a:t>
            </a:r>
            <a:r>
              <a:rPr lang="vi-VN" sz="2000" dirty="0">
                <a:solidFill>
                  <a:schemeClr val="tx1"/>
                </a:solidFill>
                <a:latin typeface="Times New Roman" panose="02020603050405020304" pitchFamily="18" charset="0"/>
                <a:cs typeface="Times New Roman" panose="02020603050405020304" pitchFamily="18" charset="0"/>
              </a:rPr>
              <a:t> phương Đông </a:t>
            </a:r>
            <a:r>
              <a:rPr lang="vi-VN" sz="2000" dirty="0" err="1">
                <a:solidFill>
                  <a:schemeClr val="tx1"/>
                </a:solidFill>
                <a:latin typeface="Times New Roman" panose="02020603050405020304" pitchFamily="18" charset="0"/>
                <a:cs typeface="Times New Roman" panose="02020603050405020304" pitchFamily="18" charset="0"/>
              </a:rPr>
              <a:t>và</a:t>
            </a:r>
            <a:r>
              <a:rPr lang="vi-VN" sz="2000" dirty="0">
                <a:solidFill>
                  <a:schemeClr val="tx1"/>
                </a:solidFill>
                <a:latin typeface="Times New Roman" panose="02020603050405020304" pitchFamily="18" charset="0"/>
                <a:cs typeface="Times New Roman" panose="02020603050405020304" pitchFamily="18" charset="0"/>
              </a:rPr>
              <a:t> phương Tây </a:t>
            </a:r>
            <a:r>
              <a:rPr lang="vi-VN" sz="2000" dirty="0" err="1">
                <a:solidFill>
                  <a:schemeClr val="tx1"/>
                </a:solidFill>
                <a:latin typeface="Times New Roman" panose="02020603050405020304" pitchFamily="18" charset="0"/>
                <a:cs typeface="Times New Roman" panose="02020603050405020304" pitchFamily="18" charset="0"/>
              </a:rPr>
              <a:t>đã</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thấy</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sv</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vũ</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trụ</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vận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động</a:t>
            </a:r>
            <a:r>
              <a:rPr lang="vi-VN" sz="2000" dirty="0">
                <a:solidFill>
                  <a:schemeClr val="tx1"/>
                </a:solidFill>
                <a:latin typeface="Times New Roman" panose="02020603050405020304" pitchFamily="18" charset="0"/>
                <a:cs typeface="Times New Roman" panose="02020603050405020304" pitchFamily="18" charset="0"/>
              </a:rPr>
              <a:t> trong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sinh </a:t>
            </a:r>
            <a:r>
              <a:rPr lang="vi-VN" sz="2000" dirty="0" err="1">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à</a:t>
            </a:r>
            <a:r>
              <a:rPr lang="vi-VN" sz="2000" dirty="0" err="1">
                <a:solidFill>
                  <a:schemeClr val="tx1"/>
                </a:solidFill>
                <a:latin typeface="Times New Roman" panose="02020603050405020304" pitchFamily="18" charset="0"/>
                <a:cs typeface="Times New Roman" panose="02020603050405020304" pitchFamily="18" charset="0"/>
              </a:rPr>
              <a:t>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biến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hóa</a:t>
            </a:r>
            <a:r>
              <a:rPr lang="vi-VN" sz="2000" dirty="0">
                <a:solidFill>
                  <a:schemeClr val="tx1"/>
                </a:solidFill>
                <a:latin typeface="Times New Roman" panose="02020603050405020304" pitchFamily="18" charset="0"/>
                <a:cs typeface="Times New Roman" panose="02020603050405020304" pitchFamily="18" charset="0"/>
              </a:rPr>
              <a:t> vô </a:t>
            </a:r>
            <a:r>
              <a:rPr lang="vi-VN" sz="2000" dirty="0" err="1">
                <a:solidFill>
                  <a:schemeClr val="tx1"/>
                </a:solidFill>
                <a:latin typeface="Times New Roman" panose="02020603050405020304" pitchFamily="18" charset="0"/>
                <a:cs typeface="Times New Roman" panose="02020603050405020304" pitchFamily="18" charset="0"/>
              </a:rPr>
              <a:t>cùng</a:t>
            </a:r>
            <a:r>
              <a:rPr lang="vi-VN" sz="2000" dirty="0">
                <a:solidFill>
                  <a:schemeClr val="tx1"/>
                </a:solidFill>
                <a:latin typeface="Times New Roman" panose="02020603050405020304" pitchFamily="18" charset="0"/>
                <a:cs typeface="Times New Roman" panose="02020603050405020304" pitchFamily="18" charset="0"/>
              </a:rPr>
              <a:t> vô </a:t>
            </a:r>
            <a:r>
              <a:rPr lang="vi-VN" sz="2000" dirty="0" err="1">
                <a:solidFill>
                  <a:schemeClr val="tx1"/>
                </a:solidFill>
                <a:latin typeface="Times New Roman" panose="02020603050405020304" pitchFamily="18" charset="0"/>
                <a:cs typeface="Times New Roman" panose="02020603050405020304" pitchFamily="18" charset="0"/>
              </a:rPr>
              <a:t>tận</a:t>
            </a:r>
            <a:r>
              <a:rPr lang="vi-VN" sz="2000" dirty="0">
                <a:solidFill>
                  <a:schemeClr val="tx1"/>
                </a:solidFill>
                <a:latin typeface="Times New Roman" panose="02020603050405020304" pitchFamily="18" charset="0"/>
                <a:cs typeface="Times New Roman" panose="02020603050405020304" pitchFamily="18" charset="0"/>
              </a:rPr>
              <a:t>. Tuy nhiên chưa </a:t>
            </a:r>
            <a:r>
              <a:rPr lang="vi-VN" sz="2000" dirty="0" err="1">
                <a:solidFill>
                  <a:schemeClr val="tx1"/>
                </a:solidFill>
                <a:latin typeface="Times New Roman" panose="02020603050405020304" pitchFamily="18" charset="0"/>
                <a:cs typeface="Times New Roman" panose="02020603050405020304" pitchFamily="18" charset="0"/>
              </a:rPr>
              <a:t>có</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kết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quả</a:t>
            </a:r>
            <a:r>
              <a:rPr lang="vi-VN" sz="2000" dirty="0">
                <a:solidFill>
                  <a:schemeClr val="tx1"/>
                </a:solidFill>
                <a:latin typeface="Times New Roman" panose="02020603050405020304" pitchFamily="18" charset="0"/>
                <a:cs typeface="Times New Roman" panose="02020603050405020304" pitchFamily="18" charset="0"/>
              </a:rPr>
              <a:t> nghiên </a:t>
            </a:r>
            <a:r>
              <a:rPr lang="vi-VN" sz="2000" dirty="0" err="1">
                <a:solidFill>
                  <a:schemeClr val="tx1"/>
                </a:solidFill>
                <a:latin typeface="Times New Roman" panose="02020603050405020304" pitchFamily="18" charset="0"/>
                <a:cs typeface="Times New Roman" panose="02020603050405020304" pitchFamily="18" charset="0"/>
              </a:rPr>
              <a:t>cứu</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và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thực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nghiệm</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flipH="1">
            <a:off x="4532630" y="2207895"/>
            <a:ext cx="3448685" cy="40754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Đỉnh</a:t>
            </a:r>
            <a:r>
              <a:rPr lang="vi-VN" sz="2000" dirty="0">
                <a:solidFill>
                  <a:schemeClr val="tx1"/>
                </a:solidFill>
                <a:latin typeface="Times New Roman" panose="02020603050405020304" pitchFamily="18" charset="0"/>
                <a:cs typeface="Times New Roman" panose="02020603050405020304" pitchFamily="18" charset="0"/>
              </a:rPr>
              <a:t> cao </a:t>
            </a:r>
            <a:r>
              <a:rPr lang="vi-VN" sz="2000" dirty="0" err="1">
                <a:solidFill>
                  <a:schemeClr val="tx1"/>
                </a:solidFill>
                <a:latin typeface="Times New Roman" panose="02020603050405020304" pitchFamily="18" charset="0"/>
                <a:cs typeface="Times New Roman" panose="02020603050405020304" pitchFamily="18" charset="0"/>
              </a:rPr>
              <a:t>thể</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hiện</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triết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học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cổ</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Cantơ</a:t>
            </a:r>
            <a:r>
              <a:rPr lang="vi-VN" sz="2000" dirty="0">
                <a:solidFill>
                  <a:schemeClr val="tx1"/>
                </a:solidFill>
                <a:latin typeface="Times New Roman" panose="02020603050405020304" pitchFamily="18" charset="0"/>
                <a:cs typeface="Times New Roman" panose="02020603050405020304" pitchFamily="18" charset="0"/>
              </a:rPr>
              <a:t>, hoan </a:t>
            </a:r>
            <a:r>
              <a:rPr lang="vi-VN" sz="2000" dirty="0" err="1">
                <a:solidFill>
                  <a:schemeClr val="tx1"/>
                </a:solidFill>
                <a:latin typeface="Times New Roman" panose="02020603050405020304" pitchFamily="18" charset="0"/>
                <a:cs typeface="Times New Roman" panose="02020603050405020304" pitchFamily="18" charset="0"/>
              </a:rPr>
              <a:t>thiện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Heeghen</a:t>
            </a:r>
            <a:r>
              <a:rPr lang="vi-VN" sz="2000" dirty="0">
                <a:solidFill>
                  <a:schemeClr val="tx1"/>
                </a:solidFill>
                <a:latin typeface="Times New Roman" panose="02020603050405020304" pitchFamily="18" charset="0"/>
                <a:cs typeface="Times New Roman" panose="02020603050405020304" pitchFamily="18" charset="0"/>
              </a:rPr>
              <a:t>). Theo </a:t>
            </a:r>
            <a:r>
              <a:rPr lang="vi-VN" sz="2000" dirty="0" err="1">
                <a:solidFill>
                  <a:schemeClr val="tx1"/>
                </a:solidFill>
                <a:latin typeface="Times New Roman" panose="02020603050405020304" pitchFamily="18" charset="0"/>
                <a:cs typeface="Times New Roman" panose="02020603050405020304" pitchFamily="18" charset="0"/>
              </a:rPr>
              <a:t>họ</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chứng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bắt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đầu</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từ</a:t>
            </a:r>
            <a:r>
              <a:rPr lang="vi-VN" sz="2000" dirty="0">
                <a:solidFill>
                  <a:schemeClr val="tx1"/>
                </a:solidFill>
                <a:latin typeface="Times New Roman" panose="02020603050405020304" pitchFamily="18" charset="0"/>
                <a:cs typeface="Times New Roman" panose="02020603050405020304" pitchFamily="18" charset="0"/>
              </a:rPr>
              <a:t> tinh </a:t>
            </a:r>
            <a:r>
              <a:rPr lang="vi-VN" sz="2000" dirty="0" err="1">
                <a:solidFill>
                  <a:schemeClr val="tx1"/>
                </a:solidFill>
                <a:latin typeface="Times New Roman" panose="02020603050405020304" pitchFamily="18" charset="0"/>
                <a:cs typeface="Times New Roman" panose="02020603050405020304" pitchFamily="18" charset="0"/>
              </a:rPr>
              <a:t>thần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kết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thúc</a:t>
            </a:r>
            <a:r>
              <a:rPr lang="vi-VN" sz="2000" dirty="0">
                <a:solidFill>
                  <a:schemeClr val="tx1"/>
                </a:solidFill>
                <a:latin typeface="Times New Roman" panose="02020603050405020304" pitchFamily="18" charset="0"/>
                <a:cs typeface="Times New Roman" panose="02020603050405020304" pitchFamily="18" charset="0"/>
              </a:rPr>
              <a:t> ở tinh </a:t>
            </a:r>
            <a:r>
              <a:rPr lang="vi-VN" sz="2000" dirty="0" err="1">
                <a:solidFill>
                  <a:schemeClr val="tx1"/>
                </a:solidFill>
                <a:latin typeface="Times New Roman" panose="02020603050405020304" pitchFamily="18" charset="0"/>
                <a:cs typeface="Times New Roman" panose="02020603050405020304" pitchFamily="18" charset="0"/>
              </a:rPr>
              <a:t>thần</a:t>
            </a:r>
            <a:r>
              <a:rPr lang="vi-VN" sz="2000" dirty="0">
                <a:solidFill>
                  <a:schemeClr val="tx1"/>
                </a:solidFill>
                <a:latin typeface="Times New Roman" panose="02020603050405020304" pitchFamily="18" charset="0"/>
                <a:cs typeface="Times New Roman" panose="02020603050405020304" pitchFamily="18" charset="0"/>
              </a:rPr>
              <a:t>.</a:t>
            </a:r>
            <a:endParaRPr lang="vi-VN"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Thế</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giới</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thực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chỉ</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sự</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phản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ánh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chứng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ý </a:t>
            </a:r>
            <a:r>
              <a:rPr lang="vi-VN" sz="2000" dirty="0" err="1">
                <a:solidFill>
                  <a:schemeClr val="tx1"/>
                </a:solidFill>
                <a:latin typeface="Times New Roman" panose="02020603050405020304" pitchFamily="18" charset="0"/>
                <a:cs typeface="Times New Roman" panose="02020603050405020304" pitchFamily="18" charset="0"/>
              </a:rPr>
              <a:t>niệm</a:t>
            </a:r>
            <a:r>
              <a:rPr lang="vi-VN" sz="2000" dirty="0">
                <a:solidFill>
                  <a:schemeClr val="tx1"/>
                </a:solidFill>
                <a:latin typeface="Times New Roman" panose="02020603050405020304" pitchFamily="18" charset="0"/>
                <a:cs typeface="Times New Roman" panose="02020603050405020304" pitchFamily="18" charset="0"/>
              </a:rPr>
              <a:t>, nên PBC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nhà</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triết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học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cổ</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điển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là</a:t>
            </a:r>
            <a:r>
              <a:rPr lang="vi-VN" sz="2000" dirty="0">
                <a:solidFill>
                  <a:schemeClr val="tx1"/>
                </a:solidFill>
                <a:latin typeface="Times New Roman" panose="02020603050405020304" pitchFamily="18" charset="0"/>
                <a:cs typeface="Times New Roman" panose="02020603050405020304" pitchFamily="18" charset="0"/>
              </a:rPr>
              <a:t> PBCDT </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8" name="Rounded Rectangle 7"/>
          <p:cNvSpPr/>
          <p:nvPr/>
        </p:nvSpPr>
        <p:spPr>
          <a:xfrm flipH="1">
            <a:off x="8360227" y="2168432"/>
            <a:ext cx="3315786" cy="40756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vi-VN" sz="2000" dirty="0" err="1">
                <a:solidFill>
                  <a:schemeClr val="tx1"/>
                </a:solidFill>
                <a:latin typeface="Times New Roman" panose="02020603050405020304" pitchFamily="18" charset="0"/>
                <a:cs typeface="Times New Roman" panose="02020603050405020304" pitchFamily="18" charset="0"/>
              </a:rPr>
              <a:t>thể</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hiện</a:t>
            </a:r>
            <a:r>
              <a:rPr lang="vi-VN" sz="2000" dirty="0">
                <a:solidFill>
                  <a:schemeClr val="tx1"/>
                </a:solidFill>
                <a:latin typeface="Times New Roman" panose="02020603050405020304" pitchFamily="18" charset="0"/>
                <a:cs typeface="Times New Roman" panose="02020603050405020304" pitchFamily="18" charset="0"/>
              </a:rPr>
              <a:t> ở </a:t>
            </a:r>
            <a:r>
              <a:rPr lang="vi-VN" sz="2000" dirty="0" err="1">
                <a:solidFill>
                  <a:schemeClr val="tx1"/>
                </a:solidFill>
                <a:latin typeface="Times New Roman" panose="02020603050405020304" pitchFamily="18" charset="0"/>
                <a:cs typeface="Times New Roman" panose="02020603050405020304" pitchFamily="18" charset="0"/>
              </a:rPr>
              <a:t>triết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học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Mac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Ph.Ăngghen</a:t>
            </a:r>
            <a:r>
              <a:rPr lang="vi-VN" sz="2000" dirty="0">
                <a:solidFill>
                  <a:schemeClr val="tx1"/>
                </a:solidFill>
                <a:latin typeface="Times New Roman" panose="02020603050405020304" pitchFamily="18" charset="0"/>
                <a:cs typeface="Times New Roman" panose="02020603050405020304" pitchFamily="18" charset="0"/>
              </a:rPr>
              <a:t> xây </a:t>
            </a:r>
            <a:r>
              <a:rPr lang="vi-VN" sz="2000" dirty="0" err="1">
                <a:solidFill>
                  <a:schemeClr val="tx1"/>
                </a:solidFill>
                <a:latin typeface="Times New Roman" panose="02020603050405020304" pitchFamily="18" charset="0"/>
                <a:cs typeface="Times New Roman" panose="02020603050405020304" pitchFamily="18" charset="0"/>
              </a:rPr>
              <a:t>dựng</a:t>
            </a:r>
            <a:r>
              <a:rPr lang="vi-VN" sz="2000" dirty="0">
                <a:solidFill>
                  <a:schemeClr val="tx1"/>
                </a:solidFill>
                <a:latin typeface="Times New Roman" panose="02020603050405020304" pitchFamily="18" charset="0"/>
                <a:cs typeface="Times New Roman" panose="02020603050405020304" pitchFamily="18" charset="0"/>
              </a:rPr>
              <a:t>. Hai ông </a:t>
            </a:r>
            <a:r>
              <a:rPr lang="vi-VN" sz="2000" dirty="0" err="1">
                <a:solidFill>
                  <a:schemeClr val="tx1"/>
                </a:solidFill>
                <a:latin typeface="Times New Roman" panose="02020603050405020304" pitchFamily="18" charset="0"/>
                <a:cs typeface="Times New Roman" panose="02020603050405020304" pitchFamily="18" charset="0"/>
              </a:rPr>
              <a:t>đã</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bỏ</a:t>
            </a:r>
            <a:r>
              <a:rPr lang="vi-VN" sz="2000" dirty="0">
                <a:solidFill>
                  <a:schemeClr val="tx1"/>
                </a:solidFill>
                <a:latin typeface="Times New Roman" panose="02020603050405020304" pitchFamily="18" charset="0"/>
                <a:cs typeface="Times New Roman" panose="02020603050405020304" pitchFamily="18" charset="0"/>
              </a:rPr>
              <a:t> t</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err="1">
                <a:solidFill>
                  <a:schemeClr val="tx1"/>
                </a:solidFill>
                <a:latin typeface="Times New Roman" panose="02020603050405020304" pitchFamily="18" charset="0"/>
                <a:cs typeface="Times New Roman" panose="02020603050405020304" pitchFamily="18" charset="0"/>
              </a:rPr>
              <a:t>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thần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bí</a:t>
            </a:r>
            <a:r>
              <a:rPr lang="vi-VN" sz="2000" dirty="0">
                <a:solidFill>
                  <a:schemeClr val="tx1"/>
                </a:solidFill>
                <a:latin typeface="Times New Roman" panose="02020603050405020304" pitchFamily="18" charset="0"/>
                <a:cs typeface="Times New Roman" panose="02020603050405020304" pitchFamily="18" charset="0"/>
              </a:rPr>
              <a:t>, tư </a:t>
            </a:r>
            <a:r>
              <a:rPr lang="vi-VN" sz="2000" dirty="0" err="1">
                <a:solidFill>
                  <a:schemeClr val="tx1"/>
                </a:solidFill>
                <a:latin typeface="Times New Roman" panose="02020603050405020304" pitchFamily="18" charset="0"/>
                <a:cs typeface="Times New Roman" panose="02020603050405020304" pitchFamily="18" charset="0"/>
              </a:rPr>
              <a:t>biện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của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triết</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học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cổ</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điển</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Đức</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kế</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thừa</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những</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hạt</a:t>
            </a:r>
            <a:r>
              <a:rPr lang="vi-VN" sz="2000" dirty="0">
                <a:solidFill>
                  <a:schemeClr val="tx1"/>
                </a:solidFill>
                <a:latin typeface="Times New Roman" panose="02020603050405020304" pitchFamily="18" charset="0"/>
                <a:cs typeface="Times New Roman" panose="02020603050405020304" pitchFamily="18" charset="0"/>
              </a:rPr>
              <a:t> nhân </a:t>
            </a:r>
            <a:r>
              <a:rPr lang="vi-VN" sz="2000" dirty="0" err="1">
                <a:solidFill>
                  <a:schemeClr val="tx1"/>
                </a:solidFill>
                <a:latin typeface="Times New Roman" panose="02020603050405020304" pitchFamily="18" charset="0"/>
                <a:cs typeface="Times New Roman" panose="02020603050405020304" pitchFamily="18" charset="0"/>
              </a:rPr>
              <a:t>hợp</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lý</a:t>
            </a:r>
            <a:r>
              <a:rPr lang="vi-VN" sz="2000" dirty="0">
                <a:solidFill>
                  <a:schemeClr val="tx1"/>
                </a:solidFill>
                <a:latin typeface="Times New Roman" panose="02020603050405020304" pitchFamily="18" charset="0"/>
                <a:cs typeface="Times New Roman" panose="02020603050405020304" pitchFamily="18" charset="0"/>
              </a:rPr>
              <a:t> trong PBCDT </a:t>
            </a:r>
            <a:r>
              <a:rPr lang="vi-VN" sz="2000" dirty="0" err="1">
                <a:solidFill>
                  <a:schemeClr val="tx1"/>
                </a:solidFill>
                <a:latin typeface="Times New Roman" panose="02020603050405020304" pitchFamily="18" charset="0"/>
                <a:cs typeface="Times New Roman" panose="02020603050405020304" pitchFamily="18" charset="0"/>
              </a:rPr>
              <a:t>để</a:t>
            </a:r>
            <a:r>
              <a:rPr lang="vi-VN" sz="2000" dirty="0">
                <a:solidFill>
                  <a:schemeClr val="tx1"/>
                </a:solidFill>
                <a:latin typeface="Times New Roman" panose="02020603050405020304" pitchFamily="18" charset="0"/>
                <a:cs typeface="Times New Roman" panose="02020603050405020304" pitchFamily="18" charset="0"/>
              </a:rPr>
              <a:t> xây </a:t>
            </a:r>
            <a:r>
              <a:rPr lang="vi-VN" sz="2000" dirty="0" err="1">
                <a:solidFill>
                  <a:schemeClr val="tx1"/>
                </a:solidFill>
                <a:latin typeface="Times New Roman" panose="02020603050405020304" pitchFamily="18" charset="0"/>
                <a:cs typeface="Times New Roman" panose="02020603050405020304" pitchFamily="18" charset="0"/>
              </a:rPr>
              <a:t>dựng</a:t>
            </a:r>
            <a:r>
              <a:rPr lang="vi-VN" sz="2000" dirty="0">
                <a:solidFill>
                  <a:schemeClr val="tx1"/>
                </a:solidFill>
                <a:latin typeface="Times New Roman" panose="02020603050405020304" pitchFamily="18" charset="0"/>
                <a:cs typeface="Times New Roman" panose="02020603050405020304" pitchFamily="18" charset="0"/>
              </a:rPr>
              <a:t> PBCDV </a:t>
            </a:r>
            <a:r>
              <a:rPr lang="vi-VN" sz="2000" dirty="0" err="1">
                <a:solidFill>
                  <a:schemeClr val="tx1"/>
                </a:solidFill>
                <a:latin typeface="Times New Roman" panose="02020603050405020304" pitchFamily="18" charset="0"/>
                <a:cs typeface="Times New Roman" panose="02020603050405020304" pitchFamily="18" charset="0"/>
              </a:rPr>
              <a:t>với</a:t>
            </a:r>
            <a:r>
              <a:rPr lang="vi-VN" sz="2000" dirty="0">
                <a:solidFill>
                  <a:schemeClr val="tx1"/>
                </a:solidFill>
                <a:latin typeface="Times New Roman" panose="02020603050405020304" pitchFamily="18" charset="0"/>
                <a:cs typeface="Times New Roman" panose="02020603050405020304" pitchFamily="18" charset="0"/>
              </a:rPr>
              <a:t> t</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err="1">
                <a:solidFill>
                  <a:schemeClr val="tx1"/>
                </a:solidFill>
                <a:latin typeface="Times New Roman" panose="02020603050405020304" pitchFamily="18" charset="0"/>
                <a:cs typeface="Times New Roman" panose="02020603050405020304" pitchFamily="18" charset="0"/>
              </a:rPr>
              <a:t>nh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cách</a:t>
            </a:r>
            <a:r>
              <a:rPr lang="vi-VN" sz="2000" dirty="0">
                <a:solidFill>
                  <a:schemeClr val="tx1"/>
                </a:solidFill>
                <a:latin typeface="Times New Roman" panose="02020603050405020304" pitchFamily="18" charset="0"/>
                <a:cs typeface="Times New Roman" panose="02020603050405020304" pitchFamily="18" charset="0"/>
              </a:rPr>
              <a:t> </a:t>
            </a:r>
            <a:r>
              <a:rPr lang="vi-VN" sz="2000" dirty="0" err="1">
                <a:solidFill>
                  <a:schemeClr val="tx1"/>
                </a:solidFill>
                <a:latin typeface="Times New Roman" panose="02020603050405020304" pitchFamily="18" charset="0"/>
                <a:cs typeface="Times New Roman" panose="02020603050405020304" pitchFamily="18" charset="0"/>
              </a:rPr>
              <a:t>là</a:t>
            </a:r>
            <a:r>
              <a:rPr lang="vi-VN" sz="2000"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học</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thuyết</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về</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mối</a:t>
            </a:r>
            <a:r>
              <a:rPr lang="vi-VN" sz="2000" i="1" dirty="0">
                <a:solidFill>
                  <a:schemeClr val="tx1"/>
                </a:solidFill>
                <a:latin typeface="Times New Roman" panose="02020603050405020304" pitchFamily="18" charset="0"/>
                <a:cs typeface="Times New Roman" panose="02020603050405020304" pitchFamily="18" charset="0"/>
              </a:rPr>
              <a:t> quan </a:t>
            </a:r>
            <a:r>
              <a:rPr lang="vi-VN" sz="2000" i="1" dirty="0" err="1">
                <a:solidFill>
                  <a:schemeClr val="tx1"/>
                </a:solidFill>
                <a:latin typeface="Times New Roman" panose="02020603050405020304" pitchFamily="18" charset="0"/>
                <a:cs typeface="Times New Roman" panose="02020603050405020304" pitchFamily="18" charset="0"/>
              </a:rPr>
              <a:t>hệ</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phổ</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biến</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và</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sự</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phát</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triển</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dưới</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hình</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thức</a:t>
            </a:r>
            <a:r>
              <a:rPr lang="vi-VN" sz="2000" i="1" dirty="0">
                <a:solidFill>
                  <a:schemeClr val="tx1"/>
                </a:solidFill>
                <a:latin typeface="Times New Roman" panose="02020603050405020304" pitchFamily="18" charset="0"/>
                <a:cs typeface="Times New Roman" panose="02020603050405020304" pitchFamily="18" charset="0"/>
              </a:rPr>
              <a:t> hoan </a:t>
            </a:r>
            <a:r>
              <a:rPr lang="vi-VN" sz="2000" i="1" dirty="0" err="1">
                <a:solidFill>
                  <a:schemeClr val="tx1"/>
                </a:solidFill>
                <a:latin typeface="Times New Roman" panose="02020603050405020304" pitchFamily="18" charset="0"/>
                <a:cs typeface="Times New Roman" panose="02020603050405020304" pitchFamily="18" charset="0"/>
              </a:rPr>
              <a:t>bị</a:t>
            </a:r>
            <a:r>
              <a:rPr lang="vi-VN" sz="2000" i="1" dirty="0">
                <a:solidFill>
                  <a:schemeClr val="tx1"/>
                </a:solidFill>
                <a:latin typeface="Times New Roman" panose="02020603050405020304" pitchFamily="18" charset="0"/>
                <a:cs typeface="Times New Roman" panose="02020603050405020304" pitchFamily="18" charset="0"/>
              </a:rPr>
              <a:t> </a:t>
            </a:r>
            <a:r>
              <a:rPr lang="vi-VN" sz="2000" i="1" dirty="0" err="1">
                <a:solidFill>
                  <a:schemeClr val="tx1"/>
                </a:solidFill>
                <a:latin typeface="Times New Roman" panose="02020603050405020304" pitchFamily="18" charset="0"/>
                <a:cs typeface="Times New Roman" panose="02020603050405020304" pitchFamily="18" charset="0"/>
              </a:rPr>
              <a:t>nhất</a:t>
            </a:r>
            <a:endParaRPr lang="en-US" sz="20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21500"/>
            <a:ext cx="10515600" cy="953589"/>
          </a:xfrm>
        </p:spPr>
        <p:txBody>
          <a:bodyPr>
            <a:normAutofit fontScale="90000"/>
          </a:bodyPr>
          <a:lstStyle/>
          <a:p>
            <a:pPr algn="just"/>
            <a:r>
              <a:rPr lang="vi-VN" sz="3200" b="1" dirty="0">
                <a:latin typeface="Times New Roman" panose="02020603050405020304" pitchFamily="18" charset="0"/>
                <a:cs typeface="Times New Roman" panose="02020603050405020304" pitchFamily="18" charset="0"/>
              </a:rPr>
              <a:t>II. TRIẾT HỌC MAC – LÊNIN VÀ VAI TRÒ CỦA </a:t>
            </a:r>
            <a:r>
              <a:rPr lang="vi-VN" sz="3200" b="1" dirty="0">
                <a:cs typeface="Times New Roman" panose="02020603050405020304" pitchFamily="18" charset="0"/>
              </a:rPr>
              <a:t>TRIẾT HỌC MAC – LÊNIN </a:t>
            </a:r>
            <a:r>
              <a:rPr lang="vi-VN" sz="3200" b="1" dirty="0">
                <a:latin typeface="Times New Roman" panose="02020603050405020304" pitchFamily="18" charset="0"/>
                <a:cs typeface="Times New Roman" panose="02020603050405020304" pitchFamily="18" charset="0"/>
              </a:rPr>
              <a:t>TRONG ĐỜI SỐNG XÃ HỘI</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14846"/>
            <a:ext cx="10515600" cy="5251268"/>
          </a:xfrm>
        </p:spPr>
        <p:txBody>
          <a:bodyPr/>
          <a:lstStyle/>
          <a:p>
            <a:pPr marL="514350" indent="-514350" algn="just">
              <a:buFont typeface="+mj-lt"/>
              <a:buAutoNum type="arabicPeriod"/>
            </a:pPr>
            <a:r>
              <a:rPr lang="vi-VN" b="1" dirty="0" err="1">
                <a:latin typeface="Times New Roman" panose="02020603050405020304" pitchFamily="18" charset="0"/>
                <a:cs typeface="Times New Roman" panose="02020603050405020304" pitchFamily="18" charset="0"/>
              </a:rPr>
              <a:t>Sự</a:t>
            </a:r>
            <a:r>
              <a:rPr lang="vi-VN" b="1" dirty="0">
                <a:latin typeface="Times New Roman" panose="02020603050405020304" pitchFamily="18" charset="0"/>
                <a:cs typeface="Times New Roman" panose="02020603050405020304" pitchFamily="18" charset="0"/>
              </a:rPr>
              <a:t> ra </a:t>
            </a:r>
            <a:r>
              <a:rPr lang="vi-VN" b="1" dirty="0" err="1">
                <a:latin typeface="Times New Roman" panose="02020603050405020304" pitchFamily="18" charset="0"/>
                <a:cs typeface="Times New Roman" panose="02020603050405020304" pitchFamily="18" charset="0"/>
              </a:rPr>
              <a:t>đời</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và</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phát</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triển</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của</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triết</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học</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Mac</a:t>
            </a:r>
            <a:r>
              <a:rPr lang="vi-VN" b="1" dirty="0">
                <a:latin typeface="Times New Roman" panose="02020603050405020304" pitchFamily="18" charset="0"/>
                <a:cs typeface="Times New Roman" panose="02020603050405020304" pitchFamily="18" charset="0"/>
              </a:rPr>
              <a:t> – </a:t>
            </a:r>
            <a:r>
              <a:rPr lang="vi-VN" b="1" dirty="0" err="1">
                <a:latin typeface="Times New Roman" panose="02020603050405020304" pitchFamily="18" charset="0"/>
                <a:cs typeface="Times New Roman" panose="02020603050405020304" pitchFamily="18" charset="0"/>
              </a:rPr>
              <a:t>Lênin</a:t>
            </a:r>
            <a:r>
              <a:rPr lang="vi-VN" b="1" dirty="0">
                <a:latin typeface="Times New Roman" panose="02020603050405020304" pitchFamily="18" charset="0"/>
                <a:cs typeface="Times New Roman" panose="02020603050405020304" pitchFamily="18" charset="0"/>
              </a:rPr>
              <a:t>.</a:t>
            </a:r>
            <a:endParaRPr lang="vi-VN" b="1" dirty="0">
              <a:latin typeface="Times New Roman" panose="02020603050405020304" pitchFamily="18" charset="0"/>
              <a:cs typeface="Times New Roman" panose="02020603050405020304" pitchFamily="18" charset="0"/>
            </a:endParaRPr>
          </a:p>
          <a:p>
            <a:pPr marL="514350" indent="-514350" algn="just">
              <a:buFont typeface="+mj-lt"/>
              <a:buAutoNum type="alphaLcPeriod"/>
            </a:pPr>
            <a:r>
              <a:rPr lang="vi-VN" b="1" dirty="0">
                <a:latin typeface="Times New Roman" panose="02020603050405020304" pitchFamily="18" charset="0"/>
                <a:cs typeface="Times New Roman" panose="02020603050405020304" pitchFamily="18" charset="0"/>
              </a:rPr>
              <a:t>Những điều kiện l</a:t>
            </a:r>
            <a:r>
              <a:rPr lang="en-US" b="1" dirty="0">
                <a:latin typeface="Times New Roman" panose="02020603050405020304" pitchFamily="18" charset="0"/>
                <a:cs typeface="Times New Roman" panose="02020603050405020304" pitchFamily="18" charset="0"/>
              </a:rPr>
              <a:t>ị</a:t>
            </a:r>
            <a:r>
              <a:rPr lang="vi-VN" b="1" dirty="0">
                <a:latin typeface="Times New Roman" panose="02020603050405020304" pitchFamily="18" charset="0"/>
                <a:cs typeface="Times New Roman" panose="02020603050405020304" pitchFamily="18" charset="0"/>
              </a:rPr>
              <a:t>ch sử của sự ra đời triết học Mac.</a:t>
            </a:r>
            <a:endParaRPr lang="vi-VN" b="1" dirty="0">
              <a:latin typeface="Times New Roman" panose="02020603050405020304" pitchFamily="18" charset="0"/>
              <a:cs typeface="Times New Roman" panose="02020603050405020304" pitchFamily="18" charset="0"/>
            </a:endParaRPr>
          </a:p>
          <a:p>
            <a:pPr marL="0" indent="0" algn="just">
              <a:buNone/>
            </a:pPr>
            <a:endParaRPr lang="vi-V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24148" cy="6125616"/>
          </a:xfrm>
        </p:spPr>
        <p:txBody>
          <a:bodyPr/>
          <a:lstStyle/>
          <a:p>
            <a:pPr algn="ctr"/>
            <a:endParaRPr lang="en-US" dirty="0"/>
          </a:p>
        </p:txBody>
      </p:sp>
      <p:sp>
        <p:nvSpPr>
          <p:cNvPr id="3" name="Rectangle 2"/>
          <p:cNvSpPr/>
          <p:nvPr/>
        </p:nvSpPr>
        <p:spPr>
          <a:xfrm>
            <a:off x="838138" y="1214120"/>
            <a:ext cx="1559622" cy="459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gn="ctr">
              <a:buFont typeface="+mj-lt"/>
              <a:buAutoNum type="alphaLcPeriod"/>
            </a:pPr>
            <a:r>
              <a:rPr lang="vi-VN" sz="2200" b="1" dirty="0">
                <a:solidFill>
                  <a:srgbClr val="0070C0"/>
                </a:solidFill>
                <a:latin typeface="Times New Roman" panose="02020603050405020304" pitchFamily="18" charset="0"/>
                <a:cs typeface="Times New Roman" panose="02020603050405020304" pitchFamily="18" charset="0"/>
              </a:rPr>
              <a:t>Những điều kiện l</a:t>
            </a:r>
            <a:r>
              <a:rPr lang="en-US" sz="2200" b="1" dirty="0">
                <a:solidFill>
                  <a:srgbClr val="0070C0"/>
                </a:solidFill>
                <a:latin typeface="Times New Roman" panose="02020603050405020304" pitchFamily="18" charset="0"/>
                <a:cs typeface="Times New Roman" panose="02020603050405020304" pitchFamily="18" charset="0"/>
              </a:rPr>
              <a:t>ị</a:t>
            </a:r>
            <a:r>
              <a:rPr lang="vi-VN" sz="2200" b="1" dirty="0">
                <a:solidFill>
                  <a:srgbClr val="0070C0"/>
                </a:solidFill>
                <a:latin typeface="Times New Roman" panose="02020603050405020304" pitchFamily="18" charset="0"/>
                <a:cs typeface="Times New Roman" panose="02020603050405020304" pitchFamily="18" charset="0"/>
              </a:rPr>
              <a:t>ch sử của sự ra đời triết học Mac</a:t>
            </a:r>
            <a:r>
              <a:rPr lang="vi-VN" sz="2400" b="1" dirty="0">
                <a:solidFill>
                  <a:schemeClr val="tx1"/>
                </a:solidFill>
                <a:latin typeface="Times New Roman" panose="02020603050405020304" pitchFamily="18" charset="0"/>
                <a:cs typeface="Times New Roman" panose="02020603050405020304" pitchFamily="18" charset="0"/>
              </a:rPr>
              <a:t>.</a:t>
            </a:r>
            <a:endParaRPr lang="vi-VN" sz="24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3265170" y="194945"/>
            <a:ext cx="8376920" cy="176593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 typeface="Wingdings" panose="05000000000000000000" pitchFamily="2" charset="2"/>
              <a:buChar char="Ø"/>
            </a:pPr>
            <a:endParaRPr lang="en-US" sz="2800" b="1"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800" b="1"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vi-VN" sz="2800" b="1" dirty="0">
                <a:solidFill>
                  <a:srgbClr val="0070C0"/>
                </a:solidFill>
                <a:latin typeface="Times New Roman" panose="02020603050405020304" pitchFamily="18" charset="0"/>
                <a:cs typeface="Times New Roman" panose="02020603050405020304" pitchFamily="18" charset="0"/>
              </a:rPr>
              <a:t>Điều kiện kinh tế - xã hội</a:t>
            </a:r>
            <a:r>
              <a:rPr lang="en-US" sz="2800" b="1" dirty="0">
                <a:solidFill>
                  <a:srgbClr val="0070C0"/>
                </a:solidFill>
                <a:latin typeface="Times New Roman" panose="02020603050405020304" pitchFamily="18" charset="0"/>
                <a:cs typeface="Times New Roman" panose="02020603050405020304" pitchFamily="18" charset="0"/>
              </a:rPr>
              <a:t>:</a:t>
            </a:r>
            <a:endParaRPr lang="en-US" sz="2800" b="1" dirty="0">
              <a:solidFill>
                <a:srgbClr val="0070C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vi-VN" sz="2000" dirty="0">
                <a:solidFill>
                  <a:schemeClr val="tx1"/>
                </a:solidFill>
                <a:latin typeface="Times New Roman" panose="02020603050405020304" pitchFamily="18" charset="0"/>
                <a:cs typeface="Times New Roman" panose="02020603050405020304" pitchFamily="18" charset="0"/>
              </a:rPr>
              <a:t>Sự củng cố và phát triển của PTSX TBCN trong điều kiện CM công nghiệp.</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vi-VN" sz="2000" dirty="0">
                <a:solidFill>
                  <a:schemeClr val="tx1"/>
                </a:solidFill>
                <a:latin typeface="Times New Roman" panose="02020603050405020304" pitchFamily="18" charset="0"/>
                <a:cs typeface="Times New Roman" panose="02020603050405020304" pitchFamily="18" charset="0"/>
              </a:rPr>
              <a:t>Sự xuất hiện giai cấp VS, với tính cách là một lực lượng chính trị - xã hội độc lập là nhân tố quan trọng cho sự ra đời triết học Mac.</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vi-VN" sz="2000" dirty="0">
                <a:solidFill>
                  <a:schemeClr val="tx1"/>
                </a:solidFill>
                <a:latin typeface="Times New Roman" panose="02020603050405020304" pitchFamily="18" charset="0"/>
                <a:cs typeface="Times New Roman" panose="02020603050405020304" pitchFamily="18" charset="0"/>
              </a:rPr>
              <a:t>Thực tiễn CM của GC VS là cơ sở quan trọng cho sự ra đời triết học Mac.</a:t>
            </a:r>
            <a:endParaRPr lang="vi-VN" sz="20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algn="just"/>
            <a:endParaRPr lang="en-US" sz="2000" dirty="0">
              <a:solidFill>
                <a:schemeClr val="tx1"/>
              </a:solidFill>
              <a:latin typeface="Times New Roman" panose="02020603050405020304" pitchFamily="18" charset="0"/>
              <a:cs typeface="Times New Roman" panose="02020603050405020304" pitchFamily="18" charset="0"/>
            </a:endParaRPr>
          </a:p>
          <a:p>
            <a:pPr algn="just"/>
            <a:endParaRPr lang="vi-VN" sz="28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264535" y="2068195"/>
            <a:ext cx="8397875" cy="1894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endParaRPr lang="vi-VN" sz="2400" b="1"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vi-VN" sz="2400" b="1" dirty="0">
                <a:solidFill>
                  <a:srgbClr val="0070C0"/>
                </a:solidFill>
                <a:latin typeface="Times New Roman" panose="02020603050405020304" pitchFamily="18" charset="0"/>
                <a:cs typeface="Times New Roman" panose="02020603050405020304" pitchFamily="18" charset="0"/>
              </a:rPr>
              <a:t>Nguồn gốc lý luận và tiền đề khoa học tự nhiên</a:t>
            </a:r>
            <a:endParaRPr lang="vi-VN" sz="2400" b="1" dirty="0">
              <a:solidFill>
                <a:srgbClr val="0070C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vi-VN" sz="2000" b="1" dirty="0">
                <a:solidFill>
                  <a:schemeClr val="tx1"/>
                </a:solidFill>
                <a:latin typeface="Times New Roman" panose="02020603050405020304" pitchFamily="18" charset="0"/>
                <a:cs typeface="Times New Roman" panose="02020603050405020304" pitchFamily="18" charset="0"/>
                <a:sym typeface="+mn-ea"/>
              </a:rPr>
              <a:t>Nguồn gốc lý luận: </a:t>
            </a:r>
            <a:r>
              <a:rPr lang="vi-VN" sz="2000" dirty="0">
                <a:solidFill>
                  <a:schemeClr val="tx1"/>
                </a:solidFill>
                <a:latin typeface="Times New Roman" panose="02020603050405020304" pitchFamily="18" charset="0"/>
                <a:cs typeface="Times New Roman" panose="02020603050405020304" pitchFamily="18" charset="0"/>
                <a:sym typeface="+mn-ea"/>
              </a:rPr>
              <a:t>M- A đã kế thừa các thành tựu, cải tạo, lột bỏ cái vỏ thần bí, xây dựng lên lý luận mới của PBC - PBCDV</a:t>
            </a:r>
            <a:endParaRPr lang="vi-VN" sz="2000" dirty="0">
              <a:solidFill>
                <a:schemeClr val="tx1"/>
              </a:solidFill>
              <a:latin typeface="Times New Roman" panose="02020603050405020304" pitchFamily="18" charset="0"/>
              <a:cs typeface="Times New Roman" panose="02020603050405020304" pitchFamily="18" charset="0"/>
              <a:sym typeface="+mn-ea"/>
            </a:endParaRPr>
          </a:p>
          <a:p>
            <a:pPr marL="342900" indent="-342900" algn="just">
              <a:buFont typeface="Arial" panose="020B0604020202020204" pitchFamily="34" charset="0"/>
              <a:buChar char="•"/>
            </a:pPr>
            <a:r>
              <a:rPr lang="vi-VN" sz="2000" b="1" dirty="0">
                <a:solidFill>
                  <a:schemeClr val="tx1"/>
                </a:solidFill>
                <a:latin typeface="Times New Roman" panose="02020603050405020304" pitchFamily="18" charset="0"/>
                <a:cs typeface="Times New Roman" panose="02020603050405020304" pitchFamily="18" charset="0"/>
                <a:sym typeface="+mn-ea"/>
              </a:rPr>
              <a:t>Tiền đề khoa học tự nhiên: </a:t>
            </a:r>
            <a:r>
              <a:rPr lang="vi-VN" sz="2000" dirty="0">
                <a:solidFill>
                  <a:schemeClr val="tx1"/>
                </a:solidFill>
                <a:latin typeface="Times New Roman" panose="02020603050405020304" pitchFamily="18" charset="0"/>
                <a:cs typeface="Times New Roman" panose="02020603050405020304" pitchFamily="18" charset="0"/>
                <a:sym typeface="+mn-ea"/>
              </a:rPr>
              <a:t>tk XIX, KHTN phát triển mạnh, với những phát minh của KHTN đã cung cấp cơ sở tri thức KH phát triển tư duy BC, thoát ra các hạn chế của các nhà Trh trước</a:t>
            </a:r>
            <a:endParaRPr lang="vi-VN" sz="20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solidFill>
                <a:schemeClr val="tx1"/>
              </a:solidFill>
            </a:endParaRPr>
          </a:p>
        </p:txBody>
      </p:sp>
      <p:sp>
        <p:nvSpPr>
          <p:cNvPr id="6" name="Rectangle 5"/>
          <p:cNvSpPr/>
          <p:nvPr/>
        </p:nvSpPr>
        <p:spPr>
          <a:xfrm>
            <a:off x="3265170" y="4064635"/>
            <a:ext cx="8397240" cy="26600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Ø"/>
            </a:pPr>
            <a:r>
              <a:rPr lang="vi-VN" sz="2000" b="1" dirty="0">
                <a:solidFill>
                  <a:srgbClr val="0070C0"/>
                </a:solidFill>
                <a:latin typeface="Times New Roman" panose="02020603050405020304" pitchFamily="18" charset="0"/>
                <a:cs typeface="Times New Roman" panose="02020603050405020304" pitchFamily="18" charset="0"/>
              </a:rPr>
              <a:t>Nhân tố chủ quan trong sự hình thành triết học Mac</a:t>
            </a:r>
            <a:endParaRPr lang="vi-VN" sz="2000" b="1" dirty="0">
              <a:solidFill>
                <a:srgbClr val="0070C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dirty="0">
                <a:solidFill>
                  <a:schemeClr val="tx1"/>
                </a:solidFill>
                <a:latin typeface="Times New Roman" panose="02020603050405020304" pitchFamily="18" charset="0"/>
                <a:cs typeface="Times New Roman" panose="02020603050405020304" pitchFamily="18" charset="0"/>
              </a:rPr>
              <a:t>Mac và Ăngghen là những thiên tài kiệt xuất có sự kết hợp nhuần nhuyễn và sâu sắc những phẩm chất tinh túy và uyên bác của nhà bác học và cách mạng.</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dirty="0">
                <a:solidFill>
                  <a:schemeClr val="tx1"/>
                </a:solidFill>
                <a:latin typeface="Times New Roman" panose="02020603050405020304" pitchFamily="18" charset="0"/>
                <a:cs typeface="Times New Roman" panose="02020603050405020304" pitchFamily="18" charset="0"/>
              </a:rPr>
              <a:t>xuất thân từ tầng lớp quý tộc, nhưng 2 ông sớm hiến dâng cuộc đời m</a:t>
            </a:r>
            <a:r>
              <a:rPr lang="en-US" dirty="0">
                <a:solidFill>
                  <a:schemeClr val="tx1"/>
                </a:solidFill>
                <a:latin typeface="Times New Roman" panose="02020603050405020304" pitchFamily="18" charset="0"/>
                <a:cs typeface="Times New Roman" panose="02020603050405020304" pitchFamily="18" charset="0"/>
              </a:rPr>
              <a:t>ì</a:t>
            </a:r>
            <a:r>
              <a:rPr lang="vi-VN" dirty="0">
                <a:solidFill>
                  <a:schemeClr val="tx1"/>
                </a:solidFill>
                <a:latin typeface="Times New Roman" panose="02020603050405020304" pitchFamily="18" charset="0"/>
                <a:cs typeface="Times New Roman" panose="02020603050405020304" pitchFamily="18" charset="0"/>
              </a:rPr>
              <a:t>nh cho cuộc đấu tranh vì hạnh phúc nhân loại</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dirty="0">
                <a:solidFill>
                  <a:schemeClr val="tx1"/>
                </a:solidFill>
                <a:latin typeface="Times New Roman" panose="02020603050405020304" pitchFamily="18" charset="0"/>
                <a:cs typeface="Times New Roman" panose="02020603050405020304" pitchFamily="18" charset="0"/>
              </a:rPr>
              <a:t>đã thực hiện một bước chuyển lập trường từ dân chủ CM và nhân đạo chủ nghĩa sang lập trường GC công nhân và nhân đạo cộng sản.</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dirty="0">
                <a:solidFill>
                  <a:schemeClr val="tx1"/>
                </a:solidFill>
                <a:latin typeface="Times New Roman" panose="02020603050405020304" pitchFamily="18" charset="0"/>
                <a:cs typeface="Times New Roman" panose="02020603050405020304" pitchFamily="18" charset="0"/>
              </a:rPr>
              <a:t>Ăngghen (1820 – 1895) từ nhỏ đã tỏ ra có năng khiếu đặc biệt và nghị lực nghiên cứu, học tập phi thường.</a:t>
            </a:r>
            <a:endParaRPr lang="vi-VN" dirty="0">
              <a:solidFill>
                <a:schemeClr val="tx1"/>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flipV="1">
            <a:off x="2407920" y="1280160"/>
            <a:ext cx="836357" cy="2255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2397760" y="3175000"/>
            <a:ext cx="846517" cy="401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397760" y="3627120"/>
            <a:ext cx="836357" cy="1442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13510"/>
            <a:ext cx="10515600" cy="731520"/>
          </a:xfrm>
        </p:spPr>
        <p:txBody>
          <a:bodyPr>
            <a:normAutofit fontScale="90000"/>
          </a:bodyPr>
          <a:lstStyle/>
          <a:p>
            <a:pPr algn="just"/>
            <a:r>
              <a:rPr lang="vi-VN" sz="3600" b="1" dirty="0">
                <a:latin typeface="Times New Roman" panose="02020603050405020304" pitchFamily="18" charset="0"/>
                <a:cs typeface="Times New Roman" panose="02020603050405020304" pitchFamily="18" charset="0"/>
              </a:rPr>
              <a:t>b</a:t>
            </a:r>
            <a:r>
              <a:rPr lang="vi-VN" sz="3600" b="1" dirty="0">
                <a:solidFill>
                  <a:srgbClr val="0070C0"/>
                </a:solidFill>
                <a:latin typeface="Times New Roman" panose="02020603050405020304" pitchFamily="18" charset="0"/>
                <a:cs typeface="Times New Roman" panose="02020603050405020304" pitchFamily="18" charset="0"/>
              </a:rPr>
              <a:t>.</a:t>
            </a:r>
            <a:r>
              <a:rPr lang="vi-VN" sz="3600"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Những</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thời</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kỳ</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chủ</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yếu</a:t>
            </a:r>
            <a:r>
              <a:rPr lang="vi-VN" sz="3600" b="1" dirty="0">
                <a:solidFill>
                  <a:srgbClr val="0070C0"/>
                </a:solidFill>
                <a:latin typeface="Times New Roman" panose="02020603050405020304" pitchFamily="18" charset="0"/>
                <a:cs typeface="Times New Roman" panose="02020603050405020304" pitchFamily="18" charset="0"/>
              </a:rPr>
              <a:t> trong </a:t>
            </a:r>
            <a:r>
              <a:rPr lang="vi-VN" sz="3600" b="1" dirty="0" err="1">
                <a:solidFill>
                  <a:srgbClr val="0070C0"/>
                </a:solidFill>
                <a:latin typeface="Times New Roman" panose="02020603050405020304" pitchFamily="18" charset="0"/>
                <a:cs typeface="Times New Roman" panose="02020603050405020304" pitchFamily="18" charset="0"/>
              </a:rPr>
              <a:t>sự</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hình</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th</a:t>
            </a:r>
            <a:r>
              <a:rPr lang="en-US" sz="3600" b="1" dirty="0">
                <a:solidFill>
                  <a:srgbClr val="0070C0"/>
                </a:solidFill>
                <a:latin typeface="Times New Roman" panose="02020603050405020304" pitchFamily="18" charset="0"/>
                <a:cs typeface="Times New Roman" panose="02020603050405020304" pitchFamily="18" charset="0"/>
              </a:rPr>
              <a:t>à</a:t>
            </a:r>
            <a:r>
              <a:rPr lang="vi-VN" sz="3600" b="1" dirty="0" err="1">
                <a:solidFill>
                  <a:srgbClr val="0070C0"/>
                </a:solidFill>
                <a:latin typeface="Times New Roman" panose="02020603050405020304" pitchFamily="18" charset="0"/>
                <a:cs typeface="Times New Roman" panose="02020603050405020304" pitchFamily="18" charset="0"/>
              </a:rPr>
              <a:t>nh</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và</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phát</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triển</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của</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Triết</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học</a:t>
            </a:r>
            <a:r>
              <a:rPr lang="vi-VN" sz="3600" b="1" dirty="0">
                <a:solidFill>
                  <a:srgbClr val="0070C0"/>
                </a:solidFill>
                <a:latin typeface="Times New Roman" panose="02020603050405020304" pitchFamily="18" charset="0"/>
                <a:cs typeface="Times New Roman" panose="02020603050405020304" pitchFamily="18" charset="0"/>
              </a:rPr>
              <a:t> </a:t>
            </a:r>
            <a:r>
              <a:rPr lang="vi-VN" sz="3600" b="1" dirty="0" err="1">
                <a:solidFill>
                  <a:srgbClr val="0070C0"/>
                </a:solidFill>
                <a:latin typeface="Times New Roman" panose="02020603050405020304" pitchFamily="18" charset="0"/>
                <a:cs typeface="Times New Roman" panose="02020603050405020304" pitchFamily="18" charset="0"/>
              </a:rPr>
              <a:t>Mac</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40971"/>
            <a:ext cx="10515600" cy="5131935"/>
          </a:xfrm>
        </p:spPr>
        <p:txBody>
          <a:bodyPr>
            <a:normAutofit fontScale="92500" lnSpcReduction="10000"/>
          </a:bodyPr>
          <a:lstStyle/>
          <a:p>
            <a:pPr algn="just">
              <a:buFont typeface="Wingdings" panose="05000000000000000000" pitchFamily="2" charset="2"/>
              <a:buChar char="v"/>
            </a:pPr>
            <a:r>
              <a:rPr lang="vi-VN" b="1" dirty="0" err="1">
                <a:solidFill>
                  <a:srgbClr val="0070C0"/>
                </a:solidFill>
                <a:latin typeface="Times New Roman" panose="02020603050405020304" pitchFamily="18" charset="0"/>
                <a:cs typeface="Times New Roman" panose="02020603050405020304" pitchFamily="18" charset="0"/>
              </a:rPr>
              <a:t>Thời</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kỳ</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hình</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thành</a:t>
            </a:r>
            <a:r>
              <a:rPr lang="vi-VN" b="1" dirty="0">
                <a:solidFill>
                  <a:srgbClr val="0070C0"/>
                </a:solidFill>
                <a:latin typeface="Times New Roman" panose="02020603050405020304" pitchFamily="18" charset="0"/>
                <a:cs typeface="Times New Roman" panose="02020603050405020304" pitchFamily="18" charset="0"/>
              </a:rPr>
              <a:t> tư </a:t>
            </a:r>
            <a:r>
              <a:rPr lang="vi-VN" b="1" dirty="0" err="1">
                <a:solidFill>
                  <a:srgbClr val="0070C0"/>
                </a:solidFill>
                <a:latin typeface="Times New Roman" panose="02020603050405020304" pitchFamily="18" charset="0"/>
                <a:cs typeface="Times New Roman" panose="02020603050405020304" pitchFamily="18" charset="0"/>
              </a:rPr>
              <a:t>tưởng</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triết</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học</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với</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bước</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quá</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độ</a:t>
            </a:r>
            <a:r>
              <a:rPr lang="vi-VN" b="1" dirty="0">
                <a:solidFill>
                  <a:srgbClr val="0070C0"/>
                </a:solidFill>
                <a:latin typeface="Times New Roman" panose="02020603050405020304" pitchFamily="18" charset="0"/>
                <a:cs typeface="Times New Roman" panose="02020603050405020304" pitchFamily="18" charset="0"/>
              </a:rPr>
              <a:t> </a:t>
            </a:r>
            <a:r>
              <a:rPr lang="vi-VN" b="1" dirty="0" err="1">
                <a:solidFill>
                  <a:srgbClr val="0070C0"/>
                </a:solidFill>
                <a:latin typeface="Times New Roman" panose="02020603050405020304" pitchFamily="18" charset="0"/>
                <a:cs typeface="Times New Roman" panose="02020603050405020304" pitchFamily="18" charset="0"/>
              </a:rPr>
              <a:t>từ</a:t>
            </a:r>
            <a:r>
              <a:rPr lang="vi-VN" b="1" dirty="0">
                <a:solidFill>
                  <a:srgbClr val="0070C0"/>
                </a:solidFill>
                <a:latin typeface="Times New Roman" panose="02020603050405020304" pitchFamily="18" charset="0"/>
                <a:cs typeface="Times New Roman" panose="02020603050405020304" pitchFamily="18" charset="0"/>
              </a:rPr>
              <a:t> CNDT </a:t>
            </a:r>
            <a:r>
              <a:rPr lang="vi-VN" b="1" dirty="0" err="1">
                <a:solidFill>
                  <a:srgbClr val="0070C0"/>
                </a:solidFill>
                <a:latin typeface="Times New Roman" panose="02020603050405020304" pitchFamily="18" charset="0"/>
                <a:cs typeface="Times New Roman" panose="02020603050405020304" pitchFamily="18" charset="0"/>
              </a:rPr>
              <a:t>và</a:t>
            </a:r>
            <a:r>
              <a:rPr lang="vi-VN" b="1" dirty="0">
                <a:solidFill>
                  <a:srgbClr val="0070C0"/>
                </a:solidFill>
                <a:latin typeface="Times New Roman" panose="02020603050405020304" pitchFamily="18" charset="0"/>
                <a:cs typeface="Times New Roman" panose="02020603050405020304" pitchFamily="18" charset="0"/>
              </a:rPr>
              <a:t> </a:t>
            </a:r>
            <a:r>
              <a:rPr lang="vi-VN" sz="2400" b="1" dirty="0">
                <a:solidFill>
                  <a:srgbClr val="0070C0"/>
                </a:solidFill>
                <a:latin typeface="Times New Roman" panose="02020603050405020304" pitchFamily="18" charset="0"/>
                <a:cs typeface="Times New Roman" panose="02020603050405020304" pitchFamily="18" charset="0"/>
              </a:rPr>
              <a:t>dân </a:t>
            </a:r>
            <a:r>
              <a:rPr lang="vi-VN" sz="2400" b="1" dirty="0" err="1">
                <a:solidFill>
                  <a:srgbClr val="0070C0"/>
                </a:solidFill>
                <a:latin typeface="Times New Roman" panose="02020603050405020304" pitchFamily="18" charset="0"/>
                <a:cs typeface="Times New Roman" panose="02020603050405020304" pitchFamily="18" charset="0"/>
              </a:rPr>
              <a:t>chủ</a:t>
            </a:r>
            <a:r>
              <a:rPr lang="vi-VN" sz="2400" b="1" dirty="0">
                <a:solidFill>
                  <a:srgbClr val="0070C0"/>
                </a:solidFill>
                <a:latin typeface="Times New Roman" panose="02020603050405020304" pitchFamily="18" charset="0"/>
                <a:cs typeface="Times New Roman" panose="02020603050405020304" pitchFamily="18" charset="0"/>
              </a:rPr>
              <a:t> CM sang CNDV </a:t>
            </a:r>
            <a:r>
              <a:rPr lang="vi-VN" sz="2400" b="1" dirty="0" err="1">
                <a:solidFill>
                  <a:srgbClr val="0070C0"/>
                </a:solidFill>
                <a:latin typeface="Times New Roman" panose="02020603050405020304" pitchFamily="18" charset="0"/>
                <a:cs typeface="Times New Roman" panose="02020603050405020304" pitchFamily="18" charset="0"/>
              </a:rPr>
              <a:t>và</a:t>
            </a:r>
            <a:r>
              <a:rPr lang="vi-VN" sz="2400" b="1" dirty="0">
                <a:solidFill>
                  <a:srgbClr val="0070C0"/>
                </a:solidFill>
                <a:latin typeface="Times New Roman" panose="02020603050405020304" pitchFamily="18" charset="0"/>
                <a:cs typeface="Times New Roman" panose="02020603050405020304" pitchFamily="18" charset="0"/>
              </a:rPr>
              <a:t> CN CS (1841 – 1844)</a:t>
            </a:r>
            <a:endParaRPr lang="vi-VN" sz="2400" b="1" dirty="0">
              <a:solidFill>
                <a:srgbClr val="0070C0"/>
              </a:solidFill>
              <a:latin typeface="Times New Roman" panose="02020603050405020304" pitchFamily="18" charset="0"/>
              <a:cs typeface="Times New Roman" panose="02020603050405020304" pitchFamily="18" charset="0"/>
            </a:endParaRPr>
          </a:p>
          <a:p>
            <a:pPr algn="just"/>
            <a:r>
              <a:rPr lang="vi-VN" sz="2400" dirty="0" err="1">
                <a:latin typeface="Times New Roman" panose="02020603050405020304" pitchFamily="18" charset="0"/>
                <a:cs typeface="Times New Roman" panose="02020603050405020304" pitchFamily="18" charset="0"/>
              </a:rPr>
              <a:t>Mac</a:t>
            </a:r>
            <a:r>
              <a:rPr lang="vi-VN" sz="2400" dirty="0">
                <a:latin typeface="Times New Roman" panose="02020603050405020304" pitchFamily="18" charset="0"/>
                <a:cs typeface="Times New Roman" panose="02020603050405020304" pitchFamily="18" charset="0"/>
              </a:rPr>
              <a:t> (5/5/1818 – </a:t>
            </a:r>
            <a:r>
              <a:rPr lang="vi-VN" sz="2400" dirty="0" err="1">
                <a:latin typeface="Times New Roman" panose="02020603050405020304" pitchFamily="18" charset="0"/>
                <a:cs typeface="Times New Roman" panose="02020603050405020304" pitchFamily="18" charset="0"/>
              </a:rPr>
              <a:t>Trier</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Phổ</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mất</a:t>
            </a:r>
            <a:r>
              <a:rPr lang="vi-VN" sz="2400" dirty="0">
                <a:latin typeface="Times New Roman" panose="02020603050405020304" pitchFamily="18" charset="0"/>
                <a:cs typeface="Times New Roman" panose="02020603050405020304" pitchFamily="18" charset="0"/>
              </a:rPr>
              <a:t> 14/3/1883). Tinh </a:t>
            </a:r>
            <a:r>
              <a:rPr lang="vi-VN" sz="2400" dirty="0" err="1">
                <a:latin typeface="Times New Roman" panose="02020603050405020304" pitchFamily="18" charset="0"/>
                <a:cs typeface="Times New Roman" panose="02020603050405020304" pitchFamily="18" charset="0"/>
              </a:rPr>
              <a:t>thần</a:t>
            </a:r>
            <a:r>
              <a:rPr lang="vi-VN" sz="2400" dirty="0">
                <a:latin typeface="Times New Roman" panose="02020603050405020304" pitchFamily="18" charset="0"/>
                <a:cs typeface="Times New Roman" panose="02020603050405020304" pitchFamily="18" charset="0"/>
              </a:rPr>
              <a:t> nhân </a:t>
            </a:r>
            <a:r>
              <a:rPr lang="vi-VN" sz="2400" dirty="0" err="1">
                <a:latin typeface="Times New Roman" panose="02020603050405020304" pitchFamily="18" charset="0"/>
                <a:cs typeface="Times New Roman" panose="02020603050405020304" pitchFamily="18" charset="0"/>
              </a:rPr>
              <a:t>đạo</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và</a:t>
            </a:r>
            <a:r>
              <a:rPr lang="vi-VN" sz="2400" dirty="0">
                <a:latin typeface="Times New Roman" panose="02020603050405020304" pitchFamily="18" charset="0"/>
                <a:cs typeface="Times New Roman" panose="02020603050405020304" pitchFamily="18" charset="0"/>
              </a:rPr>
              <a:t> xu </a:t>
            </a:r>
            <a:r>
              <a:rPr lang="vi-VN" sz="2400" dirty="0" err="1">
                <a:latin typeface="Times New Roman" panose="02020603050405020304" pitchFamily="18" charset="0"/>
                <a:cs typeface="Times New Roman" panose="02020603050405020304" pitchFamily="18" charset="0"/>
              </a:rPr>
              <a:t>hướng</a:t>
            </a:r>
            <a:r>
              <a:rPr lang="vi-VN" sz="2400" dirty="0">
                <a:latin typeface="Times New Roman" panose="02020603050405020304" pitchFamily="18" charset="0"/>
                <a:cs typeface="Times New Roman" panose="02020603050405020304" pitchFamily="18" charset="0"/>
              </a:rPr>
              <a:t> yêu </a:t>
            </a:r>
            <a:r>
              <a:rPr lang="vi-VN" sz="2400" dirty="0" err="1">
                <a:latin typeface="Times New Roman" panose="02020603050405020304" pitchFamily="18" charset="0"/>
                <a:cs typeface="Times New Roman" panose="02020603050405020304" pitchFamily="18" charset="0"/>
              </a:rPr>
              <a:t>tự</a:t>
            </a:r>
            <a:r>
              <a:rPr lang="vi-VN" sz="2400" dirty="0">
                <a:latin typeface="Times New Roman" panose="02020603050405020304" pitchFamily="18" charset="0"/>
                <a:cs typeface="Times New Roman" panose="02020603050405020304" pitchFamily="18" charset="0"/>
              </a:rPr>
              <a:t> do </a:t>
            </a:r>
            <a:r>
              <a:rPr lang="vi-VN" sz="2400" dirty="0" err="1">
                <a:latin typeface="Times New Roman" panose="02020603050405020304" pitchFamily="18" charset="0"/>
                <a:cs typeface="Times New Roman" panose="02020603050405020304" pitchFamily="18" charset="0"/>
              </a:rPr>
              <a:t>đã</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hình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à</a:t>
            </a:r>
            <a:r>
              <a:rPr lang="vi-VN" sz="2400" dirty="0" err="1">
                <a:latin typeface="Times New Roman" panose="02020603050405020304" pitchFamily="18" charset="0"/>
                <a:cs typeface="Times New Roman" panose="02020603050405020304" pitchFamily="18" charset="0"/>
              </a:rPr>
              <a:t>nh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phát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triển</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từ</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bé</a:t>
            </a:r>
            <a:r>
              <a:rPr lang="vi-VN"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vi-VN" sz="2400" b="1" dirty="0" err="1">
                <a:solidFill>
                  <a:srgbClr val="0070C0"/>
                </a:solidFill>
                <a:latin typeface="Times New Roman" panose="02020603050405020304" pitchFamily="18" charset="0"/>
                <a:cs typeface="Times New Roman" panose="02020603050405020304" pitchFamily="18" charset="0"/>
              </a:rPr>
              <a:t>Thời</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kỳ</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đề</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xuất</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những</a:t>
            </a:r>
            <a:r>
              <a:rPr lang="vi-VN" sz="2400" b="1" dirty="0">
                <a:solidFill>
                  <a:srgbClr val="0070C0"/>
                </a:solidFill>
                <a:latin typeface="Times New Roman" panose="02020603050405020304" pitchFamily="18" charset="0"/>
                <a:cs typeface="Times New Roman" panose="02020603050405020304" pitchFamily="18" charset="0"/>
              </a:rPr>
              <a:t> nguyên </a:t>
            </a:r>
            <a:r>
              <a:rPr lang="vi-VN" sz="2400" b="1" dirty="0" err="1">
                <a:solidFill>
                  <a:srgbClr val="0070C0"/>
                </a:solidFill>
                <a:latin typeface="Times New Roman" panose="02020603050405020304" pitchFamily="18" charset="0"/>
                <a:cs typeface="Times New Roman" panose="02020603050405020304" pitchFamily="18" charset="0"/>
              </a:rPr>
              <a:t>lý</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Triết</a:t>
            </a:r>
            <a:r>
              <a:rPr lang="vi-VN" sz="2400" b="1" dirty="0">
                <a:solidFill>
                  <a:srgbClr val="0070C0"/>
                </a:solidFill>
                <a:latin typeface="Times New Roman" panose="02020603050405020304" pitchFamily="18" charset="0"/>
                <a:cs typeface="Times New Roman" panose="02020603050405020304" pitchFamily="18" charset="0"/>
              </a:rPr>
              <a:t> </a:t>
            </a:r>
            <a:r>
              <a:rPr lang="vi-VN" sz="2400" b="1" dirty="0" err="1">
                <a:solidFill>
                  <a:srgbClr val="0070C0"/>
                </a:solidFill>
                <a:latin typeface="Times New Roman" panose="02020603050405020304" pitchFamily="18" charset="0"/>
                <a:cs typeface="Times New Roman" panose="02020603050405020304" pitchFamily="18" charset="0"/>
              </a:rPr>
              <a:t>học</a:t>
            </a:r>
            <a:r>
              <a:rPr lang="vi-VN" sz="2400" b="1" dirty="0">
                <a:solidFill>
                  <a:srgbClr val="0070C0"/>
                </a:solidFill>
                <a:latin typeface="Times New Roman" panose="02020603050405020304" pitchFamily="18" charset="0"/>
                <a:cs typeface="Times New Roman" panose="02020603050405020304" pitchFamily="18" charset="0"/>
              </a:rPr>
              <a:t> DVBC </a:t>
            </a:r>
            <a:r>
              <a:rPr lang="vi-VN" sz="2400" b="1" dirty="0" err="1">
                <a:solidFill>
                  <a:srgbClr val="0070C0"/>
                </a:solidFill>
                <a:latin typeface="Times New Roman" panose="02020603050405020304" pitchFamily="18" charset="0"/>
                <a:cs typeface="Times New Roman" panose="02020603050405020304" pitchFamily="18" charset="0"/>
              </a:rPr>
              <a:t>và</a:t>
            </a:r>
            <a:r>
              <a:rPr lang="vi-VN" sz="2400" b="1" dirty="0">
                <a:solidFill>
                  <a:srgbClr val="0070C0"/>
                </a:solidFill>
                <a:latin typeface="Times New Roman" panose="02020603050405020304" pitchFamily="18" charset="0"/>
                <a:cs typeface="Times New Roman" panose="02020603050405020304" pitchFamily="18" charset="0"/>
              </a:rPr>
              <a:t> DVLS</a:t>
            </a:r>
            <a:r>
              <a:rPr lang="vi-VN" sz="2400" b="1" dirty="0">
                <a:latin typeface="Times New Roman" panose="02020603050405020304" pitchFamily="18" charset="0"/>
                <a:cs typeface="Times New Roman" panose="02020603050405020304" pitchFamily="18" charset="0"/>
              </a:rPr>
              <a:t>.</a:t>
            </a:r>
            <a:endParaRPr lang="vi-VN" sz="2400" b="1" dirty="0">
              <a:latin typeface="Times New Roman" panose="02020603050405020304" pitchFamily="18" charset="0"/>
              <a:cs typeface="Times New Roman" panose="02020603050405020304" pitchFamily="18" charset="0"/>
            </a:endParaRPr>
          </a:p>
          <a:p>
            <a:pPr algn="just"/>
            <a:r>
              <a:rPr lang="vi-VN" sz="2400" dirty="0">
                <a:latin typeface="Times New Roman" panose="02020603050405020304" pitchFamily="18" charset="0"/>
                <a:cs typeface="Times New Roman" panose="02020603050405020304" pitchFamily="18" charset="0"/>
              </a:rPr>
              <a:t>C. </a:t>
            </a:r>
            <a:r>
              <a:rPr lang="vi-VN" sz="2400" dirty="0" err="1">
                <a:latin typeface="Times New Roman" panose="02020603050405020304" pitchFamily="18" charset="0"/>
                <a:cs typeface="Times New Roman" panose="02020603050405020304" pitchFamily="18" charset="0"/>
              </a:rPr>
              <a:t>Mac</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viết</a:t>
            </a:r>
            <a:r>
              <a:rPr lang="vi-VN" sz="2400"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Bản</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thảo</a:t>
            </a:r>
            <a:r>
              <a:rPr lang="vi-VN" sz="2400" i="1" dirty="0">
                <a:latin typeface="Times New Roman" panose="02020603050405020304" pitchFamily="18" charset="0"/>
                <a:cs typeface="Times New Roman" panose="02020603050405020304" pitchFamily="18" charset="0"/>
              </a:rPr>
              <a:t> kinh </a:t>
            </a:r>
            <a:r>
              <a:rPr lang="vi-VN" sz="2400" i="1" dirty="0" err="1">
                <a:latin typeface="Times New Roman" panose="02020603050405020304" pitchFamily="18" charset="0"/>
                <a:cs typeface="Times New Roman" panose="02020603050405020304" pitchFamily="18" charset="0"/>
              </a:rPr>
              <a:t>tế</a:t>
            </a:r>
            <a:r>
              <a:rPr lang="vi-VN" sz="2400" i="1" dirty="0">
                <a:latin typeface="Times New Roman" panose="02020603050405020304" pitchFamily="18" charset="0"/>
                <a:cs typeface="Times New Roman" panose="02020603050405020304" pitchFamily="18" charset="0"/>
              </a:rPr>
              <a:t> - </a:t>
            </a:r>
            <a:r>
              <a:rPr lang="vi-VN" sz="2400" i="1" dirty="0" err="1">
                <a:latin typeface="Times New Roman" panose="02020603050405020304" pitchFamily="18" charset="0"/>
                <a:cs typeface="Times New Roman" panose="02020603050405020304" pitchFamily="18" charset="0"/>
              </a:rPr>
              <a:t>triết</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học</a:t>
            </a:r>
            <a:r>
              <a:rPr lang="vi-VN" sz="2400" i="1" dirty="0">
                <a:latin typeface="Times New Roman" panose="02020603050405020304" pitchFamily="18" charset="0"/>
                <a:cs typeface="Times New Roman" panose="02020603050405020304" pitchFamily="18" charset="0"/>
              </a:rPr>
              <a:t> 1844: </a:t>
            </a:r>
            <a:r>
              <a:rPr lang="vi-VN" sz="2400" dirty="0">
                <a:latin typeface="Times New Roman" panose="02020603050405020304" pitchFamily="18" charset="0"/>
                <a:cs typeface="Times New Roman" panose="02020603050405020304" pitchFamily="18" charset="0"/>
              </a:rPr>
              <a:t>phê </a:t>
            </a:r>
            <a:r>
              <a:rPr lang="vi-VN" sz="2400" dirty="0" err="1">
                <a:latin typeface="Times New Roman" panose="02020603050405020304" pitchFamily="18" charset="0"/>
                <a:cs typeface="Times New Roman" panose="02020603050405020304" pitchFamily="18" charset="0"/>
              </a:rPr>
              <a:t>phán</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triết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học</a:t>
            </a:r>
            <a:r>
              <a:rPr lang="vi-VN" sz="2400" dirty="0">
                <a:latin typeface="Times New Roman" panose="02020603050405020304" pitchFamily="18" charset="0"/>
                <a:cs typeface="Times New Roman" panose="02020603050405020304" pitchFamily="18" charset="0"/>
              </a:rPr>
              <a:t> duy tâm </a:t>
            </a:r>
            <a:r>
              <a:rPr lang="vi-VN" sz="2400" dirty="0" err="1">
                <a:latin typeface="Times New Roman" panose="02020603050405020304" pitchFamily="18" charset="0"/>
                <a:cs typeface="Times New Roman" panose="02020603050405020304" pitchFamily="18" charset="0"/>
              </a:rPr>
              <a:t>Hêghen</a:t>
            </a:r>
            <a:r>
              <a:rPr lang="vi-VN" sz="2400" dirty="0">
                <a:latin typeface="Times New Roman" panose="02020603050405020304" pitchFamily="18" charset="0"/>
                <a:cs typeface="Times New Roman" panose="02020603050405020304" pitchFamily="18" charset="0"/>
              </a:rPr>
              <a:t>, phê </a:t>
            </a:r>
            <a:r>
              <a:rPr lang="vi-VN" sz="2400" dirty="0" err="1">
                <a:latin typeface="Times New Roman" panose="02020603050405020304" pitchFamily="18" charset="0"/>
                <a:cs typeface="Times New Roman" panose="02020603050405020304" pitchFamily="18" charset="0"/>
              </a:rPr>
              <a:t>ph</a:t>
            </a:r>
            <a:r>
              <a:rPr lang="en-US" sz="2400" dirty="0">
                <a:latin typeface="Times New Roman" panose="02020603050405020304" pitchFamily="18" charset="0"/>
                <a:cs typeface="Times New Roman" panose="02020603050405020304" pitchFamily="18" charset="0"/>
              </a:rPr>
              <a:t>á</a:t>
            </a:r>
            <a:r>
              <a:rPr lang="vi-VN" sz="2400" dirty="0">
                <a:latin typeface="Times New Roman" panose="02020603050405020304" pitchFamily="18" charset="0"/>
                <a:cs typeface="Times New Roman" panose="02020603050405020304" pitchFamily="18" charset="0"/>
              </a:rPr>
              <a:t>n kinh </a:t>
            </a:r>
            <a:r>
              <a:rPr lang="vi-VN" sz="2400" dirty="0" err="1">
                <a:latin typeface="Times New Roman" panose="02020603050405020304" pitchFamily="18" charset="0"/>
                <a:cs typeface="Times New Roman" panose="02020603050405020304" pitchFamily="18" charset="0"/>
              </a:rPr>
              <a:t>tế</a:t>
            </a:r>
            <a:r>
              <a:rPr lang="vi-VN" sz="2400" dirty="0">
                <a:latin typeface="Times New Roman" panose="02020603050405020304" pitchFamily="18" charset="0"/>
                <a:cs typeface="Times New Roman" panose="02020603050405020304" pitchFamily="18" charset="0"/>
              </a:rPr>
              <a:t> ch</a:t>
            </a:r>
            <a:r>
              <a:rPr lang="en-US" sz="2400" dirty="0">
                <a:latin typeface="Times New Roman" panose="02020603050405020304" pitchFamily="18" charset="0"/>
                <a:cs typeface="Times New Roman" panose="02020603050405020304" pitchFamily="18" charset="0"/>
              </a:rPr>
              <a:t>í</a:t>
            </a:r>
            <a:r>
              <a:rPr lang="vi-VN" sz="2400" dirty="0" err="1">
                <a:latin typeface="Times New Roman" panose="02020603050405020304" pitchFamily="18" charset="0"/>
                <a:cs typeface="Times New Roman" panose="02020603050405020304" pitchFamily="18" charset="0"/>
              </a:rPr>
              <a:t>nh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trị</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học</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cổ</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điển</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của</a:t>
            </a:r>
            <a:r>
              <a:rPr lang="vi-VN" sz="2400" dirty="0">
                <a:latin typeface="Times New Roman" panose="02020603050405020304" pitchFamily="18" charset="0"/>
                <a:cs typeface="Times New Roman" panose="02020603050405020304" pitchFamily="18" charset="0"/>
              </a:rPr>
              <a:t> Anh. </a:t>
            </a:r>
            <a:r>
              <a:rPr lang="vi-VN" sz="2400" dirty="0" err="1">
                <a:latin typeface="Times New Roman" panose="02020603050405020304" pitchFamily="18" charset="0"/>
                <a:cs typeface="Times New Roman" panose="02020603050405020304" pitchFamily="18" charset="0"/>
              </a:rPr>
              <a:t>Đồng</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thời</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chỉ</a:t>
            </a:r>
            <a:r>
              <a:rPr lang="vi-VN" sz="2400" dirty="0">
                <a:latin typeface="Times New Roman" panose="02020603050405020304" pitchFamily="18" charset="0"/>
                <a:cs typeface="Times New Roman" panose="02020603050405020304" pitchFamily="18" charset="0"/>
              </a:rPr>
              <a:t> ra </a:t>
            </a:r>
            <a:r>
              <a:rPr lang="vi-VN" sz="2400" i="1" dirty="0" err="1">
                <a:latin typeface="Times New Roman" panose="02020603050405020304" pitchFamily="18" charset="0"/>
                <a:cs typeface="Times New Roman" panose="02020603050405020304" pitchFamily="18" charset="0"/>
              </a:rPr>
              <a:t>mặt</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tích</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cực</a:t>
            </a:r>
            <a:r>
              <a:rPr lang="vi-VN" sz="2400" i="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trong PBC </a:t>
            </a:r>
            <a:r>
              <a:rPr lang="vi-VN" sz="2400" dirty="0" err="1">
                <a:latin typeface="Times New Roman" panose="02020603050405020304" pitchFamily="18" charset="0"/>
                <a:cs typeface="Times New Roman" panose="02020603050405020304" pitchFamily="18" charset="0"/>
              </a:rPr>
              <a:t>của</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Hêghen</a:t>
            </a:r>
            <a:r>
              <a:rPr lang="vi-VN"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r>
              <a:rPr lang="vi-VN" sz="2400" dirty="0" err="1">
                <a:latin typeface="Times New Roman" panose="02020603050405020304" pitchFamily="18" charset="0"/>
                <a:cs typeface="Times New Roman" panose="02020603050405020304" pitchFamily="18" charset="0"/>
              </a:rPr>
              <a:t>Tác</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phẩm</a:t>
            </a:r>
            <a:r>
              <a:rPr lang="vi-VN" sz="2400" dirty="0">
                <a:latin typeface="Times New Roman" panose="02020603050405020304" pitchFamily="18" charset="0"/>
                <a:cs typeface="Times New Roman" panose="02020603050405020304" pitchFamily="18" charset="0"/>
              </a:rPr>
              <a:t> </a:t>
            </a:r>
            <a:r>
              <a:rPr lang="vi-VN" sz="2400" i="1" dirty="0">
                <a:latin typeface="Times New Roman" panose="02020603050405020304" pitchFamily="18" charset="0"/>
                <a:cs typeface="Times New Roman" panose="02020603050405020304" pitchFamily="18" charset="0"/>
              </a:rPr>
              <a:t>Gia </a:t>
            </a:r>
            <a:r>
              <a:rPr lang="vi-VN" sz="2400" i="1" dirty="0" err="1">
                <a:latin typeface="Times New Roman" panose="02020603050405020304" pitchFamily="18" charset="0"/>
                <a:cs typeface="Times New Roman" panose="02020603050405020304" pitchFamily="18" charset="0"/>
              </a:rPr>
              <a:t>đình</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thần</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thánh</a:t>
            </a:r>
            <a:r>
              <a:rPr lang="vi-VN" sz="2400" i="1"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của</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Mac</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và</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Ăngghen</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xb</a:t>
            </a:r>
            <a:r>
              <a:rPr lang="vi-VN" sz="2400" dirty="0">
                <a:latin typeface="Times New Roman" panose="02020603050405020304" pitchFamily="18" charset="0"/>
                <a:cs typeface="Times New Roman" panose="02020603050405020304" pitchFamily="18" charset="0"/>
              </a:rPr>
              <a:t> 2/1845.</a:t>
            </a:r>
            <a:endParaRPr lang="vi-VN" sz="2400" dirty="0">
              <a:latin typeface="Times New Roman" panose="02020603050405020304" pitchFamily="18" charset="0"/>
              <a:cs typeface="Times New Roman" panose="02020603050405020304" pitchFamily="18" charset="0"/>
            </a:endParaRPr>
          </a:p>
          <a:p>
            <a:pPr algn="just"/>
            <a:r>
              <a:rPr lang="vi-VN" sz="2400" i="1" dirty="0" err="1">
                <a:latin typeface="Times New Roman" panose="02020603050405020304" pitchFamily="18" charset="0"/>
                <a:cs typeface="Times New Roman" panose="02020603050405020304" pitchFamily="18" charset="0"/>
              </a:rPr>
              <a:t>Luận</a:t>
            </a:r>
            <a:r>
              <a:rPr lang="vi-VN" sz="2400" i="1" dirty="0">
                <a:latin typeface="Times New Roman" panose="02020603050405020304" pitchFamily="18" charset="0"/>
                <a:cs typeface="Times New Roman" panose="02020603050405020304" pitchFamily="18" charset="0"/>
              </a:rPr>
              <a:t> cương </a:t>
            </a:r>
            <a:r>
              <a:rPr lang="vi-VN" sz="2400" i="1" dirty="0" err="1">
                <a:latin typeface="Times New Roman" panose="02020603050405020304" pitchFamily="18" charset="0"/>
                <a:cs typeface="Times New Roman" panose="02020603050405020304" pitchFamily="18" charset="0"/>
              </a:rPr>
              <a:t>về</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Phoiơbắc</a:t>
            </a:r>
            <a:r>
              <a:rPr lang="vi-VN" sz="2400" i="1" dirty="0">
                <a:latin typeface="Times New Roman" panose="02020603050405020304" pitchFamily="18" charset="0"/>
                <a:cs typeface="Times New Roman" panose="02020603050405020304" pitchFamily="18" charset="0"/>
              </a:rPr>
              <a:t> ra </a:t>
            </a:r>
            <a:r>
              <a:rPr lang="vi-VN" sz="2400" i="1" dirty="0" err="1">
                <a:latin typeface="Times New Roman" panose="02020603050405020304" pitchFamily="18" charset="0"/>
                <a:cs typeface="Times New Roman" panose="02020603050405020304" pitchFamily="18" charset="0"/>
              </a:rPr>
              <a:t>đời</a:t>
            </a:r>
            <a:r>
              <a:rPr lang="vi-VN" sz="2400" dirty="0">
                <a:latin typeface="Times New Roman" panose="02020603050405020304" pitchFamily="18" charset="0"/>
                <a:cs typeface="Times New Roman" panose="02020603050405020304" pitchFamily="18" charset="0"/>
              </a:rPr>
              <a:t>, 1845, đây </a:t>
            </a:r>
            <a:r>
              <a:rPr lang="vi-VN" sz="2400" dirty="0" err="1">
                <a:latin typeface="Times New Roman" panose="02020603050405020304" pitchFamily="18" charset="0"/>
                <a:cs typeface="Times New Roman" panose="02020603050405020304" pitchFamily="18" charset="0"/>
              </a:rPr>
              <a:t>là</a:t>
            </a:r>
            <a:r>
              <a:rPr lang="vi-VN" sz="2400" dirty="0">
                <a:latin typeface="Times New Roman" panose="02020603050405020304" pitchFamily="18" charset="0"/>
                <a:cs typeface="Times New Roman" panose="02020603050405020304" pitchFamily="18" charset="0"/>
              </a:rPr>
              <a:t> văn </a:t>
            </a:r>
            <a:r>
              <a:rPr lang="vi-VN" sz="2400" dirty="0" err="1">
                <a:latin typeface="Times New Roman" panose="02020603050405020304" pitchFamily="18" charset="0"/>
                <a:cs typeface="Times New Roman" panose="02020603050405020304" pitchFamily="18" charset="0"/>
              </a:rPr>
              <a:t>kiện</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đầu</a:t>
            </a:r>
            <a:r>
              <a:rPr lang="vi-VN" sz="2400" dirty="0">
                <a:latin typeface="Times New Roman" panose="02020603050405020304" pitchFamily="18" charset="0"/>
                <a:cs typeface="Times New Roman" panose="02020603050405020304" pitchFamily="18" charset="0"/>
              </a:rPr>
              <a:t> tiên </a:t>
            </a:r>
            <a:r>
              <a:rPr lang="vi-VN" sz="2400" dirty="0" err="1">
                <a:latin typeface="Times New Roman" panose="02020603050405020304" pitchFamily="18" charset="0"/>
                <a:cs typeface="Times New Roman" panose="02020603050405020304" pitchFamily="18" charset="0"/>
              </a:rPr>
              <a:t>chứa</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đựng</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mầm</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mống</a:t>
            </a:r>
            <a:r>
              <a:rPr lang="vi-VN" sz="2400" dirty="0">
                <a:latin typeface="Times New Roman" panose="02020603050405020304" pitchFamily="18" charset="0"/>
                <a:cs typeface="Times New Roman" panose="02020603050405020304" pitchFamily="18" charset="0"/>
              </a:rPr>
              <a:t> thiên </a:t>
            </a:r>
            <a:r>
              <a:rPr lang="vi-VN" sz="2400" dirty="0" err="1">
                <a:latin typeface="Times New Roman" panose="02020603050405020304" pitchFamily="18" charset="0"/>
                <a:cs typeface="Times New Roman" panose="02020603050405020304" pitchFamily="18" charset="0"/>
              </a:rPr>
              <a:t>tài</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của</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một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thế</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giới</a:t>
            </a:r>
            <a:r>
              <a:rPr lang="vi-VN" sz="2400" dirty="0">
                <a:latin typeface="Times New Roman" panose="02020603050405020304" pitchFamily="18" charset="0"/>
                <a:cs typeface="Times New Roman" panose="02020603050405020304" pitchFamily="18" charset="0"/>
              </a:rPr>
              <a:t> quan </a:t>
            </a:r>
            <a:r>
              <a:rPr lang="vi-VN" sz="2400" dirty="0" err="1">
                <a:latin typeface="Times New Roman" panose="02020603050405020304" pitchFamily="18" charset="0"/>
                <a:cs typeface="Times New Roman" panose="02020603050405020304" pitchFamily="18" charset="0"/>
              </a:rPr>
              <a:t>mới</a:t>
            </a:r>
            <a:r>
              <a:rPr lang="vi-VN"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r>
              <a:rPr lang="vi-VN" sz="2400" dirty="0" err="1">
                <a:latin typeface="Times New Roman" panose="02020603050405020304" pitchFamily="18" charset="0"/>
                <a:cs typeface="Times New Roman" panose="02020603050405020304" pitchFamily="18" charset="0"/>
              </a:rPr>
              <a:t>Hệ</a:t>
            </a:r>
            <a:r>
              <a:rPr lang="vi-VN" sz="2400" dirty="0">
                <a:latin typeface="Times New Roman" panose="02020603050405020304" pitchFamily="18" charset="0"/>
                <a:cs typeface="Times New Roman" panose="02020603050405020304" pitchFamily="18" charset="0"/>
              </a:rPr>
              <a:t> tư </a:t>
            </a:r>
            <a:r>
              <a:rPr lang="vi-VN" sz="2400" dirty="0" err="1">
                <a:latin typeface="Times New Roman" panose="02020603050405020304" pitchFamily="18" charset="0"/>
                <a:cs typeface="Times New Roman" panose="02020603050405020304" pitchFamily="18" charset="0"/>
              </a:rPr>
              <a:t>tưởng</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Đức</a:t>
            </a:r>
            <a:r>
              <a:rPr lang="vi-VN" sz="2400" dirty="0">
                <a:latin typeface="Times New Roman" panose="02020603050405020304" pitchFamily="18" charset="0"/>
                <a:cs typeface="Times New Roman" panose="02020603050405020304" pitchFamily="18" charset="0"/>
              </a:rPr>
              <a:t> (1845 – 1846) ra </a:t>
            </a:r>
            <a:r>
              <a:rPr lang="vi-VN" sz="2400" dirty="0" err="1">
                <a:latin typeface="Times New Roman" panose="02020603050405020304" pitchFamily="18" charset="0"/>
                <a:cs typeface="Times New Roman" panose="02020603050405020304" pitchFamily="18" charset="0"/>
              </a:rPr>
              <a:t>đời</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tr</a:t>
            </a:r>
            <a:r>
              <a:rPr lang="en-US" sz="2400" dirty="0">
                <a:latin typeface="Times New Roman" panose="02020603050405020304" pitchFamily="18" charset="0"/>
                <a:cs typeface="Times New Roman" panose="02020603050405020304" pitchFamily="18" charset="0"/>
              </a:rPr>
              <a:t>ì</a:t>
            </a:r>
            <a:r>
              <a:rPr lang="vi-VN" sz="2400" dirty="0" err="1">
                <a:latin typeface="Times New Roman" panose="02020603050405020304" pitchFamily="18" charset="0"/>
                <a:cs typeface="Times New Roman" panose="02020603050405020304" pitchFamily="18" charset="0"/>
              </a:rPr>
              <a:t>nh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bày</a:t>
            </a:r>
            <a:r>
              <a:rPr lang="vi-VN" sz="2400" dirty="0">
                <a:latin typeface="Times New Roman" panose="02020603050405020304" pitchFamily="18" charset="0"/>
                <a:cs typeface="Times New Roman" panose="02020603050405020304" pitchFamily="18" charset="0"/>
              </a:rPr>
              <a:t> quan </a:t>
            </a:r>
            <a:r>
              <a:rPr lang="vi-VN" sz="2400" dirty="0" err="1">
                <a:latin typeface="Times New Roman" panose="02020603050405020304" pitchFamily="18" charset="0"/>
                <a:cs typeface="Times New Roman" panose="02020603050405020304" pitchFamily="18" charset="0"/>
              </a:rPr>
              <a:t>điểm</a:t>
            </a:r>
            <a:r>
              <a:rPr lang="vi-VN" sz="2400" dirty="0">
                <a:latin typeface="Times New Roman" panose="02020603050405020304" pitchFamily="18" charset="0"/>
                <a:cs typeface="Times New Roman" panose="02020603050405020304" pitchFamily="18" charset="0"/>
              </a:rPr>
              <a:t> DVLS </a:t>
            </a:r>
            <a:r>
              <a:rPr lang="vi-VN" sz="2400" dirty="0" err="1">
                <a:latin typeface="Times New Roman" panose="02020603050405020304" pitchFamily="18" charset="0"/>
                <a:cs typeface="Times New Roman" panose="02020603050405020304" pitchFamily="18" charset="0"/>
              </a:rPr>
              <a:t>một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cách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hệ</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thống</a:t>
            </a:r>
            <a:r>
              <a:rPr lang="vi-VN" sz="2400" dirty="0">
                <a:latin typeface="Times New Roman" panose="02020603050405020304" pitchFamily="18" charset="0"/>
                <a:cs typeface="Times New Roman" panose="02020603050405020304" pitchFamily="18" charset="0"/>
              </a:rPr>
              <a:t>- xem </a:t>
            </a:r>
            <a:r>
              <a:rPr lang="vi-VN" sz="2400" dirty="0" err="1">
                <a:latin typeface="Times New Roman" panose="02020603050405020304" pitchFamily="18" charset="0"/>
                <a:cs typeface="Times New Roman" panose="02020603050405020304" pitchFamily="18" charset="0"/>
              </a:rPr>
              <a:t>xét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lịch</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sử</a:t>
            </a:r>
            <a:r>
              <a:rPr lang="vi-VN" sz="2400" dirty="0">
                <a:latin typeface="Times New Roman" panose="02020603050405020304" pitchFamily="18" charset="0"/>
                <a:cs typeface="Times New Roman" panose="02020603050405020304" pitchFamily="18" charset="0"/>
              </a:rPr>
              <a:t> XH </a:t>
            </a:r>
            <a:r>
              <a:rPr lang="vi-VN" sz="2400" dirty="0" err="1">
                <a:latin typeface="Times New Roman" panose="02020603050405020304" pitchFamily="18" charset="0"/>
                <a:cs typeface="Times New Roman" panose="02020603050405020304" pitchFamily="18" charset="0"/>
              </a:rPr>
              <a:t>xuất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phát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từ</a:t>
            </a:r>
            <a:r>
              <a:rPr lang="vi-VN" sz="2400" dirty="0">
                <a:latin typeface="Times New Roman" panose="02020603050405020304" pitchFamily="18" charset="0"/>
                <a:cs typeface="Times New Roman" panose="02020603050405020304" pitchFamily="18" charset="0"/>
              </a:rPr>
              <a:t> </a:t>
            </a:r>
            <a:r>
              <a:rPr lang="vi-VN" sz="2400" i="1" dirty="0">
                <a:latin typeface="Times New Roman" panose="02020603050405020304" pitchFamily="18" charset="0"/>
                <a:cs typeface="Times New Roman" panose="02020603050405020304" pitchFamily="18" charset="0"/>
              </a:rPr>
              <a:t>con </a:t>
            </a:r>
            <a:r>
              <a:rPr lang="vi-VN" sz="2400" i="1" dirty="0" err="1">
                <a:latin typeface="Times New Roman" panose="02020603050405020304" pitchFamily="18" charset="0"/>
                <a:cs typeface="Times New Roman" panose="02020603050405020304" pitchFamily="18" charset="0"/>
              </a:rPr>
              <a:t>người</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hiện</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thực</a:t>
            </a:r>
            <a:r>
              <a:rPr lang="vi-VN" sz="2400" i="1" dirty="0">
                <a:latin typeface="Times New Roman" panose="02020603050405020304" pitchFamily="18" charset="0"/>
                <a:cs typeface="Times New Roman" panose="02020603050405020304" pitchFamily="18" charset="0"/>
              </a:rPr>
              <a:t>.</a:t>
            </a:r>
            <a:endParaRPr lang="vi-VN" sz="2400" i="1" dirty="0">
              <a:latin typeface="Times New Roman" panose="02020603050405020304" pitchFamily="18" charset="0"/>
              <a:cs typeface="Times New Roman" panose="02020603050405020304" pitchFamily="18" charset="0"/>
            </a:endParaRPr>
          </a:p>
          <a:p>
            <a:pPr algn="just"/>
            <a:r>
              <a:rPr lang="vi-VN" sz="2400" i="1" dirty="0" err="1">
                <a:latin typeface="Times New Roman" panose="02020603050405020304" pitchFamily="18" charset="0"/>
                <a:cs typeface="Times New Roman" panose="02020603050405020304" pitchFamily="18" charset="0"/>
              </a:rPr>
              <a:t>Sự</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khốn</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cùng</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của</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triết</a:t>
            </a:r>
            <a:r>
              <a:rPr lang="vi-VN" sz="2400" i="1" dirty="0">
                <a:latin typeface="Times New Roman" panose="02020603050405020304" pitchFamily="18" charset="0"/>
                <a:cs typeface="Times New Roman" panose="02020603050405020304" pitchFamily="18" charset="0"/>
              </a:rPr>
              <a:t> </a:t>
            </a:r>
            <a:r>
              <a:rPr lang="vi-VN" sz="2400" i="1" dirty="0" err="1">
                <a:latin typeface="Times New Roman" panose="02020603050405020304" pitchFamily="18" charset="0"/>
                <a:cs typeface="Times New Roman" panose="02020603050405020304" pitchFamily="18" charset="0"/>
              </a:rPr>
              <a:t>học</a:t>
            </a:r>
            <a:r>
              <a:rPr lang="vi-VN" sz="2400" i="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(1847), </a:t>
            </a:r>
            <a:r>
              <a:rPr lang="vi-VN" sz="2400" dirty="0" err="1">
                <a:latin typeface="Times New Roman" panose="02020603050405020304" pitchFamily="18" charset="0"/>
                <a:cs typeface="Times New Roman" panose="02020603050405020304" pitchFamily="18" charset="0"/>
              </a:rPr>
              <a:t>đề</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xuất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các</a:t>
            </a:r>
            <a:r>
              <a:rPr lang="vi-VN" sz="2400" dirty="0">
                <a:latin typeface="Times New Roman" panose="02020603050405020304" pitchFamily="18" charset="0"/>
                <a:cs typeface="Times New Roman" panose="02020603050405020304" pitchFamily="18" charset="0"/>
              </a:rPr>
              <a:t> nguyên </a:t>
            </a:r>
            <a:r>
              <a:rPr lang="vi-VN" sz="2400" dirty="0" err="1">
                <a:latin typeface="Times New Roman" panose="02020603050405020304" pitchFamily="18" charset="0"/>
                <a:cs typeface="Times New Roman" panose="02020603050405020304" pitchFamily="18" charset="0"/>
              </a:rPr>
              <a:t>lý</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triết</a:t>
            </a:r>
            <a:r>
              <a:rPr lang="vi-VN" sz="2400" dirty="0">
                <a:latin typeface="Times New Roman" panose="02020603050405020304" pitchFamily="18" charset="0"/>
                <a:cs typeface="Times New Roman" panose="02020603050405020304" pitchFamily="18" charset="0"/>
              </a:rPr>
              <a:t> </a:t>
            </a:r>
            <a:r>
              <a:rPr lang="vi-VN" sz="2400" dirty="0" err="1">
                <a:latin typeface="Times New Roman" panose="02020603050405020304" pitchFamily="18" charset="0"/>
                <a:cs typeface="Times New Roman" panose="02020603050405020304" pitchFamily="18" charset="0"/>
              </a:rPr>
              <a:t>học</a:t>
            </a:r>
            <a:r>
              <a:rPr lang="vi-VN" sz="2400" dirty="0">
                <a:latin typeface="Times New Roman" panose="02020603050405020304" pitchFamily="18" charset="0"/>
                <a:cs typeface="Times New Roman" panose="02020603050405020304" pitchFamily="18" charset="0"/>
              </a:rPr>
              <a:t>, CNCS KH</a:t>
            </a:r>
            <a:endParaRPr lang="vi-VN" sz="2400" i="1" dirty="0">
              <a:latin typeface="Times New Roman" panose="02020603050405020304" pitchFamily="18" charset="0"/>
              <a:cs typeface="Times New Roman" panose="02020603050405020304" pitchFamily="18" charset="0"/>
            </a:endParaRPr>
          </a:p>
          <a:p>
            <a:pPr algn="just"/>
            <a:endParaRPr lang="vi-VN" sz="2400" dirty="0">
              <a:latin typeface="Times New Roman" panose="02020603050405020304" pitchFamily="18" charset="0"/>
              <a:cs typeface="Times New Roman" panose="02020603050405020304" pitchFamily="18" charset="0"/>
            </a:endParaRPr>
          </a:p>
          <a:p>
            <a:pPr algn="just"/>
            <a:endParaRPr lang="vi-VN"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91984"/>
          </a:xfrm>
        </p:spPr>
        <p:txBody>
          <a:bodyPr>
            <a:normAutofit/>
          </a:bodyPr>
          <a:lstStyle/>
          <a:p>
            <a:r>
              <a:rPr lang="vi-VN" sz="3200" dirty="0">
                <a:latin typeface="Times New Roman" panose="02020603050405020304" pitchFamily="18" charset="0"/>
                <a:cs typeface="Times New Roman" panose="02020603050405020304" pitchFamily="18" charset="0"/>
              </a:rPr>
              <a:t>Sau khi Mac qua đời (</a:t>
            </a:r>
            <a:r>
              <a:rPr lang="vi-VN" sz="3200" dirty="0">
                <a:cs typeface="Times New Roman" panose="02020603050405020304" pitchFamily="18" charset="0"/>
              </a:rPr>
              <a:t>14/3/1883) Ăngghen viết tiếp 2 tác phẩm:</a:t>
            </a:r>
            <a:br>
              <a:rPr lang="vi-VN" sz="3200" dirty="0">
                <a:cs typeface="Times New Roman" panose="02020603050405020304" pitchFamily="18" charset="0"/>
              </a:rPr>
            </a:br>
            <a:r>
              <a:rPr lang="vi-VN" sz="3200" dirty="0">
                <a:cs typeface="Times New Roman" panose="02020603050405020304" pitchFamily="18" charset="0"/>
              </a:rPr>
              <a:t>-  </a:t>
            </a:r>
            <a:r>
              <a:rPr lang="vi-VN" sz="3200" i="1" dirty="0">
                <a:cs typeface="Times New Roman" panose="02020603050405020304" pitchFamily="18" charset="0"/>
              </a:rPr>
              <a:t>Nguồn gốc của gia đ</a:t>
            </a:r>
            <a:r>
              <a:rPr lang="en-US" sz="3200" i="1" dirty="0">
                <a:cs typeface="Times New Roman" panose="02020603050405020304" pitchFamily="18" charset="0"/>
              </a:rPr>
              <a:t>ì</a:t>
            </a:r>
            <a:r>
              <a:rPr lang="vi-VN" sz="3200" i="1" dirty="0">
                <a:cs typeface="Times New Roman" panose="02020603050405020304" pitchFamily="18" charset="0"/>
              </a:rPr>
              <a:t>nh, của chế độ tư hữu và của nhà n</a:t>
            </a:r>
            <a:r>
              <a:rPr lang="vi-VN" sz="3200" dirty="0">
                <a:cs typeface="Times New Roman" panose="02020603050405020304" pitchFamily="18" charset="0"/>
              </a:rPr>
              <a:t>ước (1884).</a:t>
            </a:r>
            <a:br>
              <a:rPr lang="vi-VN" sz="3200" dirty="0">
                <a:cs typeface="Times New Roman" panose="02020603050405020304" pitchFamily="18" charset="0"/>
              </a:rPr>
            </a:br>
            <a:r>
              <a:rPr lang="vi-VN" sz="3200" dirty="0">
                <a:cs typeface="Times New Roman" panose="02020603050405020304" pitchFamily="18" charset="0"/>
              </a:rPr>
              <a:t>-  </a:t>
            </a:r>
            <a:r>
              <a:rPr lang="vi-VN" sz="3200" i="1" dirty="0" err="1">
                <a:cs typeface="Times New Roman" panose="02020603050405020304" pitchFamily="18" charset="0"/>
              </a:rPr>
              <a:t>Lútvich</a:t>
            </a:r>
            <a:r>
              <a:rPr lang="vi-VN" sz="3200" i="1" dirty="0">
                <a:cs typeface="Times New Roman" panose="02020603050405020304" pitchFamily="18" charset="0"/>
              </a:rPr>
              <a:t> Phoi-ơ-</a:t>
            </a:r>
            <a:r>
              <a:rPr lang="vi-VN" sz="3200" i="1" dirty="0" err="1">
                <a:cs typeface="Times New Roman" panose="02020603050405020304" pitchFamily="18" charset="0"/>
              </a:rPr>
              <a:t>bắc</a:t>
            </a:r>
            <a:r>
              <a:rPr lang="vi-VN" sz="3200" i="1" dirty="0">
                <a:cs typeface="Times New Roman" panose="02020603050405020304" pitchFamily="18" charset="0"/>
              </a:rPr>
              <a:t> </a:t>
            </a:r>
            <a:r>
              <a:rPr lang="vi-VN" sz="3200" i="1" dirty="0" err="1">
                <a:cs typeface="Times New Roman" panose="02020603050405020304" pitchFamily="18" charset="0"/>
              </a:rPr>
              <a:t>và</a:t>
            </a:r>
            <a:r>
              <a:rPr lang="vi-VN" sz="3200" i="1" dirty="0">
                <a:cs typeface="Times New Roman" panose="02020603050405020304" pitchFamily="18" charset="0"/>
              </a:rPr>
              <a:t> </a:t>
            </a:r>
            <a:r>
              <a:rPr lang="vi-VN" sz="3200" i="1" dirty="0" err="1">
                <a:cs typeface="Times New Roman" panose="02020603050405020304" pitchFamily="18" charset="0"/>
              </a:rPr>
              <a:t>sự</a:t>
            </a:r>
            <a:r>
              <a:rPr lang="vi-VN" sz="3200" i="1" dirty="0">
                <a:cs typeface="Times New Roman" panose="02020603050405020304" pitchFamily="18" charset="0"/>
              </a:rPr>
              <a:t> </a:t>
            </a:r>
            <a:r>
              <a:rPr lang="vi-VN" sz="3200" i="1" dirty="0" err="1">
                <a:cs typeface="Times New Roman" panose="02020603050405020304" pitchFamily="18" charset="0"/>
              </a:rPr>
              <a:t>cáo</a:t>
            </a:r>
            <a:r>
              <a:rPr lang="vi-VN" sz="3200" i="1" dirty="0">
                <a:cs typeface="Times New Roman" panose="02020603050405020304" pitchFamily="18" charset="0"/>
              </a:rPr>
              <a:t> </a:t>
            </a:r>
            <a:r>
              <a:rPr lang="vi-VN" sz="3200" i="1" dirty="0" err="1">
                <a:cs typeface="Times New Roman" panose="02020603050405020304" pitchFamily="18" charset="0"/>
              </a:rPr>
              <a:t>phó</a:t>
            </a:r>
            <a:r>
              <a:rPr lang="vi-VN" sz="3200" i="1" dirty="0">
                <a:cs typeface="Times New Roman" panose="02020603050405020304" pitchFamily="18" charset="0"/>
              </a:rPr>
              <a:t> chung </a:t>
            </a:r>
            <a:r>
              <a:rPr lang="vi-VN" sz="3200" i="1" dirty="0" err="1">
                <a:cs typeface="Times New Roman" panose="02020603050405020304" pitchFamily="18" charset="0"/>
              </a:rPr>
              <a:t>của</a:t>
            </a:r>
            <a:r>
              <a:rPr lang="vi-VN" sz="3200" i="1" dirty="0">
                <a:cs typeface="Times New Roman" panose="02020603050405020304" pitchFamily="18" charset="0"/>
              </a:rPr>
              <a:t> </a:t>
            </a:r>
            <a:r>
              <a:rPr lang="vi-VN" sz="3200" i="1" dirty="0" err="1">
                <a:cs typeface="Times New Roman" panose="02020603050405020304" pitchFamily="18" charset="0"/>
              </a:rPr>
              <a:t>triết</a:t>
            </a:r>
            <a:r>
              <a:rPr lang="vi-VN" sz="3200" i="1" dirty="0">
                <a:cs typeface="Times New Roman" panose="02020603050405020304" pitchFamily="18" charset="0"/>
              </a:rPr>
              <a:t> </a:t>
            </a:r>
            <a:r>
              <a:rPr lang="vi-VN" sz="3200" i="1" dirty="0" err="1">
                <a:cs typeface="Times New Roman" panose="02020603050405020304" pitchFamily="18" charset="0"/>
              </a:rPr>
              <a:t>học</a:t>
            </a:r>
            <a:r>
              <a:rPr lang="vi-VN" sz="3200" i="1" dirty="0">
                <a:cs typeface="Times New Roman" panose="02020603050405020304" pitchFamily="18" charset="0"/>
              </a:rPr>
              <a:t> </a:t>
            </a:r>
            <a:r>
              <a:rPr lang="vi-VN" sz="3200" i="1" dirty="0" err="1">
                <a:cs typeface="Times New Roman" panose="02020603050405020304" pitchFamily="18" charset="0"/>
              </a:rPr>
              <a:t>cổ</a:t>
            </a:r>
            <a:r>
              <a:rPr lang="vi-VN" sz="3200" i="1" dirty="0">
                <a:cs typeface="Times New Roman" panose="02020603050405020304" pitchFamily="18" charset="0"/>
              </a:rPr>
              <a:t> </a:t>
            </a:r>
            <a:r>
              <a:rPr lang="vi-VN" sz="3200" i="1" dirty="0" err="1">
                <a:cs typeface="Times New Roman" panose="02020603050405020304" pitchFamily="18" charset="0"/>
              </a:rPr>
              <a:t>điển</a:t>
            </a:r>
            <a:r>
              <a:rPr lang="vi-VN" sz="3200" i="1" dirty="0">
                <a:cs typeface="Times New Roman" panose="02020603050405020304" pitchFamily="18" charset="0"/>
              </a:rPr>
              <a:t> </a:t>
            </a:r>
            <a:r>
              <a:rPr lang="vi-VN" sz="3200" i="1" dirty="0" err="1">
                <a:cs typeface="Times New Roman" panose="02020603050405020304" pitchFamily="18" charset="0"/>
              </a:rPr>
              <a:t>Đức</a:t>
            </a:r>
            <a:r>
              <a:rPr lang="vi-VN" sz="3200" i="1" dirty="0">
                <a:cs typeface="Times New Roman" panose="02020603050405020304" pitchFamily="18" charset="0"/>
              </a:rPr>
              <a:t> </a:t>
            </a:r>
            <a:r>
              <a:rPr lang="vi-VN" sz="3200" dirty="0">
                <a:cs typeface="Times New Roman" panose="02020603050405020304" pitchFamily="18" charset="0"/>
              </a:rPr>
              <a:t>(1886).</a:t>
            </a:r>
            <a:br>
              <a:rPr lang="vi-VN" sz="3200" dirty="0">
                <a:cs typeface="Times New Roman" panose="02020603050405020304" pitchFamily="18" charset="0"/>
              </a:rPr>
            </a:br>
            <a:r>
              <a:rPr lang="vi-VN" sz="3200" dirty="0">
                <a:cs typeface="Times New Roman" panose="02020603050405020304" pitchFamily="18" charset="0"/>
              </a:rPr>
              <a:t>Ông </a:t>
            </a:r>
            <a:r>
              <a:rPr lang="vi-VN" sz="3200" dirty="0" err="1">
                <a:cs typeface="Times New Roman" panose="02020603050405020304" pitchFamily="18" charset="0"/>
              </a:rPr>
              <a:t>đã</a:t>
            </a:r>
            <a:r>
              <a:rPr lang="vi-VN" sz="3200" dirty="0">
                <a:cs typeface="Times New Roman" panose="02020603050405020304" pitchFamily="18" charset="0"/>
              </a:rPr>
              <a:t> h</a:t>
            </a:r>
            <a:r>
              <a:rPr lang="en-US" sz="3200" dirty="0" err="1">
                <a:cs typeface="Times New Roman" panose="02020603050405020304" pitchFamily="18" charset="0"/>
              </a:rPr>
              <a:t>oà</a:t>
            </a:r>
            <a:r>
              <a:rPr lang="vi-VN" sz="3200" dirty="0">
                <a:cs typeface="Times New Roman" panose="02020603050405020304" pitchFamily="18" charset="0"/>
              </a:rPr>
              <a:t>n </a:t>
            </a:r>
            <a:r>
              <a:rPr lang="vi-VN" sz="3200" dirty="0" err="1">
                <a:cs typeface="Times New Roman" panose="02020603050405020304" pitchFamily="18" charset="0"/>
              </a:rPr>
              <a:t>chỉnh</a:t>
            </a:r>
            <a:r>
              <a:rPr lang="vi-VN" sz="3200" dirty="0">
                <a:cs typeface="Times New Roman" panose="02020603050405020304" pitchFamily="18" charset="0"/>
              </a:rPr>
              <a:t> 2 </a:t>
            </a:r>
            <a:r>
              <a:rPr lang="vi-VN" sz="3200" dirty="0" err="1">
                <a:cs typeface="Times New Roman" panose="02020603050405020304" pitchFamily="18" charset="0"/>
              </a:rPr>
              <a:t>quyển</a:t>
            </a:r>
            <a:r>
              <a:rPr lang="vi-VN" sz="3200" dirty="0">
                <a:cs typeface="Times New Roman" panose="02020603050405020304" pitchFamily="18" charset="0"/>
              </a:rPr>
              <a:t> </a:t>
            </a:r>
            <a:r>
              <a:rPr lang="vi-VN" sz="3200" dirty="0" err="1">
                <a:cs typeface="Times New Roman" panose="02020603050405020304" pitchFamily="18" charset="0"/>
              </a:rPr>
              <a:t>còn</a:t>
            </a:r>
            <a:r>
              <a:rPr lang="vi-VN" sz="3200" dirty="0">
                <a:cs typeface="Times New Roman" panose="02020603050405020304" pitchFamily="18" charset="0"/>
              </a:rPr>
              <a:t> </a:t>
            </a:r>
            <a:r>
              <a:rPr lang="vi-VN" sz="3200" dirty="0" err="1">
                <a:cs typeface="Times New Roman" panose="02020603050405020304" pitchFamily="18" charset="0"/>
              </a:rPr>
              <a:t>lại</a:t>
            </a:r>
            <a:r>
              <a:rPr lang="vi-VN" sz="3200" dirty="0">
                <a:cs typeface="Times New Roman" panose="02020603050405020304" pitchFamily="18" charset="0"/>
              </a:rPr>
              <a:t> </a:t>
            </a:r>
            <a:r>
              <a:rPr lang="vi-VN" sz="3200" dirty="0" err="1">
                <a:cs typeface="Times New Roman" panose="02020603050405020304" pitchFamily="18" charset="0"/>
              </a:rPr>
              <a:t>của</a:t>
            </a:r>
            <a:r>
              <a:rPr lang="vi-VN" sz="3200" dirty="0">
                <a:cs typeface="Times New Roman" panose="02020603050405020304" pitchFamily="18" charset="0"/>
              </a:rPr>
              <a:t> </a:t>
            </a:r>
            <a:r>
              <a:rPr lang="vi-VN" sz="3200" dirty="0" err="1">
                <a:cs typeface="Times New Roman" panose="02020603050405020304" pitchFamily="18" charset="0"/>
              </a:rPr>
              <a:t>bộ</a:t>
            </a:r>
            <a:r>
              <a:rPr lang="vi-VN" sz="3200" dirty="0">
                <a:cs typeface="Times New Roman" panose="02020603050405020304" pitchFamily="18" charset="0"/>
              </a:rPr>
              <a:t> </a:t>
            </a:r>
            <a:r>
              <a:rPr lang="vi-VN" sz="3200" i="1" dirty="0">
                <a:cs typeface="Times New Roman" panose="02020603050405020304" pitchFamily="18" charset="0"/>
              </a:rPr>
              <a:t>Tư </a:t>
            </a:r>
            <a:r>
              <a:rPr lang="vi-VN" sz="3200" i="1" dirty="0" err="1">
                <a:cs typeface="Times New Roman" panose="02020603050405020304" pitchFamily="18" charset="0"/>
              </a:rPr>
              <a:t>Bản</a:t>
            </a:r>
            <a:br>
              <a:rPr lang="vi-VN" sz="3200" i="1" dirty="0">
                <a:cs typeface="Times New Roman" panose="02020603050405020304" pitchFamily="18" charset="0"/>
              </a:rPr>
            </a:br>
            <a:endParaRPr lang="en-US" sz="32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normAutofit/>
          </a:bodyPr>
          <a:lstStyle/>
          <a:p>
            <a:pPr marL="457200" indent="-457200" algn="just">
              <a:buFont typeface="Wingdings" panose="05000000000000000000" pitchFamily="2" charset="2"/>
              <a:buChar char="v"/>
            </a:pPr>
            <a:r>
              <a:rPr lang="vi-VN" sz="2800" b="1" dirty="0" err="1">
                <a:cs typeface="Times New Roman" panose="02020603050405020304" pitchFamily="18" charset="0"/>
              </a:rPr>
              <a:t>Thời</a:t>
            </a:r>
            <a:r>
              <a:rPr lang="vi-VN" sz="2800" b="1" dirty="0">
                <a:cs typeface="Times New Roman" panose="02020603050405020304" pitchFamily="18" charset="0"/>
              </a:rPr>
              <a:t> </a:t>
            </a:r>
            <a:r>
              <a:rPr lang="vi-VN" sz="2800" b="1" dirty="0" err="1">
                <a:cs typeface="Times New Roman" panose="02020603050405020304" pitchFamily="18" charset="0"/>
              </a:rPr>
              <a:t>kỳ</a:t>
            </a:r>
            <a:r>
              <a:rPr lang="vi-VN" sz="2800" b="1" dirty="0">
                <a:cs typeface="Times New Roman" panose="02020603050405020304" pitchFamily="18" charset="0"/>
              </a:rPr>
              <a:t> </a:t>
            </a:r>
            <a:r>
              <a:rPr lang="vi-VN" sz="2800" b="1" dirty="0" err="1">
                <a:cs typeface="Times New Roman" panose="02020603050405020304" pitchFamily="18" charset="0"/>
              </a:rPr>
              <a:t>Mac</a:t>
            </a:r>
            <a:r>
              <a:rPr lang="vi-VN" sz="2800" b="1" dirty="0">
                <a:cs typeface="Times New Roman" panose="02020603050405020304" pitchFamily="18" charset="0"/>
              </a:rPr>
              <a:t> </a:t>
            </a:r>
            <a:r>
              <a:rPr lang="vi-VN" sz="2800" b="1" dirty="0" err="1">
                <a:cs typeface="Times New Roman" panose="02020603050405020304" pitchFamily="18" charset="0"/>
              </a:rPr>
              <a:t>và</a:t>
            </a:r>
            <a:r>
              <a:rPr lang="vi-VN" sz="2800" b="1" dirty="0">
                <a:cs typeface="Times New Roman" panose="02020603050405020304" pitchFamily="18" charset="0"/>
              </a:rPr>
              <a:t> </a:t>
            </a:r>
            <a:r>
              <a:rPr lang="vi-VN" sz="2800" b="1" dirty="0" err="1">
                <a:cs typeface="Times New Roman" panose="02020603050405020304" pitchFamily="18" charset="0"/>
              </a:rPr>
              <a:t>Ăngghen</a:t>
            </a:r>
            <a:r>
              <a:rPr lang="vi-VN" sz="2800" b="1" dirty="0">
                <a:cs typeface="Times New Roman" panose="02020603050405020304" pitchFamily="18" charset="0"/>
              </a:rPr>
              <a:t> </a:t>
            </a:r>
            <a:r>
              <a:rPr lang="vi-VN" sz="2800" b="1" dirty="0" err="1">
                <a:cs typeface="Times New Roman" panose="02020603050405020304" pitchFamily="18" charset="0"/>
              </a:rPr>
              <a:t>bổ</a:t>
            </a:r>
            <a:r>
              <a:rPr lang="vi-VN" sz="2800" b="1" dirty="0">
                <a:cs typeface="Times New Roman" panose="02020603050405020304" pitchFamily="18" charset="0"/>
              </a:rPr>
              <a:t> sung, </a:t>
            </a:r>
            <a:r>
              <a:rPr lang="vi-VN" sz="2800" b="1" dirty="0" err="1">
                <a:cs typeface="Times New Roman" panose="02020603050405020304" pitchFamily="18" charset="0"/>
              </a:rPr>
              <a:t>phát</a:t>
            </a:r>
            <a:r>
              <a:rPr lang="vi-VN" sz="2800" b="1" dirty="0">
                <a:cs typeface="Times New Roman" panose="02020603050405020304" pitchFamily="18" charset="0"/>
              </a:rPr>
              <a:t> </a:t>
            </a:r>
            <a:r>
              <a:rPr lang="vi-VN" sz="2800" b="1" dirty="0" err="1">
                <a:cs typeface="Times New Roman" panose="02020603050405020304" pitchFamily="18" charset="0"/>
              </a:rPr>
              <a:t>triển</a:t>
            </a:r>
            <a:r>
              <a:rPr lang="vi-VN" sz="2800" b="1" dirty="0">
                <a:cs typeface="Times New Roman" panose="02020603050405020304" pitchFamily="18" charset="0"/>
              </a:rPr>
              <a:t> </a:t>
            </a:r>
            <a:r>
              <a:rPr lang="vi-VN" sz="2800" b="1" dirty="0" err="1">
                <a:cs typeface="Times New Roman" panose="02020603050405020304" pitchFamily="18" charset="0"/>
              </a:rPr>
              <a:t>toàn</a:t>
            </a:r>
            <a:r>
              <a:rPr lang="vi-VN" sz="2800" b="1" dirty="0">
                <a:cs typeface="Times New Roman" panose="02020603050405020304" pitchFamily="18" charset="0"/>
              </a:rPr>
              <a:t> </a:t>
            </a:r>
            <a:r>
              <a:rPr lang="vi-VN" sz="2800" b="1" dirty="0" err="1">
                <a:cs typeface="Times New Roman" panose="02020603050405020304" pitchFamily="18" charset="0"/>
              </a:rPr>
              <a:t>diện</a:t>
            </a:r>
            <a:r>
              <a:rPr lang="vi-VN" sz="2800" b="1" dirty="0">
                <a:cs typeface="Times New Roman" panose="02020603050405020304" pitchFamily="18" charset="0"/>
              </a:rPr>
              <a:t> </a:t>
            </a:r>
            <a:r>
              <a:rPr lang="vi-VN" sz="2800" b="1" dirty="0" err="1">
                <a:cs typeface="Times New Roman" panose="02020603050405020304" pitchFamily="18" charset="0"/>
              </a:rPr>
              <a:t>lý</a:t>
            </a:r>
            <a:r>
              <a:rPr lang="vi-VN" sz="2800" b="1" dirty="0">
                <a:cs typeface="Times New Roman" panose="02020603050405020304" pitchFamily="18" charset="0"/>
              </a:rPr>
              <a:t> </a:t>
            </a:r>
            <a:r>
              <a:rPr lang="vi-VN" sz="2800" b="1" dirty="0" err="1">
                <a:cs typeface="Times New Roman" panose="02020603050405020304" pitchFamily="18" charset="0"/>
              </a:rPr>
              <a:t>luận</a:t>
            </a:r>
            <a:r>
              <a:rPr lang="vi-VN" sz="2800" b="1" dirty="0">
                <a:cs typeface="Times New Roman" panose="02020603050405020304" pitchFamily="18" charset="0"/>
              </a:rPr>
              <a:t> </a:t>
            </a:r>
            <a:r>
              <a:rPr lang="vi-VN" sz="2800" b="1" dirty="0" err="1">
                <a:cs typeface="Times New Roman" panose="02020603050405020304" pitchFamily="18" charset="0"/>
              </a:rPr>
              <a:t>Triết</a:t>
            </a:r>
            <a:r>
              <a:rPr lang="vi-VN" sz="2800" b="1" dirty="0">
                <a:cs typeface="Times New Roman" panose="02020603050405020304" pitchFamily="18" charset="0"/>
              </a:rPr>
              <a:t> </a:t>
            </a:r>
            <a:r>
              <a:rPr lang="vi-VN" sz="2800" b="1" dirty="0" err="1">
                <a:cs typeface="Times New Roman" panose="02020603050405020304" pitchFamily="18" charset="0"/>
              </a:rPr>
              <a:t>học</a:t>
            </a:r>
            <a:r>
              <a:rPr lang="vi-VN" sz="2800" b="1" dirty="0">
                <a:cs typeface="Times New Roman" panose="02020603050405020304" pitchFamily="18" charset="0"/>
              </a:rPr>
              <a:t> (1848 – 1895)</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36914"/>
            <a:ext cx="10515600" cy="4740049"/>
          </a:xfrm>
        </p:spPr>
        <p:txBody>
          <a:bodyPr/>
          <a:lstStyle/>
          <a:p>
            <a:pPr marL="0" indent="0">
              <a:buNone/>
            </a:pPr>
            <a:r>
              <a:rPr lang="vi-VN" b="1" dirty="0" err="1">
                <a:latin typeface="+mj-lt"/>
              </a:rPr>
              <a:t>Mac</a:t>
            </a:r>
            <a:r>
              <a:rPr lang="vi-VN" b="1" dirty="0">
                <a:latin typeface="+mj-lt"/>
              </a:rPr>
              <a:t> </a:t>
            </a:r>
            <a:r>
              <a:rPr lang="vi-VN" b="1" dirty="0" err="1">
                <a:latin typeface="+mj-lt"/>
              </a:rPr>
              <a:t>viết</a:t>
            </a:r>
            <a:r>
              <a:rPr lang="vi-VN" b="1" dirty="0">
                <a:latin typeface="+mj-lt"/>
              </a:rPr>
              <a:t> </a:t>
            </a:r>
            <a:r>
              <a:rPr lang="vi-VN" b="1" dirty="0" err="1">
                <a:latin typeface="+mj-lt"/>
              </a:rPr>
              <a:t>các</a:t>
            </a:r>
            <a:r>
              <a:rPr lang="vi-VN" b="1" dirty="0">
                <a:latin typeface="+mj-lt"/>
              </a:rPr>
              <a:t> </a:t>
            </a:r>
            <a:r>
              <a:rPr lang="vi-VN" b="1" dirty="0" err="1">
                <a:latin typeface="+mj-lt"/>
              </a:rPr>
              <a:t>tác</a:t>
            </a:r>
            <a:r>
              <a:rPr lang="vi-VN" b="1" dirty="0">
                <a:latin typeface="+mj-lt"/>
              </a:rPr>
              <a:t> </a:t>
            </a:r>
            <a:r>
              <a:rPr lang="vi-VN" b="1" dirty="0" err="1">
                <a:latin typeface="+mj-lt"/>
              </a:rPr>
              <a:t>phẩm</a:t>
            </a:r>
            <a:r>
              <a:rPr lang="vi-VN" b="1" dirty="0">
                <a:latin typeface="+mj-lt"/>
              </a:rPr>
              <a:t> quan </a:t>
            </a:r>
            <a:r>
              <a:rPr lang="vi-VN" b="1" dirty="0" err="1">
                <a:latin typeface="+mj-lt"/>
              </a:rPr>
              <a:t>trọng</a:t>
            </a:r>
            <a:r>
              <a:rPr lang="vi-VN" b="1" dirty="0">
                <a:latin typeface="+mj-lt"/>
              </a:rPr>
              <a:t>:</a:t>
            </a:r>
            <a:endParaRPr lang="vi-VN" b="1" dirty="0">
              <a:latin typeface="+mj-lt"/>
            </a:endParaRPr>
          </a:p>
          <a:p>
            <a:pPr marL="0" indent="0">
              <a:buNone/>
            </a:pPr>
            <a:endParaRPr lang="vi-VN" dirty="0">
              <a:latin typeface="+mj-lt"/>
            </a:endParaRPr>
          </a:p>
          <a:p>
            <a:r>
              <a:rPr lang="vi-VN" dirty="0">
                <a:latin typeface="+mj-lt"/>
              </a:rPr>
              <a:t>1848 – 1849: </a:t>
            </a:r>
            <a:r>
              <a:rPr lang="vi-VN" i="1" dirty="0" err="1">
                <a:latin typeface="+mj-lt"/>
              </a:rPr>
              <a:t>Đấu</a:t>
            </a:r>
            <a:r>
              <a:rPr lang="vi-VN" i="1" dirty="0">
                <a:latin typeface="+mj-lt"/>
              </a:rPr>
              <a:t> tranh giai </a:t>
            </a:r>
            <a:r>
              <a:rPr lang="vi-VN" i="1" dirty="0" err="1">
                <a:latin typeface="+mj-lt"/>
              </a:rPr>
              <a:t>cấp</a:t>
            </a:r>
            <a:r>
              <a:rPr lang="vi-VN" i="1" dirty="0">
                <a:latin typeface="+mj-lt"/>
              </a:rPr>
              <a:t> ở </a:t>
            </a:r>
            <a:r>
              <a:rPr lang="vi-VN" i="1" dirty="0" err="1">
                <a:latin typeface="+mj-lt"/>
              </a:rPr>
              <a:t>Pháp</a:t>
            </a:r>
            <a:r>
              <a:rPr lang="vi-VN" i="1" dirty="0">
                <a:latin typeface="+mj-lt"/>
              </a:rPr>
              <a:t> </a:t>
            </a:r>
            <a:r>
              <a:rPr lang="vi-VN" dirty="0" err="1">
                <a:latin typeface="+mj-lt"/>
              </a:rPr>
              <a:t>và</a:t>
            </a:r>
            <a:r>
              <a:rPr lang="vi-VN" dirty="0">
                <a:latin typeface="+mj-lt"/>
              </a:rPr>
              <a:t> </a:t>
            </a:r>
            <a:r>
              <a:rPr lang="vi-VN" i="1" dirty="0" err="1">
                <a:latin typeface="+mj-lt"/>
              </a:rPr>
              <a:t>ngày</a:t>
            </a:r>
            <a:r>
              <a:rPr lang="vi-VN" i="1" dirty="0">
                <a:latin typeface="+mj-lt"/>
              </a:rPr>
              <a:t> 18 </a:t>
            </a:r>
            <a:r>
              <a:rPr lang="vi-VN" i="1" dirty="0" err="1">
                <a:latin typeface="+mj-lt"/>
              </a:rPr>
              <a:t>tháng</a:t>
            </a:r>
            <a:r>
              <a:rPr lang="vi-VN" i="1" dirty="0">
                <a:latin typeface="+mj-lt"/>
              </a:rPr>
              <a:t> Sương </a:t>
            </a:r>
            <a:r>
              <a:rPr lang="vi-VN" i="1" dirty="0" err="1">
                <a:latin typeface="+mj-lt"/>
              </a:rPr>
              <a:t>mù</a:t>
            </a:r>
            <a:r>
              <a:rPr lang="vi-VN" i="1" dirty="0">
                <a:latin typeface="+mj-lt"/>
              </a:rPr>
              <a:t> </a:t>
            </a:r>
            <a:r>
              <a:rPr lang="vi-VN" i="1" dirty="0" err="1">
                <a:latin typeface="+mj-lt"/>
              </a:rPr>
              <a:t>của</a:t>
            </a:r>
            <a:r>
              <a:rPr lang="vi-VN" i="1" dirty="0">
                <a:latin typeface="+mj-lt"/>
              </a:rPr>
              <a:t> Lui </a:t>
            </a:r>
            <a:r>
              <a:rPr lang="vi-VN" i="1" dirty="0" err="1">
                <a:latin typeface="+mj-lt"/>
              </a:rPr>
              <a:t>boonapáctơ</a:t>
            </a:r>
            <a:r>
              <a:rPr lang="vi-VN" i="1" dirty="0">
                <a:latin typeface="+mj-lt"/>
              </a:rPr>
              <a:t> .</a:t>
            </a:r>
            <a:endParaRPr lang="vi-VN" i="1" dirty="0">
              <a:latin typeface="+mj-lt"/>
            </a:endParaRPr>
          </a:p>
          <a:p>
            <a:r>
              <a:rPr lang="vi-VN" dirty="0" err="1">
                <a:latin typeface="+mj-lt"/>
              </a:rPr>
              <a:t>Bộ</a:t>
            </a:r>
            <a:r>
              <a:rPr lang="vi-VN" dirty="0">
                <a:latin typeface="+mj-lt"/>
              </a:rPr>
              <a:t> </a:t>
            </a:r>
            <a:r>
              <a:rPr lang="vi-VN" i="1" dirty="0">
                <a:latin typeface="+mj-lt"/>
              </a:rPr>
              <a:t>Tư </a:t>
            </a:r>
            <a:r>
              <a:rPr lang="vi-VN" i="1" dirty="0" err="1">
                <a:latin typeface="+mj-lt"/>
              </a:rPr>
              <a:t>bản</a:t>
            </a:r>
            <a:r>
              <a:rPr lang="vi-VN" i="1" dirty="0">
                <a:latin typeface="+mj-lt"/>
              </a:rPr>
              <a:t> </a:t>
            </a:r>
            <a:r>
              <a:rPr lang="vi-VN" dirty="0">
                <a:latin typeface="+mj-lt"/>
              </a:rPr>
              <a:t>(</a:t>
            </a:r>
            <a:r>
              <a:rPr lang="vi-VN" dirty="0" err="1">
                <a:latin typeface="+mj-lt"/>
              </a:rPr>
              <a:t>tập</a:t>
            </a:r>
            <a:r>
              <a:rPr lang="vi-VN" dirty="0">
                <a:latin typeface="+mj-lt"/>
              </a:rPr>
              <a:t> 1 </a:t>
            </a:r>
            <a:r>
              <a:rPr lang="vi-VN" dirty="0" err="1">
                <a:latin typeface="+mj-lt"/>
              </a:rPr>
              <a:t>xb</a:t>
            </a:r>
            <a:r>
              <a:rPr lang="vi-VN" dirty="0">
                <a:latin typeface="+mj-lt"/>
              </a:rPr>
              <a:t> 9/1867).</a:t>
            </a:r>
            <a:endParaRPr lang="vi-VN" dirty="0">
              <a:latin typeface="+mj-lt"/>
            </a:endParaRPr>
          </a:p>
          <a:p>
            <a:r>
              <a:rPr lang="vi-VN" i="1" dirty="0" err="1">
                <a:latin typeface="+mj-lt"/>
              </a:rPr>
              <a:t>Góp</a:t>
            </a:r>
            <a:r>
              <a:rPr lang="vi-VN" i="1" dirty="0">
                <a:latin typeface="+mj-lt"/>
              </a:rPr>
              <a:t> </a:t>
            </a:r>
            <a:r>
              <a:rPr lang="vi-VN" i="1" dirty="0" err="1">
                <a:latin typeface="+mj-lt"/>
              </a:rPr>
              <a:t>phần</a:t>
            </a:r>
            <a:r>
              <a:rPr lang="vi-VN" i="1" dirty="0">
                <a:latin typeface="+mj-lt"/>
              </a:rPr>
              <a:t> phê phân kinh </a:t>
            </a:r>
            <a:r>
              <a:rPr lang="vi-VN" i="1" dirty="0" err="1">
                <a:latin typeface="+mj-lt"/>
              </a:rPr>
              <a:t>tế</a:t>
            </a:r>
            <a:r>
              <a:rPr lang="vi-VN" i="1" dirty="0">
                <a:latin typeface="+mj-lt"/>
              </a:rPr>
              <a:t> ch</a:t>
            </a:r>
            <a:r>
              <a:rPr lang="en-US" i="1" dirty="0">
                <a:latin typeface="+mj-lt"/>
              </a:rPr>
              <a:t>í</a:t>
            </a:r>
            <a:r>
              <a:rPr lang="vi-VN" i="1" dirty="0" err="1">
                <a:latin typeface="+mj-lt"/>
              </a:rPr>
              <a:t>nh</a:t>
            </a:r>
            <a:r>
              <a:rPr lang="vi-VN" i="1" dirty="0">
                <a:latin typeface="+mj-lt"/>
              </a:rPr>
              <a:t> </a:t>
            </a:r>
            <a:r>
              <a:rPr lang="vi-VN" i="1" dirty="0" err="1">
                <a:latin typeface="+mj-lt"/>
              </a:rPr>
              <a:t>trị</a:t>
            </a:r>
            <a:r>
              <a:rPr lang="vi-VN" i="1" dirty="0">
                <a:latin typeface="+mj-lt"/>
              </a:rPr>
              <a:t> </a:t>
            </a:r>
            <a:r>
              <a:rPr lang="vi-VN" i="1" dirty="0" err="1">
                <a:latin typeface="+mj-lt"/>
              </a:rPr>
              <a:t>học</a:t>
            </a:r>
            <a:r>
              <a:rPr lang="vi-VN" i="1" dirty="0">
                <a:latin typeface="+mj-lt"/>
              </a:rPr>
              <a:t> </a:t>
            </a:r>
            <a:r>
              <a:rPr lang="vi-VN" dirty="0">
                <a:latin typeface="+mj-lt"/>
              </a:rPr>
              <a:t>(1859)</a:t>
            </a:r>
            <a:endParaRPr lang="vi-VN" dirty="0">
              <a:latin typeface="+mj-lt"/>
            </a:endParaRPr>
          </a:p>
          <a:p>
            <a:r>
              <a:rPr lang="vi-VN" i="1" dirty="0" err="1">
                <a:latin typeface="+mj-lt"/>
              </a:rPr>
              <a:t>Nội</a:t>
            </a:r>
            <a:r>
              <a:rPr lang="vi-VN" i="1" dirty="0">
                <a:latin typeface="+mj-lt"/>
              </a:rPr>
              <a:t> </a:t>
            </a:r>
            <a:r>
              <a:rPr lang="vi-VN" i="1" dirty="0" err="1">
                <a:latin typeface="+mj-lt"/>
              </a:rPr>
              <a:t>chiến</a:t>
            </a:r>
            <a:r>
              <a:rPr lang="vi-VN" i="1" dirty="0">
                <a:latin typeface="+mj-lt"/>
              </a:rPr>
              <a:t> ở </a:t>
            </a:r>
            <a:r>
              <a:rPr lang="vi-VN" i="1" dirty="0" err="1">
                <a:latin typeface="+mj-lt"/>
              </a:rPr>
              <a:t>Pháp</a:t>
            </a:r>
            <a:r>
              <a:rPr lang="vi-VN" i="1" dirty="0">
                <a:latin typeface="+mj-lt"/>
              </a:rPr>
              <a:t> </a:t>
            </a:r>
            <a:r>
              <a:rPr lang="vi-VN" dirty="0">
                <a:latin typeface="+mj-lt"/>
              </a:rPr>
              <a:t>(1871)</a:t>
            </a:r>
            <a:endParaRPr lang="vi-VN" dirty="0">
              <a:latin typeface="+mj-lt"/>
            </a:endParaRPr>
          </a:p>
          <a:p>
            <a:r>
              <a:rPr lang="vi-VN" i="1" dirty="0">
                <a:latin typeface="+mj-lt"/>
              </a:rPr>
              <a:t>Phê </a:t>
            </a:r>
            <a:r>
              <a:rPr lang="vi-VN" i="1" dirty="0" err="1">
                <a:latin typeface="+mj-lt"/>
              </a:rPr>
              <a:t>ph</a:t>
            </a:r>
            <a:r>
              <a:rPr lang="en-US" i="1" dirty="0">
                <a:latin typeface="+mj-lt"/>
              </a:rPr>
              <a:t>á</a:t>
            </a:r>
            <a:r>
              <a:rPr lang="vi-VN" i="1" dirty="0">
                <a:latin typeface="+mj-lt"/>
              </a:rPr>
              <a:t>n Cương </a:t>
            </a:r>
            <a:r>
              <a:rPr lang="vi-VN" i="1" dirty="0" err="1">
                <a:latin typeface="+mj-lt"/>
              </a:rPr>
              <a:t>lĩnh</a:t>
            </a:r>
            <a:r>
              <a:rPr lang="vi-VN" i="1" dirty="0">
                <a:latin typeface="+mj-lt"/>
              </a:rPr>
              <a:t> Gô ta </a:t>
            </a:r>
            <a:r>
              <a:rPr lang="vi-VN" dirty="0">
                <a:latin typeface="Times New Roman" panose="02020603050405020304" pitchFamily="18" charset="0"/>
                <a:cs typeface="Times New Roman" panose="02020603050405020304" pitchFamily="18" charset="0"/>
              </a:rPr>
              <a:t>(1875)</a:t>
            </a:r>
            <a:endParaRPr lang="vi-VN" dirty="0">
              <a:latin typeface="Times New Roman" panose="02020603050405020304" pitchFamily="18" charset="0"/>
              <a:cs typeface="Times New Roman" panose="02020603050405020304" pitchFamily="18" charset="0"/>
            </a:endParaRPr>
          </a:p>
          <a:p>
            <a:endParaRPr lang="en-US"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3990"/>
          </a:xfrm>
          <a:noFill/>
        </p:spPr>
        <p:txBody>
          <a:bodyPr>
            <a:normAutofit fontScale="90000"/>
          </a:bodyPr>
          <a:lstStyle/>
          <a:p>
            <a:r>
              <a:rPr lang="en-US" sz="4400" b="1" dirty="0">
                <a:latin typeface="Times New Roman" panose="02020603050405020304" pitchFamily="18" charset="0"/>
                <a:cs typeface="Times New Roman" panose="02020603050405020304" pitchFamily="18" charset="0"/>
              </a:rPr>
              <a:t>c</a:t>
            </a:r>
            <a:r>
              <a:rPr lang="en-US" sz="3600" b="1" dirty="0">
                <a:latin typeface="Times New Roman" panose="02020603050405020304" pitchFamily="18" charset="0"/>
                <a:cs typeface="Times New Roman" panose="02020603050405020304" pitchFamily="18" charset="0"/>
              </a:rPr>
              <a:t>. </a:t>
            </a:r>
            <a:r>
              <a:rPr lang="vi-VN" sz="3600" b="1" dirty="0">
                <a:latin typeface="Times New Roman" panose="02020603050405020304" pitchFamily="18" charset="0"/>
                <a:cs typeface="Times New Roman" panose="02020603050405020304" pitchFamily="18" charset="0"/>
              </a:rPr>
              <a:t>Thực chất và ý nghĩa cuộc CM trong triết học do </a:t>
            </a:r>
            <a:r>
              <a:rPr lang="vi-VN" sz="3600" b="1" dirty="0">
                <a:cs typeface="Times New Roman" panose="02020603050405020304" pitchFamily="18" charset="0"/>
              </a:rPr>
              <a:t>Mac và Ăngghen thực hiện</a:t>
            </a:r>
            <a:endParaRPr lang="en-US" sz="3600" dirty="0"/>
          </a:p>
        </p:txBody>
      </p:sp>
      <p:sp>
        <p:nvSpPr>
          <p:cNvPr id="3" name="Content Placeholder 2"/>
          <p:cNvSpPr>
            <a:spLocks noGrp="1"/>
          </p:cNvSpPr>
          <p:nvPr>
            <p:ph idx="1"/>
          </p:nvPr>
        </p:nvSpPr>
        <p:spPr>
          <a:xfrm>
            <a:off x="838200" y="1678898"/>
            <a:ext cx="10515600" cy="4498065"/>
          </a:xfrm>
        </p:spPr>
        <p:txBody>
          <a:bodyPr/>
          <a:lstStyle/>
          <a:p>
            <a:pPr marL="0" indent="0">
              <a:buNone/>
            </a:pPr>
            <a:endParaRPr lang="en-US" dirty="0"/>
          </a:p>
        </p:txBody>
      </p:sp>
      <p:sp>
        <p:nvSpPr>
          <p:cNvPr id="4" name="Rectangle 3"/>
          <p:cNvSpPr/>
          <p:nvPr/>
        </p:nvSpPr>
        <p:spPr>
          <a:xfrm flipH="1">
            <a:off x="1154241" y="2848131"/>
            <a:ext cx="1394085" cy="1903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a:solidFill>
                  <a:schemeClr val="tx1"/>
                </a:solidFill>
                <a:latin typeface="Times New Roman" panose="02020603050405020304" pitchFamily="18" charset="0"/>
                <a:cs typeface="Times New Roman" panose="02020603050405020304" pitchFamily="18" charset="0"/>
              </a:rPr>
              <a:t>Mac và Ăngghen</a:t>
            </a:r>
            <a:endParaRPr lang="en-US" sz="2400">
              <a:solidFill>
                <a:schemeClr val="tx1"/>
              </a:solidFill>
            </a:endParaRPr>
          </a:p>
        </p:txBody>
      </p:sp>
      <p:sp>
        <p:nvSpPr>
          <p:cNvPr id="5" name="Rectangle 4"/>
          <p:cNvSpPr/>
          <p:nvPr/>
        </p:nvSpPr>
        <p:spPr>
          <a:xfrm rot="10800000" flipV="1">
            <a:off x="3657600" y="1678897"/>
            <a:ext cx="7604762" cy="14203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Đ</a:t>
            </a:r>
            <a:r>
              <a:rPr lang="vi-VN" sz="2000" dirty="0">
                <a:solidFill>
                  <a:schemeClr val="tx1"/>
                </a:solidFill>
                <a:latin typeface="Times New Roman" panose="02020603050405020304" pitchFamily="18" charset="0"/>
                <a:cs typeface="Times New Roman" panose="02020603050405020304" pitchFamily="18" charset="0"/>
              </a:rPr>
              <a:t>ã khắc phục t</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a:solidFill>
                  <a:schemeClr val="tx1"/>
                </a:solidFill>
                <a:latin typeface="Times New Roman" panose="02020603050405020304" pitchFamily="18" charset="0"/>
                <a:cs typeface="Times New Roman" panose="02020603050405020304" pitchFamily="18" charset="0"/>
              </a:rPr>
              <a:t>nh chất trực quan, siêu hình của CNDV SH cũ</a:t>
            </a: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K</a:t>
            </a:r>
            <a:r>
              <a:rPr lang="vi-VN" sz="2000" dirty="0">
                <a:solidFill>
                  <a:schemeClr val="tx1"/>
                </a:solidFill>
                <a:latin typeface="Times New Roman" panose="02020603050405020304" pitchFamily="18" charset="0"/>
                <a:cs typeface="Times New Roman" panose="02020603050405020304" pitchFamily="18" charset="0"/>
              </a:rPr>
              <a:t>hắc phục t</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a:solidFill>
                  <a:schemeClr val="tx1"/>
                </a:solidFill>
                <a:latin typeface="Times New Roman" panose="02020603050405020304" pitchFamily="18" charset="0"/>
                <a:cs typeface="Times New Roman" panose="02020603050405020304" pitchFamily="18" charset="0"/>
              </a:rPr>
              <a:t>nh chất DT, thần bí của PBCDT s</a:t>
            </a:r>
            <a:r>
              <a:rPr lang="en-US" sz="2000" dirty="0">
                <a:solidFill>
                  <a:schemeClr val="tx1"/>
                </a:solidFill>
                <a:latin typeface="Times New Roman" panose="02020603050405020304" pitchFamily="18" charset="0"/>
                <a:cs typeface="Times New Roman" panose="02020603050405020304" pitchFamily="18" charset="0"/>
              </a:rPr>
              <a:t>á</a:t>
            </a:r>
            <a:r>
              <a:rPr lang="vi-VN" sz="2000" dirty="0">
                <a:solidFill>
                  <a:schemeClr val="tx1"/>
                </a:solidFill>
                <a:latin typeface="Times New Roman" panose="02020603050405020304" pitchFamily="18" charset="0"/>
                <a:cs typeface="Times New Roman" panose="02020603050405020304" pitchFamily="18" charset="0"/>
              </a:rPr>
              <a:t>ng tạo ra CNDV h</a:t>
            </a:r>
            <a:r>
              <a:rPr lang="en-US" sz="2000" dirty="0" err="1">
                <a:solidFill>
                  <a:schemeClr val="tx1"/>
                </a:solidFill>
                <a:latin typeface="Times New Roman" panose="02020603050405020304" pitchFamily="18" charset="0"/>
                <a:cs typeface="Times New Roman" panose="02020603050405020304" pitchFamily="18" charset="0"/>
              </a:rPr>
              <a:t>òa</a:t>
            </a:r>
            <a:r>
              <a:rPr lang="vi-VN" sz="2000" dirty="0">
                <a:solidFill>
                  <a:schemeClr val="tx1"/>
                </a:solidFill>
                <a:latin typeface="Times New Roman" panose="02020603050405020304" pitchFamily="18" charset="0"/>
                <a:cs typeface="Times New Roman" panose="02020603050405020304" pitchFamily="18" charset="0"/>
              </a:rPr>
              <a:t>n chỉnh đó là CNDV BC</a:t>
            </a:r>
            <a:endParaRPr lang="en-US" sz="2000" dirty="0">
              <a:solidFill>
                <a:schemeClr val="tx1"/>
              </a:solidFill>
            </a:endParaRPr>
          </a:p>
        </p:txBody>
      </p:sp>
      <p:sp>
        <p:nvSpPr>
          <p:cNvPr id="6" name="Rectangle 5"/>
          <p:cNvSpPr/>
          <p:nvPr/>
        </p:nvSpPr>
        <p:spPr>
          <a:xfrm>
            <a:off x="3657600" y="3428999"/>
            <a:ext cx="7604762" cy="10680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Đ</a:t>
            </a:r>
            <a:r>
              <a:rPr lang="vi-VN" sz="2000" dirty="0">
                <a:solidFill>
                  <a:schemeClr val="tx1"/>
                </a:solidFill>
                <a:latin typeface="Times New Roman" panose="02020603050405020304" pitchFamily="18" charset="0"/>
                <a:cs typeface="Times New Roman" panose="02020603050405020304" pitchFamily="18" charset="0"/>
              </a:rPr>
              <a:t>ã vận dụng và mở rộng quan điểm DV BC vào nghiên cứu lịch sử XH, s</a:t>
            </a:r>
            <a:r>
              <a:rPr lang="en-US" sz="2000" dirty="0">
                <a:solidFill>
                  <a:schemeClr val="tx1"/>
                </a:solidFill>
                <a:latin typeface="Times New Roman" panose="02020603050405020304" pitchFamily="18" charset="0"/>
                <a:cs typeface="Times New Roman" panose="02020603050405020304" pitchFamily="18" charset="0"/>
              </a:rPr>
              <a:t>á</a:t>
            </a:r>
            <a:r>
              <a:rPr lang="vi-VN" sz="2000" dirty="0">
                <a:solidFill>
                  <a:schemeClr val="tx1"/>
                </a:solidFill>
                <a:latin typeface="Times New Roman" panose="02020603050405020304" pitchFamily="18" charset="0"/>
                <a:cs typeface="Times New Roman" panose="02020603050405020304" pitchFamily="18" charset="0"/>
              </a:rPr>
              <a:t>ng tạo ra CN DVLS, nội dung chủ yếu của CM trong triết học</a:t>
            </a:r>
            <a:endParaRPr lang="vi-VN" sz="20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flipH="1">
            <a:off x="3657599" y="4826830"/>
            <a:ext cx="7604762" cy="9593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Đ</a:t>
            </a:r>
            <a:r>
              <a:rPr lang="vi-VN" sz="2000" dirty="0">
                <a:solidFill>
                  <a:schemeClr val="tx1"/>
                </a:solidFill>
                <a:latin typeface="Times New Roman" panose="02020603050405020304" pitchFamily="18" charset="0"/>
                <a:cs typeface="Times New Roman" panose="02020603050405020304" pitchFamily="18" charset="0"/>
              </a:rPr>
              <a:t>ã bổ sung đặc t</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a:solidFill>
                  <a:schemeClr val="tx1"/>
                </a:solidFill>
                <a:latin typeface="Times New Roman" panose="02020603050405020304" pitchFamily="18" charset="0"/>
                <a:cs typeface="Times New Roman" panose="02020603050405020304" pitchFamily="18" charset="0"/>
              </a:rPr>
              <a:t>nh mới vào triết học, s</a:t>
            </a:r>
            <a:r>
              <a:rPr lang="en-US" sz="2000" dirty="0">
                <a:solidFill>
                  <a:schemeClr val="tx1"/>
                </a:solidFill>
                <a:latin typeface="Times New Roman" panose="02020603050405020304" pitchFamily="18" charset="0"/>
                <a:cs typeface="Times New Roman" panose="02020603050405020304" pitchFamily="18" charset="0"/>
              </a:rPr>
              <a:t>á</a:t>
            </a:r>
            <a:r>
              <a:rPr lang="vi-VN" sz="2000" dirty="0">
                <a:solidFill>
                  <a:schemeClr val="tx1"/>
                </a:solidFill>
                <a:latin typeface="Times New Roman" panose="02020603050405020304" pitchFamily="18" charset="0"/>
                <a:cs typeface="Times New Roman" panose="02020603050405020304" pitchFamily="18" charset="0"/>
              </a:rPr>
              <a:t>ng tạo ra một triết học chân ch</a:t>
            </a:r>
            <a:r>
              <a:rPr lang="en-US" sz="2000" dirty="0">
                <a:solidFill>
                  <a:schemeClr val="tx1"/>
                </a:solidFill>
                <a:latin typeface="Times New Roman" panose="02020603050405020304" pitchFamily="18" charset="0"/>
                <a:cs typeface="Times New Roman" panose="02020603050405020304" pitchFamily="18" charset="0"/>
              </a:rPr>
              <a:t>í</a:t>
            </a:r>
            <a:r>
              <a:rPr lang="vi-VN" sz="2000" dirty="0">
                <a:solidFill>
                  <a:schemeClr val="tx1"/>
                </a:solidFill>
                <a:latin typeface="Times New Roman" panose="02020603050405020304" pitchFamily="18" charset="0"/>
                <a:cs typeface="Times New Roman" panose="02020603050405020304" pitchFamily="18" charset="0"/>
              </a:rPr>
              <a:t>nh khoa học - triết học DVBC.</a:t>
            </a:r>
            <a:endParaRPr lang="en-US" sz="2000" dirty="0">
              <a:solidFill>
                <a:schemeClr val="tx1"/>
              </a:solidFill>
            </a:endParaRPr>
          </a:p>
        </p:txBody>
      </p:sp>
      <p:cxnSp>
        <p:nvCxnSpPr>
          <p:cNvPr id="9" name="Straight Arrow Connector 8"/>
          <p:cNvCxnSpPr>
            <a:stCxn id="4" idx="1"/>
          </p:cNvCxnSpPr>
          <p:nvPr/>
        </p:nvCxnSpPr>
        <p:spPr>
          <a:xfrm flipV="1">
            <a:off x="2548326" y="2368446"/>
            <a:ext cx="1109273" cy="1431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6" idx="1"/>
          </p:cNvCxnSpPr>
          <p:nvPr/>
        </p:nvCxnSpPr>
        <p:spPr>
          <a:xfrm>
            <a:off x="2548326" y="3788768"/>
            <a:ext cx="1109274" cy="174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1"/>
          </p:cNvCxnSpPr>
          <p:nvPr/>
        </p:nvCxnSpPr>
        <p:spPr>
          <a:xfrm>
            <a:off x="2548326" y="3800007"/>
            <a:ext cx="1109273" cy="1536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888274"/>
          </a:xfrm>
        </p:spPr>
        <p:txBody>
          <a:bodyPr>
            <a:normAutofit/>
          </a:bodyPr>
          <a:lstStyle/>
          <a:p>
            <a:pPr algn="just"/>
            <a:r>
              <a:rPr lang="vi-VN" sz="3200" b="1" dirty="0">
                <a:latin typeface="Times New Roman" panose="02020603050405020304" pitchFamily="18" charset="0"/>
                <a:cs typeface="Times New Roman" panose="02020603050405020304" pitchFamily="18" charset="0"/>
              </a:rPr>
              <a:t>d</a:t>
            </a:r>
            <a:r>
              <a:rPr lang="vi-VN" sz="3200" dirty="0">
                <a:latin typeface="Times New Roman" panose="02020603050405020304" pitchFamily="18" charset="0"/>
                <a:cs typeface="Times New Roman" panose="02020603050405020304" pitchFamily="18" charset="0"/>
              </a:rPr>
              <a:t>. </a:t>
            </a:r>
            <a:r>
              <a:rPr lang="vi-VN" sz="3200" b="1" dirty="0">
                <a:latin typeface="Times New Roman" panose="02020603050405020304" pitchFamily="18" charset="0"/>
                <a:cs typeface="Times New Roman" panose="02020603050405020304" pitchFamily="18" charset="0"/>
              </a:rPr>
              <a:t>Giai </a:t>
            </a:r>
            <a:r>
              <a:rPr lang="vi-VN" sz="3200" b="1" dirty="0" err="1">
                <a:latin typeface="Times New Roman" panose="02020603050405020304" pitchFamily="18" charset="0"/>
                <a:cs typeface="Times New Roman" panose="02020603050405020304" pitchFamily="18" charset="0"/>
              </a:rPr>
              <a:t>đoạn</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Lênin</a:t>
            </a:r>
            <a:r>
              <a:rPr lang="vi-VN" sz="3200" b="1" dirty="0">
                <a:latin typeface="Times New Roman" panose="02020603050405020304" pitchFamily="18" charset="0"/>
                <a:cs typeface="Times New Roman" panose="02020603050405020304" pitchFamily="18" charset="0"/>
              </a:rPr>
              <a:t> trong </a:t>
            </a:r>
            <a:r>
              <a:rPr lang="vi-VN" sz="3200" b="1" dirty="0" err="1">
                <a:latin typeface="Times New Roman" panose="02020603050405020304" pitchFamily="18" charset="0"/>
                <a:cs typeface="Times New Roman" panose="02020603050405020304" pitchFamily="18" charset="0"/>
              </a:rPr>
              <a:t>sự</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phát</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triển</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Triết</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học</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Mac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71155"/>
            <a:ext cx="10515600" cy="5105808"/>
          </a:xfrm>
        </p:spPr>
        <p:txBody>
          <a:bodyPr/>
          <a:lstStyle/>
          <a:p>
            <a:pPr algn="just"/>
            <a:r>
              <a:rPr lang="vi-VN" dirty="0" err="1">
                <a:latin typeface="Times New Roman" panose="02020603050405020304" pitchFamily="18" charset="0"/>
                <a:cs typeface="Times New Roman" panose="02020603050405020304" pitchFamily="18" charset="0"/>
              </a:rPr>
              <a:t>Lênin</a:t>
            </a:r>
            <a:r>
              <a:rPr lang="vi-VN" dirty="0">
                <a:latin typeface="Times New Roman" panose="02020603050405020304" pitchFamily="18" charset="0"/>
                <a:cs typeface="Times New Roman" panose="02020603050405020304" pitchFamily="18" charset="0"/>
              </a:rPr>
              <a:t> 22/4/1870 </a:t>
            </a:r>
            <a:r>
              <a:rPr lang="vi-VN" dirty="0" err="1">
                <a:latin typeface="Times New Roman" panose="02020603050405020304" pitchFamily="18" charset="0"/>
                <a:cs typeface="Times New Roman" panose="02020603050405020304" pitchFamily="18" charset="0"/>
              </a:rPr>
              <a:t>tại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Ximbiếcxcơ</a:t>
            </a:r>
            <a:r>
              <a:rPr lang="vi-VN" dirty="0">
                <a:latin typeface="Times New Roman" panose="02020603050405020304" pitchFamily="18" charset="0"/>
                <a:cs typeface="Times New Roman" panose="02020603050405020304" pitchFamily="18" charset="0"/>
              </a:rPr>
              <a:t>, Nga </a:t>
            </a:r>
            <a:endParaRPr lang="vi-VN" dirty="0">
              <a:latin typeface="Times New Roman" panose="02020603050405020304" pitchFamily="18" charset="0"/>
              <a:cs typeface="Times New Roman" panose="02020603050405020304" pitchFamily="18" charset="0"/>
            </a:endParaRPr>
          </a:p>
          <a:p>
            <a:pPr algn="just"/>
            <a:r>
              <a:rPr lang="vi-VN" dirty="0" err="1">
                <a:latin typeface="Times New Roman" panose="02020603050405020304" pitchFamily="18" charset="0"/>
                <a:cs typeface="Times New Roman" panose="02020603050405020304" pitchFamily="18" charset="0"/>
              </a:rPr>
              <a:t>Thời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kỳ</a:t>
            </a:r>
            <a:r>
              <a:rPr lang="vi-VN" dirty="0">
                <a:latin typeface="Times New Roman" panose="02020603050405020304" pitchFamily="18" charset="0"/>
                <a:cs typeface="Times New Roman" panose="02020603050405020304" pitchFamily="18" charset="0"/>
              </a:rPr>
              <a:t> 1893 – 1907, </a:t>
            </a:r>
            <a:r>
              <a:rPr lang="vi-VN" dirty="0" err="1">
                <a:latin typeface="Times New Roman" panose="02020603050405020304" pitchFamily="18" charset="0"/>
                <a:cs typeface="Times New Roman" panose="02020603050405020304" pitchFamily="18" charset="0"/>
              </a:rPr>
              <a:t>Lênin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bảo</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vệ</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và</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phát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triển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nhằm</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à</a:t>
            </a:r>
            <a:r>
              <a:rPr lang="vi-VN" dirty="0" err="1">
                <a:latin typeface="Times New Roman" panose="02020603050405020304" pitchFamily="18" charset="0"/>
                <a:cs typeface="Times New Roman" panose="02020603050405020304" pitchFamily="18" charset="0"/>
              </a:rPr>
              <a:t>nh</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lập</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đảng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xit</a:t>
            </a:r>
            <a:r>
              <a:rPr lang="vi-VN" dirty="0">
                <a:latin typeface="Times New Roman" panose="02020603050405020304" pitchFamily="18" charset="0"/>
                <a:cs typeface="Times New Roman" panose="02020603050405020304" pitchFamily="18" charset="0"/>
              </a:rPr>
              <a:t> ở Nga </a:t>
            </a:r>
            <a:r>
              <a:rPr lang="vi-VN" dirty="0" err="1">
                <a:latin typeface="Times New Roman" panose="02020603050405020304" pitchFamily="18" charset="0"/>
                <a:cs typeface="Times New Roman" panose="02020603050405020304" pitchFamily="18" charset="0"/>
              </a:rPr>
              <a:t>và</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chuẩn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bị</a:t>
            </a:r>
            <a:r>
              <a:rPr lang="vi-VN" dirty="0">
                <a:latin typeface="Times New Roman" panose="02020603050405020304" pitchFamily="18" charset="0"/>
                <a:cs typeface="Times New Roman" panose="02020603050405020304" pitchFamily="18" charset="0"/>
              </a:rPr>
              <a:t> cho </a:t>
            </a:r>
            <a:r>
              <a:rPr lang="vi-VN" dirty="0" err="1">
                <a:latin typeface="Times New Roman" panose="02020603050405020304" pitchFamily="18" charset="0"/>
                <a:cs typeface="Times New Roman" panose="02020603050405020304" pitchFamily="18" charset="0"/>
              </a:rPr>
              <a:t>cuộc</a:t>
            </a:r>
            <a:r>
              <a:rPr lang="vi-VN" dirty="0">
                <a:latin typeface="Times New Roman" panose="02020603050405020304" pitchFamily="18" charset="0"/>
                <a:cs typeface="Times New Roman" panose="02020603050405020304" pitchFamily="18" charset="0"/>
              </a:rPr>
              <a:t> CM DC </a:t>
            </a:r>
            <a:r>
              <a:rPr lang="vi-VN" dirty="0" err="1">
                <a:latin typeface="Times New Roman" panose="02020603050405020304" pitchFamily="18" charset="0"/>
                <a:cs typeface="Times New Roman" panose="02020603050405020304" pitchFamily="18" charset="0"/>
              </a:rPr>
              <a:t>lần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thứ</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nhất</a:t>
            </a:r>
            <a:endParaRPr lang="vi-VN" dirty="0">
              <a:latin typeface="Times New Roman" panose="02020603050405020304" pitchFamily="18" charset="0"/>
              <a:cs typeface="Times New Roman" panose="02020603050405020304" pitchFamily="18" charset="0"/>
            </a:endParaRPr>
          </a:p>
          <a:p>
            <a:pPr algn="just"/>
            <a:r>
              <a:rPr lang="vi-VN" dirty="0" err="1">
                <a:latin typeface="Times New Roman" panose="02020603050405020304" pitchFamily="18" charset="0"/>
                <a:cs typeface="Times New Roman" panose="02020603050405020304" pitchFamily="18" charset="0"/>
              </a:rPr>
              <a:t>Thời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kỳ</a:t>
            </a:r>
            <a:r>
              <a:rPr lang="vi-VN" dirty="0">
                <a:latin typeface="Times New Roman" panose="02020603050405020304" pitchFamily="18" charset="0"/>
                <a:cs typeface="Times New Roman" panose="02020603050405020304" pitchFamily="18" charset="0"/>
              </a:rPr>
              <a:t> 1907 – 1917, </a:t>
            </a:r>
            <a:r>
              <a:rPr lang="vi-VN" dirty="0" err="1">
                <a:latin typeface="Times New Roman" panose="02020603050405020304" pitchFamily="18" charset="0"/>
                <a:cs typeface="Times New Roman" panose="02020603050405020304" pitchFamily="18" charset="0"/>
              </a:rPr>
              <a:t>Lênin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phát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triển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toàn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diện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và</a:t>
            </a:r>
            <a:r>
              <a:rPr lang="vi-VN" dirty="0">
                <a:latin typeface="Times New Roman" panose="02020603050405020304" pitchFamily="18" charset="0"/>
                <a:cs typeface="Times New Roman" panose="02020603050405020304" pitchFamily="18" charset="0"/>
              </a:rPr>
              <a:t> l</a:t>
            </a:r>
            <a:r>
              <a:rPr lang="en-US" dirty="0">
                <a:latin typeface="Times New Roman" panose="02020603050405020304" pitchFamily="18" charset="0"/>
                <a:cs typeface="Times New Roman" panose="02020603050405020304" pitchFamily="18" charset="0"/>
              </a:rPr>
              <a:t>ã</a:t>
            </a:r>
            <a:r>
              <a:rPr lang="vi-VN" dirty="0" err="1">
                <a:latin typeface="Times New Roman" panose="02020603050405020304" pitchFamily="18" charset="0"/>
                <a:cs typeface="Times New Roman" panose="02020603050405020304" pitchFamily="18" charset="0"/>
              </a:rPr>
              <a:t>nh</a:t>
            </a:r>
            <a:r>
              <a:rPr lang="vi-VN" dirty="0">
                <a:latin typeface="Times New Roman" panose="02020603050405020304" pitchFamily="18" charset="0"/>
                <a:cs typeface="Times New Roman" panose="02020603050405020304" pitchFamily="18" charset="0"/>
              </a:rPr>
              <a:t> đ</a:t>
            </a:r>
            <a:r>
              <a:rPr lang="en-US" dirty="0" err="1">
                <a:latin typeface="Times New Roman" panose="02020603050405020304" pitchFamily="18" charset="0"/>
                <a:cs typeface="Times New Roman" panose="02020603050405020304" pitchFamily="18" charset="0"/>
              </a:rPr>
              <a:t>ạo</a:t>
            </a:r>
            <a:r>
              <a:rPr lang="vi-VN" dirty="0">
                <a:latin typeface="Times New Roman" panose="02020603050405020304" pitchFamily="18" charset="0"/>
                <a:cs typeface="Times New Roman" panose="02020603050405020304" pitchFamily="18" charset="0"/>
              </a:rPr>
              <a:t> phong </a:t>
            </a:r>
            <a:r>
              <a:rPr lang="vi-VN" dirty="0" err="1">
                <a:latin typeface="Times New Roman" panose="02020603050405020304" pitchFamily="18" charset="0"/>
                <a:cs typeface="Times New Roman" panose="02020603050405020304" pitchFamily="18" charset="0"/>
              </a:rPr>
              <a:t>tr</a:t>
            </a:r>
            <a:r>
              <a:rPr lang="en-US" dirty="0" err="1">
                <a:latin typeface="Times New Roman" panose="02020603050405020304" pitchFamily="18" charset="0"/>
                <a:cs typeface="Times New Roman" panose="02020603050405020304" pitchFamily="18" charset="0"/>
              </a:rPr>
              <a:t>ào</a:t>
            </a:r>
            <a:r>
              <a:rPr lang="vi-VN" dirty="0">
                <a:latin typeface="Times New Roman" panose="02020603050405020304" pitchFamily="18" charset="0"/>
                <a:cs typeface="Times New Roman" panose="02020603050405020304" pitchFamily="18" charset="0"/>
              </a:rPr>
              <a:t> công nhân Nga, </a:t>
            </a:r>
            <a:r>
              <a:rPr lang="vi-VN" dirty="0" err="1">
                <a:latin typeface="Times New Roman" panose="02020603050405020304" pitchFamily="18" charset="0"/>
                <a:cs typeface="Times New Roman" panose="02020603050405020304" pitchFamily="18" charset="0"/>
              </a:rPr>
              <a:t>chuẩn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bị</a:t>
            </a:r>
            <a:r>
              <a:rPr lang="vi-VN" dirty="0">
                <a:latin typeface="Times New Roman" panose="02020603050405020304" pitchFamily="18" charset="0"/>
                <a:cs typeface="Times New Roman" panose="02020603050405020304" pitchFamily="18" charset="0"/>
              </a:rPr>
              <a:t> cho CM XHCN.</a:t>
            </a:r>
            <a:endParaRPr lang="vi-VN" dirty="0">
              <a:latin typeface="Times New Roman" panose="02020603050405020304" pitchFamily="18" charset="0"/>
              <a:cs typeface="Times New Roman" panose="02020603050405020304" pitchFamily="18" charset="0"/>
            </a:endParaRPr>
          </a:p>
          <a:p>
            <a:pPr algn="just"/>
            <a:r>
              <a:rPr lang="vi-VN" dirty="0" err="1">
                <a:latin typeface="Times New Roman" panose="02020603050405020304" pitchFamily="18" charset="0"/>
                <a:cs typeface="Times New Roman" panose="02020603050405020304" pitchFamily="18" charset="0"/>
              </a:rPr>
              <a:t>Thời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kỳ</a:t>
            </a:r>
            <a:r>
              <a:rPr lang="vi-VN" dirty="0">
                <a:latin typeface="Times New Roman" panose="02020603050405020304" pitchFamily="18" charset="0"/>
                <a:cs typeface="Times New Roman" panose="02020603050405020304" pitchFamily="18" charset="0"/>
              </a:rPr>
              <a:t> 1917 – 1924, </a:t>
            </a:r>
            <a:r>
              <a:rPr lang="vi-VN" dirty="0" err="1">
                <a:latin typeface="Times New Roman" panose="02020603050405020304" pitchFamily="18" charset="0"/>
                <a:cs typeface="Times New Roman" panose="02020603050405020304" pitchFamily="18" charset="0"/>
              </a:rPr>
              <a:t>Lênin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tổng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kết</a:t>
            </a:r>
            <a:r>
              <a:rPr lang="vi-VN" dirty="0">
                <a:latin typeface="Times New Roman" panose="02020603050405020304" pitchFamily="18" charset="0"/>
                <a:cs typeface="Times New Roman" panose="02020603050405020304" pitchFamily="18" charset="0"/>
              </a:rPr>
              <a:t> kinh </a:t>
            </a:r>
            <a:r>
              <a:rPr lang="vi-VN" dirty="0" err="1">
                <a:latin typeface="Times New Roman" panose="02020603050405020304" pitchFamily="18" charset="0"/>
                <a:cs typeface="Times New Roman" panose="02020603050405020304" pitchFamily="18" charset="0"/>
              </a:rPr>
              <a:t>nghiệm</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thực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tiễn</a:t>
            </a:r>
            <a:r>
              <a:rPr lang="vi-VN" dirty="0">
                <a:latin typeface="Times New Roman" panose="02020603050405020304" pitchFamily="18" charset="0"/>
                <a:cs typeface="Times New Roman" panose="02020603050405020304" pitchFamily="18" charset="0"/>
              </a:rPr>
              <a:t> CM, </a:t>
            </a:r>
            <a:r>
              <a:rPr lang="vi-VN" dirty="0" err="1">
                <a:latin typeface="Times New Roman" panose="02020603050405020304" pitchFamily="18" charset="0"/>
                <a:cs typeface="Times New Roman" panose="02020603050405020304" pitchFamily="18" charset="0"/>
              </a:rPr>
              <a:t>bổ</a:t>
            </a:r>
            <a:r>
              <a:rPr lang="vi-VN" dirty="0">
                <a:latin typeface="Times New Roman" panose="02020603050405020304" pitchFamily="18" charset="0"/>
                <a:cs typeface="Times New Roman" panose="02020603050405020304" pitchFamily="18" charset="0"/>
              </a:rPr>
              <a:t> sung, h</a:t>
            </a:r>
            <a:r>
              <a:rPr lang="en-US" dirty="0" err="1">
                <a:latin typeface="Times New Roman" panose="02020603050405020304" pitchFamily="18" charset="0"/>
                <a:cs typeface="Times New Roman" panose="02020603050405020304" pitchFamily="18" charset="0"/>
              </a:rPr>
              <a:t>òa</a:t>
            </a:r>
            <a:r>
              <a:rPr lang="vi-VN" dirty="0">
                <a:latin typeface="Times New Roman" panose="02020603050405020304" pitchFamily="18" charset="0"/>
                <a:cs typeface="Times New Roman" panose="02020603050405020304" pitchFamily="18" charset="0"/>
              </a:rPr>
              <a:t>n </a:t>
            </a:r>
            <a:r>
              <a:rPr lang="vi-VN" dirty="0" err="1">
                <a:latin typeface="Times New Roman" panose="02020603050405020304" pitchFamily="18" charset="0"/>
                <a:cs typeface="Times New Roman" panose="02020603050405020304" pitchFamily="18" charset="0"/>
              </a:rPr>
              <a:t>thiện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gắn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liền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với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việc</a:t>
            </a:r>
            <a:r>
              <a:rPr lang="vi-VN" dirty="0">
                <a:latin typeface="Times New Roman" panose="02020603050405020304" pitchFamily="18" charset="0"/>
                <a:cs typeface="Times New Roman" panose="02020603050405020304" pitchFamily="18" charset="0"/>
              </a:rPr>
              <a:t> nghiên </a:t>
            </a:r>
            <a:r>
              <a:rPr lang="vi-VN" dirty="0" err="1">
                <a:latin typeface="Times New Roman" panose="02020603050405020304" pitchFamily="18" charset="0"/>
                <a:cs typeface="Times New Roman" panose="02020603050405020304" pitchFamily="18" charset="0"/>
              </a:rPr>
              <a:t>cứu</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các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vấn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đề</a:t>
            </a:r>
            <a:r>
              <a:rPr lang="vi-VN" dirty="0">
                <a:latin typeface="Times New Roman" panose="02020603050405020304" pitchFamily="18" charset="0"/>
                <a:cs typeface="Times New Roman" panose="02020603050405020304" pitchFamily="18" charset="0"/>
              </a:rPr>
              <a:t> xây </a:t>
            </a:r>
            <a:r>
              <a:rPr lang="vi-VN" dirty="0" err="1">
                <a:latin typeface="Times New Roman" panose="02020603050405020304" pitchFamily="18" charset="0"/>
                <a:cs typeface="Times New Roman" panose="02020603050405020304" pitchFamily="18" charset="0"/>
              </a:rPr>
              <a:t>dựng</a:t>
            </a:r>
            <a:r>
              <a:rPr lang="vi-VN" dirty="0">
                <a:latin typeface="Times New Roman" panose="02020603050405020304" pitchFamily="18" charset="0"/>
                <a:cs typeface="Times New Roman" panose="02020603050405020304" pitchFamily="18" charset="0"/>
              </a:rPr>
              <a:t> CNXH.</a:t>
            </a:r>
            <a:endParaRPr lang="vi-VN" dirty="0">
              <a:latin typeface="Times New Roman" panose="02020603050405020304" pitchFamily="18" charset="0"/>
              <a:cs typeface="Times New Roman" panose="02020603050405020304" pitchFamily="18" charset="0"/>
            </a:endParaRPr>
          </a:p>
          <a:p>
            <a:pPr algn="just"/>
            <a:r>
              <a:rPr lang="vi-VN" dirty="0" err="1">
                <a:latin typeface="Times New Roman" panose="02020603050405020304" pitchFamily="18" charset="0"/>
                <a:cs typeface="Times New Roman" panose="02020603050405020304" pitchFamily="18" charset="0"/>
              </a:rPr>
              <a:t>Thời</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kỳ</a:t>
            </a:r>
            <a:r>
              <a:rPr lang="vi-VN" dirty="0">
                <a:latin typeface="Times New Roman" panose="02020603050405020304" pitchFamily="18" charset="0"/>
                <a:cs typeface="Times New Roman" panose="02020603050405020304" pitchFamily="18" charset="0"/>
              </a:rPr>
              <a:t> 1924 </a:t>
            </a:r>
            <a:r>
              <a:rPr lang="vi-VN" dirty="0" err="1">
                <a:latin typeface="Times New Roman" panose="02020603050405020304" pitchFamily="18" charset="0"/>
                <a:cs typeface="Times New Roman" panose="02020603050405020304" pitchFamily="18" charset="0"/>
              </a:rPr>
              <a:t>đến</a:t>
            </a:r>
            <a:r>
              <a:rPr lang="vi-VN" dirty="0">
                <a:latin typeface="Times New Roman" panose="02020603050405020304" pitchFamily="18" charset="0"/>
                <a:cs typeface="Times New Roman" panose="02020603050405020304" pitchFamily="18" charset="0"/>
              </a:rPr>
              <a:t> nay,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Lênin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tiếp</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tục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được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các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Đảng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Cộng</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sản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và</a:t>
            </a:r>
            <a:r>
              <a:rPr lang="vi-VN" dirty="0">
                <a:latin typeface="Times New Roman" panose="02020603050405020304" pitchFamily="18" charset="0"/>
                <a:cs typeface="Times New Roman" panose="02020603050405020304" pitchFamily="18" charset="0"/>
              </a:rPr>
              <a:t> công nhân </a:t>
            </a:r>
            <a:r>
              <a:rPr lang="vi-VN" dirty="0" err="1">
                <a:latin typeface="Times New Roman" panose="02020603050405020304" pitchFamily="18" charset="0"/>
                <a:cs typeface="Times New Roman" panose="02020603050405020304" pitchFamily="18" charset="0"/>
              </a:rPr>
              <a:t>bổ</a:t>
            </a:r>
            <a:r>
              <a:rPr lang="vi-VN" dirty="0">
                <a:latin typeface="Times New Roman" panose="02020603050405020304" pitchFamily="18" charset="0"/>
                <a:cs typeface="Times New Roman" panose="02020603050405020304" pitchFamily="18" charset="0"/>
              </a:rPr>
              <a:t> sung </a:t>
            </a:r>
            <a:r>
              <a:rPr lang="vi-VN" dirty="0" err="1">
                <a:latin typeface="Times New Roman" panose="02020603050405020304" pitchFamily="18" charset="0"/>
                <a:cs typeface="Times New Roman" panose="02020603050405020304" pitchFamily="18" charset="0"/>
              </a:rPr>
              <a:t>phát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triển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normAutofit/>
          </a:bodyPr>
          <a:lstStyle/>
          <a:p>
            <a:pPr algn="just"/>
            <a:r>
              <a:rPr lang="vi-VN" sz="3200" b="1" dirty="0">
                <a:latin typeface="Times New Roman" panose="02020603050405020304" pitchFamily="18" charset="0"/>
                <a:cs typeface="Times New Roman" panose="02020603050405020304" pitchFamily="18" charset="0"/>
              </a:rPr>
              <a:t>2. </a:t>
            </a:r>
            <a:r>
              <a:rPr lang="vi-VN" sz="3200" b="1" dirty="0" err="1">
                <a:latin typeface="Times New Roman" panose="02020603050405020304" pitchFamily="18" charset="0"/>
                <a:cs typeface="Times New Roman" panose="02020603050405020304" pitchFamily="18" charset="0"/>
              </a:rPr>
              <a:t>Đối</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tượng</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và</a:t>
            </a:r>
            <a:r>
              <a:rPr lang="vi-VN" sz="3200" b="1" dirty="0">
                <a:latin typeface="Times New Roman" panose="02020603050405020304" pitchFamily="18" charset="0"/>
                <a:cs typeface="Times New Roman" panose="02020603050405020304" pitchFamily="18" charset="0"/>
              </a:rPr>
              <a:t> </a:t>
            </a:r>
            <a:r>
              <a:rPr lang="vi-VN" sz="3200" b="1" dirty="0" err="1">
                <a:latin typeface="Times New Roman" panose="02020603050405020304" pitchFamily="18" charset="0"/>
                <a:cs typeface="Times New Roman" panose="02020603050405020304" pitchFamily="18" charset="0"/>
              </a:rPr>
              <a:t>chức</a:t>
            </a:r>
            <a:r>
              <a:rPr lang="vi-VN" sz="3200" b="1" dirty="0">
                <a:latin typeface="Times New Roman" panose="02020603050405020304" pitchFamily="18" charset="0"/>
                <a:cs typeface="Times New Roman" panose="02020603050405020304" pitchFamily="18" charset="0"/>
              </a:rPr>
              <a:t> năng </a:t>
            </a:r>
            <a:r>
              <a:rPr lang="vi-VN" sz="3200" b="1" dirty="0" err="1">
                <a:latin typeface="Times New Roman" panose="02020603050405020304" pitchFamily="18" charset="0"/>
                <a:cs typeface="Times New Roman" panose="02020603050405020304" pitchFamily="18" charset="0"/>
              </a:rPr>
              <a:t>của</a:t>
            </a:r>
            <a:r>
              <a:rPr lang="vi-VN" sz="3200" b="1" dirty="0">
                <a:latin typeface="Times New Roman" panose="02020603050405020304" pitchFamily="18" charset="0"/>
                <a:cs typeface="Times New Roman" panose="02020603050405020304" pitchFamily="18" charset="0"/>
              </a:rPr>
              <a:t> </a:t>
            </a:r>
            <a:r>
              <a:rPr lang="vi-VN" sz="3200" b="1" dirty="0" err="1">
                <a:cs typeface="Times New Roman" panose="02020603050405020304" pitchFamily="18" charset="0"/>
              </a:rPr>
              <a:t>triết</a:t>
            </a:r>
            <a:r>
              <a:rPr lang="vi-VN" sz="3200" b="1" dirty="0">
                <a:cs typeface="Times New Roman" panose="02020603050405020304" pitchFamily="18" charset="0"/>
              </a:rPr>
              <a:t> </a:t>
            </a:r>
            <a:r>
              <a:rPr lang="vi-VN" sz="3200" b="1" dirty="0" err="1">
                <a:cs typeface="Times New Roman" panose="02020603050405020304" pitchFamily="18" charset="0"/>
              </a:rPr>
              <a:t>học</a:t>
            </a:r>
            <a:r>
              <a:rPr lang="vi-VN" sz="3200" b="1" dirty="0">
                <a:cs typeface="Times New Roman" panose="02020603050405020304" pitchFamily="18" charset="0"/>
              </a:rPr>
              <a:t> </a:t>
            </a:r>
            <a:r>
              <a:rPr lang="vi-VN" sz="3200" b="1" dirty="0" err="1">
                <a:cs typeface="Times New Roman" panose="02020603050405020304" pitchFamily="18" charset="0"/>
              </a:rPr>
              <a:t>Mac</a:t>
            </a:r>
            <a:r>
              <a:rPr lang="vi-VN" sz="3200" b="1" dirty="0">
                <a:cs typeface="Times New Roman" panose="02020603050405020304" pitchFamily="18" charset="0"/>
              </a:rPr>
              <a:t> – </a:t>
            </a:r>
            <a:r>
              <a:rPr lang="vi-VN" sz="3200" b="1" dirty="0" err="1">
                <a:cs typeface="Times New Roman" panose="02020603050405020304" pitchFamily="18" charset="0"/>
              </a:rPr>
              <a:t>Lênin</a:t>
            </a:r>
            <a:r>
              <a:rPr lang="vi-VN" sz="3200" b="1" dirty="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23406"/>
            <a:ext cx="10515600" cy="5053557"/>
          </a:xfrm>
        </p:spPr>
        <p:txBody>
          <a:bodyPr/>
          <a:lstStyle/>
          <a:p>
            <a:pPr marL="514350" indent="-514350" algn="just">
              <a:buFont typeface="+mj-lt"/>
              <a:buAutoNum type="alphaLcPeriod"/>
            </a:pPr>
            <a:r>
              <a:rPr lang="vi-VN" b="1" dirty="0" err="1">
                <a:latin typeface="Times New Roman" panose="02020603050405020304" pitchFamily="18" charset="0"/>
                <a:cs typeface="Times New Roman" panose="02020603050405020304" pitchFamily="18" charset="0"/>
              </a:rPr>
              <a:t>Khái</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niệm</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triết</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học</a:t>
            </a:r>
            <a:r>
              <a:rPr lang="vi-VN" b="1" dirty="0">
                <a:latin typeface="Times New Roman" panose="02020603050405020304" pitchFamily="18" charset="0"/>
                <a:cs typeface="Times New Roman" panose="02020603050405020304" pitchFamily="18" charset="0"/>
              </a:rPr>
              <a:t> </a:t>
            </a:r>
            <a:r>
              <a:rPr lang="vi-VN" b="1" dirty="0" err="1">
                <a:latin typeface="Times New Roman" panose="02020603050405020304" pitchFamily="18" charset="0"/>
                <a:cs typeface="Times New Roman" panose="02020603050405020304" pitchFamily="18" charset="0"/>
              </a:rPr>
              <a:t>Mac</a:t>
            </a:r>
            <a:r>
              <a:rPr lang="vi-VN" b="1" dirty="0">
                <a:latin typeface="Times New Roman" panose="02020603050405020304" pitchFamily="18" charset="0"/>
                <a:cs typeface="Times New Roman" panose="02020603050405020304" pitchFamily="18" charset="0"/>
              </a:rPr>
              <a:t> – </a:t>
            </a:r>
            <a:r>
              <a:rPr lang="vi-VN" b="1" dirty="0" err="1">
                <a:latin typeface="Times New Roman" panose="02020603050405020304" pitchFamily="18" charset="0"/>
                <a:cs typeface="Times New Roman" panose="02020603050405020304" pitchFamily="18" charset="0"/>
              </a:rPr>
              <a:t>Lênin</a:t>
            </a:r>
            <a:endParaRPr lang="vi-VN" b="1" dirty="0">
              <a:latin typeface="Times New Roman" panose="02020603050405020304" pitchFamily="18" charset="0"/>
              <a:cs typeface="Times New Roman" panose="02020603050405020304" pitchFamily="18" charset="0"/>
            </a:endParaRPr>
          </a:p>
          <a:p>
            <a:pPr marL="514350" indent="-514350" algn="just">
              <a:buFont typeface="+mj-lt"/>
              <a:buAutoNum type="alphaLcPeriod"/>
            </a:pPr>
            <a:endParaRPr lang="vi-VN" b="1" dirty="0">
              <a:latin typeface="Times New Roman" panose="02020603050405020304" pitchFamily="18" charset="0"/>
              <a:cs typeface="Times New Roman" panose="02020603050405020304" pitchFamily="18" charset="0"/>
            </a:endParaRPr>
          </a:p>
          <a:p>
            <a:pPr marL="0" indent="0" algn="just">
              <a:buNone/>
            </a:pPr>
            <a:r>
              <a:rPr lang="vi-VN" i="1" dirty="0" err="1">
                <a:latin typeface="Times New Roman" panose="02020603050405020304" pitchFamily="18" charset="0"/>
                <a:cs typeface="Times New Roman" panose="02020603050405020304" pitchFamily="18" charset="0"/>
              </a:rPr>
              <a:t>Triết</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học</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Mac</a:t>
            </a:r>
            <a:r>
              <a:rPr lang="vi-VN" i="1" dirty="0">
                <a:latin typeface="Times New Roman" panose="02020603050405020304" pitchFamily="18" charset="0"/>
                <a:cs typeface="Times New Roman" panose="02020603050405020304" pitchFamily="18" charset="0"/>
              </a:rPr>
              <a:t> – </a:t>
            </a:r>
            <a:r>
              <a:rPr lang="vi-VN" i="1" dirty="0" err="1">
                <a:latin typeface="Times New Roman" panose="02020603050405020304" pitchFamily="18" charset="0"/>
                <a:cs typeface="Times New Roman" panose="02020603050405020304" pitchFamily="18" charset="0"/>
              </a:rPr>
              <a:t>Lênin</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là</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hệ</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thống</a:t>
            </a:r>
            <a:r>
              <a:rPr lang="vi-VN" i="1" dirty="0">
                <a:latin typeface="Times New Roman" panose="02020603050405020304" pitchFamily="18" charset="0"/>
                <a:cs typeface="Times New Roman" panose="02020603050405020304" pitchFamily="18" charset="0"/>
              </a:rPr>
              <a:t> quan </a:t>
            </a:r>
            <a:r>
              <a:rPr lang="vi-VN" i="1" dirty="0" err="1">
                <a:latin typeface="Times New Roman" panose="02020603050405020304" pitchFamily="18" charset="0"/>
                <a:cs typeface="Times New Roman" panose="02020603050405020304" pitchFamily="18" charset="0"/>
              </a:rPr>
              <a:t>điểm</a:t>
            </a:r>
            <a:r>
              <a:rPr lang="vi-VN" i="1" dirty="0">
                <a:latin typeface="Times New Roman" panose="02020603050405020304" pitchFamily="18" charset="0"/>
                <a:cs typeface="Times New Roman" panose="02020603050405020304" pitchFamily="18" charset="0"/>
              </a:rPr>
              <a:t> DVBC </a:t>
            </a:r>
            <a:r>
              <a:rPr lang="vi-VN" i="1" dirty="0" err="1">
                <a:latin typeface="Times New Roman" panose="02020603050405020304" pitchFamily="18" charset="0"/>
                <a:cs typeface="Times New Roman" panose="02020603050405020304" pitchFamily="18" charset="0"/>
              </a:rPr>
              <a:t>về</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tự</a:t>
            </a:r>
            <a:r>
              <a:rPr lang="vi-VN" i="1" dirty="0">
                <a:latin typeface="Times New Roman" panose="02020603050405020304" pitchFamily="18" charset="0"/>
                <a:cs typeface="Times New Roman" panose="02020603050405020304" pitchFamily="18" charset="0"/>
              </a:rPr>
              <a:t> nhiên, </a:t>
            </a:r>
            <a:r>
              <a:rPr lang="vi-VN" i="1" dirty="0" err="1">
                <a:latin typeface="Times New Roman" panose="02020603050405020304" pitchFamily="18" charset="0"/>
                <a:cs typeface="Times New Roman" panose="02020603050405020304" pitchFamily="18" charset="0"/>
              </a:rPr>
              <a:t>xã</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hội</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và</a:t>
            </a:r>
            <a:r>
              <a:rPr lang="vi-VN" i="1" dirty="0">
                <a:latin typeface="Times New Roman" panose="02020603050405020304" pitchFamily="18" charset="0"/>
                <a:cs typeface="Times New Roman" panose="02020603050405020304" pitchFamily="18" charset="0"/>
              </a:rPr>
              <a:t> tư duy – </a:t>
            </a:r>
            <a:r>
              <a:rPr lang="vi-VN" i="1" dirty="0" err="1">
                <a:latin typeface="Times New Roman" panose="02020603050405020304" pitchFamily="18" charset="0"/>
                <a:cs typeface="Times New Roman" panose="02020603050405020304" pitchFamily="18" charset="0"/>
              </a:rPr>
              <a:t>thế</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giới</a:t>
            </a:r>
            <a:r>
              <a:rPr lang="vi-VN" i="1" dirty="0">
                <a:latin typeface="Times New Roman" panose="02020603050405020304" pitchFamily="18" charset="0"/>
                <a:cs typeface="Times New Roman" panose="02020603050405020304" pitchFamily="18" charset="0"/>
              </a:rPr>
              <a:t> quan </a:t>
            </a:r>
            <a:r>
              <a:rPr lang="vi-VN" i="1" dirty="0" err="1">
                <a:latin typeface="Times New Roman" panose="02020603050405020304" pitchFamily="18" charset="0"/>
                <a:cs typeface="Times New Roman" panose="02020603050405020304" pitchFamily="18" charset="0"/>
              </a:rPr>
              <a:t>và</a:t>
            </a:r>
            <a:r>
              <a:rPr lang="vi-VN" i="1" dirty="0">
                <a:latin typeface="Times New Roman" panose="02020603050405020304" pitchFamily="18" charset="0"/>
                <a:cs typeface="Times New Roman" panose="02020603050405020304" pitchFamily="18" charset="0"/>
              </a:rPr>
              <a:t> phương </a:t>
            </a:r>
            <a:r>
              <a:rPr lang="vi-VN" i="1" dirty="0" err="1">
                <a:latin typeface="Times New Roman" panose="02020603050405020304" pitchFamily="18" charset="0"/>
                <a:cs typeface="Times New Roman" panose="02020603050405020304" pitchFamily="18" charset="0"/>
              </a:rPr>
              <a:t>pháp</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luận</a:t>
            </a:r>
            <a:r>
              <a:rPr lang="vi-VN" i="1" dirty="0">
                <a:latin typeface="Times New Roman" panose="02020603050405020304" pitchFamily="18" charset="0"/>
                <a:cs typeface="Times New Roman" panose="02020603050405020304" pitchFamily="18" charset="0"/>
              </a:rPr>
              <a:t> khoa </a:t>
            </a:r>
            <a:r>
              <a:rPr lang="vi-VN" i="1" dirty="0" err="1">
                <a:latin typeface="Times New Roman" panose="02020603050405020304" pitchFamily="18" charset="0"/>
                <a:cs typeface="Times New Roman" panose="02020603050405020304" pitchFamily="18" charset="0"/>
              </a:rPr>
              <a:t>học</a:t>
            </a:r>
            <a:r>
              <a:rPr lang="vi-VN" i="1" dirty="0">
                <a:latin typeface="Times New Roman" panose="02020603050405020304" pitchFamily="18" charset="0"/>
                <a:cs typeface="Times New Roman" panose="02020603050405020304" pitchFamily="18" charset="0"/>
              </a:rPr>
              <a:t>, CM </a:t>
            </a:r>
            <a:r>
              <a:rPr lang="vi-VN" i="1" dirty="0" err="1">
                <a:latin typeface="Times New Roman" panose="02020603050405020304" pitchFamily="18" charset="0"/>
                <a:cs typeface="Times New Roman" panose="02020603050405020304" pitchFamily="18" charset="0"/>
              </a:rPr>
              <a:t>của</a:t>
            </a:r>
            <a:r>
              <a:rPr lang="vi-VN" i="1" dirty="0">
                <a:latin typeface="Times New Roman" panose="02020603050405020304" pitchFamily="18" charset="0"/>
                <a:cs typeface="Times New Roman" panose="02020603050405020304" pitchFamily="18" charset="0"/>
              </a:rPr>
              <a:t> giai </a:t>
            </a:r>
            <a:r>
              <a:rPr lang="vi-VN" i="1" dirty="0" err="1">
                <a:latin typeface="Times New Roman" panose="02020603050405020304" pitchFamily="18" charset="0"/>
                <a:cs typeface="Times New Roman" panose="02020603050405020304" pitchFamily="18" charset="0"/>
              </a:rPr>
              <a:t>cấp</a:t>
            </a:r>
            <a:r>
              <a:rPr lang="vi-VN" i="1" dirty="0">
                <a:latin typeface="Times New Roman" panose="02020603050405020304" pitchFamily="18" charset="0"/>
                <a:cs typeface="Times New Roman" panose="02020603050405020304" pitchFamily="18" charset="0"/>
              </a:rPr>
              <a:t> công nhân, nhân dân lao </a:t>
            </a:r>
            <a:r>
              <a:rPr lang="vi-VN" i="1" dirty="0" err="1">
                <a:latin typeface="Times New Roman" panose="02020603050405020304" pitchFamily="18" charset="0"/>
                <a:cs typeface="Times New Roman" panose="02020603050405020304" pitchFamily="18" charset="0"/>
              </a:rPr>
              <a:t>động</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và</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các</a:t>
            </a:r>
            <a:r>
              <a:rPr lang="vi-VN" i="1" dirty="0">
                <a:latin typeface="Times New Roman" panose="02020603050405020304" pitchFamily="18" charset="0"/>
                <a:cs typeface="Times New Roman" panose="02020603050405020304" pitchFamily="18" charset="0"/>
              </a:rPr>
              <a:t> LL XH </a:t>
            </a:r>
            <a:r>
              <a:rPr lang="vi-VN" i="1" dirty="0" err="1">
                <a:latin typeface="Times New Roman" panose="02020603050405020304" pitchFamily="18" charset="0"/>
                <a:cs typeface="Times New Roman" panose="02020603050405020304" pitchFamily="18" charset="0"/>
              </a:rPr>
              <a:t>tiến</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bộ</a:t>
            </a:r>
            <a:r>
              <a:rPr lang="vi-VN" i="1" dirty="0">
                <a:latin typeface="Times New Roman" panose="02020603050405020304" pitchFamily="18" charset="0"/>
                <a:cs typeface="Times New Roman" panose="02020603050405020304" pitchFamily="18" charset="0"/>
              </a:rPr>
              <a:t> trong </a:t>
            </a:r>
            <a:r>
              <a:rPr lang="vi-VN" i="1" dirty="0" err="1">
                <a:latin typeface="Times New Roman" panose="02020603050405020304" pitchFamily="18" charset="0"/>
                <a:cs typeface="Times New Roman" panose="02020603050405020304" pitchFamily="18" charset="0"/>
              </a:rPr>
              <a:t>nhận</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thức</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và</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cải</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tạo</a:t>
            </a:r>
            <a:r>
              <a:rPr lang="vi-VN" i="1" dirty="0">
                <a:latin typeface="Times New Roman" panose="02020603050405020304" pitchFamily="18" charset="0"/>
                <a:cs typeface="Times New Roman" panose="02020603050405020304" pitchFamily="18" charset="0"/>
              </a:rPr>
              <a:t> XH</a:t>
            </a:r>
            <a:endParaRPr lang="en-US"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normAutofit/>
          </a:bodyPr>
          <a:lstStyle/>
          <a:p>
            <a:pPr algn="just"/>
            <a:r>
              <a:rPr lang="en-US" sz="3200" b="1" dirty="0">
                <a:latin typeface="Times New Roman" panose="02020603050405020304" pitchFamily="18" charset="0"/>
                <a:cs typeface="Times New Roman" panose="02020603050405020304" pitchFamily="18" charset="0"/>
              </a:rPr>
              <a:t>b. </a:t>
            </a:r>
            <a:r>
              <a:rPr lang="en-US" sz="3200" b="1" dirty="0" err="1">
                <a:latin typeface="Times New Roman" panose="02020603050405020304" pitchFamily="18" charset="0"/>
                <a:cs typeface="Times New Roman" panose="02020603050405020304" pitchFamily="18" charset="0"/>
              </a:rPr>
              <a:t>Đối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tượng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vi-VN" sz="3200" b="1" dirty="0" err="1">
                <a:cs typeface="Times New Roman" panose="02020603050405020304" pitchFamily="18" charset="0"/>
              </a:rPr>
              <a:t>triết</a:t>
            </a:r>
            <a:r>
              <a:rPr lang="vi-VN" sz="3200" b="1" dirty="0">
                <a:cs typeface="Times New Roman" panose="02020603050405020304" pitchFamily="18" charset="0"/>
              </a:rPr>
              <a:t> </a:t>
            </a:r>
            <a:r>
              <a:rPr lang="vi-VN" sz="3200" b="1" dirty="0" err="1">
                <a:cs typeface="Times New Roman" panose="02020603050405020304" pitchFamily="18" charset="0"/>
              </a:rPr>
              <a:t>học</a:t>
            </a:r>
            <a:r>
              <a:rPr lang="vi-VN" sz="3200" b="1" dirty="0">
                <a:cs typeface="Times New Roman" panose="02020603050405020304" pitchFamily="18" charset="0"/>
              </a:rPr>
              <a:t> </a:t>
            </a:r>
            <a:r>
              <a:rPr lang="vi-VN" sz="3200" b="1" dirty="0" err="1">
                <a:cs typeface="Times New Roman" panose="02020603050405020304" pitchFamily="18" charset="0"/>
              </a:rPr>
              <a:t>Mac</a:t>
            </a:r>
            <a:r>
              <a:rPr lang="vi-VN" sz="3200" b="1" dirty="0">
                <a:cs typeface="Times New Roman" panose="02020603050405020304" pitchFamily="18" charset="0"/>
              </a:rPr>
              <a:t> – </a:t>
            </a:r>
            <a:r>
              <a:rPr lang="vi-VN" sz="3200" b="1" dirty="0" err="1">
                <a:cs typeface="Times New Roman" panose="02020603050405020304" pitchFamily="18" charset="0"/>
              </a:rPr>
              <a:t>Lênin</a:t>
            </a:r>
            <a:r>
              <a:rPr lang="vi-VN" sz="3200" b="1" dirty="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0160"/>
            <a:ext cx="10515600" cy="4896803"/>
          </a:xfrm>
        </p:spPr>
        <p:txBody>
          <a:bodyPr/>
          <a:lstStyle/>
          <a:p>
            <a:pPr marL="0" indent="0" algn="just">
              <a:buNone/>
            </a:pPr>
            <a:endParaRPr lang="en-US" i="1" dirty="0">
              <a:latin typeface="Times New Roman" panose="02020603050405020304" pitchFamily="18" charset="0"/>
              <a:cs typeface="Times New Roman" panose="02020603050405020304" pitchFamily="18" charset="0"/>
            </a:endParaRPr>
          </a:p>
          <a:p>
            <a:pPr marL="0" indent="0" algn="just">
              <a:buNone/>
            </a:pPr>
            <a:endParaRPr lang="en-US" i="1" dirty="0">
              <a:latin typeface="Times New Roman" panose="02020603050405020304" pitchFamily="18" charset="0"/>
              <a:cs typeface="Times New Roman" panose="02020603050405020304" pitchFamily="18" charset="0"/>
            </a:endParaRPr>
          </a:p>
          <a:p>
            <a:pPr marL="0" indent="0" algn="just">
              <a:buNone/>
            </a:pPr>
            <a:r>
              <a:rPr lang="en-US" i="1" dirty="0" err="1">
                <a:latin typeface="Times New Roman" panose="02020603050405020304" pitchFamily="18" charset="0"/>
                <a:cs typeface="Times New Roman" panose="02020603050405020304" pitchFamily="18" charset="0"/>
              </a:rPr>
              <a:t>Đối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tượng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nghiên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cứu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triết</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học</a:t>
            </a:r>
            <a:r>
              <a:rPr lang="vi-VN" i="1" dirty="0">
                <a:latin typeface="Times New Roman" panose="02020603050405020304" pitchFamily="18" charset="0"/>
                <a:cs typeface="Times New Roman" panose="02020603050405020304" pitchFamily="18" charset="0"/>
              </a:rPr>
              <a:t> </a:t>
            </a:r>
            <a:r>
              <a:rPr lang="vi-VN" i="1" dirty="0" err="1">
                <a:latin typeface="Times New Roman" panose="02020603050405020304" pitchFamily="18" charset="0"/>
                <a:cs typeface="Times New Roman" panose="02020603050405020304" pitchFamily="18" charset="0"/>
              </a:rPr>
              <a:t>Mac</a:t>
            </a:r>
            <a:r>
              <a:rPr lang="vi-VN" i="1" dirty="0">
                <a:latin typeface="Times New Roman" panose="02020603050405020304" pitchFamily="18" charset="0"/>
                <a:cs typeface="Times New Roman" panose="02020603050405020304" pitchFamily="18" charset="0"/>
              </a:rPr>
              <a:t> – </a:t>
            </a:r>
            <a:r>
              <a:rPr lang="vi-VN" i="1" dirty="0" err="1">
                <a:latin typeface="Times New Roman" panose="02020603050405020304" pitchFamily="18" charset="0"/>
                <a:cs typeface="Times New Roman" panose="02020603050405020304" pitchFamily="18" charset="0"/>
              </a:rPr>
              <a:t>Lênin</a:t>
            </a:r>
            <a:r>
              <a:rPr lang="vi-VN"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giải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quyết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quan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hệ</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giữa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vật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chất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ý </a:t>
            </a:r>
            <a:r>
              <a:rPr lang="en-US" i="1" dirty="0" err="1">
                <a:latin typeface="Times New Roman" panose="02020603050405020304" pitchFamily="18" charset="0"/>
                <a:cs typeface="Times New Roman" panose="02020603050405020304" pitchFamily="18" charset="0"/>
              </a:rPr>
              <a:t>thức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lập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trường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duy</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vật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chứng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nghiên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cứu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những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quy</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luật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vận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động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phát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triển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chung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tự</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nhiên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xã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hội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duy</a:t>
            </a:r>
            <a:r>
              <a:rPr lang="en-US" i="1"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pPr marL="0" indent="0" algn="just">
              <a:buNone/>
            </a:pP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tượng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triết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học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tượng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khoa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học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cụ</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thể</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được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phân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biệt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rõ</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rệt</a:t>
            </a:r>
            <a:r>
              <a:rPr lang="en-US" i="1"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25936"/>
            <a:ext cx="10515600" cy="1325563"/>
          </a:xfrm>
        </p:spPr>
        <p:txBody>
          <a:bodyPr>
            <a:normAutofit/>
          </a:bodyPr>
          <a:lstStyle/>
          <a:p>
            <a:pPr algn="just"/>
            <a:r>
              <a:rPr lang="en-US" sz="3200" b="1" dirty="0">
                <a:latin typeface="Times New Roman" panose="02020603050405020304" pitchFamily="18" charset="0"/>
                <a:cs typeface="Times New Roman" panose="02020603050405020304" pitchFamily="18" charset="0"/>
              </a:rPr>
              <a:t>c. </a:t>
            </a:r>
            <a:r>
              <a:rPr lang="en-US" sz="3200" b="1" dirty="0" err="1">
                <a:latin typeface="Times New Roman" panose="02020603050405020304" pitchFamily="18" charset="0"/>
                <a:cs typeface="Times New Roman" panose="02020603050405020304" pitchFamily="18" charset="0"/>
              </a:rPr>
              <a:t>Chức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năng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học</a:t>
            </a:r>
            <a:r>
              <a:rPr lang="en-US" sz="3200" b="1" dirty="0">
                <a:cs typeface="Times New Roman" panose="02020603050405020304" pitchFamily="18" charset="0"/>
              </a:rPr>
              <a:t> </a:t>
            </a:r>
            <a:r>
              <a:rPr lang="vi-VN" sz="3200" b="1" dirty="0" err="1">
                <a:cs typeface="Times New Roman" panose="02020603050405020304" pitchFamily="18" charset="0"/>
              </a:rPr>
              <a:t>Mac</a:t>
            </a:r>
            <a:r>
              <a:rPr lang="vi-VN" sz="3200" b="1" dirty="0">
                <a:cs typeface="Times New Roman" panose="02020603050405020304" pitchFamily="18" charset="0"/>
              </a:rPr>
              <a:t> – </a:t>
            </a:r>
            <a:r>
              <a:rPr lang="vi-VN" sz="3200" b="1" dirty="0" err="1">
                <a:cs typeface="Times New Roman" panose="02020603050405020304" pitchFamily="18" charset="0"/>
              </a:rPr>
              <a:t>Lênin</a:t>
            </a:r>
            <a:r>
              <a:rPr lang="vi-VN" sz="3200" b="1" dirty="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97496"/>
            <a:ext cx="10515600" cy="4679467"/>
          </a:xfrm>
        </p:spPr>
        <p:txBody>
          <a:bodyPr/>
          <a:lstStyle/>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vi-VN" altLang="en-US" dirty="0" err="1">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vi-VN" altLang="en-US" dirty="0" err="1">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tiễn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nhằm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ưu</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0447"/>
            <a:ext cx="10515600" cy="914400"/>
          </a:xfrm>
        </p:spPr>
        <p:txBody>
          <a:bodyPr>
            <a:normAutofit fontScale="90000"/>
          </a:bodyPr>
          <a:lstStyle/>
          <a:p>
            <a:pPr algn="just"/>
            <a:r>
              <a:rPr lang="en-US" sz="3200" b="1" dirty="0">
                <a:latin typeface="Times New Roman" panose="02020603050405020304" pitchFamily="18" charset="0"/>
                <a:cs typeface="Times New Roman" panose="02020603050405020304" pitchFamily="18" charset="0"/>
              </a:rPr>
              <a:t>3. </a:t>
            </a:r>
            <a:r>
              <a:rPr lang="en-US" sz="3200" b="1" dirty="0" err="1">
                <a:latin typeface="Times New Roman" panose="02020603050405020304" pitchFamily="18" charset="0"/>
                <a:cs typeface="Times New Roman" panose="02020603050405020304" pitchFamily="18" charset="0"/>
              </a:rPr>
              <a:t>Vai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trò</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vi-VN" sz="3200" b="1" dirty="0" err="1">
                <a:cs typeface="Times New Roman" panose="02020603050405020304" pitchFamily="18" charset="0"/>
              </a:rPr>
              <a:t>triết</a:t>
            </a:r>
            <a:r>
              <a:rPr lang="vi-VN" sz="3200" b="1" dirty="0">
                <a:cs typeface="Times New Roman" panose="02020603050405020304" pitchFamily="18" charset="0"/>
              </a:rPr>
              <a:t> </a:t>
            </a:r>
            <a:r>
              <a:rPr lang="vi-VN" sz="3200" b="1" dirty="0" err="1">
                <a:cs typeface="Times New Roman" panose="02020603050405020304" pitchFamily="18" charset="0"/>
              </a:rPr>
              <a:t>học</a:t>
            </a:r>
            <a:r>
              <a:rPr lang="vi-VN" sz="3200" b="1" dirty="0">
                <a:cs typeface="Times New Roman" panose="02020603050405020304" pitchFamily="18" charset="0"/>
              </a:rPr>
              <a:t> </a:t>
            </a:r>
            <a:r>
              <a:rPr lang="vi-VN" sz="3200" b="1" dirty="0" err="1">
                <a:cs typeface="Times New Roman" panose="02020603050405020304" pitchFamily="18" charset="0"/>
              </a:rPr>
              <a:t>Mac</a:t>
            </a:r>
            <a:r>
              <a:rPr lang="vi-VN" sz="3200" b="1" dirty="0">
                <a:cs typeface="Times New Roman" panose="02020603050405020304" pitchFamily="18" charset="0"/>
              </a:rPr>
              <a:t> – </a:t>
            </a:r>
            <a:r>
              <a:rPr lang="vi-VN" sz="3200" b="1" dirty="0" err="1">
                <a:cs typeface="Times New Roman" panose="02020603050405020304" pitchFamily="18" charset="0"/>
              </a:rPr>
              <a:t>Lênin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trong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sống</a:t>
            </a:r>
            <a:r>
              <a:rPr lang="en-US" sz="3200" b="1" dirty="0">
                <a:latin typeface="Times New Roman" panose="02020603050405020304" pitchFamily="18" charset="0"/>
                <a:cs typeface="Times New Roman" panose="02020603050405020304" pitchFamily="18" charset="0"/>
              </a:rPr>
              <a:t> XH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trong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sự</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nghiệp</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đổi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mới</a:t>
            </a:r>
            <a:r>
              <a:rPr lang="en-US" sz="3200" b="1" dirty="0">
                <a:latin typeface="Times New Roman" panose="02020603050405020304" pitchFamily="18" charset="0"/>
                <a:cs typeface="Times New Roman" panose="02020603050405020304" pitchFamily="18" charset="0"/>
              </a:rPr>
              <a:t> ở </a:t>
            </a:r>
            <a:r>
              <a:rPr lang="en-US" sz="3200" b="1" dirty="0" err="1">
                <a:latin typeface="Times New Roman" panose="02020603050405020304" pitchFamily="18" charset="0"/>
                <a:cs typeface="Times New Roman" panose="02020603050405020304" pitchFamily="18" charset="0"/>
              </a:rPr>
              <a:t>Việt</a:t>
            </a:r>
            <a:r>
              <a:rPr lang="en-US" sz="3200" b="1" dirty="0">
                <a:latin typeface="Times New Roman" panose="02020603050405020304" pitchFamily="18" charset="0"/>
                <a:cs typeface="Times New Roman" panose="02020603050405020304" pitchFamily="18" charset="0"/>
              </a:rPr>
              <a:t> Nam.</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7726"/>
            <a:ext cx="10515600" cy="4779237"/>
          </a:xfrm>
        </p:spPr>
        <p:txBody>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a:t>
            </a:r>
            <a:r>
              <a:rPr lang="vi-VN" dirty="0" err="1">
                <a:latin typeface="Times New Roman" panose="02020603050405020304" pitchFamily="18" charset="0"/>
                <a:cs typeface="Times New Roman" panose="02020603050405020304" pitchFamily="18" charset="0"/>
              </a:rPr>
              <a: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CM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tiễn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T</a:t>
            </a:r>
            <a:r>
              <a:rPr lang="vi-VN" dirty="0" err="1">
                <a:latin typeface="Times New Roman" panose="02020603050405020304" pitchFamily="18" charset="0"/>
                <a:cs typeface="Times New Roman" panose="02020603050405020304" pitchFamily="18" charset="0"/>
              </a:rPr>
              <a: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CM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cuộc</a:t>
            </a:r>
            <a:r>
              <a:rPr lang="en-US" dirty="0">
                <a:latin typeface="Times New Roman" panose="02020603050405020304" pitchFamily="18" charset="0"/>
                <a:cs typeface="Times New Roman" panose="02020603050405020304" pitchFamily="18" charset="0"/>
              </a:rPr>
              <a:t> CM </a:t>
            </a:r>
            <a:r>
              <a:rPr lang="en-US" dirty="0" err="1">
                <a:latin typeface="Times New Roman" panose="02020603050405020304" pitchFamily="18" charset="0"/>
                <a:cs typeface="Times New Roman" panose="02020603050405020304" pitchFamily="18" charset="0"/>
              </a:rPr>
              <a:t>khoa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T</a:t>
            </a:r>
            <a:r>
              <a:rPr lang="vi-VN" dirty="0" err="1">
                <a:latin typeface="Times New Roman" panose="02020603050405020304" pitchFamily="18" charset="0"/>
                <a:cs typeface="Times New Roman" panose="02020603050405020304" pitchFamily="18" charset="0"/>
              </a:rPr>
              <a:t>riết</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học</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Mac</a:t>
            </a:r>
            <a:r>
              <a:rPr lang="vi-VN" dirty="0">
                <a:latin typeface="Times New Roman" panose="02020603050405020304" pitchFamily="18" charset="0"/>
                <a:cs typeface="Times New Roman" panose="02020603050405020304" pitchFamily="18" charset="0"/>
              </a:rPr>
              <a:t> – </a:t>
            </a:r>
            <a:r>
              <a:rPr lang="vi-VN"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 CNXH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XHCN ở </a:t>
            </a:r>
            <a:r>
              <a:rPr lang="en-US" dirty="0" err="1">
                <a:latin typeface="Times New Roman" panose="02020603050405020304" pitchFamily="18" charset="0"/>
                <a:cs typeface="Times New Roman" panose="02020603050405020304" pitchFamily="18" charset="0"/>
              </a:rPr>
              <a:t>Việt</a:t>
            </a:r>
            <a:r>
              <a:rPr lang="en-US" dirty="0">
                <a:latin typeface="Times New Roman" panose="02020603050405020304" pitchFamily="18" charset="0"/>
                <a:cs typeface="Times New Roman" panose="02020603050405020304" pitchFamily="18" charset="0"/>
              </a:rPr>
              <a:t> Nam</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38727"/>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BÀI TẬP</a:t>
            </a:r>
            <a:br>
              <a:rPr lang="en-US" sz="4000" b="1" dirty="0">
                <a:latin typeface="Times New Roman" panose="02020603050405020304" pitchFamily="18" charset="0"/>
                <a:cs typeface="Times New Roman" panose="02020603050405020304" pitchFamily="18" charset="0"/>
              </a:rPr>
            </a:br>
            <a:br>
              <a:rPr lang="en-US" sz="4000" b="1"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1.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CNDT?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CNDV?</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2.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phép</a:t>
            </a:r>
            <a:r>
              <a:rPr lang="en-US" sz="2800">
                <a:latin typeface="Times New Roman" panose="02020603050405020304" pitchFamily="18" charset="0"/>
                <a:cs typeface="Times New Roman" panose="02020603050405020304" pitchFamily="18" charset="0"/>
              </a:rPr>
              <a:t> BCDV?</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3.  </a:t>
            </a:r>
            <a:r>
              <a:rPr lang="en-US" sz="2800" dirty="0" err="1">
                <a:latin typeface="Times New Roman" panose="02020603050405020304" pitchFamily="18" charset="0"/>
                <a:cs typeface="Times New Roman" panose="02020603050405020304" pitchFamily="18" charset="0"/>
              </a:rPr>
              <a:t>Sự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nhau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giữa</a:t>
            </a:r>
            <a:r>
              <a:rPr lang="en-US" sz="2800" dirty="0">
                <a:latin typeface="Times New Roman" panose="02020603050405020304" pitchFamily="18" charset="0"/>
                <a:cs typeface="Times New Roman" panose="02020603050405020304" pitchFamily="18" charset="0"/>
              </a:rPr>
              <a:t> CNDV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CNDT </a:t>
            </a:r>
            <a:r>
              <a:rPr lang="en-US" sz="2800" dirty="0" err="1">
                <a:latin typeface="Times New Roman" panose="02020603050405020304" pitchFamily="18" charset="0"/>
                <a:cs typeface="Times New Roman" panose="02020603050405020304" pitchFamily="18" charset="0"/>
              </a:rPr>
              <a:t>khi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mặt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vấn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học</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721"/>
            <a:ext cx="10515600" cy="934719"/>
          </a:xfrm>
        </p:spPr>
        <p:txBody>
          <a:bodyPr/>
          <a:lstStyle/>
          <a:p>
            <a:pPr algn="ctr"/>
            <a:r>
              <a:rPr lang="vi-VN" b="1" dirty="0">
                <a:latin typeface="Times New Roman" panose="02020603050405020304" pitchFamily="18" charset="0"/>
                <a:cs typeface="Times New Roman" panose="02020603050405020304" pitchFamily="18" charset="0"/>
              </a:rPr>
              <a:t>BÀI TẬP</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7440"/>
            <a:ext cx="10515600" cy="5069523"/>
          </a:xfrm>
        </p:spPr>
        <p:txBody>
          <a:bodyPr>
            <a:normAutofit lnSpcReduction="10000"/>
          </a:bodyPr>
          <a:lstStyle/>
          <a:p>
            <a:pPr marL="514350" indent="-514350" algn="just">
              <a:buAutoNum type="arabicPeriod"/>
            </a:pPr>
            <a:r>
              <a:rPr lang="vi-VN" sz="2400" dirty="0">
                <a:latin typeface="Times New Roman" panose="02020603050405020304" pitchFamily="18" charset="0"/>
                <a:cs typeface="Times New Roman" panose="02020603050405020304" pitchFamily="18" charset="0"/>
              </a:rPr>
              <a:t>Đối tượng của triết học có thay đổi không?</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Thời kỳ Phục Hưng ở Tây Âu bắt đầu từ thế kỷ nào? Tên gọi thời kỳ Phục Hưng có nghĩa là gì?</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Thời kỳ Phục Hưng là thời kỳ quá độ từ hình thái kinh tế - xã hội nào sang hình thái kinh tế - xã hội nào?</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Các cuộc cách mạng ở Tây Âu thời kỳ cận đại nổ ra do mâu thuẫn gì? </a:t>
            </a:r>
            <a:r>
              <a:rPr lang="vi-VN" sz="2400">
                <a:latin typeface="Times New Roman" panose="02020603050405020304" pitchFamily="18" charset="0"/>
                <a:cs typeface="Times New Roman" panose="02020603050405020304" pitchFamily="18" charset="0"/>
              </a:rPr>
              <a:t>Giai </a:t>
            </a:r>
            <a:r>
              <a:rPr lang="vi-VN" sz="2400" dirty="0">
                <a:latin typeface="Times New Roman" panose="02020603050405020304" pitchFamily="18" charset="0"/>
                <a:cs typeface="Times New Roman" panose="02020603050405020304" pitchFamily="18" charset="0"/>
              </a:rPr>
              <a:t>cấp nào lãnh đạo cuộc cách mạng thời kỳ cận đại ?</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Nghành khoa học nào phát triển rực rỡ nhất và có ảnh hưởng lớn đến phương pháp tư duy của thời kỳ cận đại?</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Ph. Bêcơn là nhà triết học nước nào?  Về lập trường chính trị, ông là nhà tư tưởng của giai cấp nào? Về phương pháp nhận thức, ông phê phán phương pháp nào? Theo ông, phương pháp nhận thức tốt nhất là phương pháp gì?</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r>
              <a:rPr lang="vi-VN" sz="2400" dirty="0">
                <a:latin typeface="Times New Roman" panose="02020603050405020304" pitchFamily="18" charset="0"/>
                <a:cs typeface="Times New Roman" panose="02020603050405020304" pitchFamily="18" charset="0"/>
              </a:rPr>
              <a:t>Ai là người sáng tạo ra hệ thống đầu tiên của CNDV siêu hình trong lịch sử triết học? Ông ta đã có quan niệm về vận động như thế nào?</a:t>
            </a: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endParaRPr lang="vi-VN" sz="2400" dirty="0">
              <a:latin typeface="Times New Roman" panose="02020603050405020304" pitchFamily="18" charset="0"/>
              <a:cs typeface="Times New Roman" panose="02020603050405020304" pitchFamily="18" charset="0"/>
            </a:endParaRPr>
          </a:p>
          <a:p>
            <a:pPr marL="514350" indent="-514350" algn="just">
              <a:buAutoNum type="arabicPeriod"/>
            </a:pPr>
            <a:endParaRPr lang="vi-V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14229</Words>
  <Application>WPS Presentation</Application>
  <PresentationFormat>Widescreen</PresentationFormat>
  <Paragraphs>304</Paragraphs>
  <Slides>28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Arial</vt:lpstr>
      <vt:lpstr>SimSun</vt:lpstr>
      <vt:lpstr>Wingdings</vt:lpstr>
      <vt:lpstr>Times New Roman</vt:lpstr>
      <vt:lpstr>Times New Roman</vt:lpstr>
      <vt:lpstr>Arial</vt:lpstr>
      <vt:lpstr>Calibri Light</vt:lpstr>
      <vt:lpstr>Microsoft YaHei</vt:lpstr>
      <vt:lpstr>Arial Unicode MS</vt:lpstr>
      <vt:lpstr>Calibri</vt:lpstr>
      <vt:lpstr>Yu Gothic Light</vt:lpstr>
      <vt:lpstr>Yu Gothic</vt:lpstr>
      <vt:lpstr>Office Theme</vt:lpstr>
      <vt:lpstr> Chương I </vt:lpstr>
      <vt:lpstr>1. Khái lược về Triết học</vt:lpstr>
      <vt:lpstr>a. Nguồn gốc của triết học</vt:lpstr>
      <vt:lpstr>PowerPoint 演示文稿</vt:lpstr>
      <vt:lpstr>                     -  Vậy cả phương Đông và phương Tây từ đầu triết học đã xem là hoạt động tinh thần bậc cao, là loại hình nhận thức có trình độ trừu tượng hóa và khái quát hóa. </vt:lpstr>
      <vt:lpstr> Các định nghĩa bao hàm nội dung: </vt:lpstr>
      <vt:lpstr>c. Vấn đề đối tượng của triết học</vt:lpstr>
      <vt:lpstr>d. Triết học – hạt nhân lý luận của thế giới quan</vt:lpstr>
      <vt:lpstr> 2. Vấn đề cơ bản của triết học. a. Nội dung vấn đề cơ bản của Triết học </vt:lpstr>
      <vt:lpstr>PowerPoint 演示文稿</vt:lpstr>
      <vt:lpstr>PowerPoint 演示文稿</vt:lpstr>
      <vt:lpstr>c. Thuyết có thể biết (Khả tri luận) và thuyết không thể biết (Bất khả tri luận)</vt:lpstr>
      <vt:lpstr>3. Biện chứng và siêu hình a. Khái niệm biện chứng và siêu hình</vt:lpstr>
      <vt:lpstr>Sự đối lập giữa 2 phương pháp tư duy.               </vt:lpstr>
      <vt:lpstr>Các hình thức của phép biện chứng trong lịch sử.            </vt:lpstr>
      <vt:lpstr>II. TRIẾT HỌC MAC – LÊNIN VÀ VAI TRÒ CỦA TRIẾT HỌC MAC – LÊNIN TRONG ĐỜI SỐNG XÃ HỘI</vt:lpstr>
      <vt:lpstr>PowerPoint 演示文稿</vt:lpstr>
      <vt:lpstr>b.  Những thời kỳ chủ yếu trong sự hình thành và phát triển của Triết học Mac</vt:lpstr>
      <vt:lpstr>Sau khi Mac qua đời (14/3/1883) Ăngghen viết tiếp 2 tác phẩm: -  Nguồn gốc của gia đình, của chế độ tư hữu và của nhà nước (1884). -  Lútvich Phoi-ơ-bắc và sự cáo phó chung của triết học cổ điển Đức (1886). Ông đã hoàn chỉnh 2 quyển còn lại của bộ Tư Bản </vt:lpstr>
      <vt:lpstr>Thời kỳ Mac và Ăngghen bổ sung, phát triển toàn diện lý luận Triết học (1848 – 1895)</vt:lpstr>
      <vt:lpstr>c. Thực chất và ý nghĩa cuộc CM trong triết học do Mac và Ăngghen thực hiện</vt:lpstr>
      <vt:lpstr>d. Giai đoạn Lênin trong sự phát triển Triết học Mac</vt:lpstr>
      <vt:lpstr>2. Đối tượng và chức năng của triết học Mac – Lênin </vt:lpstr>
      <vt:lpstr>b. Đối tượng của triết học Mac – Lênin </vt:lpstr>
      <vt:lpstr>c. Chức năng của triết học Mac – Lênin </vt:lpstr>
      <vt:lpstr>3. Vai trò của triết học Mac – Lênin trong đời sống XH và trong sự nghiệp đổi mới ở Việt Nam.</vt:lpstr>
      <vt:lpstr>                                        BÀI TẬP  1.  Các hình thức cơ bản của CNDT? Các hình thức cơ bản của CNDV?  2.  Các hình thức cơ bản của phép BCDV?  3.  Sự khác nhau giữa CNDV và CNDT khi giải quyết mặt thứ hai của vấn đề cơ bản của triết học?</vt:lpstr>
      <vt:lpstr>BÀI TẬP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I </dc:title>
  <dc:creator>Windows User</dc:creator>
  <cp:lastModifiedBy>Nhật Hoài</cp:lastModifiedBy>
  <cp:revision>265</cp:revision>
  <dcterms:created xsi:type="dcterms:W3CDTF">2020-12-03T07:09:00Z</dcterms:created>
  <dcterms:modified xsi:type="dcterms:W3CDTF">2026-01-03T05:42:57Z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64E42823B445422F9DC822A61A4D7A88_13</vt:lpwstr>
  </property>
  <property fmtid="{D5CDD505-2E9C-101B-9397-08002B2CF9AE}" pid="3" name="KSOProductBuildVer">
    <vt:lpwstr>1033-12.2.0.23196</vt:lpwstr>
  </property>
</Properties>
</file>