
<file path=[Content_Types].xml><?xml version="1.0" encoding="utf-8"?>
<Types xmlns="http://schemas.openxmlformats.org/package/2006/content-types">
  <Default Extension="jpeg" ContentType="image/jpeg"/>
  <Default Extension="JPG" ContentType="image/.jpg"/>
  <Default Extension="gif" ContentType="image/gif"/>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504" r:id="rId5"/>
    <p:sldId id="263" r:id="rId6"/>
    <p:sldId id="264" r:id="rId7"/>
    <p:sldId id="262" r:id="rId8"/>
    <p:sldId id="474" r:id="rId9"/>
    <p:sldId id="364" r:id="rId10"/>
    <p:sldId id="505" r:id="rId11"/>
    <p:sldId id="507" r:id="rId12"/>
    <p:sldId id="367" r:id="rId13"/>
    <p:sldId id="475" r:id="rId14"/>
    <p:sldId id="476" r:id="rId15"/>
    <p:sldId id="477" r:id="rId16"/>
    <p:sldId id="478" r:id="rId17"/>
    <p:sldId id="266" r:id="rId18"/>
    <p:sldId id="370" r:id="rId19"/>
    <p:sldId id="479" r:id="rId20"/>
    <p:sldId id="481" r:id="rId21"/>
    <p:sldId id="267" r:id="rId22"/>
    <p:sldId id="483" r:id="rId23"/>
    <p:sldId id="482" r:id="rId24"/>
    <p:sldId id="269" r:id="rId25"/>
    <p:sldId id="270" r:id="rId26"/>
    <p:sldId id="484" r:id="rId27"/>
    <p:sldId id="271" r:id="rId28"/>
    <p:sldId id="485" r:id="rId29"/>
    <p:sldId id="366" r:id="rId30"/>
    <p:sldId id="275" r:id="rId31"/>
    <p:sldId id="277" r:id="rId32"/>
    <p:sldId id="278" r:id="rId33"/>
    <p:sldId id="279" r:id="rId34"/>
    <p:sldId id="373" r:id="rId35"/>
    <p:sldId id="280" r:id="rId36"/>
    <p:sldId id="281" r:id="rId37"/>
    <p:sldId id="282" r:id="rId38"/>
    <p:sldId id="375" r:id="rId39"/>
    <p:sldId id="376" r:id="rId40"/>
    <p:sldId id="284" r:id="rId41"/>
    <p:sldId id="285" r:id="rId42"/>
    <p:sldId id="288" r:id="rId43"/>
    <p:sldId id="378" r:id="rId44"/>
    <p:sldId id="289" r:id="rId45"/>
    <p:sldId id="377" r:id="rId46"/>
    <p:sldId id="486" r:id="rId47"/>
    <p:sldId id="290" r:id="rId48"/>
    <p:sldId id="487" r:id="rId49"/>
    <p:sldId id="488" r:id="rId50"/>
    <p:sldId id="291" r:id="rId51"/>
    <p:sldId id="369" r:id="rId52"/>
    <p:sldId id="379" r:id="rId53"/>
    <p:sldId id="489" r:id="rId54"/>
    <p:sldId id="292" r:id="rId55"/>
    <p:sldId id="294" r:id="rId56"/>
    <p:sldId id="490" r:id="rId57"/>
    <p:sldId id="491" r:id="rId58"/>
    <p:sldId id="296" r:id="rId59"/>
    <p:sldId id="297" r:id="rId60"/>
    <p:sldId id="298" r:id="rId61"/>
    <p:sldId id="299" r:id="rId62"/>
    <p:sldId id="300" r:id="rId63"/>
    <p:sldId id="503" r:id="rId64"/>
    <p:sldId id="380" r:id="rId65"/>
    <p:sldId id="302" r:id="rId66"/>
    <p:sldId id="360" r:id="rId67"/>
    <p:sldId id="361" r:id="rId68"/>
    <p:sldId id="303" r:id="rId69"/>
    <p:sldId id="304" r:id="rId70"/>
    <p:sldId id="305" r:id="rId71"/>
    <p:sldId id="362" r:id="rId72"/>
    <p:sldId id="306" r:id="rId73"/>
    <p:sldId id="307" r:id="rId74"/>
    <p:sldId id="308" r:id="rId75"/>
    <p:sldId id="309" r:id="rId76"/>
    <p:sldId id="363" r:id="rId77"/>
    <p:sldId id="310" r:id="rId78"/>
    <p:sldId id="311" r:id="rId79"/>
    <p:sldId id="312" r:id="rId80"/>
    <p:sldId id="313" r:id="rId81"/>
    <p:sldId id="381" r:id="rId82"/>
    <p:sldId id="315" r:id="rId83"/>
    <p:sldId id="316" r:id="rId84"/>
    <p:sldId id="317" r:id="rId85"/>
    <p:sldId id="318" r:id="rId86"/>
    <p:sldId id="319" r:id="rId87"/>
    <p:sldId id="320" r:id="rId88"/>
    <p:sldId id="321" r:id="rId89"/>
    <p:sldId id="322" r:id="rId90"/>
    <p:sldId id="323" r:id="rId91"/>
    <p:sldId id="324" r:id="rId92"/>
    <p:sldId id="325" r:id="rId93"/>
    <p:sldId id="326" r:id="rId94"/>
    <p:sldId id="328" r:id="rId95"/>
    <p:sldId id="327" r:id="rId96"/>
    <p:sldId id="329" r:id="rId97"/>
    <p:sldId id="382" r:id="rId98"/>
    <p:sldId id="330" r:id="rId99"/>
    <p:sldId id="492" r:id="rId100"/>
    <p:sldId id="331" r:id="rId101"/>
    <p:sldId id="332" r:id="rId102"/>
    <p:sldId id="383" r:id="rId103"/>
    <p:sldId id="335" r:id="rId104"/>
    <p:sldId id="493" r:id="rId105"/>
    <p:sldId id="337" r:id="rId106"/>
    <p:sldId id="338" r:id="rId107"/>
    <p:sldId id="339" r:id="rId108"/>
    <p:sldId id="494" r:id="rId109"/>
    <p:sldId id="495" r:id="rId110"/>
    <p:sldId id="341" r:id="rId111"/>
    <p:sldId id="496" r:id="rId112"/>
    <p:sldId id="343" r:id="rId113"/>
    <p:sldId id="344" r:id="rId114"/>
    <p:sldId id="497" r:id="rId115"/>
    <p:sldId id="471" r:id="rId116"/>
    <p:sldId id="498" r:id="rId117"/>
    <p:sldId id="499" r:id="rId118"/>
    <p:sldId id="352" r:id="rId119"/>
    <p:sldId id="500" r:id="rId120"/>
    <p:sldId id="353" r:id="rId121"/>
    <p:sldId id="501" r:id="rId122"/>
    <p:sldId id="355" r:id="rId123"/>
    <p:sldId id="502" r:id="rId124"/>
    <p:sldId id="357" r:id="rId125"/>
    <p:sldId id="358" r:id="rId1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CCFF"/>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09" autoAdjust="0"/>
    <p:restoredTop sz="94660"/>
  </p:normalViewPr>
  <p:slideViewPr>
    <p:cSldViewPr snapToGrid="0">
      <p:cViewPr varScale="1">
        <p:scale>
          <a:sx n="59" d="100"/>
          <a:sy n="59" d="100"/>
        </p:scale>
        <p:origin x="212" y="52"/>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99" Type="http://schemas.openxmlformats.org/officeDocument/2006/relationships/slide" Target="slides/slide97.xml"/><Relationship Id="rId98" Type="http://schemas.openxmlformats.org/officeDocument/2006/relationships/slide" Target="slides/slide96.xml"/><Relationship Id="rId97" Type="http://schemas.openxmlformats.org/officeDocument/2006/relationships/slide" Target="slides/slide95.xml"/><Relationship Id="rId96" Type="http://schemas.openxmlformats.org/officeDocument/2006/relationships/slide" Target="slides/slide94.xml"/><Relationship Id="rId95" Type="http://schemas.openxmlformats.org/officeDocument/2006/relationships/slide" Target="slides/slide93.xml"/><Relationship Id="rId94" Type="http://schemas.openxmlformats.org/officeDocument/2006/relationships/slide" Target="slides/slide92.xml"/><Relationship Id="rId93" Type="http://schemas.openxmlformats.org/officeDocument/2006/relationships/slide" Target="slides/slide91.xml"/><Relationship Id="rId92" Type="http://schemas.openxmlformats.org/officeDocument/2006/relationships/slide" Target="slides/slide90.xml"/><Relationship Id="rId91" Type="http://schemas.openxmlformats.org/officeDocument/2006/relationships/slide" Target="slides/slide89.xml"/><Relationship Id="rId90" Type="http://schemas.openxmlformats.org/officeDocument/2006/relationships/slide" Target="slides/slide88.xml"/><Relationship Id="rId9" Type="http://schemas.openxmlformats.org/officeDocument/2006/relationships/slide" Target="slides/slide7.xml"/><Relationship Id="rId89" Type="http://schemas.openxmlformats.org/officeDocument/2006/relationships/slide" Target="slides/slide87.xml"/><Relationship Id="rId88" Type="http://schemas.openxmlformats.org/officeDocument/2006/relationships/slide" Target="slides/slide86.xml"/><Relationship Id="rId87" Type="http://schemas.openxmlformats.org/officeDocument/2006/relationships/slide" Target="slides/slide85.xml"/><Relationship Id="rId86" Type="http://schemas.openxmlformats.org/officeDocument/2006/relationships/slide" Target="slides/slide84.xml"/><Relationship Id="rId85" Type="http://schemas.openxmlformats.org/officeDocument/2006/relationships/slide" Target="slides/slide83.xml"/><Relationship Id="rId84" Type="http://schemas.openxmlformats.org/officeDocument/2006/relationships/slide" Target="slides/slide82.xml"/><Relationship Id="rId83" Type="http://schemas.openxmlformats.org/officeDocument/2006/relationships/slide" Target="slides/slide81.xml"/><Relationship Id="rId82" Type="http://schemas.openxmlformats.org/officeDocument/2006/relationships/slide" Target="slides/slide80.xml"/><Relationship Id="rId81" Type="http://schemas.openxmlformats.org/officeDocument/2006/relationships/slide" Target="slides/slide79.xml"/><Relationship Id="rId80" Type="http://schemas.openxmlformats.org/officeDocument/2006/relationships/slide" Target="slides/slide78.xml"/><Relationship Id="rId8" Type="http://schemas.openxmlformats.org/officeDocument/2006/relationships/slide" Target="slides/slide6.xml"/><Relationship Id="rId79" Type="http://schemas.openxmlformats.org/officeDocument/2006/relationships/slide" Target="slides/slide77.xml"/><Relationship Id="rId78" Type="http://schemas.openxmlformats.org/officeDocument/2006/relationships/slide" Target="slides/slide76.xml"/><Relationship Id="rId77" Type="http://schemas.openxmlformats.org/officeDocument/2006/relationships/slide" Target="slides/slide75.xml"/><Relationship Id="rId76" Type="http://schemas.openxmlformats.org/officeDocument/2006/relationships/slide" Target="slides/slide74.xml"/><Relationship Id="rId75" Type="http://schemas.openxmlformats.org/officeDocument/2006/relationships/slide" Target="slides/slide73.xml"/><Relationship Id="rId74" Type="http://schemas.openxmlformats.org/officeDocument/2006/relationships/slide" Target="slides/slide72.xml"/><Relationship Id="rId73" Type="http://schemas.openxmlformats.org/officeDocument/2006/relationships/slide" Target="slides/slide71.xml"/><Relationship Id="rId72" Type="http://schemas.openxmlformats.org/officeDocument/2006/relationships/slide" Target="slides/slide70.xml"/><Relationship Id="rId71" Type="http://schemas.openxmlformats.org/officeDocument/2006/relationships/slide" Target="slides/slide69.xml"/><Relationship Id="rId70" Type="http://schemas.openxmlformats.org/officeDocument/2006/relationships/slide" Target="slides/slide68.xml"/><Relationship Id="rId7" Type="http://schemas.openxmlformats.org/officeDocument/2006/relationships/slide" Target="slides/slide5.xml"/><Relationship Id="rId69" Type="http://schemas.openxmlformats.org/officeDocument/2006/relationships/slide" Target="slides/slide67.xml"/><Relationship Id="rId68" Type="http://schemas.openxmlformats.org/officeDocument/2006/relationships/slide" Target="slides/slide66.xml"/><Relationship Id="rId67" Type="http://schemas.openxmlformats.org/officeDocument/2006/relationships/slide" Target="slides/slide65.xml"/><Relationship Id="rId66" Type="http://schemas.openxmlformats.org/officeDocument/2006/relationships/slide" Target="slides/slide64.xml"/><Relationship Id="rId65" Type="http://schemas.openxmlformats.org/officeDocument/2006/relationships/slide" Target="slides/slide63.xml"/><Relationship Id="rId64" Type="http://schemas.openxmlformats.org/officeDocument/2006/relationships/slide" Target="slides/slide62.xml"/><Relationship Id="rId63" Type="http://schemas.openxmlformats.org/officeDocument/2006/relationships/slide" Target="slides/slide61.xml"/><Relationship Id="rId62" Type="http://schemas.openxmlformats.org/officeDocument/2006/relationships/slide" Target="slides/slide60.xml"/><Relationship Id="rId61" Type="http://schemas.openxmlformats.org/officeDocument/2006/relationships/slide" Target="slides/slide59.xml"/><Relationship Id="rId60" Type="http://schemas.openxmlformats.org/officeDocument/2006/relationships/slide" Target="slides/slide58.xml"/><Relationship Id="rId6" Type="http://schemas.openxmlformats.org/officeDocument/2006/relationships/slide" Target="slides/slide4.xml"/><Relationship Id="rId59" Type="http://schemas.openxmlformats.org/officeDocument/2006/relationships/slide" Target="slides/slide57.xml"/><Relationship Id="rId58" Type="http://schemas.openxmlformats.org/officeDocument/2006/relationships/slide" Target="slides/slide56.xml"/><Relationship Id="rId57" Type="http://schemas.openxmlformats.org/officeDocument/2006/relationships/slide" Target="slides/slide55.xml"/><Relationship Id="rId56" Type="http://schemas.openxmlformats.org/officeDocument/2006/relationships/slide" Target="slides/slide54.xml"/><Relationship Id="rId55" Type="http://schemas.openxmlformats.org/officeDocument/2006/relationships/slide" Target="slides/slide53.xml"/><Relationship Id="rId54" Type="http://schemas.openxmlformats.org/officeDocument/2006/relationships/slide" Target="slides/slide52.xml"/><Relationship Id="rId53" Type="http://schemas.openxmlformats.org/officeDocument/2006/relationships/slide" Target="slides/slide51.xml"/><Relationship Id="rId52" Type="http://schemas.openxmlformats.org/officeDocument/2006/relationships/slide" Target="slides/slide50.xml"/><Relationship Id="rId51" Type="http://schemas.openxmlformats.org/officeDocument/2006/relationships/slide" Target="slides/slide49.xml"/><Relationship Id="rId50" Type="http://schemas.openxmlformats.org/officeDocument/2006/relationships/slide" Target="slides/slide48.xml"/><Relationship Id="rId5" Type="http://schemas.openxmlformats.org/officeDocument/2006/relationships/slide" Target="slides/slide3.xml"/><Relationship Id="rId49" Type="http://schemas.openxmlformats.org/officeDocument/2006/relationships/slide" Target="slides/slide47.xml"/><Relationship Id="rId48" Type="http://schemas.openxmlformats.org/officeDocument/2006/relationships/slide" Target="slides/slide46.xml"/><Relationship Id="rId47" Type="http://schemas.openxmlformats.org/officeDocument/2006/relationships/slide" Target="slides/slide45.xml"/><Relationship Id="rId46" Type="http://schemas.openxmlformats.org/officeDocument/2006/relationships/slide" Target="slides/slide44.xml"/><Relationship Id="rId45" Type="http://schemas.openxmlformats.org/officeDocument/2006/relationships/slide" Target="slides/slide43.xml"/><Relationship Id="rId44" Type="http://schemas.openxmlformats.org/officeDocument/2006/relationships/slide" Target="slides/slide42.xml"/><Relationship Id="rId43" Type="http://schemas.openxmlformats.org/officeDocument/2006/relationships/slide" Target="slides/slide41.xml"/><Relationship Id="rId42" Type="http://schemas.openxmlformats.org/officeDocument/2006/relationships/slide" Target="slides/slide40.xml"/><Relationship Id="rId41" Type="http://schemas.openxmlformats.org/officeDocument/2006/relationships/slide" Target="slides/slide39.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slide" Target="slides/slide124.xml"/><Relationship Id="rId125" Type="http://schemas.openxmlformats.org/officeDocument/2006/relationships/slide" Target="slides/slide123.xml"/><Relationship Id="rId124" Type="http://schemas.openxmlformats.org/officeDocument/2006/relationships/slide" Target="slides/slide122.xml"/><Relationship Id="rId123" Type="http://schemas.openxmlformats.org/officeDocument/2006/relationships/slide" Target="slides/slide121.xml"/><Relationship Id="rId122" Type="http://schemas.openxmlformats.org/officeDocument/2006/relationships/slide" Target="slides/slide120.xml"/><Relationship Id="rId121" Type="http://schemas.openxmlformats.org/officeDocument/2006/relationships/slide" Target="slides/slide119.xml"/><Relationship Id="rId120" Type="http://schemas.openxmlformats.org/officeDocument/2006/relationships/slide" Target="slides/slide118.xml"/><Relationship Id="rId12" Type="http://schemas.openxmlformats.org/officeDocument/2006/relationships/slide" Target="slides/slide10.xml"/><Relationship Id="rId119" Type="http://schemas.openxmlformats.org/officeDocument/2006/relationships/slide" Target="slides/slide117.xml"/><Relationship Id="rId118" Type="http://schemas.openxmlformats.org/officeDocument/2006/relationships/slide" Target="slides/slide116.xml"/><Relationship Id="rId117" Type="http://schemas.openxmlformats.org/officeDocument/2006/relationships/slide" Target="slides/slide115.xml"/><Relationship Id="rId116" Type="http://schemas.openxmlformats.org/officeDocument/2006/relationships/slide" Target="slides/slide114.xml"/><Relationship Id="rId115" Type="http://schemas.openxmlformats.org/officeDocument/2006/relationships/slide" Target="slides/slide113.xml"/><Relationship Id="rId114" Type="http://schemas.openxmlformats.org/officeDocument/2006/relationships/slide" Target="slides/slide112.xml"/><Relationship Id="rId113" Type="http://schemas.openxmlformats.org/officeDocument/2006/relationships/slide" Target="slides/slide111.xml"/><Relationship Id="rId112" Type="http://schemas.openxmlformats.org/officeDocument/2006/relationships/slide" Target="slides/slide110.xml"/><Relationship Id="rId111" Type="http://schemas.openxmlformats.org/officeDocument/2006/relationships/slide" Target="slides/slide109.xml"/><Relationship Id="rId110" Type="http://schemas.openxmlformats.org/officeDocument/2006/relationships/slide" Target="slides/slide108.xml"/><Relationship Id="rId11" Type="http://schemas.openxmlformats.org/officeDocument/2006/relationships/slide" Target="slides/slide9.xml"/><Relationship Id="rId109" Type="http://schemas.openxmlformats.org/officeDocument/2006/relationships/slide" Target="slides/slide107.xml"/><Relationship Id="rId108" Type="http://schemas.openxmlformats.org/officeDocument/2006/relationships/slide" Target="slides/slide106.xml"/><Relationship Id="rId107" Type="http://schemas.openxmlformats.org/officeDocument/2006/relationships/slide" Target="slides/slide105.xml"/><Relationship Id="rId106" Type="http://schemas.openxmlformats.org/officeDocument/2006/relationships/slide" Target="slides/slide104.xml"/><Relationship Id="rId105" Type="http://schemas.openxmlformats.org/officeDocument/2006/relationships/slide" Target="slides/slide103.xml"/><Relationship Id="rId104" Type="http://schemas.openxmlformats.org/officeDocument/2006/relationships/slide" Target="slides/slide102.xml"/><Relationship Id="rId103" Type="http://schemas.openxmlformats.org/officeDocument/2006/relationships/slide" Target="slides/slide101.xml"/><Relationship Id="rId102" Type="http://schemas.openxmlformats.org/officeDocument/2006/relationships/slide" Target="slides/slide100.xml"/><Relationship Id="rId101" Type="http://schemas.openxmlformats.org/officeDocument/2006/relationships/slide" Target="slides/slide99.xml"/><Relationship Id="rId100" Type="http://schemas.openxmlformats.org/officeDocument/2006/relationships/slide" Target="slides/slide98.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4A748E6F-8481-44D4-9FBE-A42A405304D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48E6F-8481-44D4-9FBE-A42A405304D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endParaRPr lang="en-US"/>
          </a:p>
        </p:txBody>
      </p:sp>
      <p:sp>
        <p:nvSpPr>
          <p:cNvPr id="4" name="Date Placeholder 3"/>
          <p:cNvSpPr>
            <a:spLocks noGrp="1"/>
          </p:cNvSpPr>
          <p:nvPr>
            <p:ph type="dt" sz="half" idx="10"/>
          </p:nvPr>
        </p:nvSpPr>
        <p:spPr/>
        <p:txBody>
          <a:bodyPr/>
          <a:lstStyle/>
          <a:p>
            <a:fld id="{4A748E6F-8481-44D4-9FBE-A42A405304D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4A748E6F-8481-44D4-9FBE-A42A405304D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4A748E6F-8481-44D4-9FBE-A42A405304D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4A748E6F-8481-44D4-9FBE-A42A405304D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48E6F-8481-44D4-9FBE-A42A405304D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A748E6F-8481-44D4-9FBE-A42A405304D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endParaRPr lang="en-US"/>
          </a:p>
        </p:txBody>
      </p:sp>
      <p:sp>
        <p:nvSpPr>
          <p:cNvPr id="5" name="Date Placeholder 4"/>
          <p:cNvSpPr>
            <a:spLocks noGrp="1"/>
          </p:cNvSpPr>
          <p:nvPr>
            <p:ph type="dt" sz="half" idx="10"/>
          </p:nvPr>
        </p:nvSpPr>
        <p:spPr/>
        <p:txBody>
          <a:bodyPr/>
          <a:lstStyle/>
          <a:p>
            <a:fld id="{4A748E6F-8481-44D4-9FBE-A42A405304D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48E6F-8481-44D4-9FBE-A42A405304D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48E6F-8481-44D4-9FBE-A42A405304D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Text Placeholder 2"/>
          <p:cNvSpPr>
            <a:spLocks noGrp="1"/>
          </p:cNvSpPr>
          <p:nvPr>
            <p:ph type="body"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4A748E6F-8481-44D4-9FBE-A42A405304D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56AA9B-18D0-4842-AD19-8FA618DF05A3}"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748E6F-8481-44D4-9FBE-A42A405304D9}"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756AA9B-18D0-4842-AD19-8FA618DF05A3}"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5.GIF"/><Relationship Id="rId4" Type="http://schemas.openxmlformats.org/officeDocument/2006/relationships/image" Target="../media/image4.GIF"/><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6.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image" Target="../media/image11.GIF"/><Relationship Id="rId5" Type="http://schemas.openxmlformats.org/officeDocument/2006/relationships/image" Target="../media/image10.jpeg"/><Relationship Id="rId4" Type="http://schemas.openxmlformats.org/officeDocument/2006/relationships/hyperlink" Target="http://www.livius.org/a/1/greeks/democritus.jpg" TargetMode="External"/><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image" Target="../media/image7.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image" Target="../media/image12.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6.png"/><Relationship Id="rId1"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18.jpeg"/><Relationship Id="rId1" Type="http://schemas.openxmlformats.org/officeDocument/2006/relationships/image" Target="../media/image17.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20.jpeg"/><Relationship Id="rId1" Type="http://schemas.openxmlformats.org/officeDocument/2006/relationships/image" Target="../media/image19.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2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image" Target="../media/image27.jpeg"/><Relationship Id="rId4" Type="http://schemas.openxmlformats.org/officeDocument/2006/relationships/image" Target="../media/image26.wmf"/><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image" Target="../media/image2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31.jpeg"/><Relationship Id="rId3" Type="http://schemas.openxmlformats.org/officeDocument/2006/relationships/image" Target="../media/image30.jpeg"/><Relationship Id="rId2" Type="http://schemas.openxmlformats.org/officeDocument/2006/relationships/image" Target="../media/image29.jpeg"/><Relationship Id="rId1" Type="http://schemas.openxmlformats.org/officeDocument/2006/relationships/image" Target="../media/image28.jpeg"/></Relationships>
</file>

<file path=ppt/slides/_rels/slide50.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image" Target="../media/image33.jpeg"/><Relationship Id="rId1" Type="http://schemas.openxmlformats.org/officeDocument/2006/relationships/image" Target="../media/image32.jpe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5.jpeg"/><Relationship Id="rId1" Type="http://schemas.openxmlformats.org/officeDocument/2006/relationships/image" Target="../media/image34.jpeg"/></Relationships>
</file>

<file path=ppt/slides/_rels/slide58.xml.rels><?xml version="1.0" encoding="UTF-8" standalone="yes"?>
<Relationships xmlns="http://schemas.openxmlformats.org/package/2006/relationships"><Relationship Id="rId5" Type="http://schemas.openxmlformats.org/officeDocument/2006/relationships/slideLayout" Target="../slideLayouts/slideLayout6.xml"/><Relationship Id="rId4" Type="http://schemas.openxmlformats.org/officeDocument/2006/relationships/image" Target="../media/image39.png"/><Relationship Id="rId3" Type="http://schemas.openxmlformats.org/officeDocument/2006/relationships/image" Target="../media/image38.jpeg"/><Relationship Id="rId2" Type="http://schemas.openxmlformats.org/officeDocument/2006/relationships/image" Target="../media/image37.jpeg"/><Relationship Id="rId1" Type="http://schemas.openxmlformats.org/officeDocument/2006/relationships/image" Target="../media/image36.jpe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1.png"/><Relationship Id="rId3" Type="http://schemas.microsoft.com/office/2007/relationships/media" Target="file:///F:\Tai%20lieu%20o%20C\My%20Documents\Tong%20DE%20AN%20PHIM%20ANH%20ML-2006\Nhanh%206-%20Triet%202%20-%20SINH\TU%20LIEU%20DTnhanh%206\N6-N4-PHIM%20ANH\T790621A.WMV" TargetMode="External"/><Relationship Id="rId2" Type="http://schemas.openxmlformats.org/officeDocument/2006/relationships/video" Target="file:///F:\Tai%20lieu%20o%20C\My%20Documents\Tong%20DE%20AN%20PHIM%20ANH%20ML-2006\Nhanh%206-%20Triet%202%20-%20SINH\TU%20LIEU%20DTnhanh%206\N6-N4-PHIM%20ANH\T790621A.WMV" TargetMode="External"/><Relationship Id="rId1" Type="http://schemas.openxmlformats.org/officeDocument/2006/relationships/image" Target="../media/image40.jpe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2.jpe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4.jpeg"/><Relationship Id="rId1" Type="http://schemas.openxmlformats.org/officeDocument/2006/relationships/image" Target="../media/image43.jpeg"/></Relationships>
</file>

<file path=ppt/slides/_rels/slide10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5.jpe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6.jpe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slideLayout" Target="../slideLayouts/slideLayout6.xml"/><Relationship Id="rId1" Type="http://schemas.openxmlformats.org/officeDocument/2006/relationships/image" Target="../media/image47.jpe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30A0">
            <a:alpha val="8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err="1">
                <a:latin typeface="Times New Roman" panose="02020603050405020304" pitchFamily="18" charset="0"/>
                <a:cs typeface="Times New Roman" panose="02020603050405020304" pitchFamily="18" charset="0"/>
              </a:rPr>
              <a:t>Chương</a:t>
            </a:r>
            <a:r>
              <a:rPr lang="en-US" sz="3600" b="1" dirty="0">
                <a:latin typeface="Times New Roman" panose="02020603050405020304" pitchFamily="18" charset="0"/>
                <a:cs typeface="Times New Roman" panose="02020603050405020304" pitchFamily="18" charset="0"/>
              </a:rPr>
              <a:t> 2</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marL="0" indent="0" algn="ctr">
              <a:buNone/>
            </a:pPr>
            <a:r>
              <a:rPr lang="en-US" sz="4000" b="1" dirty="0">
                <a:latin typeface="Times New Roman" panose="02020603050405020304" pitchFamily="18" charset="0"/>
                <a:cs typeface="Times New Roman" panose="02020603050405020304" pitchFamily="18" charset="0"/>
              </a:rPr>
              <a:t>CHỦ NGHĨA DUY VẬT BIỆN CHỨNG</a:t>
            </a:r>
            <a:endParaRPr lang="en-US" sz="4000" b="1" dirty="0">
              <a:latin typeface="Times New Roman" panose="02020603050405020304" pitchFamily="18" charset="0"/>
              <a:cs typeface="Times New Roman" panose="02020603050405020304" pitchFamily="18" charset="0"/>
            </a:endParaRPr>
          </a:p>
          <a:p>
            <a:pPr marL="0" indent="0" algn="ctr">
              <a:buNone/>
            </a:pPr>
            <a:endParaRPr lang="en-US" sz="3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38546"/>
            <a:ext cx="10515600" cy="1576241"/>
          </a:xfrm>
        </p:spPr>
        <p:txBody>
          <a:bodyPr>
            <a:normAutofit fontScale="90000"/>
          </a:bodyPr>
          <a:lstStyle/>
          <a:p>
            <a:r>
              <a:rPr lang="en-US" sz="3200" b="1" dirty="0">
                <a:latin typeface="Times New Roman" panose="02020603050405020304" pitchFamily="18" charset="0"/>
                <a:cs typeface="Times New Roman" panose="02020603050405020304" pitchFamily="18" charset="0"/>
              </a:rPr>
              <a:t>I. VẬT CHẤT VÀ Ý THỨC.</a:t>
            </a:r>
            <a:br>
              <a:rPr lang="en-US" sz="3200" b="1" dirty="0">
                <a:latin typeface="Times New Roman" panose="02020603050405020304" pitchFamily="18" charset="0"/>
                <a:cs typeface="Times New Roman" panose="02020603050405020304" pitchFamily="18" charset="0"/>
              </a:rPr>
            </a:br>
            <a:r>
              <a:rPr lang="en-US" sz="2900" b="1" dirty="0">
                <a:latin typeface="Times New Roman" panose="02020603050405020304" pitchFamily="18" charset="0"/>
                <a:cs typeface="Times New Roman" panose="02020603050405020304" pitchFamily="18" charset="0"/>
              </a:rPr>
              <a:t>1. </a:t>
            </a:r>
            <a:r>
              <a:rPr lang="en-US" sz="2900" b="1" dirty="0" err="1">
                <a:latin typeface="Times New Roman" panose="02020603050405020304" pitchFamily="18" charset="0"/>
                <a:cs typeface="Times New Roman" panose="02020603050405020304" pitchFamily="18" charset="0"/>
              </a:rPr>
              <a:t>Vật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chất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và</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các</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hình</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thức</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tồn</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tại</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của</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vật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chất</a:t>
            </a:r>
            <a:br>
              <a:rPr lang="en-US" sz="2900" b="1" dirty="0">
                <a:latin typeface="Times New Roman" panose="02020603050405020304" pitchFamily="18" charset="0"/>
                <a:cs typeface="Times New Roman" panose="02020603050405020304" pitchFamily="18" charset="0"/>
              </a:rPr>
            </a:br>
            <a:r>
              <a:rPr lang="en-US" sz="2900" b="1" dirty="0">
                <a:latin typeface="Times New Roman" panose="02020603050405020304" pitchFamily="18" charset="0"/>
                <a:cs typeface="Times New Roman" panose="02020603050405020304" pitchFamily="18" charset="0"/>
              </a:rPr>
              <a:t>2. </a:t>
            </a:r>
            <a:r>
              <a:rPr lang="en-US" sz="2900" b="1" dirty="0" err="1">
                <a:latin typeface="Times New Roman" panose="02020603050405020304" pitchFamily="18" charset="0"/>
                <a:cs typeface="Times New Roman" panose="02020603050405020304" pitchFamily="18" charset="0"/>
              </a:rPr>
              <a:t>Nguồn</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gốc</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bản</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chất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và</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kết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cấu</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của</a:t>
            </a:r>
            <a:r>
              <a:rPr lang="en-US" sz="2900" b="1" dirty="0">
                <a:latin typeface="Times New Roman" panose="02020603050405020304" pitchFamily="18" charset="0"/>
                <a:cs typeface="Times New Roman" panose="02020603050405020304" pitchFamily="18" charset="0"/>
              </a:rPr>
              <a:t> ý </a:t>
            </a:r>
            <a:r>
              <a:rPr lang="en-US" sz="2900" b="1" dirty="0" err="1">
                <a:latin typeface="Times New Roman" panose="02020603050405020304" pitchFamily="18" charset="0"/>
                <a:cs typeface="Times New Roman" panose="02020603050405020304" pitchFamily="18" charset="0"/>
              </a:rPr>
              <a:t>thức</a:t>
            </a:r>
            <a:br>
              <a:rPr lang="en-US" sz="2900" b="1" dirty="0">
                <a:latin typeface="Times New Roman" panose="02020603050405020304" pitchFamily="18" charset="0"/>
                <a:cs typeface="Times New Roman" panose="02020603050405020304" pitchFamily="18" charset="0"/>
              </a:rPr>
            </a:br>
            <a:r>
              <a:rPr lang="en-US" sz="2900" b="1" dirty="0">
                <a:latin typeface="Times New Roman" panose="02020603050405020304" pitchFamily="18" charset="0"/>
                <a:cs typeface="Times New Roman" panose="02020603050405020304" pitchFamily="18" charset="0"/>
              </a:rPr>
              <a:t>3. </a:t>
            </a:r>
            <a:r>
              <a:rPr lang="en-US" sz="2900" b="1" dirty="0" err="1">
                <a:latin typeface="Times New Roman" panose="02020603050405020304" pitchFamily="18" charset="0"/>
                <a:cs typeface="Times New Roman" panose="02020603050405020304" pitchFamily="18" charset="0"/>
              </a:rPr>
              <a:t>Mối</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quan</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hệ</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giữa</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vật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chất</a:t>
            </a:r>
            <a:r>
              <a:rPr lang="en-US" sz="2900" b="1" dirty="0">
                <a:latin typeface="Times New Roman" panose="02020603050405020304" pitchFamily="18" charset="0"/>
                <a:cs typeface="Times New Roman" panose="02020603050405020304" pitchFamily="18" charset="0"/>
              </a:rPr>
              <a:t> </a:t>
            </a:r>
            <a:r>
              <a:rPr lang="en-US" sz="2900" b="1" dirty="0" err="1">
                <a:latin typeface="Times New Roman" panose="02020603050405020304" pitchFamily="18" charset="0"/>
                <a:cs typeface="Times New Roman" panose="02020603050405020304" pitchFamily="18" charset="0"/>
              </a:rPr>
              <a:t>và</a:t>
            </a:r>
            <a:r>
              <a:rPr lang="en-US" sz="2900" b="1" dirty="0">
                <a:latin typeface="Times New Roman" panose="02020603050405020304" pitchFamily="18" charset="0"/>
                <a:cs typeface="Times New Roman" panose="02020603050405020304" pitchFamily="18" charset="0"/>
              </a:rPr>
              <a:t> ý </a:t>
            </a:r>
            <a:r>
              <a:rPr lang="en-US" sz="2900" b="1" dirty="0" err="1">
                <a:latin typeface="Times New Roman" panose="02020603050405020304" pitchFamily="18" charset="0"/>
                <a:cs typeface="Times New Roman" panose="02020603050405020304" pitchFamily="18" charset="0"/>
              </a:rPr>
              <a:t>thức</a:t>
            </a:r>
            <a:endParaRPr lang="en-US" sz="29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4"/>
            <a:ext cx="10515600" cy="4727575"/>
          </a:xfrm>
        </p:spPr>
        <p:txBody>
          <a:bodyPr>
            <a:normAutofit/>
          </a:bodyPr>
          <a:lstStyle/>
          <a:p>
            <a:pPr marL="0" indent="0" algn="just">
              <a:buNone/>
            </a:pPr>
            <a:r>
              <a:rPr lang="en-US" sz="3600" b="1" dirty="0">
                <a:latin typeface="Times New Roman" panose="02020603050405020304" pitchFamily="18" charset="0"/>
                <a:cs typeface="Times New Roman" panose="02020603050405020304" pitchFamily="18" charset="0"/>
              </a:rPr>
              <a:t>II. </a:t>
            </a:r>
            <a:r>
              <a:rPr lang="en-US" sz="3600" b="1" dirty="0" err="1">
                <a:latin typeface="Times New Roman" panose="02020603050405020304" pitchFamily="18" charset="0"/>
                <a:cs typeface="Times New Roman" panose="02020603050405020304" pitchFamily="18" charset="0"/>
              </a:rPr>
              <a:t>Phép</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biện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chứng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duy</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vật</a:t>
            </a:r>
            <a:endParaRPr lang="en-US" sz="3600" b="1" dirty="0">
              <a:latin typeface="Times New Roman" panose="02020603050405020304" pitchFamily="18" charset="0"/>
              <a:cs typeface="Times New Roman" panose="02020603050405020304" pitchFamily="18" charset="0"/>
            </a:endParaRPr>
          </a:p>
          <a:p>
            <a:pPr marL="0" indent="0" algn="just">
              <a:buNone/>
            </a:pPr>
            <a:r>
              <a:rPr lang="en-US" sz="2600" b="1" dirty="0">
                <a:latin typeface="Times New Roman" panose="02020603050405020304" pitchFamily="18" charset="0"/>
                <a:cs typeface="Times New Roman" panose="02020603050405020304" pitchFamily="18" charset="0"/>
              </a:rPr>
              <a:t>1. Hai </a:t>
            </a:r>
            <a:r>
              <a:rPr lang="en-US" sz="2600" b="1" dirty="0" err="1">
                <a:latin typeface="Times New Roman" panose="02020603050405020304" pitchFamily="18" charset="0"/>
                <a:cs typeface="Times New Roman" panose="02020603050405020304" pitchFamily="18" charset="0"/>
              </a:rPr>
              <a:t>loại</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hình</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biện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chứng</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và</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phép</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biện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chứng</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duy</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vật</a:t>
            </a:r>
            <a:endParaRPr lang="en-US" sz="2600" b="1" dirty="0">
              <a:latin typeface="Times New Roman" panose="02020603050405020304" pitchFamily="18" charset="0"/>
              <a:cs typeface="Times New Roman" panose="02020603050405020304" pitchFamily="18" charset="0"/>
            </a:endParaRPr>
          </a:p>
          <a:p>
            <a:pPr marL="0" indent="0" algn="just">
              <a:buNone/>
            </a:pPr>
            <a:r>
              <a:rPr lang="en-US" sz="2600" b="1" dirty="0">
                <a:latin typeface="Times New Roman" panose="02020603050405020304" pitchFamily="18" charset="0"/>
                <a:cs typeface="Times New Roman" panose="02020603050405020304" pitchFamily="18" charset="0"/>
              </a:rPr>
              <a:t>2. </a:t>
            </a:r>
            <a:r>
              <a:rPr lang="en-US" sz="2600" b="1" dirty="0" err="1">
                <a:latin typeface="Times New Roman" panose="02020603050405020304" pitchFamily="18" charset="0"/>
                <a:cs typeface="Times New Roman" panose="02020603050405020304" pitchFamily="18" charset="0"/>
              </a:rPr>
              <a:t>Nội</a:t>
            </a:r>
            <a:r>
              <a:rPr lang="en-US" sz="2600" b="1" dirty="0">
                <a:latin typeface="Times New Roman" panose="02020603050405020304" pitchFamily="18" charset="0"/>
                <a:cs typeface="Times New Roman" panose="02020603050405020304" pitchFamily="18" charset="0"/>
              </a:rPr>
              <a:t> dung </a:t>
            </a:r>
            <a:r>
              <a:rPr lang="en-US" sz="2600" b="1" dirty="0" err="1">
                <a:latin typeface="Times New Roman" panose="02020603050405020304" pitchFamily="18" charset="0"/>
                <a:cs typeface="Times New Roman" panose="02020603050405020304" pitchFamily="18" charset="0"/>
              </a:rPr>
              <a:t>của</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phép</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biện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chứng</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duy</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vật</a:t>
            </a:r>
            <a:endParaRPr lang="en-US" sz="2600" b="1" dirty="0">
              <a:latin typeface="Times New Roman" panose="02020603050405020304" pitchFamily="18" charset="0"/>
              <a:cs typeface="Times New Roman" panose="02020603050405020304" pitchFamily="18" charset="0"/>
            </a:endParaRPr>
          </a:p>
          <a:p>
            <a:pPr marL="0" indent="0" algn="just">
              <a:buNone/>
            </a:pPr>
            <a:r>
              <a:rPr lang="en-US" sz="3600" b="1" dirty="0">
                <a:latin typeface="Times New Roman" panose="02020603050405020304" pitchFamily="18" charset="0"/>
                <a:cs typeface="Times New Roman" panose="02020603050405020304" pitchFamily="18" charset="0"/>
              </a:rPr>
              <a:t>III. </a:t>
            </a:r>
            <a:r>
              <a:rPr lang="en-US" sz="3600" b="1" dirty="0" err="1">
                <a:latin typeface="Times New Roman" panose="02020603050405020304" pitchFamily="18" charset="0"/>
                <a:cs typeface="Times New Roman" panose="02020603050405020304" pitchFamily="18" charset="0"/>
              </a:rPr>
              <a:t>Lý</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luận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nhận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thức</a:t>
            </a:r>
            <a:endParaRPr lang="en-US" sz="3600" b="1" dirty="0">
              <a:latin typeface="Times New Roman" panose="02020603050405020304" pitchFamily="18" charset="0"/>
              <a:cs typeface="Times New Roman" panose="02020603050405020304" pitchFamily="18" charset="0"/>
            </a:endParaRPr>
          </a:p>
          <a:p>
            <a:pPr marL="514350" indent="-514350" algn="just">
              <a:buAutoNum type="arabicPeriod"/>
            </a:pPr>
            <a:r>
              <a:rPr lang="en-US" sz="2600" b="1" dirty="0" err="1">
                <a:latin typeface="Times New Roman" panose="02020603050405020304" pitchFamily="18" charset="0"/>
                <a:cs typeface="Times New Roman" panose="02020603050405020304" pitchFamily="18" charset="0"/>
              </a:rPr>
              <a:t>Các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nguyên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tắc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của</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lý</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luận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nhận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thức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duy</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vật</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biện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chứng</a:t>
            </a:r>
            <a:r>
              <a:rPr lang="en-US" sz="2600" b="1" dirty="0">
                <a:latin typeface="Times New Roman" panose="02020603050405020304" pitchFamily="18" charset="0"/>
                <a:cs typeface="Times New Roman" panose="02020603050405020304" pitchFamily="18" charset="0"/>
              </a:rPr>
              <a:t>.</a:t>
            </a:r>
            <a:endParaRPr lang="en-US" sz="2600" b="1" dirty="0">
              <a:latin typeface="Times New Roman" panose="02020603050405020304" pitchFamily="18" charset="0"/>
              <a:cs typeface="Times New Roman" panose="02020603050405020304" pitchFamily="18" charset="0"/>
            </a:endParaRPr>
          </a:p>
          <a:p>
            <a:pPr marL="514350" indent="-514350" algn="just">
              <a:buAutoNum type="arabicPeriod"/>
            </a:pPr>
            <a:r>
              <a:rPr lang="en-US" sz="2600" b="1" dirty="0" err="1">
                <a:latin typeface="Times New Roman" panose="02020603050405020304" pitchFamily="18" charset="0"/>
                <a:cs typeface="Times New Roman" panose="02020603050405020304" pitchFamily="18" charset="0"/>
              </a:rPr>
              <a:t>Nguồn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gốc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bản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chất</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của</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nhận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thức</a:t>
            </a:r>
            <a:r>
              <a:rPr lang="en-US" sz="2600" b="1" dirty="0">
                <a:latin typeface="Times New Roman" panose="02020603050405020304" pitchFamily="18" charset="0"/>
                <a:cs typeface="Times New Roman" panose="02020603050405020304" pitchFamily="18" charset="0"/>
              </a:rPr>
              <a:t>.</a:t>
            </a:r>
            <a:endParaRPr lang="en-US" sz="2600" b="1" dirty="0">
              <a:latin typeface="Times New Roman" panose="02020603050405020304" pitchFamily="18" charset="0"/>
              <a:cs typeface="Times New Roman" panose="02020603050405020304" pitchFamily="18" charset="0"/>
            </a:endParaRPr>
          </a:p>
          <a:p>
            <a:pPr marL="514350" indent="-514350" algn="just">
              <a:buAutoNum type="arabicPeriod"/>
            </a:pPr>
            <a:r>
              <a:rPr lang="en-US" sz="2600" b="1" dirty="0" err="1">
                <a:latin typeface="Times New Roman" panose="02020603050405020304" pitchFamily="18" charset="0"/>
                <a:cs typeface="Times New Roman" panose="02020603050405020304" pitchFamily="18" charset="0"/>
              </a:rPr>
              <a:t>Thực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tiễn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và</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vai</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trò</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của</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thực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tiễn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đối</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với</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nhận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thức</a:t>
            </a:r>
            <a:endParaRPr lang="en-US" sz="2600" b="1" dirty="0">
              <a:latin typeface="Times New Roman" panose="02020603050405020304" pitchFamily="18" charset="0"/>
              <a:cs typeface="Times New Roman" panose="02020603050405020304" pitchFamily="18" charset="0"/>
            </a:endParaRPr>
          </a:p>
          <a:p>
            <a:pPr marL="514350" indent="-514350" algn="just">
              <a:buAutoNum type="arabicPeriod"/>
            </a:pPr>
            <a:r>
              <a:rPr lang="en-US" sz="2600" b="1" dirty="0" err="1">
                <a:latin typeface="Times New Roman" panose="02020603050405020304" pitchFamily="18" charset="0"/>
                <a:cs typeface="Times New Roman" panose="02020603050405020304" pitchFamily="18" charset="0"/>
              </a:rPr>
              <a:t>Các</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giai</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đoạn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cơ</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bản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của</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quá</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trình</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nhận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thức</a:t>
            </a:r>
            <a:endParaRPr lang="en-US" sz="2600" b="1" dirty="0">
              <a:latin typeface="Times New Roman" panose="02020603050405020304" pitchFamily="18" charset="0"/>
              <a:cs typeface="Times New Roman" panose="02020603050405020304" pitchFamily="18" charset="0"/>
            </a:endParaRPr>
          </a:p>
          <a:p>
            <a:pPr marL="514350" indent="-514350" algn="just">
              <a:buAutoNum type="arabicPeriod"/>
            </a:pPr>
            <a:r>
              <a:rPr lang="en-US" sz="2600" b="1" dirty="0" err="1">
                <a:latin typeface="Times New Roman" panose="02020603050405020304" pitchFamily="18" charset="0"/>
                <a:cs typeface="Times New Roman" panose="02020603050405020304" pitchFamily="18" charset="0"/>
              </a:rPr>
              <a:t>Tính</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chất</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của</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chân</a:t>
            </a:r>
            <a:r>
              <a:rPr lang="en-US" sz="2600" b="1" dirty="0">
                <a:latin typeface="Times New Roman" panose="02020603050405020304" pitchFamily="18" charset="0"/>
                <a:cs typeface="Times New Roman" panose="02020603050405020304" pitchFamily="18" charset="0"/>
              </a:rPr>
              <a:t> </a:t>
            </a:r>
            <a:r>
              <a:rPr lang="en-US" sz="2600" b="1" dirty="0" err="1">
                <a:latin typeface="Times New Roman" panose="02020603050405020304" pitchFamily="18" charset="0"/>
                <a:cs typeface="Times New Roman" panose="02020603050405020304" pitchFamily="18" charset="0"/>
              </a:rPr>
              <a:t>lý</a:t>
            </a:r>
            <a:endParaRPr lang="en-US" sz="2600" b="1" dirty="0">
              <a:latin typeface="Times New Roman" panose="02020603050405020304" pitchFamily="18" charset="0"/>
              <a:cs typeface="Times New Roman" panose="02020603050405020304" pitchFamily="18" charset="0"/>
            </a:endParaRPr>
          </a:p>
          <a:p>
            <a:pPr marL="514350" indent="-514350" algn="just">
              <a:buAutoNum type="arabicPeriod"/>
            </a:pPr>
            <a:endParaRPr lang="en-US" sz="2600" b="1"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8" end="8"/>
                                            </p:txEl>
                                          </p:spTgt>
                                        </p:tgtEl>
                                        <p:attrNameLst>
                                          <p:attrName>style.visibility</p:attrName>
                                        </p:attrNameLst>
                                      </p:cBhvr>
                                      <p:to>
                                        <p:strVal val="visible"/>
                                      </p:to>
                                    </p:set>
                                    <p:anim calcmode="lin" valueType="num">
                                      <p:cBhvr additive="base">
                                        <p:cTn id="6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15035"/>
          </a:xfrm>
        </p:spPr>
        <p:txBody>
          <a:bodyPr>
            <a:normAutofit/>
          </a:bodyPr>
          <a:lstStyle/>
          <a:p>
            <a:r>
              <a:rPr lang="en-US" sz="2400" b="1" dirty="0">
                <a:solidFill>
                  <a:srgbClr val="FF0000"/>
                </a:solidFill>
                <a:latin typeface="Times New Roman" panose="02020603050405020304" pitchFamily="18" charset="0"/>
                <a:cs typeface="Times New Roman" panose="02020603050405020304" pitchFamily="18" charset="0"/>
              </a:rPr>
              <a:t>I. VẬT CHẤT VÀ Ý THỨC.</a:t>
            </a:r>
            <a:br>
              <a:rPr lang="en-US"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1. </a:t>
            </a:r>
            <a:r>
              <a:rPr lang="en-US" sz="2400" b="1" dirty="0" err="1">
                <a:solidFill>
                  <a:srgbClr val="FF0000"/>
                </a:solidFill>
                <a:latin typeface="Times New Roman" panose="02020603050405020304" pitchFamily="18" charset="0"/>
                <a:cs typeface="Times New Roman" panose="02020603050405020304" pitchFamily="18" charset="0"/>
              </a:rPr>
              <a:t>Vật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chất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và</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các</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hình</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thức</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tồn</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tại</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của</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vật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chất</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80457"/>
            <a:ext cx="10515600" cy="4696506"/>
          </a:xfrm>
        </p:spPr>
        <p:txBody>
          <a:bodyPr/>
          <a:lstStyle/>
          <a:p>
            <a:pPr marL="0" indent="0">
              <a:buNone/>
            </a:pPr>
            <a:endParaRPr lang="en-US" dirty="0"/>
          </a:p>
        </p:txBody>
      </p:sp>
      <p:sp>
        <p:nvSpPr>
          <p:cNvPr id="4" name="Rectangle 3"/>
          <p:cNvSpPr/>
          <p:nvPr/>
        </p:nvSpPr>
        <p:spPr>
          <a:xfrm>
            <a:off x="838200" y="2042160"/>
            <a:ext cx="1408611" cy="250952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vi-VN" sz="2000" b="1" dirty="0">
              <a:solidFill>
                <a:srgbClr val="FF0000"/>
              </a:solidFill>
              <a:latin typeface="Times New Roman" panose="02020603050405020304" pitchFamily="18" charset="0"/>
              <a:cs typeface="Times New Roman" panose="02020603050405020304" pitchFamily="18" charset="0"/>
            </a:endParaRPr>
          </a:p>
          <a:p>
            <a:pPr algn="ctr"/>
            <a:r>
              <a:rPr lang="vi-VN" sz="2000" b="1" dirty="0">
                <a:solidFill>
                  <a:srgbClr val="FF0000"/>
                </a:solidFill>
                <a:latin typeface="Times New Roman" panose="02020603050405020304" pitchFamily="18" charset="0"/>
                <a:cs typeface="Times New Roman" panose="02020603050405020304" pitchFamily="18" charset="0"/>
              </a:rPr>
              <a:t>a. </a:t>
            </a:r>
            <a:r>
              <a:rPr lang="en-US" sz="2000" b="1" dirty="0">
                <a:solidFill>
                  <a:srgbClr val="FF0000"/>
                </a:solidFill>
                <a:latin typeface="Times New Roman" panose="02020603050405020304" pitchFamily="18" charset="0"/>
                <a:cs typeface="Times New Roman" panose="02020603050405020304" pitchFamily="18" charset="0"/>
              </a:rPr>
              <a:t>Quan </a:t>
            </a:r>
            <a:r>
              <a:rPr lang="en-US" sz="2000" b="1" dirty="0" err="1">
                <a:solidFill>
                  <a:srgbClr val="FF0000"/>
                </a:solidFill>
                <a:latin typeface="Times New Roman" panose="02020603050405020304" pitchFamily="18" charset="0"/>
                <a:cs typeface="Times New Roman" panose="02020603050405020304" pitchFamily="18" charset="0"/>
              </a:rPr>
              <a:t>niệm</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của</a:t>
            </a:r>
            <a:r>
              <a:rPr lang="en-US" sz="2000" b="1" dirty="0">
                <a:solidFill>
                  <a:srgbClr val="FF0000"/>
                </a:solidFill>
                <a:latin typeface="Times New Roman" panose="02020603050405020304" pitchFamily="18" charset="0"/>
                <a:cs typeface="Times New Roman" panose="02020603050405020304" pitchFamily="18" charset="0"/>
              </a:rPr>
              <a:t> CNDT </a:t>
            </a:r>
            <a:r>
              <a:rPr lang="en-US" sz="2000" b="1" dirty="0" err="1">
                <a:solidFill>
                  <a:srgbClr val="FF0000"/>
                </a:solidFill>
                <a:latin typeface="Times New Roman" panose="02020603050405020304" pitchFamily="18" charset="0"/>
                <a:cs typeface="Times New Roman" panose="02020603050405020304" pitchFamily="18" charset="0"/>
              </a:rPr>
              <a:t>và</a:t>
            </a:r>
            <a:r>
              <a:rPr lang="en-US" sz="2000" b="1" dirty="0">
                <a:solidFill>
                  <a:srgbClr val="FF0000"/>
                </a:solidFill>
                <a:latin typeface="Times New Roman" panose="02020603050405020304" pitchFamily="18" charset="0"/>
                <a:cs typeface="Times New Roman" panose="02020603050405020304" pitchFamily="18" charset="0"/>
              </a:rPr>
              <a:t> CNDV </a:t>
            </a:r>
            <a:r>
              <a:rPr lang="en-US" sz="2000" b="1" dirty="0" err="1">
                <a:solidFill>
                  <a:srgbClr val="FF0000"/>
                </a:solidFill>
                <a:latin typeface="Times New Roman" panose="02020603050405020304" pitchFamily="18" charset="0"/>
                <a:cs typeface="Times New Roman" panose="02020603050405020304" pitchFamily="18" charset="0"/>
              </a:rPr>
              <a:t>trước</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C.Mac</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về</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phạm</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trù</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vật</a:t>
            </a:r>
            <a:r>
              <a:rPr lang="en-US" sz="2000" b="1" dirty="0">
                <a:solidFill>
                  <a:srgbClr val="FF0000"/>
                </a:solidFill>
                <a:latin typeface="Times New Roman" panose="02020603050405020304" pitchFamily="18" charset="0"/>
                <a:cs typeface="Times New Roman" panose="02020603050405020304" pitchFamily="18" charset="0"/>
              </a:rPr>
              <a:t> </a:t>
            </a:r>
            <a:r>
              <a:rPr lang="en-US" sz="2000" b="1" dirty="0" err="1">
                <a:solidFill>
                  <a:srgbClr val="FF0000"/>
                </a:solidFill>
                <a:latin typeface="Times New Roman" panose="02020603050405020304" pitchFamily="18" charset="0"/>
                <a:cs typeface="Times New Roman" panose="02020603050405020304" pitchFamily="18" charset="0"/>
              </a:rPr>
              <a:t>chất</a:t>
            </a:r>
            <a:r>
              <a:rPr lang="en-US" sz="2000" b="1" dirty="0">
                <a:solidFill>
                  <a:srgbClr val="FF0000"/>
                </a:solidFill>
                <a:latin typeface="Times New Roman" panose="02020603050405020304" pitchFamily="18" charset="0"/>
                <a:cs typeface="Times New Roman" panose="02020603050405020304" pitchFamily="18" charset="0"/>
              </a:rPr>
              <a:t>.</a:t>
            </a:r>
            <a:endParaRPr lang="en-US" sz="2000" b="1" dirty="0">
              <a:solidFill>
                <a:srgbClr val="FF0000"/>
              </a:solidFill>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3037840" y="1280160"/>
            <a:ext cx="5445760" cy="11887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v"/>
            </a:pPr>
            <a:endParaRPr lang="vi-VN" b="1"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b="1" dirty="0">
                <a:solidFill>
                  <a:srgbClr val="FF0000"/>
                </a:solidFill>
                <a:latin typeface="Times New Roman" panose="02020603050405020304" pitchFamily="18" charset="0"/>
                <a:cs typeface="Times New Roman" panose="02020603050405020304" pitchFamily="18" charset="0"/>
              </a:rPr>
              <a:t>Quan </a:t>
            </a:r>
            <a:r>
              <a:rPr lang="en-US" b="1" dirty="0" err="1">
                <a:solidFill>
                  <a:srgbClr val="FF0000"/>
                </a:solidFill>
                <a:latin typeface="Times New Roman" panose="02020603050405020304" pitchFamily="18" charset="0"/>
                <a:cs typeface="Times New Roman" panose="02020603050405020304" pitchFamily="18" charset="0"/>
              </a:rPr>
              <a:t>niệm</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của</a:t>
            </a:r>
            <a:r>
              <a:rPr lang="en-US" b="1" dirty="0">
                <a:solidFill>
                  <a:srgbClr val="FF0000"/>
                </a:solidFill>
                <a:latin typeface="Times New Roman" panose="02020603050405020304" pitchFamily="18" charset="0"/>
                <a:cs typeface="Times New Roman" panose="02020603050405020304" pitchFamily="18" charset="0"/>
              </a:rPr>
              <a:t> CNDT </a:t>
            </a:r>
            <a:r>
              <a:rPr lang="en-US" b="1" dirty="0" err="1">
                <a:solidFill>
                  <a:srgbClr val="FF0000"/>
                </a:solidFill>
                <a:latin typeface="Times New Roman" panose="02020603050405020304" pitchFamily="18" charset="0"/>
                <a:cs typeface="Times New Roman" panose="02020603050405020304" pitchFamily="18" charset="0"/>
              </a:rPr>
              <a:t>về</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phạm</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trù</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vật</a:t>
            </a:r>
            <a:r>
              <a:rPr lang="en-US" b="1" dirty="0">
                <a:solidFill>
                  <a:srgbClr val="FF0000"/>
                </a:solidFill>
                <a:latin typeface="Times New Roman" panose="02020603050405020304" pitchFamily="18" charset="0"/>
                <a:cs typeface="Times New Roman" panose="02020603050405020304" pitchFamily="18" charset="0"/>
              </a:rPr>
              <a:t> </a:t>
            </a:r>
            <a:r>
              <a:rPr lang="en-US" b="1" dirty="0" err="1">
                <a:solidFill>
                  <a:srgbClr val="FF0000"/>
                </a:solidFill>
                <a:latin typeface="Times New Roman" panose="02020603050405020304" pitchFamily="18" charset="0"/>
                <a:cs typeface="Times New Roman" panose="02020603050405020304" pitchFamily="18" charset="0"/>
              </a:rPr>
              <a:t>chất</a:t>
            </a:r>
            <a:r>
              <a:rPr lang="en-US" b="1" dirty="0">
                <a:solidFill>
                  <a:srgbClr val="FF0000"/>
                </a:solidFill>
                <a:latin typeface="Times New Roman" panose="02020603050405020304" pitchFamily="18" charset="0"/>
                <a:cs typeface="Times New Roman" panose="02020603050405020304" pitchFamily="18" charset="0"/>
              </a:rPr>
              <a:t>.</a:t>
            </a:r>
            <a:endParaRPr lang="en-US" b="1" dirty="0">
              <a:solidFill>
                <a:srgbClr val="FF0000"/>
              </a:solidFill>
              <a:latin typeface="Times New Roman" panose="02020603050405020304" pitchFamily="18" charset="0"/>
              <a:cs typeface="Times New Roman" panose="02020603050405020304" pitchFamily="18" charset="0"/>
            </a:endParaRPr>
          </a:p>
          <a:p>
            <a:pPr algn="just">
              <a:buFontTx/>
              <a:buChar char="-"/>
            </a:pPr>
            <a:r>
              <a:rPr lang="en-US" dirty="0" err="1">
                <a:solidFill>
                  <a:schemeClr val="tx1"/>
                </a:solidFill>
                <a:latin typeface="Times New Roman" panose="02020603050405020304" pitchFamily="18" charset="0"/>
                <a:cs typeface="Times New Roman" panose="02020603050405020304" pitchFamily="18" charset="0"/>
              </a:rPr>
              <a:t>Thừa</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nhận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sự</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tồn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tại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của</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sự</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vật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hiện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tượng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vật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chất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nhưng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phủ</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định</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đặc</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tính</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tồn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tại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khách</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quan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của</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chúng</a:t>
            </a:r>
            <a:r>
              <a:rPr lang="en-US" dirty="0">
                <a:solidFill>
                  <a:schemeClr val="tx1"/>
                </a:solidFill>
                <a:latin typeface="Times New Roman" panose="02020603050405020304" pitchFamily="18" charset="0"/>
                <a:cs typeface="Times New Roman" panose="02020603050405020304" pitchFamily="18" charset="0"/>
              </a:rPr>
              <a:t>.</a:t>
            </a:r>
            <a:endParaRPr lang="en-US" dirty="0">
              <a:solidFill>
                <a:schemeClr val="tx1"/>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3037840" y="2669177"/>
            <a:ext cx="5445760" cy="1188719"/>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v"/>
            </a:pPr>
            <a:r>
              <a:rPr lang="en-US" b="1" i="1" dirty="0" err="1">
                <a:solidFill>
                  <a:srgbClr val="FF0000"/>
                </a:solidFill>
                <a:latin typeface="Times New Roman" panose="02020603050405020304" pitchFamily="18" charset="0"/>
                <a:cs typeface="Times New Roman" panose="02020603050405020304" pitchFamily="18" charset="0"/>
              </a:rPr>
              <a:t>Chủ</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nghĩa</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duy</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vật</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thời</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Cổ</a:t>
            </a:r>
            <a:r>
              <a:rPr lang="en-US" b="1" i="1" dirty="0">
                <a:solidFill>
                  <a:srgbClr val="FF0000"/>
                </a:solidFill>
                <a:latin typeface="Times New Roman" panose="02020603050405020304" pitchFamily="18" charset="0"/>
                <a:cs typeface="Times New Roman" panose="02020603050405020304" pitchFamily="18" charset="0"/>
              </a:rPr>
              <a:t> </a:t>
            </a:r>
            <a:r>
              <a:rPr lang="en-US" b="1" i="1" dirty="0" err="1">
                <a:solidFill>
                  <a:srgbClr val="FF0000"/>
                </a:solidFill>
                <a:latin typeface="Times New Roman" panose="02020603050405020304" pitchFamily="18" charset="0"/>
                <a:cs typeface="Times New Roman" panose="02020603050405020304" pitchFamily="18" charset="0"/>
              </a:rPr>
              <a:t>đại</a:t>
            </a:r>
            <a:r>
              <a:rPr lang="en-US" b="1" i="1" dirty="0">
                <a:solidFill>
                  <a:schemeClr val="tx1"/>
                </a:solidFill>
                <a:latin typeface="Times New Roman" panose="02020603050405020304" pitchFamily="18" charset="0"/>
                <a:cs typeface="Times New Roman" panose="02020603050405020304" pitchFamily="18" charset="0"/>
              </a:rPr>
              <a:t>:</a:t>
            </a:r>
            <a:endParaRPr lang="vi-VN" b="1" i="1" dirty="0">
              <a:solidFill>
                <a:schemeClr val="tx1"/>
              </a:solidFill>
              <a:latin typeface="Times New Roman" panose="02020603050405020304" pitchFamily="18" charset="0"/>
              <a:cs typeface="Times New Roman" panose="02020603050405020304" pitchFamily="18" charset="0"/>
            </a:endParaRPr>
          </a:p>
          <a:p>
            <a:pPr algn="just"/>
            <a:r>
              <a:rPr lang="en-US" b="1" i="1"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quy</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vật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chất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về</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một</a:t>
            </a:r>
            <a:r>
              <a:rPr lang="en-US" dirty="0">
                <a:solidFill>
                  <a:schemeClr val="tx1"/>
                </a:solidFill>
                <a:latin typeface="Times New Roman" panose="02020603050405020304" pitchFamily="18" charset="0"/>
                <a:cs typeface="Times New Roman" panose="02020603050405020304" pitchFamily="18" charset="0"/>
              </a:rPr>
              <a:t> hay </a:t>
            </a:r>
            <a:r>
              <a:rPr lang="en-US" dirty="0" err="1">
                <a:solidFill>
                  <a:schemeClr val="tx1"/>
                </a:solidFill>
                <a:latin typeface="Times New Roman" panose="02020603050405020304" pitchFamily="18" charset="0"/>
                <a:cs typeface="Times New Roman" panose="02020603050405020304" pitchFamily="18" charset="0"/>
              </a:rPr>
              <a:t>một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vài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dạng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cụ</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thể</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của</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nó</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và</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xem</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chúng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là</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khởi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nguyên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của</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thế</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giới</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quy</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vật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chất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về</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những</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vật</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thể</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hữu</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hình</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cảm</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tính</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tồn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tại</a:t>
            </a:r>
            <a:r>
              <a:rPr lang="en-US" dirty="0">
                <a:solidFill>
                  <a:schemeClr val="tx1"/>
                </a:solidFill>
                <a:latin typeface="Times New Roman" panose="02020603050405020304" pitchFamily="18" charset="0"/>
                <a:cs typeface="Times New Roman" panose="02020603050405020304" pitchFamily="18" charset="0"/>
              </a:rPr>
              <a:t> ở </a:t>
            </a:r>
            <a:r>
              <a:rPr lang="en-US" dirty="0" err="1">
                <a:solidFill>
                  <a:schemeClr val="tx1"/>
                </a:solidFill>
                <a:latin typeface="Times New Roman" panose="02020603050405020304" pitchFamily="18" charset="0"/>
                <a:cs typeface="Times New Roman" panose="02020603050405020304" pitchFamily="18" charset="0"/>
              </a:rPr>
              <a:t>bên</a:t>
            </a:r>
            <a:r>
              <a:rPr lang="en-US" dirty="0">
                <a:solidFill>
                  <a:schemeClr val="tx1"/>
                </a:solidFill>
                <a:latin typeface="Times New Roman" panose="02020603050405020304" pitchFamily="18" charset="0"/>
                <a:cs typeface="Times New Roman" panose="02020603050405020304" pitchFamily="18" charset="0"/>
              </a:rPr>
              <a:t> </a:t>
            </a:r>
            <a:r>
              <a:rPr lang="en-US" dirty="0" err="1">
                <a:solidFill>
                  <a:schemeClr val="tx1"/>
                </a:solidFill>
                <a:latin typeface="Times New Roman" panose="02020603050405020304" pitchFamily="18" charset="0"/>
                <a:cs typeface="Times New Roman" panose="02020603050405020304" pitchFamily="18" charset="0"/>
              </a:rPr>
              <a:t>ngoài</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2621279" y="4165601"/>
            <a:ext cx="3078481" cy="19228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buFont typeface="Wingdings" panose="05000000000000000000" pitchFamily="2" charset="2"/>
              <a:buChar char="v"/>
            </a:pPr>
            <a:endParaRPr lang="vi-VN"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b="1" dirty="0">
                <a:solidFill>
                  <a:srgbClr val="FF0000"/>
                </a:solidFill>
                <a:latin typeface="Times New Roman" panose="02020603050405020304" pitchFamily="18" charset="0"/>
                <a:cs typeface="Times New Roman" panose="02020603050405020304" pitchFamily="18" charset="0"/>
              </a:rPr>
              <a:t>Phương Đông </a:t>
            </a:r>
            <a:r>
              <a:rPr lang="en-US" sz="1600" b="1" dirty="0" err="1">
                <a:solidFill>
                  <a:srgbClr val="FF0000"/>
                </a:solidFill>
                <a:latin typeface="Times New Roman" panose="02020603050405020304" pitchFamily="18" charset="0"/>
                <a:cs typeface="Times New Roman" panose="02020603050405020304" pitchFamily="18" charset="0"/>
              </a:rPr>
              <a:t>Cổ</a:t>
            </a:r>
            <a:r>
              <a:rPr lang="en-US" sz="1600" b="1" dirty="0">
                <a:solidFill>
                  <a:srgbClr val="FF0000"/>
                </a:solidFill>
                <a:latin typeface="Times New Roman" panose="02020603050405020304" pitchFamily="18" charset="0"/>
                <a:cs typeface="Times New Roman" panose="02020603050405020304" pitchFamily="18" charset="0"/>
              </a:rPr>
              <a:t> </a:t>
            </a:r>
            <a:r>
              <a:rPr lang="en-US" sz="1600" b="1" dirty="0" err="1">
                <a:solidFill>
                  <a:srgbClr val="FF0000"/>
                </a:solidFill>
                <a:latin typeface="Times New Roman" panose="02020603050405020304" pitchFamily="18" charset="0"/>
                <a:cs typeface="Times New Roman" panose="02020603050405020304" pitchFamily="18" charset="0"/>
              </a:rPr>
              <a:t>đại</a:t>
            </a:r>
            <a:endParaRPr lang="en-US" sz="1600" b="1" dirty="0">
              <a:solidFill>
                <a:srgbClr val="FF0000"/>
              </a:solidFill>
              <a:latin typeface="Times New Roman" panose="02020603050405020304" pitchFamily="18" charset="0"/>
              <a:cs typeface="Times New Roman" panose="02020603050405020304" pitchFamily="18" charset="0"/>
            </a:endParaRPr>
          </a:p>
          <a:p>
            <a:pPr algn="just"/>
            <a:r>
              <a:rPr lang="vi-VN"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Thuyết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tứ</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đại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Ấn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Độ</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Đất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nước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lửa</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gió</a:t>
            </a:r>
            <a:r>
              <a:rPr lang="en-US" sz="1600" dirty="0">
                <a:solidFill>
                  <a:schemeClr val="tx1"/>
                </a:solidFill>
                <a:latin typeface="Times New Roman" panose="02020603050405020304" pitchFamily="18" charset="0"/>
                <a:cs typeface="Times New Roman" panose="02020603050405020304" pitchFamily="18" charset="0"/>
              </a:rPr>
              <a:t> </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vi-VN"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Thuyết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Ngũ</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hành</a:t>
            </a:r>
            <a:r>
              <a:rPr lang="en-US" sz="1600" dirty="0">
                <a:solidFill>
                  <a:schemeClr val="tx1"/>
                </a:solidFill>
                <a:latin typeface="Times New Roman" panose="02020603050405020304" pitchFamily="18" charset="0"/>
                <a:cs typeface="Times New Roman" panose="02020603050405020304" pitchFamily="18" charset="0"/>
              </a:rPr>
              <a:t> Trung Quốc: Kim, </a:t>
            </a:r>
            <a:r>
              <a:rPr lang="en-US" sz="1600" dirty="0" err="1">
                <a:solidFill>
                  <a:schemeClr val="tx1"/>
                </a:solidFill>
                <a:latin typeface="Times New Roman" panose="02020603050405020304" pitchFamily="18" charset="0"/>
                <a:cs typeface="Times New Roman" panose="02020603050405020304" pitchFamily="18" charset="0"/>
              </a:rPr>
              <a:t>mộc</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thủy</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hỏa</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thổ</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ngũ</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hành</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là</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những</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yếu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tố</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khởi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nguyên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tạo</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nên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vạn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vật</a:t>
            </a:r>
            <a:r>
              <a:rPr lang="en-US"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6177280" y="4165601"/>
            <a:ext cx="4348480" cy="1922824"/>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buFont typeface="Wingdings" panose="05000000000000000000" pitchFamily="2" charset="2"/>
              <a:buChar char="v"/>
            </a:pPr>
            <a:r>
              <a:rPr lang="en-US" sz="1600" b="1" dirty="0">
                <a:solidFill>
                  <a:srgbClr val="FF0000"/>
                </a:solidFill>
                <a:latin typeface="Times New Roman" panose="02020603050405020304" pitchFamily="18" charset="0"/>
                <a:cs typeface="Times New Roman" panose="02020603050405020304" pitchFamily="18" charset="0"/>
              </a:rPr>
              <a:t>Phương Tây:</a:t>
            </a:r>
            <a:endParaRPr lang="en-US" sz="1600" b="1" dirty="0">
              <a:solidFill>
                <a:srgbClr val="FF0000"/>
              </a:solidFill>
              <a:latin typeface="Times New Roman" panose="02020603050405020304" pitchFamily="18" charset="0"/>
              <a:cs typeface="Times New Roman" panose="02020603050405020304" pitchFamily="18" charset="0"/>
            </a:endParaRPr>
          </a:p>
          <a:p>
            <a:pPr algn="just"/>
            <a:r>
              <a:rPr lang="vi-VN"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Anximander</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cho</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rằng</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cơ</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sở</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đầu</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tiên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của</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mọi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vật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trong</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vũ</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trụ</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là</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một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dạng</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chất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đơn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nhất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vô</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định</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vô</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hạn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tồn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tại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vĩnh</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viễn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là</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Apeirôn</a:t>
            </a:r>
            <a:r>
              <a:rPr lang="en-US"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en-US" sz="1600" dirty="0" err="1">
                <a:solidFill>
                  <a:schemeClr val="tx1"/>
                </a:solidFill>
                <a:latin typeface="Times New Roman" panose="02020603050405020304" pitchFamily="18" charset="0"/>
                <a:cs typeface="Times New Roman" panose="02020603050405020304" pitchFamily="18" charset="0"/>
              </a:rPr>
              <a:t>nước</a:t>
            </a:r>
            <a:r>
              <a:rPr lang="en-US" sz="1600" dirty="0">
                <a:solidFill>
                  <a:schemeClr val="tx1"/>
                </a:solidFill>
                <a:latin typeface="Times New Roman" panose="02020603050405020304" pitchFamily="18" charset="0"/>
                <a:cs typeface="Times New Roman" panose="02020603050405020304" pitchFamily="18" charset="0"/>
              </a:rPr>
              <a:t> (Thales), </a:t>
            </a:r>
            <a:r>
              <a:rPr lang="en-US" sz="1600" dirty="0" err="1">
                <a:solidFill>
                  <a:schemeClr val="tx1"/>
                </a:solidFill>
                <a:latin typeface="Times New Roman" panose="02020603050405020304" pitchFamily="18" charset="0"/>
                <a:cs typeface="Times New Roman" panose="02020603050405020304" pitchFamily="18" charset="0"/>
              </a:rPr>
              <a:t>lửa</a:t>
            </a:r>
            <a:r>
              <a:rPr lang="en-US" sz="1600" dirty="0">
                <a:solidFill>
                  <a:schemeClr val="tx1"/>
                </a:solidFill>
                <a:latin typeface="Times New Roman" panose="02020603050405020304" pitchFamily="18" charset="0"/>
                <a:cs typeface="Times New Roman" panose="02020603050405020304" pitchFamily="18" charset="0"/>
              </a:rPr>
              <a:t> (Heraclitus), </a:t>
            </a:r>
            <a:r>
              <a:rPr lang="en-US" sz="1600" dirty="0" err="1">
                <a:solidFill>
                  <a:schemeClr val="tx1"/>
                </a:solidFill>
                <a:latin typeface="Times New Roman" panose="02020603050405020304" pitchFamily="18" charset="0"/>
                <a:cs typeface="Times New Roman" panose="02020603050405020304" pitchFamily="18" charset="0"/>
              </a:rPr>
              <a:t>không</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khí</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Anaiximenes</a:t>
            </a:r>
            <a:r>
              <a:rPr lang="en-US"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a:p>
            <a:pPr algn="just"/>
            <a:r>
              <a:rPr lang="vi-VN"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Triết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học</a:t>
            </a:r>
            <a:r>
              <a:rPr lang="en-US" sz="1600" dirty="0">
                <a:solidFill>
                  <a:schemeClr val="tx1"/>
                </a:solidFill>
                <a:latin typeface="Times New Roman" panose="02020603050405020304" pitchFamily="18" charset="0"/>
                <a:cs typeface="Times New Roman" panose="02020603050405020304" pitchFamily="18" charset="0"/>
              </a:rPr>
              <a:t> Hi </a:t>
            </a:r>
            <a:r>
              <a:rPr lang="en-US" sz="1600" dirty="0" err="1">
                <a:solidFill>
                  <a:schemeClr val="tx1"/>
                </a:solidFill>
                <a:latin typeface="Times New Roman" panose="02020603050405020304" pitchFamily="18" charset="0"/>
                <a:cs typeface="Times New Roman" panose="02020603050405020304" pitchFamily="18" charset="0"/>
              </a:rPr>
              <a:t>Lạp</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cổ</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đại</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Lơxip</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Đêmôcrít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vật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chất</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là</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nguyên</a:t>
            </a:r>
            <a:r>
              <a:rPr lang="en-US" sz="1600" dirty="0">
                <a:solidFill>
                  <a:schemeClr val="tx1"/>
                </a:solidFill>
                <a:latin typeface="Times New Roman" panose="02020603050405020304" pitchFamily="18" charset="0"/>
                <a:cs typeface="Times New Roman" panose="02020603050405020304" pitchFamily="18" charset="0"/>
              </a:rPr>
              <a:t> </a:t>
            </a:r>
            <a:r>
              <a:rPr lang="en-US" sz="1600" dirty="0" err="1">
                <a:solidFill>
                  <a:schemeClr val="tx1"/>
                </a:solidFill>
                <a:latin typeface="Times New Roman" panose="02020603050405020304" pitchFamily="18" charset="0"/>
                <a:cs typeface="Times New Roman" panose="02020603050405020304" pitchFamily="18" charset="0"/>
              </a:rPr>
              <a:t>tử</a:t>
            </a:r>
            <a:r>
              <a:rPr lang="en-US" sz="1600" dirty="0">
                <a:solidFill>
                  <a:schemeClr val="tx1"/>
                </a:solidFill>
                <a:latin typeface="Times New Roman" panose="02020603050405020304" pitchFamily="18" charset="0"/>
                <a:cs typeface="Times New Roman" panose="02020603050405020304" pitchFamily="18" charset="0"/>
              </a:rPr>
              <a:t>.</a:t>
            </a:r>
            <a:endParaRPr lang="en-US" sz="1600" dirty="0">
              <a:solidFill>
                <a:schemeClr val="tx1"/>
              </a:solidFill>
              <a:latin typeface="Times New Roman" panose="02020603050405020304" pitchFamily="18" charset="0"/>
              <a:cs typeface="Times New Roman" panose="02020603050405020304" pitchFamily="18" charset="0"/>
            </a:endParaRPr>
          </a:p>
        </p:txBody>
      </p:sp>
      <p:cxnSp>
        <p:nvCxnSpPr>
          <p:cNvPr id="10" name="Straight Arrow Connector 9"/>
          <p:cNvCxnSpPr>
            <a:stCxn id="4" idx="3"/>
            <a:endCxn id="5" idx="1"/>
          </p:cNvCxnSpPr>
          <p:nvPr/>
        </p:nvCxnSpPr>
        <p:spPr>
          <a:xfrm flipV="1">
            <a:off x="2246811" y="1874520"/>
            <a:ext cx="791029" cy="1422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stCxn id="4" idx="3"/>
            <a:endCxn id="6" idx="1"/>
          </p:cNvCxnSpPr>
          <p:nvPr/>
        </p:nvCxnSpPr>
        <p:spPr>
          <a:xfrm flipV="1">
            <a:off x="2246811" y="3263537"/>
            <a:ext cx="791029" cy="333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2"/>
            <a:endCxn id="7" idx="0"/>
          </p:cNvCxnSpPr>
          <p:nvPr/>
        </p:nvCxnSpPr>
        <p:spPr>
          <a:xfrm flipH="1">
            <a:off x="4160520" y="3857896"/>
            <a:ext cx="1600200" cy="307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2"/>
            <a:endCxn id="8" idx="0"/>
          </p:cNvCxnSpPr>
          <p:nvPr/>
        </p:nvCxnSpPr>
        <p:spPr>
          <a:xfrm>
            <a:off x="5760720" y="3857896"/>
            <a:ext cx="2590800" cy="30770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7650" name="WordArt 13"/>
          <p:cNvSpPr>
            <a:spLocks noChangeArrowheads="1" noChangeShapeType="1" noTextEdit="1"/>
          </p:cNvSpPr>
          <p:nvPr/>
        </p:nvSpPr>
        <p:spPr bwMode="auto">
          <a:xfrm>
            <a:off x="3933825" y="154745"/>
            <a:ext cx="4324350" cy="689805"/>
          </a:xfrm>
          <a:prstGeom prst="rect">
            <a:avLst/>
          </a:prstGeom>
        </p:spPr>
        <p:txBody>
          <a:bodyPr wrap="none" fromWordArt="1">
            <a:prstTxWarp prst="textPlain">
              <a:avLst>
                <a:gd name="adj" fmla="val 50000"/>
              </a:avLst>
            </a:prstTxWarp>
          </a:bodyPr>
          <a:lstStyle/>
          <a:p>
            <a:pPr algn="ctr"/>
            <a:r>
              <a:rPr lang="en-US" sz="3600" kern="10">
                <a:ln w="9525">
                  <a:solidFill>
                    <a:srgbClr val="000000"/>
                  </a:solidFill>
                  <a:round/>
                </a:ln>
                <a:latin typeface="Arial Đen"/>
              </a:rPr>
              <a:t>VẬT CHẤT LÀ "LỬA"</a:t>
            </a:r>
            <a:endParaRPr lang="en-US" sz="3600" kern="10">
              <a:ln w="9525">
                <a:solidFill>
                  <a:srgbClr val="000000"/>
                </a:solidFill>
                <a:round/>
              </a:ln>
              <a:latin typeface="Arial Đen"/>
            </a:endParaRPr>
          </a:p>
        </p:txBody>
      </p:sp>
      <p:grpSp>
        <p:nvGrpSpPr>
          <p:cNvPr id="2" name="Group 39"/>
          <p:cNvGrpSpPr/>
          <p:nvPr/>
        </p:nvGrpSpPr>
        <p:grpSpPr bwMode="auto">
          <a:xfrm>
            <a:off x="3933825" y="894471"/>
            <a:ext cx="4534926" cy="2317750"/>
            <a:chOff x="2741" y="1525"/>
            <a:chExt cx="2115" cy="1985"/>
          </a:xfrm>
        </p:grpSpPr>
        <p:pic>
          <p:nvPicPr>
            <p:cNvPr id="27658" name="Picture 16" descr="ACORN_W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25" y="1525"/>
              <a:ext cx="1707" cy="151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6157" name="WordArt 18"/>
            <p:cNvSpPr>
              <a:spLocks noChangeArrowheads="1" noChangeShapeType="1" noTextEdit="1"/>
            </p:cNvSpPr>
            <p:nvPr/>
          </p:nvSpPr>
          <p:spPr bwMode="auto">
            <a:xfrm>
              <a:off x="2741" y="3113"/>
              <a:ext cx="2115" cy="397"/>
            </a:xfrm>
            <a:prstGeom prst="rect">
              <a:avLst/>
            </a:prstGeom>
          </p:spPr>
          <p:txBody>
            <a:bodyPr wrap="none" fromWordArt="1">
              <a:prstTxWarp prst="textPlain">
                <a:avLst>
                  <a:gd name="adj" fmla="val 50000"/>
                </a:avLst>
              </a:prstTxWarp>
            </a:bodyPr>
            <a:lstStyle/>
            <a:p>
              <a:pPr algn="ctr">
                <a:defRPr/>
              </a:pPr>
              <a:r>
                <a:rPr lang="en-US" sz="3600" kern="10" dirty="0" err="1">
                  <a:ln w="12700">
                    <a:solidFill>
                      <a:srgbClr val="EAEAEA"/>
                    </a:solidFill>
                    <a:round/>
                  </a:ln>
                  <a:solidFill>
                    <a:schemeClr val="accent3"/>
                  </a:solidFill>
                  <a:effectLst>
                    <a:outerShdw dist="35921" dir="2700000" sy="50000" kx="2115830" algn="bl" rotWithShape="0">
                      <a:srgbClr val="C0C0C0">
                        <a:alpha val="79999"/>
                      </a:srgbClr>
                    </a:outerShdw>
                  </a:effectLst>
                  <a:latin typeface="Arial Đen"/>
                  <a:cs typeface="Arial" panose="020B0604020202020204" pitchFamily="34" charset="0"/>
                </a:rPr>
                <a:t>Heraclit</a:t>
              </a:r>
              <a:r>
                <a:rPr lang="en-US" sz="3600" kern="10" dirty="0">
                  <a:ln w="12700">
                    <a:solidFill>
                      <a:srgbClr val="EAEAEA"/>
                    </a:solidFill>
                    <a:round/>
                  </a:ln>
                  <a:solidFill>
                    <a:schemeClr val="accent3"/>
                  </a:solidFill>
                  <a:effectLst>
                    <a:outerShdw dist="35921" dir="2700000" sy="50000" kx="2115830" algn="bl" rotWithShape="0">
                      <a:srgbClr val="C0C0C0">
                        <a:alpha val="79999"/>
                      </a:srgbClr>
                    </a:outerShdw>
                  </a:effectLst>
                  <a:latin typeface="Arial Đen"/>
                  <a:cs typeface="Arial" panose="020B0604020202020204" pitchFamily="34" charset="0"/>
                </a:rPr>
                <a:t> (520 – 460 Tr.CN</a:t>
              </a:r>
              <a:r>
                <a:rPr lang="en-US" sz="3600" kern="10" dirty="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Đen"/>
                  <a:cs typeface="Arial" panose="020B0604020202020204" pitchFamily="34" charset="0"/>
                </a:rPr>
                <a:t>)</a:t>
              </a:r>
              <a:endParaRPr lang="en-US" sz="3600" kern="10" dirty="0">
                <a:ln w="12700">
                  <a:solidFill>
                    <a:srgbClr val="EAEAEA"/>
                  </a:solidFill>
                  <a:round/>
                </a:ln>
                <a:gradFill rotWithShape="1">
                  <a:gsLst>
                    <a:gs pos="0">
                      <a:srgbClr val="A603AB"/>
                    </a:gs>
                    <a:gs pos="12000">
                      <a:srgbClr val="E81766"/>
                    </a:gs>
                    <a:gs pos="27000">
                      <a:srgbClr val="EE3F17"/>
                    </a:gs>
                    <a:gs pos="48000">
                      <a:srgbClr val="FFFF00"/>
                    </a:gs>
                    <a:gs pos="64999">
                      <a:srgbClr val="1A8D48"/>
                    </a:gs>
                    <a:gs pos="78999">
                      <a:srgbClr val="0819FB"/>
                    </a:gs>
                    <a:gs pos="100000">
                      <a:srgbClr val="A603AB"/>
                    </a:gs>
                  </a:gsLst>
                  <a:lin ang="0" scaled="1"/>
                </a:gradFill>
                <a:effectLst>
                  <a:outerShdw dist="35921" dir="2700000" sy="50000" kx="2115830" algn="bl" rotWithShape="0">
                    <a:srgbClr val="C0C0C0">
                      <a:alpha val="79999"/>
                    </a:srgbClr>
                  </a:outerShdw>
                </a:effectLst>
                <a:latin typeface="Arial Đen"/>
                <a:cs typeface="Arial" panose="020B0604020202020204" pitchFamily="34" charset="0"/>
              </a:endParaRPr>
            </a:p>
          </p:txBody>
        </p:sp>
        <p:sp>
          <p:nvSpPr>
            <p:cNvPr id="27660" name="AutoShape 19"/>
            <p:cNvSpPr>
              <a:spLocks noChangeAspect="1" noChangeArrowheads="1" noTextEdit="1"/>
            </p:cNvSpPr>
            <p:nvPr/>
          </p:nvSpPr>
          <p:spPr bwMode="auto">
            <a:xfrm>
              <a:off x="3528" y="1836"/>
              <a:ext cx="711" cy="1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pic>
          <p:nvPicPr>
            <p:cNvPr id="27661" name="Picture 2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8" y="1836"/>
              <a:ext cx="637" cy="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62" name="Picture 3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8" y="1836"/>
              <a:ext cx="637" cy="11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3" name="Group 45"/>
          <p:cNvGrpSpPr/>
          <p:nvPr/>
        </p:nvGrpSpPr>
        <p:grpSpPr bwMode="auto">
          <a:xfrm>
            <a:off x="2427288" y="3429000"/>
            <a:ext cx="3733800" cy="2878138"/>
            <a:chOff x="431" y="1525"/>
            <a:chExt cx="2585" cy="1813"/>
          </a:xfrm>
        </p:grpSpPr>
        <p:pic>
          <p:nvPicPr>
            <p:cNvPr id="27654" name="Picture 40" descr="3D-70 Ng Chi Thanh (10)"/>
            <p:cNvPicPr>
              <a:picLocks noChangeAspect="1" noChangeArrowheads="1"/>
            </p:cNvPicPr>
            <p:nvPr/>
          </p:nvPicPr>
          <p:blipFill>
            <a:blip r:embed="rId3" cstate="print">
              <a:lum contrast="18000"/>
              <a:extLst>
                <a:ext uri="{28A0092B-C50C-407E-A947-70E740481C1C}">
                  <a14:useLocalDpi xmlns:a14="http://schemas.microsoft.com/office/drawing/2010/main" val="0"/>
                </a:ext>
              </a:extLst>
            </a:blip>
            <a:srcRect b="6467"/>
            <a:stretch>
              <a:fillRect/>
            </a:stretch>
          </p:blipFill>
          <p:spPr bwMode="auto">
            <a:xfrm>
              <a:off x="431" y="1525"/>
              <a:ext cx="2585" cy="1813"/>
            </a:xfrm>
            <a:prstGeom prst="rect">
              <a:avLst/>
            </a:prstGeom>
            <a:noFill/>
            <a:ln w="9525">
              <a:solidFill>
                <a:srgbClr val="FF66CC"/>
              </a:solidFill>
              <a:miter lim="800000"/>
              <a:headEnd/>
              <a:tailEnd/>
            </a:ln>
            <a:extLst>
              <a:ext uri="{909E8E84-426E-40DD-AFC4-6F175D3DCCD1}">
                <a14:hiddenFill xmlns:a14="http://schemas.microsoft.com/office/drawing/2010/main">
                  <a:solidFill>
                    <a:srgbClr val="FFFFFF"/>
                  </a:solidFill>
                </a14:hiddenFill>
              </a:ext>
            </a:extLst>
          </p:spPr>
        </p:pic>
        <p:grpSp>
          <p:nvGrpSpPr>
            <p:cNvPr id="27655" name="Group 42"/>
            <p:cNvGrpSpPr/>
            <p:nvPr/>
          </p:nvGrpSpPr>
          <p:grpSpPr bwMode="auto">
            <a:xfrm>
              <a:off x="657" y="2115"/>
              <a:ext cx="499" cy="679"/>
              <a:chOff x="703" y="1479"/>
              <a:chExt cx="1542" cy="1905"/>
            </a:xfrm>
          </p:grpSpPr>
          <p:sp>
            <p:nvSpPr>
              <p:cNvPr id="27656" name="Rectangle 43"/>
              <p:cNvSpPr>
                <a:spLocks noChangeArrowheads="1"/>
              </p:cNvSpPr>
              <p:nvPr/>
            </p:nvSpPr>
            <p:spPr bwMode="auto">
              <a:xfrm>
                <a:off x="703" y="1479"/>
                <a:ext cx="1542" cy="1905"/>
              </a:xfrm>
              <a:prstGeom prst="rect">
                <a:avLst/>
              </a:prstGeom>
              <a:solidFill>
                <a:srgbClr val="FF0000"/>
              </a:solidFill>
              <a:ln w="12700">
                <a:solidFill>
                  <a:srgbClr val="FFFF00"/>
                </a:solidFill>
                <a:miter lim="800000"/>
                <a:headEnd type="none" w="sm" len="sm"/>
                <a:tailEnd type="none" w="sm" len="sm"/>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p:txBody>
          </p:sp>
          <p:pic>
            <p:nvPicPr>
              <p:cNvPr id="27657" name="Picture 44" descr="AG00355_"/>
              <p:cNvPicPr>
                <a:picLocks noChangeAspect="1" noChangeArrowheads="1" noCrop="1"/>
              </p:cNvPicPr>
              <p:nvPr/>
            </p:nvPicPr>
            <p:blipFill>
              <a:blip r:embed="rId4"/>
              <a:srcRect/>
              <a:stretch>
                <a:fillRect/>
              </a:stretch>
            </p:blipFill>
            <p:spPr bwMode="auto">
              <a:xfrm>
                <a:off x="884" y="1752"/>
                <a:ext cx="1315" cy="14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pic>
        <p:nvPicPr>
          <p:cNvPr id="93200" name="Picture 16" descr="2756031_t[1]"/>
          <p:cNvPicPr>
            <a:picLocks noChangeAspect="1" noChangeArrowheads="1" noCrop="1"/>
          </p:cNvPicPr>
          <p:nvPr/>
        </p:nvPicPr>
        <p:blipFill>
          <a:blip r:embed="rId5"/>
          <a:srcRect/>
          <a:stretch>
            <a:fillRect/>
          </a:stretch>
        </p:blipFill>
        <p:spPr bwMode="auto">
          <a:xfrm>
            <a:off x="6477000" y="3429000"/>
            <a:ext cx="3733800" cy="2795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ppt_x</p:attrName>
                                        </p:attrNameLst>
                                      </p:cBhvr>
                                      <p:tavLst>
                                        <p:tav tm="0">
                                          <p:val>
                                            <p:strVal val="#ppt_x-.2"/>
                                          </p:val>
                                        </p:tav>
                                        <p:tav tm="100000">
                                          <p:val>
                                            <p:strVal val="#ppt_x"/>
                                          </p:val>
                                        </p:tav>
                                      </p:tavLst>
                                    </p:anim>
                                    <p:anim calcmode="lin" valueType="num">
                                      <p:cBhvr>
                                        <p:cTn id="8" dur="1000" fill="hold"/>
                                        <p:tgtEl>
                                          <p:spTgt spid="2"/>
                                        </p:tgtEl>
                                        <p:attrNameLst>
                                          <p:attrName>ppt_y</p:attrName>
                                        </p:attrNameLst>
                                      </p:cBhvr>
                                      <p:tavLst>
                                        <p:tav tm="0">
                                          <p:val>
                                            <p:strVal val="#ppt_y"/>
                                          </p:val>
                                        </p:tav>
                                        <p:tav tm="100000">
                                          <p:val>
                                            <p:strVal val="#ppt_y"/>
                                          </p:val>
                                        </p:tav>
                                      </p:tavLst>
                                    </p:anim>
                                    <p:animEffect transition="in" filter="wipe(right)" prLst="gradientSize: 0.1">
                                      <p:cBhvr>
                                        <p:cTn id="9" dur="1000"/>
                                        <p:tgtEl>
                                          <p:spTgt spid="2"/>
                                        </p:tgtEl>
                                      </p:cBhvr>
                                    </p:animEffect>
                                  </p:childTnLst>
                                </p:cTn>
                              </p:par>
                            </p:childTnLst>
                          </p:cTn>
                        </p:par>
                        <p:par>
                          <p:cTn id="10" fill="hold">
                            <p:stCondLst>
                              <p:cond delay="1000"/>
                            </p:stCondLst>
                            <p:childTnLst>
                              <p:par>
                                <p:cTn id="11" presetID="29" presetClass="entr" presetSubtype="0" fill="hold" nodeType="after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p:cTn id="13" dur="1000" fill="hold"/>
                                        <p:tgtEl>
                                          <p:spTgt spid="3"/>
                                        </p:tgtEl>
                                        <p:attrNameLst>
                                          <p:attrName>ppt_x</p:attrName>
                                        </p:attrNameLst>
                                      </p:cBhvr>
                                      <p:tavLst>
                                        <p:tav tm="0">
                                          <p:val>
                                            <p:strVal val="#ppt_x-.2"/>
                                          </p:val>
                                        </p:tav>
                                        <p:tav tm="100000">
                                          <p:val>
                                            <p:strVal val="#ppt_x"/>
                                          </p:val>
                                        </p:tav>
                                      </p:tavLst>
                                    </p:anim>
                                    <p:anim calcmode="lin" valueType="num">
                                      <p:cBhvr>
                                        <p:cTn id="14" dur="1000" fill="hold"/>
                                        <p:tgtEl>
                                          <p:spTgt spid="3"/>
                                        </p:tgtEl>
                                        <p:attrNameLst>
                                          <p:attrName>ppt_y</p:attrName>
                                        </p:attrNameLst>
                                      </p:cBhvr>
                                      <p:tavLst>
                                        <p:tav tm="0">
                                          <p:val>
                                            <p:strVal val="#ppt_y"/>
                                          </p:val>
                                        </p:tav>
                                        <p:tav tm="100000">
                                          <p:val>
                                            <p:strVal val="#ppt_y"/>
                                          </p:val>
                                        </p:tav>
                                      </p:tavLst>
                                    </p:anim>
                                    <p:animEffect transition="in" filter="wipe(right)" prLst="gradientSize: 0.1">
                                      <p:cBhvr>
                                        <p:cTn id="15" dur="10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93200"/>
                                        </p:tgtEl>
                                        <p:attrNameLst>
                                          <p:attrName>style.visibility</p:attrName>
                                        </p:attrNameLst>
                                      </p:cBhvr>
                                      <p:to>
                                        <p:strVal val="visible"/>
                                      </p:to>
                                    </p:set>
                                    <p:animEffect transition="in" filter="blinds(horizontal)">
                                      <p:cBhvr>
                                        <p:cTn id="20" dur="500"/>
                                        <p:tgtEl>
                                          <p:spTgt spid="932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6626" name="WordArt 4"/>
          <p:cNvSpPr>
            <a:spLocks noChangeArrowheads="1" noChangeShapeType="1" noTextEdit="1"/>
          </p:cNvSpPr>
          <p:nvPr/>
        </p:nvSpPr>
        <p:spPr bwMode="auto">
          <a:xfrm>
            <a:off x="2531268" y="294481"/>
            <a:ext cx="7129463" cy="865187"/>
          </a:xfrm>
          <a:prstGeom prst="rect">
            <a:avLst/>
          </a:prstGeom>
        </p:spPr>
        <p:txBody>
          <a:bodyPr wrap="none" fromWordArt="1">
            <a:prstTxWarp prst="textPlain">
              <a:avLst>
                <a:gd name="adj" fmla="val 50000"/>
              </a:avLst>
            </a:prstTxWarp>
          </a:bodyPr>
          <a:lstStyle/>
          <a:p>
            <a:pPr algn="ctr"/>
            <a:r>
              <a:rPr lang="vi-VN" sz="3600" kern="10" dirty="0">
                <a:ln w="9525">
                  <a:solidFill>
                    <a:srgbClr val="FFFF00"/>
                  </a:solidFill>
                  <a:round/>
                </a:ln>
                <a:latin typeface="Arial Đen"/>
              </a:rPr>
              <a:t> </a:t>
            </a:r>
            <a:r>
              <a:rPr lang="vi-VN" sz="3600" kern="10" dirty="0">
                <a:ln w="9525">
                  <a:solidFill>
                    <a:srgbClr val="FFFF00"/>
                  </a:solidFill>
                  <a:round/>
                </a:ln>
                <a:latin typeface="+mj-lt"/>
              </a:rPr>
              <a:t>Quan </a:t>
            </a:r>
            <a:r>
              <a:rPr lang="vi-VN" sz="3600" kern="10" dirty="0" err="1">
                <a:ln w="9525">
                  <a:solidFill>
                    <a:srgbClr val="FFFF00"/>
                  </a:solidFill>
                  <a:round/>
                </a:ln>
                <a:latin typeface="+mj-lt"/>
              </a:rPr>
              <a:t>niệm</a:t>
            </a:r>
            <a:r>
              <a:rPr lang="vi-VN" sz="3600" kern="10" dirty="0">
                <a:ln w="9525">
                  <a:solidFill>
                    <a:srgbClr val="FFFF00"/>
                  </a:solidFill>
                  <a:round/>
                </a:ln>
                <a:latin typeface="+mj-lt"/>
              </a:rPr>
              <a:t> </a:t>
            </a:r>
            <a:r>
              <a:rPr lang="vi-VN" sz="3600" kern="10" dirty="0" err="1">
                <a:ln w="9525">
                  <a:solidFill>
                    <a:srgbClr val="FFFF00"/>
                  </a:solidFill>
                  <a:round/>
                </a:ln>
                <a:latin typeface="+mj-lt"/>
              </a:rPr>
              <a:t>về</a:t>
            </a:r>
            <a:r>
              <a:rPr lang="vi-VN" sz="3600" kern="10" dirty="0">
                <a:ln w="9525">
                  <a:solidFill>
                    <a:srgbClr val="FFFF00"/>
                  </a:solidFill>
                  <a:round/>
                </a:ln>
                <a:latin typeface="+mj-lt"/>
              </a:rPr>
              <a:t> "</a:t>
            </a:r>
            <a:r>
              <a:rPr lang="vi-VN" sz="3600" kern="10" dirty="0" err="1">
                <a:ln w="9525">
                  <a:solidFill>
                    <a:srgbClr val="FFFF00"/>
                  </a:solidFill>
                  <a:round/>
                </a:ln>
                <a:latin typeface="+mj-lt"/>
              </a:rPr>
              <a:t>vật</a:t>
            </a:r>
            <a:r>
              <a:rPr lang="vi-VN" sz="3600" kern="10" dirty="0">
                <a:ln w="9525">
                  <a:solidFill>
                    <a:srgbClr val="FFFF00"/>
                  </a:solidFill>
                  <a:round/>
                </a:ln>
                <a:latin typeface="+mj-lt"/>
              </a:rPr>
              <a:t> </a:t>
            </a:r>
            <a:r>
              <a:rPr lang="vi-VN" sz="3600" kern="10" dirty="0" err="1">
                <a:ln w="9525">
                  <a:solidFill>
                    <a:srgbClr val="FFFF00"/>
                  </a:solidFill>
                  <a:round/>
                </a:ln>
                <a:latin typeface="+mj-lt"/>
              </a:rPr>
              <a:t>chất</a:t>
            </a:r>
            <a:r>
              <a:rPr lang="vi-VN" sz="3600" kern="10" dirty="0">
                <a:ln w="9525">
                  <a:solidFill>
                    <a:srgbClr val="FFFF00"/>
                  </a:solidFill>
                  <a:round/>
                </a:ln>
                <a:latin typeface="+mj-lt"/>
              </a:rPr>
              <a:t>"</a:t>
            </a:r>
            <a:endParaRPr lang="vi-VN" sz="3600" kern="10" dirty="0">
              <a:ln w="9525">
                <a:solidFill>
                  <a:srgbClr val="FFFF00"/>
                </a:solidFill>
                <a:round/>
              </a:ln>
              <a:latin typeface="+mj-lt"/>
            </a:endParaRPr>
          </a:p>
          <a:p>
            <a:pPr algn="ctr"/>
            <a:r>
              <a:rPr lang="vi-VN" sz="3600" kern="10" dirty="0">
                <a:ln w="9525">
                  <a:solidFill>
                    <a:srgbClr val="FFFF00"/>
                  </a:solidFill>
                  <a:round/>
                </a:ln>
                <a:latin typeface="+mj-lt"/>
              </a:rPr>
              <a:t>   trong </a:t>
            </a:r>
            <a:r>
              <a:rPr lang="vi-VN" sz="3600" kern="10" dirty="0" err="1">
                <a:ln w="9525">
                  <a:solidFill>
                    <a:srgbClr val="FFFF00"/>
                  </a:solidFill>
                  <a:round/>
                </a:ln>
                <a:latin typeface="+mj-lt"/>
              </a:rPr>
              <a:t>lịch</a:t>
            </a:r>
            <a:r>
              <a:rPr lang="vi-VN" sz="3600" kern="10" dirty="0">
                <a:ln w="9525">
                  <a:solidFill>
                    <a:srgbClr val="FFFF00"/>
                  </a:solidFill>
                  <a:round/>
                </a:ln>
                <a:latin typeface="+mj-lt"/>
              </a:rPr>
              <a:t> </a:t>
            </a:r>
            <a:r>
              <a:rPr lang="vi-VN" sz="3600" kern="10" dirty="0" err="1">
                <a:ln w="9525">
                  <a:solidFill>
                    <a:srgbClr val="FFFF00"/>
                  </a:solidFill>
                  <a:round/>
                </a:ln>
                <a:latin typeface="+mj-lt"/>
              </a:rPr>
              <a:t>sử</a:t>
            </a:r>
            <a:r>
              <a:rPr lang="vi-VN" sz="3600" kern="10" dirty="0">
                <a:ln w="9525">
                  <a:solidFill>
                    <a:srgbClr val="FFFF00"/>
                  </a:solidFill>
                  <a:round/>
                </a:ln>
                <a:latin typeface="+mj-lt"/>
              </a:rPr>
              <a:t> </a:t>
            </a:r>
            <a:r>
              <a:rPr lang="vi-VN" sz="3600" kern="10" dirty="0" err="1">
                <a:ln w="9525">
                  <a:solidFill>
                    <a:srgbClr val="FFFF00"/>
                  </a:solidFill>
                  <a:round/>
                </a:ln>
                <a:latin typeface="+mj-lt"/>
              </a:rPr>
              <a:t>triết</a:t>
            </a:r>
            <a:r>
              <a:rPr lang="vi-VN" sz="3600" kern="10" dirty="0">
                <a:ln w="9525">
                  <a:solidFill>
                    <a:srgbClr val="FFFF00"/>
                  </a:solidFill>
                  <a:round/>
                </a:ln>
                <a:latin typeface="+mj-lt"/>
              </a:rPr>
              <a:t> </a:t>
            </a:r>
            <a:r>
              <a:rPr lang="vi-VN" sz="3600" kern="10" dirty="0" err="1">
                <a:ln w="9525">
                  <a:solidFill>
                    <a:srgbClr val="FFFF00"/>
                  </a:solidFill>
                  <a:round/>
                </a:ln>
                <a:latin typeface="+mj-lt"/>
              </a:rPr>
              <a:t>học</a:t>
            </a:r>
            <a:r>
              <a:rPr lang="vi-VN" sz="3600" kern="10" dirty="0">
                <a:ln w="9525">
                  <a:solidFill>
                    <a:srgbClr val="FFFF00"/>
                  </a:solidFill>
                  <a:round/>
                </a:ln>
                <a:latin typeface="+mj-lt"/>
              </a:rPr>
              <a:t> </a:t>
            </a:r>
            <a:r>
              <a:rPr lang="vi-VN" sz="3600" kern="10" dirty="0" err="1">
                <a:ln w="9525">
                  <a:solidFill>
                    <a:srgbClr val="FFFF00"/>
                  </a:solidFill>
                  <a:round/>
                </a:ln>
                <a:latin typeface="+mj-lt"/>
              </a:rPr>
              <a:t>trước</a:t>
            </a:r>
            <a:r>
              <a:rPr lang="vi-VN" sz="3600" kern="10" dirty="0">
                <a:ln w="9525">
                  <a:solidFill>
                    <a:srgbClr val="FFFF00"/>
                  </a:solidFill>
                  <a:round/>
                </a:ln>
                <a:latin typeface="+mj-lt"/>
              </a:rPr>
              <a:t> </a:t>
            </a:r>
            <a:r>
              <a:rPr lang="vi-VN" sz="3600" kern="10" dirty="0" err="1">
                <a:ln w="9525">
                  <a:solidFill>
                    <a:srgbClr val="FFFF00"/>
                  </a:solidFill>
                  <a:round/>
                </a:ln>
                <a:latin typeface="+mj-lt"/>
              </a:rPr>
              <a:t>Mác</a:t>
            </a:r>
            <a:endParaRPr lang="en-US" sz="3600" kern="10" dirty="0">
              <a:ln w="9525">
                <a:solidFill>
                  <a:srgbClr val="FFFF00"/>
                </a:solidFill>
                <a:round/>
              </a:ln>
              <a:latin typeface="+mj-lt"/>
            </a:endParaRPr>
          </a:p>
        </p:txBody>
      </p:sp>
      <p:sp>
        <p:nvSpPr>
          <p:cNvPr id="10245" name="AutoShape 5"/>
          <p:cNvSpPr>
            <a:spLocks noChangeAspect="1" noChangeArrowheads="1"/>
          </p:cNvSpPr>
          <p:nvPr/>
        </p:nvSpPr>
        <p:spPr bwMode="auto">
          <a:xfrm>
            <a:off x="2063750" y="1412875"/>
            <a:ext cx="7920038" cy="71438"/>
          </a:xfrm>
          <a:prstGeom prst="flowChartPredefinedProcess">
            <a:avLst/>
          </a:prstGeom>
          <a:gradFill rotWithShape="0">
            <a:gsLst>
              <a:gs pos="0">
                <a:srgbClr val="000000"/>
              </a:gs>
              <a:gs pos="10001">
                <a:srgbClr val="000040"/>
              </a:gs>
              <a:gs pos="25000">
                <a:srgbClr val="400040"/>
              </a:gs>
              <a:gs pos="37500">
                <a:srgbClr val="8F0040"/>
              </a:gs>
              <a:gs pos="45000">
                <a:srgbClr val="F27300"/>
              </a:gs>
              <a:gs pos="50000">
                <a:srgbClr val="FFBF00"/>
              </a:gs>
              <a:gs pos="55000">
                <a:srgbClr val="F27300"/>
              </a:gs>
              <a:gs pos="62500">
                <a:srgbClr val="8F0040"/>
              </a:gs>
              <a:gs pos="75000">
                <a:srgbClr val="400040"/>
              </a:gs>
              <a:gs pos="89999">
                <a:srgbClr val="000040"/>
              </a:gs>
              <a:gs pos="100000">
                <a:srgbClr val="000000"/>
              </a:gs>
            </a:gsLst>
            <a:lin ang="5400000" scaled="1"/>
          </a:gradFill>
          <a:ln w="9525">
            <a:solidFill>
              <a:schemeClr val="tx1"/>
            </a:solidFill>
            <a:miter lim="800000"/>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a:cs typeface="Arial" panose="020B0604020202020204" pitchFamily="34" charset="0"/>
            </a:endParaRPr>
          </a:p>
        </p:txBody>
      </p:sp>
      <p:pic>
        <p:nvPicPr>
          <p:cNvPr id="10247" name="Picture 7" descr="五行图"/>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6126164" y="3178175"/>
            <a:ext cx="4264025" cy="2795588"/>
          </a:xfrm>
          <a:prstGeom prst="rect">
            <a:avLst/>
          </a:prstGeom>
          <a:solidFill>
            <a:srgbClr val="993300"/>
          </a:solidFill>
          <a:ln w="38100">
            <a:solidFill>
              <a:srgbClr val="FF0000"/>
            </a:solidFill>
            <a:miter lim="800000"/>
            <a:headEnd/>
            <a:tailEnd/>
          </a:ln>
        </p:spPr>
      </p:pic>
      <p:sp>
        <p:nvSpPr>
          <p:cNvPr id="27655" name="Text Box 10"/>
          <p:cNvSpPr txBox="1">
            <a:spLocks noChangeArrowheads="1"/>
          </p:cNvSpPr>
          <p:nvPr/>
        </p:nvSpPr>
        <p:spPr bwMode="auto">
          <a:xfrm>
            <a:off x="3322639" y="2717800"/>
            <a:ext cx="744537" cy="476250"/>
          </a:xfrm>
          <a:prstGeom prst="rect">
            <a:avLst/>
          </a:prstGeom>
          <a:solidFill>
            <a:schemeClr val="bg1"/>
          </a:solidFill>
          <a:ln w="19050" algn="ctr">
            <a:solidFill>
              <a:schemeClr val="tx1"/>
            </a:solidFill>
            <a:miter lim="800000"/>
          </a:ln>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vi-VN" altLang="en-US" sz="2400" dirty="0">
                <a:solidFill>
                  <a:schemeClr val="tx2"/>
                </a:solidFill>
                <a:cs typeface="Arial" panose="020B0604020202020204" pitchFamily="34" charset="0"/>
              </a:rPr>
              <a:t>KIM</a:t>
            </a:r>
            <a:endParaRPr lang="vi-VN" altLang="en-US" sz="2400" dirty="0">
              <a:solidFill>
                <a:schemeClr val="tx2"/>
              </a:solidFill>
              <a:cs typeface="Arial" panose="020B0604020202020204" pitchFamily="34" charset="0"/>
            </a:endParaRPr>
          </a:p>
        </p:txBody>
      </p:sp>
      <p:sp>
        <p:nvSpPr>
          <p:cNvPr id="27656" name="Text Box 11"/>
          <p:cNvSpPr txBox="1">
            <a:spLocks noChangeArrowheads="1"/>
          </p:cNvSpPr>
          <p:nvPr/>
        </p:nvSpPr>
        <p:spPr bwMode="auto">
          <a:xfrm>
            <a:off x="4522788" y="5497513"/>
            <a:ext cx="914400" cy="476250"/>
          </a:xfrm>
          <a:prstGeom prst="rect">
            <a:avLst/>
          </a:prstGeom>
          <a:solidFill>
            <a:srgbClr val="66FF33"/>
          </a:solidFill>
          <a:ln w="19050" algn="ctr">
            <a:solidFill>
              <a:schemeClr val="tx1"/>
            </a:solidFill>
            <a:miter lim="800000"/>
          </a:ln>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vi-VN" altLang="en-US" sz="2400">
                <a:cs typeface="Arial" panose="020B0604020202020204" pitchFamily="34" charset="0"/>
              </a:rPr>
              <a:t>MỘC</a:t>
            </a:r>
            <a:endParaRPr lang="vi-VN" altLang="en-US" sz="2400">
              <a:cs typeface="Arial" panose="020B0604020202020204" pitchFamily="34" charset="0"/>
            </a:endParaRPr>
          </a:p>
        </p:txBody>
      </p:sp>
      <p:sp>
        <p:nvSpPr>
          <p:cNvPr id="27657" name="Text Box 12"/>
          <p:cNvSpPr txBox="1">
            <a:spLocks noChangeArrowheads="1"/>
          </p:cNvSpPr>
          <p:nvPr/>
        </p:nvSpPr>
        <p:spPr bwMode="auto">
          <a:xfrm>
            <a:off x="4756601" y="3668714"/>
            <a:ext cx="1023036" cy="461665"/>
          </a:xfrm>
          <a:prstGeom prst="rect">
            <a:avLst/>
          </a:prstGeom>
          <a:solidFill>
            <a:schemeClr val="tx2"/>
          </a:solidFill>
          <a:ln w="28575" algn="ctr">
            <a:solidFill>
              <a:schemeClr val="tx1"/>
            </a:solidFill>
            <a:miter lim="800000"/>
          </a:ln>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vi-VN" altLang="en-US" sz="2400">
                <a:solidFill>
                  <a:schemeClr val="bg1"/>
                </a:solidFill>
                <a:cs typeface="Arial" panose="020B0604020202020204" pitchFamily="34" charset="0"/>
              </a:rPr>
              <a:t>THỦY</a:t>
            </a:r>
            <a:endParaRPr lang="vi-VN" altLang="en-US" sz="2400">
              <a:solidFill>
                <a:schemeClr val="bg1"/>
              </a:solidFill>
              <a:cs typeface="Arial" panose="020B0604020202020204" pitchFamily="34" charset="0"/>
            </a:endParaRPr>
          </a:p>
        </p:txBody>
      </p:sp>
      <p:sp>
        <p:nvSpPr>
          <p:cNvPr id="27658" name="Text Box 13"/>
          <p:cNvSpPr txBox="1">
            <a:spLocks noChangeArrowheads="1"/>
          </p:cNvSpPr>
          <p:nvPr/>
        </p:nvSpPr>
        <p:spPr bwMode="auto">
          <a:xfrm>
            <a:off x="1931988" y="5421313"/>
            <a:ext cx="863600" cy="476250"/>
          </a:xfrm>
          <a:prstGeom prst="rect">
            <a:avLst/>
          </a:prstGeom>
          <a:solidFill>
            <a:srgbClr val="FF3300"/>
          </a:solidFill>
          <a:ln w="19050" algn="ctr">
            <a:solidFill>
              <a:schemeClr val="tx1"/>
            </a:solidFill>
            <a:miter lim="800000"/>
          </a:ln>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vi-VN" altLang="en-US" sz="2400">
                <a:solidFill>
                  <a:schemeClr val="tx2"/>
                </a:solidFill>
                <a:cs typeface="Arial" panose="020B0604020202020204" pitchFamily="34" charset="0"/>
              </a:rPr>
              <a:t>HỎA</a:t>
            </a:r>
            <a:endParaRPr lang="vi-VN" altLang="en-US" sz="2400">
              <a:solidFill>
                <a:schemeClr val="tx2"/>
              </a:solidFill>
              <a:cs typeface="Arial" panose="020B0604020202020204" pitchFamily="34" charset="0"/>
            </a:endParaRPr>
          </a:p>
        </p:txBody>
      </p:sp>
      <p:sp>
        <p:nvSpPr>
          <p:cNvPr id="27659" name="Text Box 14"/>
          <p:cNvSpPr txBox="1">
            <a:spLocks noChangeArrowheads="1"/>
          </p:cNvSpPr>
          <p:nvPr/>
        </p:nvSpPr>
        <p:spPr bwMode="auto">
          <a:xfrm>
            <a:off x="1941514" y="3668713"/>
            <a:ext cx="827087" cy="457200"/>
          </a:xfrm>
          <a:prstGeom prst="rect">
            <a:avLst/>
          </a:prstGeom>
          <a:solidFill>
            <a:srgbClr val="FFFF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algn="ctr" eaLnBrk="1" hangingPunct="1"/>
            <a:r>
              <a:rPr lang="vi-VN" altLang="en-US" sz="2400">
                <a:solidFill>
                  <a:schemeClr val="tx2"/>
                </a:solidFill>
                <a:cs typeface="Arial" panose="020B0604020202020204" pitchFamily="34" charset="0"/>
              </a:rPr>
              <a:t>THỔ</a:t>
            </a:r>
            <a:endParaRPr lang="vi-VN" altLang="en-US" sz="2400">
              <a:solidFill>
                <a:schemeClr val="tx2"/>
              </a:solidFill>
              <a:cs typeface="Arial" panose="020B0604020202020204" pitchFamily="34" charset="0"/>
            </a:endParaRPr>
          </a:p>
        </p:txBody>
      </p:sp>
      <p:sp>
        <p:nvSpPr>
          <p:cNvPr id="27660" name="Line 15"/>
          <p:cNvSpPr>
            <a:spLocks noChangeShapeType="1"/>
          </p:cNvSpPr>
          <p:nvPr/>
        </p:nvSpPr>
        <p:spPr bwMode="auto">
          <a:xfrm>
            <a:off x="3694113" y="3211513"/>
            <a:ext cx="1066800" cy="21336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61" name="Line 16"/>
          <p:cNvSpPr>
            <a:spLocks noChangeShapeType="1"/>
          </p:cNvSpPr>
          <p:nvPr/>
        </p:nvSpPr>
        <p:spPr bwMode="auto">
          <a:xfrm flipH="1" flipV="1">
            <a:off x="2627313" y="4202113"/>
            <a:ext cx="1981200" cy="12192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62" name="Line 17"/>
          <p:cNvSpPr>
            <a:spLocks noChangeShapeType="1"/>
          </p:cNvSpPr>
          <p:nvPr/>
        </p:nvSpPr>
        <p:spPr bwMode="auto">
          <a:xfrm>
            <a:off x="2703513" y="3973514"/>
            <a:ext cx="2133600" cy="1587"/>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63" name="Line 18"/>
          <p:cNvSpPr>
            <a:spLocks noChangeShapeType="1"/>
          </p:cNvSpPr>
          <p:nvPr/>
        </p:nvSpPr>
        <p:spPr bwMode="auto">
          <a:xfrm flipH="1">
            <a:off x="2855913" y="4125913"/>
            <a:ext cx="1981200" cy="12954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64" name="Line 19"/>
          <p:cNvSpPr>
            <a:spLocks noChangeShapeType="1"/>
          </p:cNvSpPr>
          <p:nvPr/>
        </p:nvSpPr>
        <p:spPr bwMode="auto">
          <a:xfrm flipV="1">
            <a:off x="2895600" y="3124200"/>
            <a:ext cx="838200" cy="1981200"/>
          </a:xfrm>
          <a:prstGeom prst="line">
            <a:avLst/>
          </a:prstGeom>
          <a:noFill/>
          <a:ln w="38100">
            <a:solidFill>
              <a:schemeClr val="tx1"/>
            </a:solidFill>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10260" name="Arc 20"/>
          <p:cNvSpPr/>
          <p:nvPr/>
        </p:nvSpPr>
        <p:spPr bwMode="auto">
          <a:xfrm>
            <a:off x="1703388" y="2565400"/>
            <a:ext cx="4114800" cy="4114800"/>
          </a:xfrm>
          <a:custGeom>
            <a:avLst/>
            <a:gdLst>
              <a:gd name="T0" fmla="*/ 2147483647 w 43200"/>
              <a:gd name="T1" fmla="*/ 0 h 43200"/>
              <a:gd name="T2" fmla="*/ 2147483647 w 43200"/>
              <a:gd name="T3" fmla="*/ 2147483647 h 43200"/>
              <a:gd name="T4" fmla="*/ 2147483647 w 43200"/>
              <a:gd name="T5" fmla="*/ 2147483647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465" y="0"/>
                </a:moveTo>
                <a:cubicBezTo>
                  <a:pt x="21510" y="0"/>
                  <a:pt x="21555" y="-1"/>
                  <a:pt x="21600" y="0"/>
                </a:cubicBezTo>
                <a:cubicBezTo>
                  <a:pt x="33529" y="0"/>
                  <a:pt x="43200" y="9670"/>
                  <a:pt x="43200" y="21600"/>
                </a:cubicBezTo>
                <a:cubicBezTo>
                  <a:pt x="43200" y="33529"/>
                  <a:pt x="33529" y="43200"/>
                  <a:pt x="21600" y="43200"/>
                </a:cubicBezTo>
                <a:cubicBezTo>
                  <a:pt x="9670" y="43200"/>
                  <a:pt x="0" y="33529"/>
                  <a:pt x="0" y="21600"/>
                </a:cubicBezTo>
                <a:cubicBezTo>
                  <a:pt x="-1" y="10238"/>
                  <a:pt x="8801" y="819"/>
                  <a:pt x="20136" y="49"/>
                </a:cubicBezTo>
              </a:path>
              <a:path w="43200" h="43200" stroke="0" extrusionOk="0">
                <a:moveTo>
                  <a:pt x="21465" y="0"/>
                </a:moveTo>
                <a:cubicBezTo>
                  <a:pt x="21510" y="0"/>
                  <a:pt x="21555" y="-1"/>
                  <a:pt x="21600" y="0"/>
                </a:cubicBezTo>
                <a:cubicBezTo>
                  <a:pt x="33529" y="0"/>
                  <a:pt x="43200" y="9670"/>
                  <a:pt x="43200" y="21600"/>
                </a:cubicBezTo>
                <a:cubicBezTo>
                  <a:pt x="43200" y="33529"/>
                  <a:pt x="33529" y="43200"/>
                  <a:pt x="21600" y="43200"/>
                </a:cubicBezTo>
                <a:cubicBezTo>
                  <a:pt x="9670" y="43200"/>
                  <a:pt x="0" y="33529"/>
                  <a:pt x="0" y="21600"/>
                </a:cubicBezTo>
                <a:cubicBezTo>
                  <a:pt x="-1" y="10238"/>
                  <a:pt x="8801" y="819"/>
                  <a:pt x="20136" y="49"/>
                </a:cubicBezTo>
                <a:lnTo>
                  <a:pt x="21600" y="21600"/>
                </a:lnTo>
                <a:lnTo>
                  <a:pt x="21465" y="0"/>
                </a:lnTo>
                <a:close/>
              </a:path>
            </a:pathLst>
          </a:custGeom>
          <a:noFill/>
          <a:ln w="38100">
            <a:solidFill>
              <a:schemeClr val="hlink"/>
            </a:solidFill>
            <a:prstDash val="dash"/>
            <a:round/>
            <a:headEnd type="diamond" w="med" len="me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61" name="Arc 21"/>
          <p:cNvSpPr/>
          <p:nvPr/>
        </p:nvSpPr>
        <p:spPr bwMode="auto">
          <a:xfrm>
            <a:off x="2160588" y="2946400"/>
            <a:ext cx="3276600" cy="3352800"/>
          </a:xfrm>
          <a:custGeom>
            <a:avLst/>
            <a:gdLst>
              <a:gd name="T0" fmla="*/ 2147483647 w 43200"/>
              <a:gd name="T1" fmla="*/ 0 h 43200"/>
              <a:gd name="T2" fmla="*/ 2147483647 w 43200"/>
              <a:gd name="T3" fmla="*/ 2147483647 h 43200"/>
              <a:gd name="T4" fmla="*/ 2147483647 w 43200"/>
              <a:gd name="T5" fmla="*/ 2147483647 h 43200"/>
              <a:gd name="T6" fmla="*/ 0 60000 65536"/>
              <a:gd name="T7" fmla="*/ 0 60000 65536"/>
              <a:gd name="T8" fmla="*/ 0 60000 65536"/>
              <a:gd name="T9" fmla="*/ 0 w 43200"/>
              <a:gd name="T10" fmla="*/ 0 h 43200"/>
              <a:gd name="T11" fmla="*/ 43200 w 43200"/>
              <a:gd name="T12" fmla="*/ 43200 h 43200"/>
            </a:gdLst>
            <a:ahLst/>
            <a:cxnLst>
              <a:cxn ang="T6">
                <a:pos x="T0" y="T1"/>
              </a:cxn>
              <a:cxn ang="T7">
                <a:pos x="T2" y="T3"/>
              </a:cxn>
              <a:cxn ang="T8">
                <a:pos x="T4" y="T5"/>
              </a:cxn>
            </a:cxnLst>
            <a:rect l="T9" t="T10" r="T11" b="T12"/>
            <a:pathLst>
              <a:path w="43200" h="43200" fill="none" extrusionOk="0">
                <a:moveTo>
                  <a:pt x="21465" y="0"/>
                </a:moveTo>
                <a:cubicBezTo>
                  <a:pt x="21510" y="0"/>
                  <a:pt x="21555" y="-1"/>
                  <a:pt x="21600" y="0"/>
                </a:cubicBezTo>
                <a:cubicBezTo>
                  <a:pt x="33529" y="0"/>
                  <a:pt x="43200" y="9670"/>
                  <a:pt x="43200" y="21600"/>
                </a:cubicBezTo>
                <a:cubicBezTo>
                  <a:pt x="43200" y="33529"/>
                  <a:pt x="33529" y="43200"/>
                  <a:pt x="21600" y="43200"/>
                </a:cubicBezTo>
                <a:cubicBezTo>
                  <a:pt x="9670" y="43200"/>
                  <a:pt x="0" y="33529"/>
                  <a:pt x="0" y="21600"/>
                </a:cubicBezTo>
                <a:cubicBezTo>
                  <a:pt x="-1" y="10238"/>
                  <a:pt x="8801" y="819"/>
                  <a:pt x="20136" y="49"/>
                </a:cubicBezTo>
              </a:path>
              <a:path w="43200" h="43200" stroke="0" extrusionOk="0">
                <a:moveTo>
                  <a:pt x="21465" y="0"/>
                </a:moveTo>
                <a:cubicBezTo>
                  <a:pt x="21510" y="0"/>
                  <a:pt x="21555" y="-1"/>
                  <a:pt x="21600" y="0"/>
                </a:cubicBezTo>
                <a:cubicBezTo>
                  <a:pt x="33529" y="0"/>
                  <a:pt x="43200" y="9670"/>
                  <a:pt x="43200" y="21600"/>
                </a:cubicBezTo>
                <a:cubicBezTo>
                  <a:pt x="43200" y="33529"/>
                  <a:pt x="33529" y="43200"/>
                  <a:pt x="21600" y="43200"/>
                </a:cubicBezTo>
                <a:cubicBezTo>
                  <a:pt x="9670" y="43200"/>
                  <a:pt x="0" y="33529"/>
                  <a:pt x="0" y="21600"/>
                </a:cubicBezTo>
                <a:cubicBezTo>
                  <a:pt x="-1" y="10238"/>
                  <a:pt x="8801" y="819"/>
                  <a:pt x="20136" y="49"/>
                </a:cubicBezTo>
                <a:lnTo>
                  <a:pt x="21600" y="21600"/>
                </a:lnTo>
                <a:lnTo>
                  <a:pt x="21465" y="0"/>
                </a:lnTo>
                <a:close/>
              </a:path>
            </a:pathLst>
          </a:custGeom>
          <a:noFill/>
          <a:ln w="57150">
            <a:solidFill>
              <a:schemeClr val="tx1"/>
            </a:solidFill>
            <a:round/>
            <a:tailEnd type="stealth" w="lg" len="lg"/>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7667" name="Line 22"/>
          <p:cNvSpPr>
            <a:spLocks noChangeShapeType="1"/>
          </p:cNvSpPr>
          <p:nvPr/>
        </p:nvSpPr>
        <p:spPr bwMode="auto">
          <a:xfrm flipH="1" flipV="1">
            <a:off x="3913188" y="3251200"/>
            <a:ext cx="990600" cy="1981200"/>
          </a:xfrm>
          <a:prstGeom prst="line">
            <a:avLst/>
          </a:prstGeom>
          <a:noFill/>
          <a:ln w="2857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68" name="Line 23"/>
          <p:cNvSpPr>
            <a:spLocks noChangeShapeType="1"/>
          </p:cNvSpPr>
          <p:nvPr/>
        </p:nvSpPr>
        <p:spPr bwMode="auto">
          <a:xfrm>
            <a:off x="2541588" y="4470400"/>
            <a:ext cx="1828800" cy="1143000"/>
          </a:xfrm>
          <a:prstGeom prst="line">
            <a:avLst/>
          </a:prstGeom>
          <a:noFill/>
          <a:ln w="1905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69" name="Line 24"/>
          <p:cNvSpPr>
            <a:spLocks noChangeShapeType="1"/>
          </p:cNvSpPr>
          <p:nvPr/>
        </p:nvSpPr>
        <p:spPr bwMode="auto">
          <a:xfrm flipH="1">
            <a:off x="2541588" y="3327400"/>
            <a:ext cx="762000" cy="18288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70" name="Line 25"/>
          <p:cNvSpPr>
            <a:spLocks noChangeShapeType="1"/>
          </p:cNvSpPr>
          <p:nvPr/>
        </p:nvSpPr>
        <p:spPr bwMode="auto">
          <a:xfrm flipV="1">
            <a:off x="2922588" y="4318000"/>
            <a:ext cx="1981200" cy="1295400"/>
          </a:xfrm>
          <a:prstGeom prst="line">
            <a:avLst/>
          </a:prstGeom>
          <a:noFill/>
          <a:ln w="9525" cap="rnd">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7671" name="Line 26"/>
          <p:cNvSpPr>
            <a:spLocks noChangeShapeType="1"/>
          </p:cNvSpPr>
          <p:nvPr/>
        </p:nvSpPr>
        <p:spPr bwMode="auto">
          <a:xfrm flipH="1">
            <a:off x="2846388" y="4165600"/>
            <a:ext cx="1752600" cy="1588"/>
          </a:xfrm>
          <a:prstGeom prst="line">
            <a:avLst/>
          </a:prstGeom>
          <a:noFill/>
          <a:ln w="19050">
            <a:solidFill>
              <a:schemeClr val="tx1"/>
            </a:solidFill>
            <a:prstDash val="sysDot"/>
            <a:round/>
            <a:tailEnd type="triangle" w="med" len="med"/>
          </a:ln>
          <a:extLst>
            <a:ext uri="{909E8E84-426E-40DD-AFC4-6F175D3DCCD1}">
              <a14:hiddenFill xmlns:a14="http://schemas.microsoft.com/office/drawing/2010/main">
                <a:noFill/>
              </a14:hiddenFill>
            </a:ext>
          </a:extLst>
        </p:spPr>
        <p:txBody>
          <a:bodyPr anchor="ctr"/>
          <a:lstStyle/>
          <a:p>
            <a:endParaRPr lang="en-US"/>
          </a:p>
        </p:txBody>
      </p:sp>
      <p:sp>
        <p:nvSpPr>
          <p:cNvPr id="26646" name="WordArt 28"/>
          <p:cNvSpPr>
            <a:spLocks noChangeArrowheads="1" noChangeShapeType="1" noTextEdit="1"/>
          </p:cNvSpPr>
          <p:nvPr/>
        </p:nvSpPr>
        <p:spPr bwMode="auto">
          <a:xfrm>
            <a:off x="4227514" y="1681164"/>
            <a:ext cx="4321175" cy="884237"/>
          </a:xfrm>
          <a:prstGeom prst="rect">
            <a:avLst/>
          </a:prstGeom>
        </p:spPr>
        <p:txBody>
          <a:bodyPr wrap="none" fromWordArt="1">
            <a:prstTxWarp prst="textPlain">
              <a:avLst>
                <a:gd name="adj" fmla="val 50000"/>
              </a:avLst>
            </a:prstTxWarp>
          </a:bodyPr>
          <a:lstStyle/>
          <a:p>
            <a:pPr algn="ctr"/>
            <a:r>
              <a:rPr lang="fr-FR" sz="3600" kern="10" dirty="0">
                <a:ln w="9525">
                  <a:solidFill>
                    <a:srgbClr val="FFFF00"/>
                  </a:solidFill>
                  <a:round/>
                </a:ln>
                <a:latin typeface="Times New Roman" panose="02020603050405020304" pitchFamily="18" charset="0"/>
                <a:cs typeface="Times New Roman" panose="02020603050405020304" pitchFamily="18" charset="0"/>
              </a:rPr>
              <a:t>VẬT CHẤT LÀ "NGŨ HÀNH"</a:t>
            </a:r>
            <a:endParaRPr lang="en-US" sz="3600" kern="10" dirty="0">
              <a:ln w="9525">
                <a:solidFill>
                  <a:srgbClr val="FFFF00"/>
                </a:solidFill>
                <a:round/>
              </a:ln>
              <a:latin typeface="Times New Roman" panose="02020603050405020304" pitchFamily="18" charset="0"/>
              <a:cs typeface="Times New Roman" panose="02020603050405020304" pitchFamily="18" charset="0"/>
            </a:endParaRPr>
          </a:p>
        </p:txBody>
      </p:sp>
      <p:sp>
        <p:nvSpPr>
          <p:cNvPr id="2" name="Text Box 1"/>
          <p:cNvSpPr txBox="1"/>
          <p:nvPr/>
        </p:nvSpPr>
        <p:spPr>
          <a:xfrm>
            <a:off x="-1753235" y="911225"/>
            <a:ext cx="4064000" cy="368300"/>
          </a:xfrm>
          <a:prstGeom prst="rect">
            <a:avLst/>
          </a:prstGeom>
          <a:noFill/>
        </p:spPr>
        <p:txBody>
          <a:bodyPr wrap="square" rtlCol="0">
            <a:spAutoFit/>
          </a:bodyP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0245"/>
                                        </p:tgtEl>
                                        <p:attrNameLst>
                                          <p:attrName>style.visibility</p:attrName>
                                        </p:attrNameLst>
                                      </p:cBhvr>
                                      <p:to>
                                        <p:strVal val="visible"/>
                                      </p:to>
                                    </p:set>
                                    <p:animEffect transition="in" filter="blinds(horizontal)">
                                      <p:cBhvr>
                                        <p:cTn id="7" dur="500"/>
                                        <p:tgtEl>
                                          <p:spTgt spid="10245"/>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0247"/>
                                        </p:tgtEl>
                                        <p:attrNameLst>
                                          <p:attrName>style.visibility</p:attrName>
                                        </p:attrNameLst>
                                      </p:cBhvr>
                                      <p:to>
                                        <p:strVal val="visible"/>
                                      </p:to>
                                    </p:set>
                                  </p:childTnLst>
                                </p:cTn>
                              </p:par>
                              <p:par>
                                <p:cTn id="12" presetID="10" presetClass="entr" presetSubtype="0" fill="hold" grpId="0" nodeType="withEffect">
                                  <p:stCondLst>
                                    <p:cond delay="0"/>
                                  </p:stCondLst>
                                  <p:childTnLst>
                                    <p:set>
                                      <p:cBhvr>
                                        <p:cTn id="13" dur="1" fill="hold">
                                          <p:stCondLst>
                                            <p:cond delay="0"/>
                                          </p:stCondLst>
                                        </p:cTn>
                                        <p:tgtEl>
                                          <p:spTgt spid="27655"/>
                                        </p:tgtEl>
                                        <p:attrNameLst>
                                          <p:attrName>style.visibility</p:attrName>
                                        </p:attrNameLst>
                                      </p:cBhvr>
                                      <p:to>
                                        <p:strVal val="visible"/>
                                      </p:to>
                                    </p:set>
                                    <p:animEffect transition="in" filter="fade">
                                      <p:cBhvr>
                                        <p:cTn id="14" dur="500"/>
                                        <p:tgtEl>
                                          <p:spTgt spid="27655"/>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27656"/>
                                        </p:tgtEl>
                                        <p:attrNameLst>
                                          <p:attrName>style.visibility</p:attrName>
                                        </p:attrNameLst>
                                      </p:cBhvr>
                                      <p:to>
                                        <p:strVal val="visible"/>
                                      </p:to>
                                    </p:set>
                                    <p:animEffect transition="in" filter="fade">
                                      <p:cBhvr>
                                        <p:cTn id="17" dur="500"/>
                                        <p:tgtEl>
                                          <p:spTgt spid="27656"/>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27657"/>
                                        </p:tgtEl>
                                        <p:attrNameLst>
                                          <p:attrName>style.visibility</p:attrName>
                                        </p:attrNameLst>
                                      </p:cBhvr>
                                      <p:to>
                                        <p:strVal val="visible"/>
                                      </p:to>
                                    </p:set>
                                    <p:animEffect transition="in" filter="fade">
                                      <p:cBhvr>
                                        <p:cTn id="20" dur="500"/>
                                        <p:tgtEl>
                                          <p:spTgt spid="27657"/>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27658"/>
                                        </p:tgtEl>
                                        <p:attrNameLst>
                                          <p:attrName>style.visibility</p:attrName>
                                        </p:attrNameLst>
                                      </p:cBhvr>
                                      <p:to>
                                        <p:strVal val="visible"/>
                                      </p:to>
                                    </p:set>
                                    <p:animEffect transition="in" filter="fade">
                                      <p:cBhvr>
                                        <p:cTn id="23" dur="500"/>
                                        <p:tgtEl>
                                          <p:spTgt spid="27658"/>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7659"/>
                                        </p:tgtEl>
                                        <p:attrNameLst>
                                          <p:attrName>style.visibility</p:attrName>
                                        </p:attrNameLst>
                                      </p:cBhvr>
                                      <p:to>
                                        <p:strVal val="visible"/>
                                      </p:to>
                                    </p:set>
                                    <p:animEffect transition="in" filter="fade">
                                      <p:cBhvr>
                                        <p:cTn id="26" dur="500"/>
                                        <p:tgtEl>
                                          <p:spTgt spid="27659"/>
                                        </p:tgtEl>
                                      </p:cBhvr>
                                    </p:animEffect>
                                  </p:childTnLst>
                                </p:cTn>
                              </p:par>
                              <p:par>
                                <p:cTn id="27" presetID="10" presetClass="entr" presetSubtype="0" fill="hold" nodeType="withEffect">
                                  <p:stCondLst>
                                    <p:cond delay="0"/>
                                  </p:stCondLst>
                                  <p:childTnLst>
                                    <p:set>
                                      <p:cBhvr>
                                        <p:cTn id="28" dur="1" fill="hold">
                                          <p:stCondLst>
                                            <p:cond delay="0"/>
                                          </p:stCondLst>
                                        </p:cTn>
                                        <p:tgtEl>
                                          <p:spTgt spid="27660"/>
                                        </p:tgtEl>
                                        <p:attrNameLst>
                                          <p:attrName>style.visibility</p:attrName>
                                        </p:attrNameLst>
                                      </p:cBhvr>
                                      <p:to>
                                        <p:strVal val="visible"/>
                                      </p:to>
                                    </p:set>
                                    <p:animEffect transition="in" filter="fade">
                                      <p:cBhvr>
                                        <p:cTn id="29" dur="500"/>
                                        <p:tgtEl>
                                          <p:spTgt spid="27660"/>
                                        </p:tgtEl>
                                      </p:cBhvr>
                                    </p:animEffect>
                                  </p:childTnLst>
                                </p:cTn>
                              </p:par>
                              <p:par>
                                <p:cTn id="30" presetID="10" presetClass="entr" presetSubtype="0" fill="hold" nodeType="withEffect">
                                  <p:stCondLst>
                                    <p:cond delay="0"/>
                                  </p:stCondLst>
                                  <p:childTnLst>
                                    <p:set>
                                      <p:cBhvr>
                                        <p:cTn id="31" dur="1" fill="hold">
                                          <p:stCondLst>
                                            <p:cond delay="0"/>
                                          </p:stCondLst>
                                        </p:cTn>
                                        <p:tgtEl>
                                          <p:spTgt spid="27661"/>
                                        </p:tgtEl>
                                        <p:attrNameLst>
                                          <p:attrName>style.visibility</p:attrName>
                                        </p:attrNameLst>
                                      </p:cBhvr>
                                      <p:to>
                                        <p:strVal val="visible"/>
                                      </p:to>
                                    </p:set>
                                    <p:animEffect transition="in" filter="fade">
                                      <p:cBhvr>
                                        <p:cTn id="32" dur="500"/>
                                        <p:tgtEl>
                                          <p:spTgt spid="27661"/>
                                        </p:tgtEl>
                                      </p:cBhvr>
                                    </p:animEffect>
                                  </p:childTnLst>
                                </p:cTn>
                              </p:par>
                              <p:par>
                                <p:cTn id="33" presetID="10" presetClass="entr" presetSubtype="0" fill="hold" nodeType="withEffect">
                                  <p:stCondLst>
                                    <p:cond delay="0"/>
                                  </p:stCondLst>
                                  <p:childTnLst>
                                    <p:set>
                                      <p:cBhvr>
                                        <p:cTn id="34" dur="1" fill="hold">
                                          <p:stCondLst>
                                            <p:cond delay="0"/>
                                          </p:stCondLst>
                                        </p:cTn>
                                        <p:tgtEl>
                                          <p:spTgt spid="27662"/>
                                        </p:tgtEl>
                                        <p:attrNameLst>
                                          <p:attrName>style.visibility</p:attrName>
                                        </p:attrNameLst>
                                      </p:cBhvr>
                                      <p:to>
                                        <p:strVal val="visible"/>
                                      </p:to>
                                    </p:set>
                                    <p:animEffect transition="in" filter="fade">
                                      <p:cBhvr>
                                        <p:cTn id="35" dur="500"/>
                                        <p:tgtEl>
                                          <p:spTgt spid="27662"/>
                                        </p:tgtEl>
                                      </p:cBhvr>
                                    </p:animEffect>
                                  </p:childTnLst>
                                </p:cTn>
                              </p:par>
                              <p:par>
                                <p:cTn id="36" presetID="10" presetClass="entr" presetSubtype="0" fill="hold" nodeType="withEffect">
                                  <p:stCondLst>
                                    <p:cond delay="0"/>
                                  </p:stCondLst>
                                  <p:childTnLst>
                                    <p:set>
                                      <p:cBhvr>
                                        <p:cTn id="37" dur="1" fill="hold">
                                          <p:stCondLst>
                                            <p:cond delay="0"/>
                                          </p:stCondLst>
                                        </p:cTn>
                                        <p:tgtEl>
                                          <p:spTgt spid="27663"/>
                                        </p:tgtEl>
                                        <p:attrNameLst>
                                          <p:attrName>style.visibility</p:attrName>
                                        </p:attrNameLst>
                                      </p:cBhvr>
                                      <p:to>
                                        <p:strVal val="visible"/>
                                      </p:to>
                                    </p:set>
                                    <p:animEffect transition="in" filter="fade">
                                      <p:cBhvr>
                                        <p:cTn id="38" dur="500"/>
                                        <p:tgtEl>
                                          <p:spTgt spid="27663"/>
                                        </p:tgtEl>
                                      </p:cBhvr>
                                    </p:animEffect>
                                  </p:childTnLst>
                                </p:cTn>
                              </p:par>
                              <p:par>
                                <p:cTn id="39" presetID="10" presetClass="entr" presetSubtype="0" fill="hold" nodeType="withEffect">
                                  <p:stCondLst>
                                    <p:cond delay="0"/>
                                  </p:stCondLst>
                                  <p:childTnLst>
                                    <p:set>
                                      <p:cBhvr>
                                        <p:cTn id="40" dur="1" fill="hold">
                                          <p:stCondLst>
                                            <p:cond delay="0"/>
                                          </p:stCondLst>
                                        </p:cTn>
                                        <p:tgtEl>
                                          <p:spTgt spid="27664"/>
                                        </p:tgtEl>
                                        <p:attrNameLst>
                                          <p:attrName>style.visibility</p:attrName>
                                        </p:attrNameLst>
                                      </p:cBhvr>
                                      <p:to>
                                        <p:strVal val="visible"/>
                                      </p:to>
                                    </p:set>
                                    <p:animEffect transition="in" filter="fade">
                                      <p:cBhvr>
                                        <p:cTn id="41" dur="500"/>
                                        <p:tgtEl>
                                          <p:spTgt spid="27664"/>
                                        </p:tgtEl>
                                      </p:cBhvr>
                                    </p:animEffect>
                                  </p:childTnLst>
                                </p:cTn>
                              </p:par>
                              <p:par>
                                <p:cTn id="42" presetID="10" presetClass="entr" presetSubtype="0" fill="hold" nodeType="withEffect">
                                  <p:stCondLst>
                                    <p:cond delay="0"/>
                                  </p:stCondLst>
                                  <p:childTnLst>
                                    <p:set>
                                      <p:cBhvr>
                                        <p:cTn id="43" dur="1" fill="hold">
                                          <p:stCondLst>
                                            <p:cond delay="0"/>
                                          </p:stCondLst>
                                        </p:cTn>
                                        <p:tgtEl>
                                          <p:spTgt spid="27667"/>
                                        </p:tgtEl>
                                        <p:attrNameLst>
                                          <p:attrName>style.visibility</p:attrName>
                                        </p:attrNameLst>
                                      </p:cBhvr>
                                      <p:to>
                                        <p:strVal val="visible"/>
                                      </p:to>
                                    </p:set>
                                    <p:animEffect transition="in" filter="fade">
                                      <p:cBhvr>
                                        <p:cTn id="44" dur="500"/>
                                        <p:tgtEl>
                                          <p:spTgt spid="27667"/>
                                        </p:tgtEl>
                                      </p:cBhvr>
                                    </p:animEffect>
                                  </p:childTnLst>
                                </p:cTn>
                              </p:par>
                              <p:par>
                                <p:cTn id="45" presetID="10" presetClass="entr" presetSubtype="0" fill="hold" nodeType="withEffect">
                                  <p:stCondLst>
                                    <p:cond delay="0"/>
                                  </p:stCondLst>
                                  <p:childTnLst>
                                    <p:set>
                                      <p:cBhvr>
                                        <p:cTn id="46" dur="1" fill="hold">
                                          <p:stCondLst>
                                            <p:cond delay="0"/>
                                          </p:stCondLst>
                                        </p:cTn>
                                        <p:tgtEl>
                                          <p:spTgt spid="27668"/>
                                        </p:tgtEl>
                                        <p:attrNameLst>
                                          <p:attrName>style.visibility</p:attrName>
                                        </p:attrNameLst>
                                      </p:cBhvr>
                                      <p:to>
                                        <p:strVal val="visible"/>
                                      </p:to>
                                    </p:set>
                                    <p:animEffect transition="in" filter="fade">
                                      <p:cBhvr>
                                        <p:cTn id="47" dur="500"/>
                                        <p:tgtEl>
                                          <p:spTgt spid="27668"/>
                                        </p:tgtEl>
                                      </p:cBhvr>
                                    </p:animEffect>
                                  </p:childTnLst>
                                </p:cTn>
                              </p:par>
                              <p:par>
                                <p:cTn id="48" presetID="10" presetClass="entr" presetSubtype="0" fill="hold" nodeType="withEffect">
                                  <p:stCondLst>
                                    <p:cond delay="0"/>
                                  </p:stCondLst>
                                  <p:childTnLst>
                                    <p:set>
                                      <p:cBhvr>
                                        <p:cTn id="49" dur="1" fill="hold">
                                          <p:stCondLst>
                                            <p:cond delay="0"/>
                                          </p:stCondLst>
                                        </p:cTn>
                                        <p:tgtEl>
                                          <p:spTgt spid="27669"/>
                                        </p:tgtEl>
                                        <p:attrNameLst>
                                          <p:attrName>style.visibility</p:attrName>
                                        </p:attrNameLst>
                                      </p:cBhvr>
                                      <p:to>
                                        <p:strVal val="visible"/>
                                      </p:to>
                                    </p:set>
                                    <p:animEffect transition="in" filter="fade">
                                      <p:cBhvr>
                                        <p:cTn id="50" dur="500"/>
                                        <p:tgtEl>
                                          <p:spTgt spid="27669"/>
                                        </p:tgtEl>
                                      </p:cBhvr>
                                    </p:animEffect>
                                  </p:childTnLst>
                                </p:cTn>
                              </p:par>
                              <p:par>
                                <p:cTn id="51" presetID="10" presetClass="entr" presetSubtype="0" fill="hold" nodeType="withEffect">
                                  <p:stCondLst>
                                    <p:cond delay="0"/>
                                  </p:stCondLst>
                                  <p:childTnLst>
                                    <p:set>
                                      <p:cBhvr>
                                        <p:cTn id="52" dur="1" fill="hold">
                                          <p:stCondLst>
                                            <p:cond delay="0"/>
                                          </p:stCondLst>
                                        </p:cTn>
                                        <p:tgtEl>
                                          <p:spTgt spid="27670"/>
                                        </p:tgtEl>
                                        <p:attrNameLst>
                                          <p:attrName>style.visibility</p:attrName>
                                        </p:attrNameLst>
                                      </p:cBhvr>
                                      <p:to>
                                        <p:strVal val="visible"/>
                                      </p:to>
                                    </p:set>
                                    <p:animEffect transition="in" filter="fade">
                                      <p:cBhvr>
                                        <p:cTn id="53" dur="500"/>
                                        <p:tgtEl>
                                          <p:spTgt spid="27670"/>
                                        </p:tgtEl>
                                      </p:cBhvr>
                                    </p:animEffect>
                                  </p:childTnLst>
                                </p:cTn>
                              </p:par>
                              <p:par>
                                <p:cTn id="54" presetID="10" presetClass="entr" presetSubtype="0" fill="hold" nodeType="withEffect">
                                  <p:stCondLst>
                                    <p:cond delay="0"/>
                                  </p:stCondLst>
                                  <p:childTnLst>
                                    <p:set>
                                      <p:cBhvr>
                                        <p:cTn id="55" dur="1" fill="hold">
                                          <p:stCondLst>
                                            <p:cond delay="0"/>
                                          </p:stCondLst>
                                        </p:cTn>
                                        <p:tgtEl>
                                          <p:spTgt spid="27671"/>
                                        </p:tgtEl>
                                        <p:attrNameLst>
                                          <p:attrName>style.visibility</p:attrName>
                                        </p:attrNameLst>
                                      </p:cBhvr>
                                      <p:to>
                                        <p:strVal val="visible"/>
                                      </p:to>
                                    </p:set>
                                    <p:animEffect transition="in" filter="fade">
                                      <p:cBhvr>
                                        <p:cTn id="56" dur="500"/>
                                        <p:tgtEl>
                                          <p:spTgt spid="27671"/>
                                        </p:tgtEl>
                                      </p:cBhvr>
                                    </p:animEffect>
                                  </p:childTnLst>
                                </p:cTn>
                              </p:par>
                            </p:childTnLst>
                          </p:cTn>
                        </p:par>
                      </p:childTnLst>
                    </p:cTn>
                  </p:par>
                  <p:par>
                    <p:cTn id="57" fill="hold">
                      <p:stCondLst>
                        <p:cond delay="indefinite"/>
                      </p:stCondLst>
                      <p:childTnLst>
                        <p:par>
                          <p:cTn id="58" fill="hold">
                            <p:stCondLst>
                              <p:cond delay="0"/>
                            </p:stCondLst>
                            <p:childTnLst>
                              <p:par>
                                <p:cTn id="59" presetID="21" presetClass="entr" presetSubtype="1" repeatCount="indefinite" fill="hold" nodeType="clickEffect">
                                  <p:stCondLst>
                                    <p:cond delay="0"/>
                                  </p:stCondLst>
                                  <p:childTnLst>
                                    <p:set>
                                      <p:cBhvr>
                                        <p:cTn id="60" dur="1" fill="hold">
                                          <p:stCondLst>
                                            <p:cond delay="0"/>
                                          </p:stCondLst>
                                        </p:cTn>
                                        <p:tgtEl>
                                          <p:spTgt spid="10260"/>
                                        </p:tgtEl>
                                        <p:attrNameLst>
                                          <p:attrName>style.visibility</p:attrName>
                                        </p:attrNameLst>
                                      </p:cBhvr>
                                      <p:to>
                                        <p:strVal val="visible"/>
                                      </p:to>
                                    </p:set>
                                    <p:animEffect transition="in" filter="wheel(1)">
                                      <p:cBhvr>
                                        <p:cTn id="61" dur="2000"/>
                                        <p:tgtEl>
                                          <p:spTgt spid="10260"/>
                                        </p:tgtEl>
                                      </p:cBhvr>
                                    </p:animEffect>
                                  </p:childTnLst>
                                </p:cTn>
                              </p:par>
                              <p:par>
                                <p:cTn id="62" presetID="21" presetClass="entr" presetSubtype="1" repeatCount="indefinite" fill="hold" nodeType="withEffect">
                                  <p:stCondLst>
                                    <p:cond delay="1000"/>
                                  </p:stCondLst>
                                  <p:childTnLst>
                                    <p:set>
                                      <p:cBhvr>
                                        <p:cTn id="63" dur="1" fill="hold">
                                          <p:stCondLst>
                                            <p:cond delay="0"/>
                                          </p:stCondLst>
                                        </p:cTn>
                                        <p:tgtEl>
                                          <p:spTgt spid="10261"/>
                                        </p:tgtEl>
                                        <p:attrNameLst>
                                          <p:attrName>style.visibility</p:attrName>
                                        </p:attrNameLst>
                                      </p:cBhvr>
                                      <p:to>
                                        <p:strVal val="visible"/>
                                      </p:to>
                                    </p:set>
                                    <p:animEffect transition="in" filter="wheel(1)">
                                      <p:cBhvr>
                                        <p:cTn id="64" dur="2000"/>
                                        <p:tgtEl>
                                          <p:spTgt spid="102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5" grpId="0" animBg="1"/>
      <p:bldP spid="27655" grpId="0" animBg="1"/>
      <p:bldP spid="27656" grpId="0" animBg="1"/>
      <p:bldP spid="27657" grpId="0" animBg="1"/>
      <p:bldP spid="27658" grpId="0" animBg="1"/>
      <p:bldP spid="2765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8674" name="WordArt 9"/>
          <p:cNvSpPr>
            <a:spLocks noChangeArrowheads="1" noChangeShapeType="1" noTextEdit="1"/>
          </p:cNvSpPr>
          <p:nvPr/>
        </p:nvSpPr>
        <p:spPr bwMode="auto">
          <a:xfrm>
            <a:off x="3810000" y="609600"/>
            <a:ext cx="4324350" cy="609600"/>
          </a:xfrm>
          <a:prstGeom prst="rect">
            <a:avLst/>
          </a:prstGeom>
        </p:spPr>
        <p:txBody>
          <a:bodyPr wrap="none" fromWordArt="1">
            <a:prstTxWarp prst="textPlain">
              <a:avLst>
                <a:gd name="adj" fmla="val 50000"/>
              </a:avLst>
            </a:prstTxWarp>
          </a:bodyPr>
          <a:lstStyle/>
          <a:p>
            <a:pPr algn="ctr"/>
            <a:r>
              <a:rPr lang="fr-FR" sz="3600" kern="10" dirty="0">
                <a:ln w="9525">
                  <a:solidFill>
                    <a:srgbClr val="000000"/>
                  </a:solidFill>
                  <a:round/>
                </a:ln>
                <a:solidFill>
                  <a:srgbClr val="FF0000"/>
                </a:solidFill>
                <a:latin typeface="Times New Roman" panose="02020603050405020304" pitchFamily="18" charset="0"/>
                <a:cs typeface="Times New Roman" panose="02020603050405020304" pitchFamily="18" charset="0"/>
              </a:rPr>
              <a:t>VẬT CHẤT LÀ "NGUYÊN </a:t>
            </a:r>
            <a:r>
              <a:rPr lang="fr-FR" sz="3600" kern="10" dirty="0">
                <a:ln w="9525">
                  <a:solidFill>
                    <a:srgbClr val="000000"/>
                  </a:solidFill>
                  <a:round/>
                </a:ln>
                <a:solidFill>
                  <a:srgbClr val="FF0000"/>
                </a:solidFill>
                <a:latin typeface="Arial Đen"/>
              </a:rPr>
              <a:t>TỬ"</a:t>
            </a:r>
            <a:endParaRPr lang="en-US" sz="3600" kern="10" dirty="0">
              <a:ln w="9525">
                <a:solidFill>
                  <a:srgbClr val="000000"/>
                </a:solidFill>
                <a:round/>
              </a:ln>
              <a:solidFill>
                <a:srgbClr val="FF0000"/>
              </a:solidFill>
              <a:latin typeface="Arial Đen"/>
            </a:endParaRPr>
          </a:p>
        </p:txBody>
      </p:sp>
      <p:sp>
        <p:nvSpPr>
          <p:cNvPr id="15376" name="WordArt 16"/>
          <p:cNvSpPr>
            <a:spLocks noChangeArrowheads="1" noChangeShapeType="1" noTextEdit="1"/>
          </p:cNvSpPr>
          <p:nvPr/>
        </p:nvSpPr>
        <p:spPr bwMode="auto">
          <a:xfrm>
            <a:off x="2057400" y="5410200"/>
            <a:ext cx="2743200" cy="533400"/>
          </a:xfrm>
          <a:prstGeom prst="rect">
            <a:avLst/>
          </a:prstGeom>
        </p:spPr>
        <p:txBody>
          <a:bodyPr wrap="none" fromWordArt="1">
            <a:prstTxWarp prst="textPlain">
              <a:avLst>
                <a:gd name="adj" fmla="val 50000"/>
              </a:avLst>
            </a:prstTxWarp>
          </a:bodyPr>
          <a:lstStyle/>
          <a:p>
            <a:pPr algn="ctr"/>
            <a:r>
              <a:rPr lang="en-US" sz="4400" kern="10">
                <a:ln w="9525">
                  <a:solidFill>
                    <a:schemeClr val="bg1"/>
                  </a:solidFill>
                  <a:round/>
                </a:ln>
                <a:solidFill>
                  <a:srgbClr val="000000"/>
                </a:solidFill>
                <a:latin typeface="Arial Đen"/>
              </a:rPr>
              <a:t>DEMOCRIT (460-370 tr.CN)</a:t>
            </a:r>
            <a:endParaRPr lang="en-US" sz="4400" kern="10">
              <a:ln w="9525">
                <a:solidFill>
                  <a:schemeClr val="bg1"/>
                </a:solidFill>
                <a:round/>
              </a:ln>
              <a:solidFill>
                <a:srgbClr val="000000"/>
              </a:solidFill>
              <a:latin typeface="Arial Đen"/>
            </a:endParaRPr>
          </a:p>
        </p:txBody>
      </p:sp>
      <p:pic>
        <p:nvPicPr>
          <p:cNvPr id="15378" name="Picture 18" descr="is?iD0uaHnQxD8sEkLvgQdRB8emloHF0RphiShLmCNy4K0"/>
          <p:cNvPicPr>
            <a:picLocks noChangeAspect="1" noChangeArrowheads="1"/>
          </p:cNvPicPr>
          <p:nvPr/>
        </p:nvPicPr>
        <p:blipFill>
          <a:blip r:embed="rId1">
            <a:extLst>
              <a:ext uri="{28A0092B-C50C-407E-A947-70E740481C1C}">
                <a14:useLocalDpi xmlns:a14="http://schemas.microsoft.com/office/drawing/2010/main" val="0"/>
              </a:ext>
            </a:extLst>
          </a:blip>
          <a:srcRect b="11916"/>
          <a:stretch>
            <a:fillRect/>
          </a:stretch>
        </p:blipFill>
        <p:spPr bwMode="auto">
          <a:xfrm>
            <a:off x="4630739" y="2722564"/>
            <a:ext cx="1711325" cy="2066925"/>
          </a:xfrm>
          <a:prstGeom prst="rect">
            <a:avLst/>
          </a:prstGeom>
          <a:solidFill>
            <a:schemeClr val="bg1"/>
          </a:solidFill>
          <a:ln w="9525">
            <a:solidFill>
              <a:schemeClr val="bg1"/>
            </a:solidFill>
            <a:miter lim="800000"/>
            <a:headEnd/>
            <a:tailEnd/>
          </a:ln>
        </p:spPr>
      </p:pic>
      <p:pic>
        <p:nvPicPr>
          <p:cNvPr id="15379" name="Picture 19" descr="j0354516"/>
          <p:cNvPicPr>
            <a:picLocks noChangeAspect="1" noChangeArrowheads="1" noCrop="1"/>
          </p:cNvPicPr>
          <p:nvPr/>
        </p:nvPicPr>
        <p:blipFill>
          <a:blip r:embed="rId2"/>
          <a:srcRect/>
          <a:stretch>
            <a:fillRect/>
          </a:stretch>
        </p:blipFill>
        <p:spPr bwMode="auto">
          <a:xfrm>
            <a:off x="6629400" y="3190876"/>
            <a:ext cx="187325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2" name="Group 41"/>
          <p:cNvGrpSpPr/>
          <p:nvPr/>
        </p:nvGrpSpPr>
        <p:grpSpPr bwMode="auto">
          <a:xfrm>
            <a:off x="2025650" y="2362201"/>
            <a:ext cx="2376488" cy="2663825"/>
            <a:chOff x="521" y="1525"/>
            <a:chExt cx="1497" cy="1678"/>
          </a:xfrm>
        </p:grpSpPr>
        <p:pic>
          <p:nvPicPr>
            <p:cNvPr id="28682" name="Picture 39" descr="fram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1" y="1525"/>
              <a:ext cx="1497" cy="1678"/>
            </a:xfrm>
            <a:prstGeom prst="rect">
              <a:avLst/>
            </a:prstGeom>
            <a:solidFill>
              <a:schemeClr val="bg1"/>
            </a:solidFill>
            <a:ln w="9525">
              <a:solidFill>
                <a:schemeClr val="bg1"/>
              </a:solidFill>
              <a:miter lim="800000"/>
              <a:headEnd/>
              <a:tailEnd/>
            </a:ln>
          </p:spPr>
        </p:pic>
        <p:pic>
          <p:nvPicPr>
            <p:cNvPr id="28683" name="Picture 40" descr="Democritus">
              <a:hlinkClick r:id="rId4"/>
            </p:cNvPr>
            <p:cNvPicPr>
              <a:picLocks noChangeAspect="1" noChangeArrowheads="1"/>
            </p:cNvPicPr>
            <p:nvPr/>
          </p:nvPicPr>
          <p:blipFill>
            <a:blip r:embed="rId5">
              <a:lum contrast="30000"/>
              <a:extLst>
                <a:ext uri="{28A0092B-C50C-407E-A947-70E740481C1C}">
                  <a14:useLocalDpi xmlns:a14="http://schemas.microsoft.com/office/drawing/2010/main" val="0"/>
                </a:ext>
              </a:extLst>
            </a:blip>
            <a:srcRect/>
            <a:stretch>
              <a:fillRect/>
            </a:stretch>
          </p:blipFill>
          <p:spPr bwMode="auto">
            <a:xfrm>
              <a:off x="703" y="1752"/>
              <a:ext cx="1134" cy="1270"/>
            </a:xfrm>
            <a:prstGeom prst="rect">
              <a:avLst/>
            </a:prstGeom>
            <a:solidFill>
              <a:schemeClr val="bg1"/>
            </a:solidFill>
            <a:ln w="9525">
              <a:solidFill>
                <a:schemeClr val="bg1"/>
              </a:solidFill>
              <a:miter lim="800000"/>
              <a:headEnd/>
              <a:tailEnd/>
            </a:ln>
          </p:spPr>
        </p:pic>
      </p:grpSp>
      <p:sp>
        <p:nvSpPr>
          <p:cNvPr id="15402" name="WordArt 42"/>
          <p:cNvSpPr>
            <a:spLocks noChangeArrowheads="1" noChangeShapeType="1" noTextEdit="1"/>
          </p:cNvSpPr>
          <p:nvPr/>
        </p:nvSpPr>
        <p:spPr bwMode="auto">
          <a:xfrm>
            <a:off x="6434138" y="5267326"/>
            <a:ext cx="3700462" cy="828675"/>
          </a:xfrm>
          <a:prstGeom prst="rect">
            <a:avLst/>
          </a:prstGeom>
        </p:spPr>
        <p:txBody>
          <a:bodyPr wrap="none" fromWordArt="1">
            <a:prstTxWarp prst="textPlain">
              <a:avLst>
                <a:gd name="adj" fmla="val 50000"/>
              </a:avLst>
            </a:prstTxWarp>
          </a:bodyPr>
          <a:lstStyle/>
          <a:p>
            <a:pPr algn="ctr"/>
            <a:r>
              <a:rPr lang="en-US" sz="3600" kern="10">
                <a:ln w="9525">
                  <a:solidFill>
                    <a:schemeClr val="bg1"/>
                  </a:solidFill>
                  <a:round/>
                </a:ln>
                <a:solidFill>
                  <a:srgbClr val="000000"/>
                </a:solidFill>
                <a:latin typeface="Arial Đen"/>
              </a:rPr>
              <a:t>MÔ HÌNH CỦA </a:t>
            </a:r>
            <a:endParaRPr lang="en-US" sz="3600" kern="10">
              <a:ln w="9525">
                <a:solidFill>
                  <a:schemeClr val="bg1"/>
                </a:solidFill>
                <a:round/>
              </a:ln>
              <a:solidFill>
                <a:srgbClr val="000000"/>
              </a:solidFill>
              <a:latin typeface="Arial Đen"/>
            </a:endParaRPr>
          </a:p>
          <a:p>
            <a:pPr algn="ctr"/>
            <a:r>
              <a:rPr lang="en-US" sz="3600" kern="10">
                <a:ln w="9525">
                  <a:solidFill>
                    <a:schemeClr val="bg1"/>
                  </a:solidFill>
                  <a:round/>
                </a:ln>
                <a:solidFill>
                  <a:srgbClr val="000000"/>
                </a:solidFill>
                <a:latin typeface="Arial Đen"/>
              </a:rPr>
              <a:t>VẬT LÝ HỌC HIỆN ĐẠI</a:t>
            </a:r>
            <a:endParaRPr lang="en-US" sz="3600" kern="10">
              <a:ln w="9525">
                <a:solidFill>
                  <a:schemeClr val="bg1"/>
                </a:solidFill>
                <a:round/>
              </a:ln>
              <a:solidFill>
                <a:srgbClr val="000000"/>
              </a:solidFill>
              <a:latin typeface="Arial Đen"/>
            </a:endParaRPr>
          </a:p>
        </p:txBody>
      </p:sp>
      <p:pic>
        <p:nvPicPr>
          <p:cNvPr id="15403" name="Picture 43" descr="Ảnh20"/>
          <p:cNvPicPr>
            <a:picLocks noChangeAspect="1" noChangeArrowheads="1" noCrop="1"/>
          </p:cNvPicPr>
          <p:nvPr/>
        </p:nvPicPr>
        <p:blipFill>
          <a:blip r:embed="rId6"/>
          <a:srcRect/>
          <a:stretch>
            <a:fillRect/>
          </a:stretch>
        </p:blipFill>
        <p:spPr bwMode="auto">
          <a:xfrm>
            <a:off x="8502650" y="3255964"/>
            <a:ext cx="1987550" cy="158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WordArt 9"/>
          <p:cNvSpPr>
            <a:spLocks noChangeArrowheads="1" noChangeShapeType="1" noTextEdit="1"/>
          </p:cNvSpPr>
          <p:nvPr/>
        </p:nvSpPr>
        <p:spPr bwMode="auto">
          <a:xfrm>
            <a:off x="4510081" y="1612894"/>
            <a:ext cx="5295921" cy="433379"/>
          </a:xfrm>
          <a:prstGeom prst="rect">
            <a:avLst/>
          </a:prstGeom>
        </p:spPr>
        <p:txBody>
          <a:bodyPr wrap="none" fromWordArt="1">
            <a:prstTxWarp prst="textPlain">
              <a:avLst>
                <a:gd name="adj" fmla="val 50000"/>
              </a:avLst>
            </a:prstTxWarp>
          </a:bodyPr>
          <a:lstStyle/>
          <a:p>
            <a:pPr algn="ctr">
              <a:defRPr/>
            </a:pPr>
            <a:r>
              <a:rPr lang="fr-FR" sz="3600" kern="10" dirty="0">
                <a:ln w="9525">
                  <a:solidFill>
                    <a:srgbClr val="000000"/>
                  </a:solidFill>
                  <a:round/>
                </a:ln>
                <a:solidFill>
                  <a:srgbClr val="FFFF00"/>
                </a:solidFill>
                <a:latin typeface="Times New Roman" panose="02020603050405020304" pitchFamily="18" charset="0"/>
                <a:cs typeface="Times New Roman" panose="02020603050405020304" pitchFamily="18" charset="0"/>
              </a:rPr>
              <a:t>VẬT CHẤT LÀ « KHỐI LƯỢNG</a:t>
            </a:r>
            <a:r>
              <a:rPr lang="fr-FR" sz="3600" kern="10" dirty="0">
                <a:ln w="9525">
                  <a:solidFill>
                    <a:srgbClr val="000000"/>
                  </a:solidFill>
                  <a:round/>
                </a:ln>
                <a:solidFill>
                  <a:srgbClr val="FF0000"/>
                </a:solidFill>
                <a:latin typeface="Times New Roman" panose="02020603050405020304" pitchFamily="18" charset="0"/>
                <a:cs typeface="Times New Roman" panose="02020603050405020304" pitchFamily="18" charset="0"/>
              </a:rPr>
              <a:t>"</a:t>
            </a:r>
            <a:endParaRPr lang="en-US" sz="3600" kern="10" dirty="0">
              <a:ln w="9525">
                <a:solidFill>
                  <a:srgbClr val="000000"/>
                </a:solidFill>
                <a:round/>
              </a:ln>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9" presetClass="entr" presetSubtype="0" decel="100000" fill="hold" nodeType="clickEffect">
                                  <p:stCondLst>
                                    <p:cond delay="0"/>
                                  </p:stCondLst>
                                  <p:childTnLst>
                                    <p:set>
                                      <p:cBhvr>
                                        <p:cTn id="6" dur="1" fill="hold">
                                          <p:stCondLst>
                                            <p:cond delay="0"/>
                                          </p:stCondLst>
                                        </p:cTn>
                                        <p:tgtEl>
                                          <p:spTgt spid="15376"/>
                                        </p:tgtEl>
                                        <p:attrNameLst>
                                          <p:attrName>style.visibility</p:attrName>
                                        </p:attrNameLst>
                                      </p:cBhvr>
                                      <p:to>
                                        <p:strVal val="visible"/>
                                      </p:to>
                                    </p:set>
                                    <p:anim calcmode="lin" valueType="num">
                                      <p:cBhvr>
                                        <p:cTn id="7" dur="1000" fill="hold"/>
                                        <p:tgtEl>
                                          <p:spTgt spid="15376"/>
                                        </p:tgtEl>
                                        <p:attrNameLst>
                                          <p:attrName>ppt_w</p:attrName>
                                        </p:attrNameLst>
                                      </p:cBhvr>
                                      <p:tavLst>
                                        <p:tav tm="0">
                                          <p:val>
                                            <p:fltVal val="0"/>
                                          </p:val>
                                        </p:tav>
                                        <p:tav tm="100000">
                                          <p:val>
                                            <p:strVal val="#ppt_w"/>
                                          </p:val>
                                        </p:tav>
                                      </p:tavLst>
                                    </p:anim>
                                    <p:anim calcmode="lin" valueType="num">
                                      <p:cBhvr>
                                        <p:cTn id="8" dur="1000" fill="hold"/>
                                        <p:tgtEl>
                                          <p:spTgt spid="15376"/>
                                        </p:tgtEl>
                                        <p:attrNameLst>
                                          <p:attrName>ppt_h</p:attrName>
                                        </p:attrNameLst>
                                      </p:cBhvr>
                                      <p:tavLst>
                                        <p:tav tm="0">
                                          <p:val>
                                            <p:fltVal val="0"/>
                                          </p:val>
                                        </p:tav>
                                        <p:tav tm="100000">
                                          <p:val>
                                            <p:strVal val="#ppt_h"/>
                                          </p:val>
                                        </p:tav>
                                      </p:tavLst>
                                    </p:anim>
                                    <p:anim calcmode="lin" valueType="num">
                                      <p:cBhvr>
                                        <p:cTn id="9" dur="1000" fill="hold"/>
                                        <p:tgtEl>
                                          <p:spTgt spid="15376"/>
                                        </p:tgtEl>
                                        <p:attrNameLst>
                                          <p:attrName>style.rotation</p:attrName>
                                        </p:attrNameLst>
                                      </p:cBhvr>
                                      <p:tavLst>
                                        <p:tav tm="0">
                                          <p:val>
                                            <p:fltVal val="360"/>
                                          </p:val>
                                        </p:tav>
                                        <p:tav tm="100000">
                                          <p:val>
                                            <p:fltVal val="0"/>
                                          </p:val>
                                        </p:tav>
                                      </p:tavLst>
                                    </p:anim>
                                    <p:animEffect transition="in" filter="fade">
                                      <p:cBhvr>
                                        <p:cTn id="10" dur="1000"/>
                                        <p:tgtEl>
                                          <p:spTgt spid="15376"/>
                                        </p:tgtEl>
                                      </p:cBhvr>
                                    </p:animEffect>
                                  </p:childTnLst>
                                </p:cTn>
                              </p:par>
                              <p:par>
                                <p:cTn id="11" presetID="49" presetClass="entr" presetSubtype="0" decel="100000" fill="hold" nodeType="withEffect">
                                  <p:stCondLst>
                                    <p:cond delay="0"/>
                                  </p:stCondLst>
                                  <p:childTnLst>
                                    <p:set>
                                      <p:cBhvr>
                                        <p:cTn id="12" dur="1" fill="hold">
                                          <p:stCondLst>
                                            <p:cond delay="0"/>
                                          </p:stCondLst>
                                        </p:cTn>
                                        <p:tgtEl>
                                          <p:spTgt spid="15378"/>
                                        </p:tgtEl>
                                        <p:attrNameLst>
                                          <p:attrName>style.visibility</p:attrName>
                                        </p:attrNameLst>
                                      </p:cBhvr>
                                      <p:to>
                                        <p:strVal val="visible"/>
                                      </p:to>
                                    </p:set>
                                    <p:anim calcmode="lin" valueType="num">
                                      <p:cBhvr>
                                        <p:cTn id="13" dur="1000" fill="hold"/>
                                        <p:tgtEl>
                                          <p:spTgt spid="15378"/>
                                        </p:tgtEl>
                                        <p:attrNameLst>
                                          <p:attrName>ppt_w</p:attrName>
                                        </p:attrNameLst>
                                      </p:cBhvr>
                                      <p:tavLst>
                                        <p:tav tm="0">
                                          <p:val>
                                            <p:fltVal val="0"/>
                                          </p:val>
                                        </p:tav>
                                        <p:tav tm="100000">
                                          <p:val>
                                            <p:strVal val="#ppt_w"/>
                                          </p:val>
                                        </p:tav>
                                      </p:tavLst>
                                    </p:anim>
                                    <p:anim calcmode="lin" valueType="num">
                                      <p:cBhvr>
                                        <p:cTn id="14" dur="1000" fill="hold"/>
                                        <p:tgtEl>
                                          <p:spTgt spid="15378"/>
                                        </p:tgtEl>
                                        <p:attrNameLst>
                                          <p:attrName>ppt_h</p:attrName>
                                        </p:attrNameLst>
                                      </p:cBhvr>
                                      <p:tavLst>
                                        <p:tav tm="0">
                                          <p:val>
                                            <p:fltVal val="0"/>
                                          </p:val>
                                        </p:tav>
                                        <p:tav tm="100000">
                                          <p:val>
                                            <p:strVal val="#ppt_h"/>
                                          </p:val>
                                        </p:tav>
                                      </p:tavLst>
                                    </p:anim>
                                    <p:anim calcmode="lin" valueType="num">
                                      <p:cBhvr>
                                        <p:cTn id="15" dur="1000" fill="hold"/>
                                        <p:tgtEl>
                                          <p:spTgt spid="15378"/>
                                        </p:tgtEl>
                                        <p:attrNameLst>
                                          <p:attrName>style.rotation</p:attrName>
                                        </p:attrNameLst>
                                      </p:cBhvr>
                                      <p:tavLst>
                                        <p:tav tm="0">
                                          <p:val>
                                            <p:fltVal val="360"/>
                                          </p:val>
                                        </p:tav>
                                        <p:tav tm="100000">
                                          <p:val>
                                            <p:fltVal val="0"/>
                                          </p:val>
                                        </p:tav>
                                      </p:tavLst>
                                    </p:anim>
                                    <p:animEffect transition="in" filter="fade">
                                      <p:cBhvr>
                                        <p:cTn id="16" dur="1000"/>
                                        <p:tgtEl>
                                          <p:spTgt spid="15378"/>
                                        </p:tgtEl>
                                      </p:cBhvr>
                                    </p:animEffect>
                                  </p:childTnLst>
                                </p:cTn>
                              </p:par>
                              <p:par>
                                <p:cTn id="17" presetID="49" presetClass="entr" presetSubtype="0" decel="100000" fill="hold" nodeType="withEffect">
                                  <p:stCondLst>
                                    <p:cond delay="0"/>
                                  </p:stCondLst>
                                  <p:childTnLst>
                                    <p:set>
                                      <p:cBhvr>
                                        <p:cTn id="18" dur="1" fill="hold">
                                          <p:stCondLst>
                                            <p:cond delay="0"/>
                                          </p:stCondLst>
                                        </p:cTn>
                                        <p:tgtEl>
                                          <p:spTgt spid="15379"/>
                                        </p:tgtEl>
                                        <p:attrNameLst>
                                          <p:attrName>style.visibility</p:attrName>
                                        </p:attrNameLst>
                                      </p:cBhvr>
                                      <p:to>
                                        <p:strVal val="visible"/>
                                      </p:to>
                                    </p:set>
                                    <p:anim calcmode="lin" valueType="num">
                                      <p:cBhvr>
                                        <p:cTn id="19" dur="1000" fill="hold"/>
                                        <p:tgtEl>
                                          <p:spTgt spid="15379"/>
                                        </p:tgtEl>
                                        <p:attrNameLst>
                                          <p:attrName>ppt_w</p:attrName>
                                        </p:attrNameLst>
                                      </p:cBhvr>
                                      <p:tavLst>
                                        <p:tav tm="0">
                                          <p:val>
                                            <p:fltVal val="0"/>
                                          </p:val>
                                        </p:tav>
                                        <p:tav tm="100000">
                                          <p:val>
                                            <p:strVal val="#ppt_w"/>
                                          </p:val>
                                        </p:tav>
                                      </p:tavLst>
                                    </p:anim>
                                    <p:anim calcmode="lin" valueType="num">
                                      <p:cBhvr>
                                        <p:cTn id="20" dur="1000" fill="hold"/>
                                        <p:tgtEl>
                                          <p:spTgt spid="15379"/>
                                        </p:tgtEl>
                                        <p:attrNameLst>
                                          <p:attrName>ppt_h</p:attrName>
                                        </p:attrNameLst>
                                      </p:cBhvr>
                                      <p:tavLst>
                                        <p:tav tm="0">
                                          <p:val>
                                            <p:fltVal val="0"/>
                                          </p:val>
                                        </p:tav>
                                        <p:tav tm="100000">
                                          <p:val>
                                            <p:strVal val="#ppt_h"/>
                                          </p:val>
                                        </p:tav>
                                      </p:tavLst>
                                    </p:anim>
                                    <p:anim calcmode="lin" valueType="num">
                                      <p:cBhvr>
                                        <p:cTn id="21" dur="1000" fill="hold"/>
                                        <p:tgtEl>
                                          <p:spTgt spid="15379"/>
                                        </p:tgtEl>
                                        <p:attrNameLst>
                                          <p:attrName>style.rotation</p:attrName>
                                        </p:attrNameLst>
                                      </p:cBhvr>
                                      <p:tavLst>
                                        <p:tav tm="0">
                                          <p:val>
                                            <p:fltVal val="360"/>
                                          </p:val>
                                        </p:tav>
                                        <p:tav tm="100000">
                                          <p:val>
                                            <p:fltVal val="0"/>
                                          </p:val>
                                        </p:tav>
                                      </p:tavLst>
                                    </p:anim>
                                    <p:animEffect transition="in" filter="fade">
                                      <p:cBhvr>
                                        <p:cTn id="22" dur="1000"/>
                                        <p:tgtEl>
                                          <p:spTgt spid="15379"/>
                                        </p:tgtEl>
                                      </p:cBhvr>
                                    </p:animEffect>
                                  </p:childTnLst>
                                </p:cTn>
                              </p:par>
                              <p:par>
                                <p:cTn id="23" presetID="49" presetClass="entr" presetSubtype="0" decel="100000" fill="hold" nodeType="withEffect">
                                  <p:stCondLst>
                                    <p:cond delay="0"/>
                                  </p:stCondLst>
                                  <p:childTnLst>
                                    <p:set>
                                      <p:cBhvr>
                                        <p:cTn id="24" dur="1" fill="hold">
                                          <p:stCondLst>
                                            <p:cond delay="0"/>
                                          </p:stCondLst>
                                        </p:cTn>
                                        <p:tgtEl>
                                          <p:spTgt spid="2"/>
                                        </p:tgtEl>
                                        <p:attrNameLst>
                                          <p:attrName>style.visibility</p:attrName>
                                        </p:attrNameLst>
                                      </p:cBhvr>
                                      <p:to>
                                        <p:strVal val="visible"/>
                                      </p:to>
                                    </p:set>
                                    <p:anim calcmode="lin" valueType="num">
                                      <p:cBhvr>
                                        <p:cTn id="25" dur="1000" fill="hold"/>
                                        <p:tgtEl>
                                          <p:spTgt spid="2"/>
                                        </p:tgtEl>
                                        <p:attrNameLst>
                                          <p:attrName>ppt_w</p:attrName>
                                        </p:attrNameLst>
                                      </p:cBhvr>
                                      <p:tavLst>
                                        <p:tav tm="0">
                                          <p:val>
                                            <p:fltVal val="0"/>
                                          </p:val>
                                        </p:tav>
                                        <p:tav tm="100000">
                                          <p:val>
                                            <p:strVal val="#ppt_w"/>
                                          </p:val>
                                        </p:tav>
                                      </p:tavLst>
                                    </p:anim>
                                    <p:anim calcmode="lin" valueType="num">
                                      <p:cBhvr>
                                        <p:cTn id="26" dur="1000" fill="hold"/>
                                        <p:tgtEl>
                                          <p:spTgt spid="2"/>
                                        </p:tgtEl>
                                        <p:attrNameLst>
                                          <p:attrName>ppt_h</p:attrName>
                                        </p:attrNameLst>
                                      </p:cBhvr>
                                      <p:tavLst>
                                        <p:tav tm="0">
                                          <p:val>
                                            <p:fltVal val="0"/>
                                          </p:val>
                                        </p:tav>
                                        <p:tav tm="100000">
                                          <p:val>
                                            <p:strVal val="#ppt_h"/>
                                          </p:val>
                                        </p:tav>
                                      </p:tavLst>
                                    </p:anim>
                                    <p:anim calcmode="lin" valueType="num">
                                      <p:cBhvr>
                                        <p:cTn id="27" dur="1000" fill="hold"/>
                                        <p:tgtEl>
                                          <p:spTgt spid="2"/>
                                        </p:tgtEl>
                                        <p:attrNameLst>
                                          <p:attrName>style.rotation</p:attrName>
                                        </p:attrNameLst>
                                      </p:cBhvr>
                                      <p:tavLst>
                                        <p:tav tm="0">
                                          <p:val>
                                            <p:fltVal val="360"/>
                                          </p:val>
                                        </p:tav>
                                        <p:tav tm="100000">
                                          <p:val>
                                            <p:fltVal val="0"/>
                                          </p:val>
                                        </p:tav>
                                      </p:tavLst>
                                    </p:anim>
                                    <p:animEffect transition="in" filter="fade">
                                      <p:cBhvr>
                                        <p:cTn id="28" dur="1000"/>
                                        <p:tgtEl>
                                          <p:spTgt spid="2"/>
                                        </p:tgtEl>
                                      </p:cBhvr>
                                    </p:animEffect>
                                  </p:childTnLst>
                                </p:cTn>
                              </p:par>
                              <p:par>
                                <p:cTn id="29" presetID="49" presetClass="entr" presetSubtype="0" decel="100000" fill="hold" nodeType="withEffect">
                                  <p:stCondLst>
                                    <p:cond delay="0"/>
                                  </p:stCondLst>
                                  <p:childTnLst>
                                    <p:set>
                                      <p:cBhvr>
                                        <p:cTn id="30" dur="1" fill="hold">
                                          <p:stCondLst>
                                            <p:cond delay="0"/>
                                          </p:stCondLst>
                                        </p:cTn>
                                        <p:tgtEl>
                                          <p:spTgt spid="15402"/>
                                        </p:tgtEl>
                                        <p:attrNameLst>
                                          <p:attrName>style.visibility</p:attrName>
                                        </p:attrNameLst>
                                      </p:cBhvr>
                                      <p:to>
                                        <p:strVal val="visible"/>
                                      </p:to>
                                    </p:set>
                                    <p:anim calcmode="lin" valueType="num">
                                      <p:cBhvr>
                                        <p:cTn id="31" dur="1000" fill="hold"/>
                                        <p:tgtEl>
                                          <p:spTgt spid="15402"/>
                                        </p:tgtEl>
                                        <p:attrNameLst>
                                          <p:attrName>ppt_w</p:attrName>
                                        </p:attrNameLst>
                                      </p:cBhvr>
                                      <p:tavLst>
                                        <p:tav tm="0">
                                          <p:val>
                                            <p:fltVal val="0"/>
                                          </p:val>
                                        </p:tav>
                                        <p:tav tm="100000">
                                          <p:val>
                                            <p:strVal val="#ppt_w"/>
                                          </p:val>
                                        </p:tav>
                                      </p:tavLst>
                                    </p:anim>
                                    <p:anim calcmode="lin" valueType="num">
                                      <p:cBhvr>
                                        <p:cTn id="32" dur="1000" fill="hold"/>
                                        <p:tgtEl>
                                          <p:spTgt spid="15402"/>
                                        </p:tgtEl>
                                        <p:attrNameLst>
                                          <p:attrName>ppt_h</p:attrName>
                                        </p:attrNameLst>
                                      </p:cBhvr>
                                      <p:tavLst>
                                        <p:tav tm="0">
                                          <p:val>
                                            <p:fltVal val="0"/>
                                          </p:val>
                                        </p:tav>
                                        <p:tav tm="100000">
                                          <p:val>
                                            <p:strVal val="#ppt_h"/>
                                          </p:val>
                                        </p:tav>
                                      </p:tavLst>
                                    </p:anim>
                                    <p:anim calcmode="lin" valueType="num">
                                      <p:cBhvr>
                                        <p:cTn id="33" dur="1000" fill="hold"/>
                                        <p:tgtEl>
                                          <p:spTgt spid="15402"/>
                                        </p:tgtEl>
                                        <p:attrNameLst>
                                          <p:attrName>style.rotation</p:attrName>
                                        </p:attrNameLst>
                                      </p:cBhvr>
                                      <p:tavLst>
                                        <p:tav tm="0">
                                          <p:val>
                                            <p:fltVal val="360"/>
                                          </p:val>
                                        </p:tav>
                                        <p:tav tm="100000">
                                          <p:val>
                                            <p:fltVal val="0"/>
                                          </p:val>
                                        </p:tav>
                                      </p:tavLst>
                                    </p:anim>
                                    <p:animEffect transition="in" filter="fade">
                                      <p:cBhvr>
                                        <p:cTn id="34" dur="1000"/>
                                        <p:tgtEl>
                                          <p:spTgt spid="15402"/>
                                        </p:tgtEl>
                                      </p:cBhvr>
                                    </p:animEffect>
                                  </p:childTnLst>
                                </p:cTn>
                              </p:par>
                              <p:par>
                                <p:cTn id="35" presetID="49" presetClass="entr" presetSubtype="0" decel="100000" fill="hold" nodeType="withEffect">
                                  <p:stCondLst>
                                    <p:cond delay="0"/>
                                  </p:stCondLst>
                                  <p:childTnLst>
                                    <p:set>
                                      <p:cBhvr>
                                        <p:cTn id="36" dur="1" fill="hold">
                                          <p:stCondLst>
                                            <p:cond delay="0"/>
                                          </p:stCondLst>
                                        </p:cTn>
                                        <p:tgtEl>
                                          <p:spTgt spid="15403"/>
                                        </p:tgtEl>
                                        <p:attrNameLst>
                                          <p:attrName>style.visibility</p:attrName>
                                        </p:attrNameLst>
                                      </p:cBhvr>
                                      <p:to>
                                        <p:strVal val="visible"/>
                                      </p:to>
                                    </p:set>
                                    <p:anim calcmode="lin" valueType="num">
                                      <p:cBhvr>
                                        <p:cTn id="37" dur="1000" fill="hold"/>
                                        <p:tgtEl>
                                          <p:spTgt spid="15403"/>
                                        </p:tgtEl>
                                        <p:attrNameLst>
                                          <p:attrName>ppt_w</p:attrName>
                                        </p:attrNameLst>
                                      </p:cBhvr>
                                      <p:tavLst>
                                        <p:tav tm="0">
                                          <p:val>
                                            <p:fltVal val="0"/>
                                          </p:val>
                                        </p:tav>
                                        <p:tav tm="100000">
                                          <p:val>
                                            <p:strVal val="#ppt_w"/>
                                          </p:val>
                                        </p:tav>
                                      </p:tavLst>
                                    </p:anim>
                                    <p:anim calcmode="lin" valueType="num">
                                      <p:cBhvr>
                                        <p:cTn id="38" dur="1000" fill="hold"/>
                                        <p:tgtEl>
                                          <p:spTgt spid="15403"/>
                                        </p:tgtEl>
                                        <p:attrNameLst>
                                          <p:attrName>ppt_h</p:attrName>
                                        </p:attrNameLst>
                                      </p:cBhvr>
                                      <p:tavLst>
                                        <p:tav tm="0">
                                          <p:val>
                                            <p:fltVal val="0"/>
                                          </p:val>
                                        </p:tav>
                                        <p:tav tm="100000">
                                          <p:val>
                                            <p:strVal val="#ppt_h"/>
                                          </p:val>
                                        </p:tav>
                                      </p:tavLst>
                                    </p:anim>
                                    <p:anim calcmode="lin" valueType="num">
                                      <p:cBhvr>
                                        <p:cTn id="39" dur="1000" fill="hold"/>
                                        <p:tgtEl>
                                          <p:spTgt spid="15403"/>
                                        </p:tgtEl>
                                        <p:attrNameLst>
                                          <p:attrName>style.rotation</p:attrName>
                                        </p:attrNameLst>
                                      </p:cBhvr>
                                      <p:tavLst>
                                        <p:tav tm="0">
                                          <p:val>
                                            <p:fltVal val="360"/>
                                          </p:val>
                                        </p:tav>
                                        <p:tav tm="100000">
                                          <p:val>
                                            <p:fltVal val="0"/>
                                          </p:val>
                                        </p:tav>
                                      </p:tavLst>
                                    </p:anim>
                                    <p:animEffect transition="in" filter="fade">
                                      <p:cBhvr>
                                        <p:cTn id="40" dur="1000"/>
                                        <p:tgtEl>
                                          <p:spTgt spid="154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79218"/>
          </a:xfrm>
        </p:spPr>
        <p:txBody>
          <a:bodyPr/>
          <a:lstStyle/>
          <a:p>
            <a:pPr algn="ctr"/>
            <a:endParaRPr lang="en-US" dirty="0"/>
          </a:p>
        </p:txBody>
      </p:sp>
      <p:sp>
        <p:nvSpPr>
          <p:cNvPr id="3" name="Rectangle 2"/>
          <p:cNvSpPr/>
          <p:nvPr/>
        </p:nvSpPr>
        <p:spPr>
          <a:xfrm>
            <a:off x="2775856" y="696686"/>
            <a:ext cx="7184573" cy="8708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i="1" dirty="0">
                <a:solidFill>
                  <a:srgbClr val="C00000"/>
                </a:solidFill>
                <a:latin typeface="Times New Roman" panose="02020603050405020304" pitchFamily="18" charset="0"/>
                <a:cs typeface="Times New Roman" panose="02020603050405020304" pitchFamily="18" charset="0"/>
              </a:rPr>
              <a:t>Quan </a:t>
            </a:r>
            <a:r>
              <a:rPr lang="en-US" sz="2800" b="1" i="1" dirty="0" err="1">
                <a:solidFill>
                  <a:srgbClr val="C00000"/>
                </a:solidFill>
                <a:latin typeface="Times New Roman" panose="02020603050405020304" pitchFamily="18" charset="0"/>
                <a:cs typeface="Times New Roman" panose="02020603050405020304" pitchFamily="18" charset="0"/>
              </a:rPr>
              <a:t>niệm</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của</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Chủ</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nghĩa</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duy</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vật</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thời</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Cổ</a:t>
            </a:r>
            <a:r>
              <a:rPr lang="en-US" sz="2800" b="1" i="1" dirty="0">
                <a:solidFill>
                  <a:srgbClr val="C00000"/>
                </a:solidFill>
                <a:latin typeface="Times New Roman" panose="02020603050405020304" pitchFamily="18" charset="0"/>
                <a:cs typeface="Times New Roman" panose="02020603050405020304" pitchFamily="18" charset="0"/>
              </a:rPr>
              <a:t> </a:t>
            </a:r>
            <a:r>
              <a:rPr lang="en-US" sz="2800" b="1" i="1" dirty="0" err="1">
                <a:solidFill>
                  <a:srgbClr val="C00000"/>
                </a:solidFill>
                <a:latin typeface="Times New Roman" panose="02020603050405020304" pitchFamily="18" charset="0"/>
                <a:cs typeface="Times New Roman" panose="02020603050405020304" pitchFamily="18" charset="0"/>
              </a:rPr>
              <a:t>đại</a:t>
            </a:r>
            <a:endParaRPr lang="en-US" sz="2800" dirty="0">
              <a:solidFill>
                <a:srgbClr val="C00000"/>
              </a:solidFill>
              <a:latin typeface="Times New Roman" panose="02020603050405020304" pitchFamily="18" charset="0"/>
              <a:cs typeface="Times New Roman" panose="02020603050405020304" pitchFamily="18" charset="0"/>
            </a:endParaRPr>
          </a:p>
        </p:txBody>
      </p:sp>
      <p:sp>
        <p:nvSpPr>
          <p:cNvPr id="4" name="Oval 3"/>
          <p:cNvSpPr/>
          <p:nvPr/>
        </p:nvSpPr>
        <p:spPr>
          <a:xfrm>
            <a:off x="1981199" y="2155371"/>
            <a:ext cx="2688774" cy="74022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err="1">
                <a:solidFill>
                  <a:srgbClr val="0070C0"/>
                </a:solidFill>
                <a:latin typeface="Times New Roman" panose="02020603050405020304" pitchFamily="18" charset="0"/>
                <a:cs typeface="Times New Roman" panose="02020603050405020304" pitchFamily="18" charset="0"/>
              </a:rPr>
              <a:t>Tích</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cực</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5" name="Oval 4"/>
          <p:cNvSpPr/>
          <p:nvPr/>
        </p:nvSpPr>
        <p:spPr>
          <a:xfrm>
            <a:off x="7522028" y="2155371"/>
            <a:ext cx="2525486" cy="74022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b="1" dirty="0" err="1">
                <a:solidFill>
                  <a:srgbClr val="0070C0"/>
                </a:solidFill>
                <a:latin typeface="Times New Roman" panose="02020603050405020304" pitchFamily="18" charset="0"/>
                <a:cs typeface="Times New Roman" panose="02020603050405020304" pitchFamily="18" charset="0"/>
              </a:rPr>
              <a:t>Hạn</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chế</a:t>
            </a:r>
            <a:endParaRPr lang="en-US" sz="2800" b="1" dirty="0">
              <a:solidFill>
                <a:srgbClr val="0070C0"/>
              </a:solidFill>
              <a:latin typeface="Times New Roman" panose="02020603050405020304" pitchFamily="18" charset="0"/>
              <a:cs typeface="Times New Roman" panose="02020603050405020304" pitchFamily="18" charset="0"/>
            </a:endParaRPr>
          </a:p>
        </p:txBody>
      </p:sp>
      <p:sp>
        <p:nvSpPr>
          <p:cNvPr id="6" name="Rectangle 5"/>
          <p:cNvSpPr/>
          <p:nvPr/>
        </p:nvSpPr>
        <p:spPr>
          <a:xfrm>
            <a:off x="1698172" y="2895600"/>
            <a:ext cx="3265714" cy="32657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Xuất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thích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sở</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sau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triển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điểm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VC</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VC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coi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cơ</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sở</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đầu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mọi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hiện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tượng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khách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endParaRPr lang="en-US"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6770913" y="2895600"/>
            <a:ext cx="4386943" cy="32657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Đã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đồng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cụ</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thể</a:t>
            </a:r>
            <a:endParaRPr lang="en-US" sz="2000"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Ø"/>
            </a:pPr>
            <a:r>
              <a:rPr lang="en-US" sz="2000" dirty="0" err="1">
                <a:latin typeface="Times New Roman" panose="02020603050405020304" pitchFamily="18" charset="0"/>
                <a:cs typeface="Times New Roman" panose="02020603050405020304" pitchFamily="18" charset="0"/>
              </a:rPr>
              <a:t>Lấy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dạng</a:t>
            </a:r>
            <a:r>
              <a:rPr lang="en-US" sz="2000" dirty="0">
                <a:latin typeface="Times New Roman" panose="02020603050405020304" pitchFamily="18" charset="0"/>
                <a:cs typeface="Times New Roman" panose="02020603050405020304" pitchFamily="18" charset="0"/>
              </a:rPr>
              <a:t> VC </a:t>
            </a:r>
            <a:r>
              <a:rPr lang="en-US" sz="2000" dirty="0" err="1">
                <a:latin typeface="Times New Roman" panose="02020603050405020304" pitchFamily="18" charset="0"/>
                <a:cs typeface="Times New Roman" panose="02020603050405020304" pitchFamily="18" charset="0"/>
              </a:rPr>
              <a:t>cụ</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để</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thích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toàn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bộ</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thế</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giới</a:t>
            </a:r>
            <a:r>
              <a:rPr lang="en-US" sz="2000" dirty="0">
                <a:latin typeface="Times New Roman" panose="02020603050405020304" pitchFamily="18" charset="0"/>
                <a:cs typeface="Times New Roman" panose="02020603050405020304" pitchFamily="18" charset="0"/>
              </a:rPr>
              <a:t> VC</a:t>
            </a:r>
            <a:endParaRPr lang="en-US"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Những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yếu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khởi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nguyên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chỉ</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giả</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định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còn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cảm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chưa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được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chứng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minh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mặt</a:t>
            </a:r>
            <a:r>
              <a:rPr lang="en-US" sz="2000" dirty="0">
                <a:latin typeface="Times New Roman" panose="02020603050405020304" pitchFamily="18" charset="0"/>
                <a:cs typeface="Times New Roman" panose="02020603050405020304" pitchFamily="18" charset="0"/>
              </a:rPr>
              <a:t> khoa </a:t>
            </a:r>
            <a:r>
              <a:rPr lang="en-US" sz="2000" dirty="0" err="1">
                <a:latin typeface="Times New Roman" panose="02020603050405020304" pitchFamily="18" charset="0"/>
                <a:cs typeface="Times New Roman" panose="02020603050405020304" pitchFamily="18" charset="0"/>
              </a:rPr>
              <a:t>học</a:t>
            </a:r>
            <a:endParaRPr lang="en-US" sz="2000" dirty="0">
              <a:latin typeface="Times New Roman" panose="02020603050405020304" pitchFamily="18" charset="0"/>
              <a:cs typeface="Times New Roman" panose="02020603050405020304" pitchFamily="18" charset="0"/>
            </a:endParaRPr>
          </a:p>
        </p:txBody>
      </p:sp>
      <p:cxnSp>
        <p:nvCxnSpPr>
          <p:cNvPr id="9" name="Straight Arrow Connector 8"/>
          <p:cNvCxnSpPr>
            <a:stCxn id="3" idx="2"/>
          </p:cNvCxnSpPr>
          <p:nvPr/>
        </p:nvCxnSpPr>
        <p:spPr>
          <a:xfrm flipH="1">
            <a:off x="3472543" y="1567543"/>
            <a:ext cx="2895600" cy="587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6411686" y="1567543"/>
            <a:ext cx="2340428" cy="5878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46760" y="365761"/>
            <a:ext cx="10515600" cy="1388936"/>
          </a:xfrm>
        </p:spPr>
        <p:txBody>
          <a:bodyPr>
            <a:noAutofit/>
          </a:bodyPr>
          <a:lstStyle/>
          <a:p>
            <a:pPr marL="457200" indent="-457200">
              <a:buFont typeface="Wingdings" panose="05000000000000000000" pitchFamily="2" charset="2"/>
              <a:buChar char="v"/>
            </a:pPr>
            <a:r>
              <a:rPr lang="vi-VN" sz="2400" b="1" dirty="0">
                <a:solidFill>
                  <a:srgbClr val="FF0000"/>
                </a:solidFill>
                <a:latin typeface="Times New Roman" panose="02020603050405020304" pitchFamily="18" charset="0"/>
                <a:cs typeface="Times New Roman" panose="02020603050405020304" pitchFamily="18" charset="0"/>
              </a:rPr>
              <a:t>Quan niệm của </a:t>
            </a:r>
            <a:r>
              <a:rPr lang="en-US" sz="2400" b="1" dirty="0" err="1">
                <a:solidFill>
                  <a:srgbClr val="FF0000"/>
                </a:solidFill>
                <a:latin typeface="Times New Roman" panose="02020603050405020304" pitchFamily="18" charset="0"/>
                <a:cs typeface="Times New Roman" panose="02020603050405020304" pitchFamily="18" charset="0"/>
              </a:rPr>
              <a:t>Chủ</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nghĩa</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duy</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vật</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thế</a:t>
            </a:r>
            <a:r>
              <a:rPr lang="en-US" sz="2400" b="1" dirty="0">
                <a:solidFill>
                  <a:srgbClr val="FF0000"/>
                </a:solidFill>
                <a:latin typeface="Times New Roman" panose="02020603050405020304" pitchFamily="18" charset="0"/>
                <a:cs typeface="Times New Roman" panose="02020603050405020304" pitchFamily="18" charset="0"/>
              </a:rPr>
              <a:t> </a:t>
            </a:r>
            <a:r>
              <a:rPr lang="en-US" sz="2400" b="1" dirty="0" err="1">
                <a:solidFill>
                  <a:srgbClr val="FF0000"/>
                </a:solidFill>
                <a:latin typeface="Times New Roman" panose="02020603050405020304" pitchFamily="18" charset="0"/>
                <a:cs typeface="Times New Roman" panose="02020603050405020304" pitchFamily="18" charset="0"/>
              </a:rPr>
              <a:t>kỷ</a:t>
            </a:r>
            <a:r>
              <a:rPr lang="en-US" sz="2400" b="1" dirty="0">
                <a:solidFill>
                  <a:srgbClr val="FF0000"/>
                </a:solidFill>
                <a:latin typeface="Times New Roman" panose="02020603050405020304" pitchFamily="18" charset="0"/>
                <a:cs typeface="Times New Roman" panose="02020603050405020304" pitchFamily="18" charset="0"/>
              </a:rPr>
              <a:t> XV – XVIII(</a:t>
            </a:r>
            <a:r>
              <a:rPr lang="vi-VN" sz="2400" b="1" dirty="0">
                <a:solidFill>
                  <a:srgbClr val="FF0000"/>
                </a:solidFill>
                <a:latin typeface="Times New Roman" panose="02020603050405020304" pitchFamily="18" charset="0"/>
                <a:cs typeface="Times New Roman" panose="02020603050405020304" pitchFamily="18" charset="0"/>
              </a:rPr>
              <a:t>Cận đại)</a:t>
            </a:r>
            <a:r>
              <a:rPr lang="en-US" sz="2400" b="1" dirty="0">
                <a:solidFill>
                  <a:srgbClr val="FF0000"/>
                </a:solidFill>
                <a:latin typeface="Times New Roman" panose="02020603050405020304" pitchFamily="18" charset="0"/>
                <a:cs typeface="Times New Roman" panose="02020603050405020304" pitchFamily="18" charset="0"/>
              </a:rPr>
              <a:t>:</a:t>
            </a:r>
            <a:br>
              <a:rPr lang="vi-VN" sz="2400" b="1" dirty="0">
                <a:solidFill>
                  <a:srgbClr val="FF0000"/>
                </a:solidFill>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Phương Tây khoa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nghiệm</a:t>
            </a:r>
            <a:r>
              <a:rPr lang="en-US" sz="2400" dirty="0">
                <a:latin typeface="Times New Roman" panose="02020603050405020304" pitchFamily="18" charset="0"/>
                <a:cs typeface="Times New Roman" panose="02020603050405020304" pitchFamily="18" charset="0"/>
              </a:rPr>
              <a:t> ra </a:t>
            </a:r>
            <a:r>
              <a:rPr lang="en-US" sz="2400" dirty="0" err="1">
                <a:latin typeface="Times New Roman" panose="02020603050405020304" pitchFamily="18" charset="0"/>
                <a:cs typeface="Times New Roman" panose="02020603050405020304" pitchFamily="18" charset="0"/>
              </a:rPr>
              <a:t>đời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cơ</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nghiệp</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kỷ</a:t>
            </a:r>
            <a:r>
              <a:rPr lang="en-US" sz="2400" dirty="0">
                <a:latin typeface="Times New Roman" panose="02020603050405020304" pitchFamily="18" charset="0"/>
                <a:cs typeface="Times New Roman" panose="02020603050405020304" pitchFamily="18" charset="0"/>
              </a:rPr>
              <a:t> XVII – XVIII, CNDV </a:t>
            </a:r>
            <a:r>
              <a:rPr lang="en-US" sz="2400" dirty="0" err="1">
                <a:latin typeface="Times New Roman" panose="02020603050405020304" pitchFamily="18" charset="0"/>
                <a:cs typeface="Times New Roman" panose="02020603050405020304" pitchFamily="18" charset="0"/>
              </a:rPr>
              <a:t>mang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CNDV </a:t>
            </a:r>
            <a:r>
              <a:rPr lang="en-US" sz="2400" dirty="0" err="1">
                <a:latin typeface="Times New Roman" panose="02020603050405020304" pitchFamily="18" charset="0"/>
                <a:cs typeface="Times New Roman" panose="02020603050405020304" pitchFamily="18" charset="0"/>
              </a:rPr>
              <a:t>siêu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hình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móc</a:t>
            </a:r>
            <a:br>
              <a:rPr lang="en-US" sz="2400" dirty="0">
                <a:latin typeface="Times New Roman" panose="02020603050405020304" pitchFamily="18" charset="0"/>
                <a:cs typeface="Times New Roman" panose="02020603050405020304" pitchFamily="18" charset="0"/>
              </a:rPr>
            </a:br>
            <a:endParaRPr lang="en-US" sz="2400" dirty="0"/>
          </a:p>
        </p:txBody>
      </p:sp>
      <p:pic>
        <p:nvPicPr>
          <p:cNvPr id="4" name="Picture 8" descr="4 cuộc cách mạng công nghiệp trong lịch sử thế giới - Thạc sĩ QTKD Đại học  Andrews Hoa Kỳ"/>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667046" y="1856935"/>
            <a:ext cx="3052688" cy="2630659"/>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Cuộc cách mạng công nghiệp lần 1 » Thuận Nhậ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40480" y="2377440"/>
            <a:ext cx="3840480" cy="2940148"/>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Cách mạng công nghiệp lần 1: Sự ra đời và các thành tựu nổi bật"/>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43668" y="3123028"/>
            <a:ext cx="3559125" cy="350285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316736" y="365125"/>
            <a:ext cx="9582912" cy="6191123"/>
          </a:xfrm>
          <a:solidFill>
            <a:schemeClr val="bg1">
              <a:lumMod val="85000"/>
            </a:schemeClr>
          </a:solidFill>
        </p:spPr>
        <p:txBody>
          <a:bodyPr/>
          <a:lstStyle/>
          <a:p>
            <a:endParaRPr lang="en-US" dirty="0"/>
          </a:p>
        </p:txBody>
      </p:sp>
      <p:grpSp>
        <p:nvGrpSpPr>
          <p:cNvPr id="3" name="object 2"/>
          <p:cNvGrpSpPr/>
          <p:nvPr/>
        </p:nvGrpSpPr>
        <p:grpSpPr>
          <a:xfrm>
            <a:off x="3169920" y="795528"/>
            <a:ext cx="6085840" cy="685800"/>
            <a:chOff x="1353311" y="1551432"/>
            <a:chExt cx="6944995" cy="662940"/>
          </a:xfrm>
        </p:grpSpPr>
        <p:pic>
          <p:nvPicPr>
            <p:cNvPr id="4" name="object 3"/>
            <p:cNvPicPr/>
            <p:nvPr/>
          </p:nvPicPr>
          <p:blipFill>
            <a:blip r:embed="rId1" cstate="print"/>
            <a:stretch>
              <a:fillRect/>
            </a:stretch>
          </p:blipFill>
          <p:spPr>
            <a:xfrm>
              <a:off x="1359407" y="1880619"/>
              <a:ext cx="6934200" cy="329180"/>
            </a:xfrm>
            <a:prstGeom prst="rect">
              <a:avLst/>
            </a:prstGeom>
          </p:spPr>
        </p:pic>
        <p:pic>
          <p:nvPicPr>
            <p:cNvPr id="5" name="object 4"/>
            <p:cNvPicPr/>
            <p:nvPr/>
          </p:nvPicPr>
          <p:blipFill>
            <a:blip r:embed="rId2" cstate="print"/>
            <a:stretch>
              <a:fillRect/>
            </a:stretch>
          </p:blipFill>
          <p:spPr>
            <a:xfrm>
              <a:off x="1353312" y="1551432"/>
              <a:ext cx="6944868" cy="662940"/>
            </a:xfrm>
            <a:prstGeom prst="rect">
              <a:avLst/>
            </a:prstGeom>
          </p:spPr>
        </p:pic>
        <p:sp>
          <p:nvSpPr>
            <p:cNvPr id="6" name="object 5"/>
            <p:cNvSpPr/>
            <p:nvPr/>
          </p:nvSpPr>
          <p:spPr>
            <a:xfrm>
              <a:off x="1353311" y="1551432"/>
              <a:ext cx="6944995" cy="662940"/>
            </a:xfrm>
            <a:custGeom>
              <a:avLst/>
              <a:gdLst/>
              <a:ahLst/>
              <a:cxnLst/>
              <a:rect l="l" t="t" r="r" b="b"/>
              <a:pathLst>
                <a:path w="6944995" h="662939">
                  <a:moveTo>
                    <a:pt x="6615684" y="662940"/>
                  </a:moveTo>
                  <a:lnTo>
                    <a:pt x="3048" y="662940"/>
                  </a:lnTo>
                  <a:lnTo>
                    <a:pt x="0" y="661416"/>
                  </a:lnTo>
                  <a:lnTo>
                    <a:pt x="0" y="1524"/>
                  </a:lnTo>
                  <a:lnTo>
                    <a:pt x="3048" y="0"/>
                  </a:lnTo>
                  <a:lnTo>
                    <a:pt x="6615684" y="0"/>
                  </a:lnTo>
                  <a:lnTo>
                    <a:pt x="6615684" y="1524"/>
                  </a:lnTo>
                  <a:lnTo>
                    <a:pt x="6618746" y="4572"/>
                  </a:lnTo>
                  <a:lnTo>
                    <a:pt x="10668" y="4572"/>
                  </a:lnTo>
                  <a:lnTo>
                    <a:pt x="6096" y="9144"/>
                  </a:lnTo>
                  <a:lnTo>
                    <a:pt x="10668" y="9144"/>
                  </a:lnTo>
                  <a:lnTo>
                    <a:pt x="10668" y="653796"/>
                  </a:lnTo>
                  <a:lnTo>
                    <a:pt x="6096" y="653796"/>
                  </a:lnTo>
                  <a:lnTo>
                    <a:pt x="10668" y="658368"/>
                  </a:lnTo>
                  <a:lnTo>
                    <a:pt x="6618746" y="658368"/>
                  </a:lnTo>
                  <a:lnTo>
                    <a:pt x="6615684" y="661416"/>
                  </a:lnTo>
                  <a:lnTo>
                    <a:pt x="6615684" y="662940"/>
                  </a:lnTo>
                  <a:close/>
                </a:path>
                <a:path w="6944995" h="662939">
                  <a:moveTo>
                    <a:pt x="10668" y="9144"/>
                  </a:moveTo>
                  <a:lnTo>
                    <a:pt x="6096" y="9144"/>
                  </a:lnTo>
                  <a:lnTo>
                    <a:pt x="10668" y="4572"/>
                  </a:lnTo>
                  <a:lnTo>
                    <a:pt x="10668" y="9144"/>
                  </a:lnTo>
                  <a:close/>
                </a:path>
                <a:path w="6944995" h="662939">
                  <a:moveTo>
                    <a:pt x="6611105" y="9144"/>
                  </a:moveTo>
                  <a:lnTo>
                    <a:pt x="10668" y="9144"/>
                  </a:lnTo>
                  <a:lnTo>
                    <a:pt x="10668" y="4572"/>
                  </a:lnTo>
                  <a:lnTo>
                    <a:pt x="6618746" y="4572"/>
                  </a:lnTo>
                  <a:lnTo>
                    <a:pt x="6621808" y="7620"/>
                  </a:lnTo>
                  <a:lnTo>
                    <a:pt x="6609588" y="7620"/>
                  </a:lnTo>
                  <a:lnTo>
                    <a:pt x="6611105" y="9144"/>
                  </a:lnTo>
                  <a:close/>
                </a:path>
                <a:path w="6944995" h="662939">
                  <a:moveTo>
                    <a:pt x="6931931" y="331470"/>
                  </a:moveTo>
                  <a:lnTo>
                    <a:pt x="6609588" y="7620"/>
                  </a:lnTo>
                  <a:lnTo>
                    <a:pt x="6612636" y="9144"/>
                  </a:lnTo>
                  <a:lnTo>
                    <a:pt x="6623339" y="9144"/>
                  </a:lnTo>
                  <a:lnTo>
                    <a:pt x="6943337" y="327660"/>
                  </a:lnTo>
                  <a:lnTo>
                    <a:pt x="6935724" y="327660"/>
                  </a:lnTo>
                  <a:lnTo>
                    <a:pt x="6931931" y="331470"/>
                  </a:lnTo>
                  <a:close/>
                </a:path>
                <a:path w="6944995" h="662939">
                  <a:moveTo>
                    <a:pt x="6623339" y="9144"/>
                  </a:moveTo>
                  <a:lnTo>
                    <a:pt x="6612636" y="9144"/>
                  </a:lnTo>
                  <a:lnTo>
                    <a:pt x="6609588" y="7620"/>
                  </a:lnTo>
                  <a:lnTo>
                    <a:pt x="6621808" y="7620"/>
                  </a:lnTo>
                  <a:lnTo>
                    <a:pt x="6623339" y="9144"/>
                  </a:lnTo>
                  <a:close/>
                </a:path>
                <a:path w="6944995" h="662939">
                  <a:moveTo>
                    <a:pt x="6935724" y="335280"/>
                  </a:moveTo>
                  <a:lnTo>
                    <a:pt x="6931931" y="331470"/>
                  </a:lnTo>
                  <a:lnTo>
                    <a:pt x="6935724" y="327660"/>
                  </a:lnTo>
                  <a:lnTo>
                    <a:pt x="6935724" y="335280"/>
                  </a:lnTo>
                  <a:close/>
                </a:path>
                <a:path w="6944995" h="662939">
                  <a:moveTo>
                    <a:pt x="6943344" y="335280"/>
                  </a:moveTo>
                  <a:lnTo>
                    <a:pt x="6935724" y="335280"/>
                  </a:lnTo>
                  <a:lnTo>
                    <a:pt x="6935724" y="327660"/>
                  </a:lnTo>
                  <a:lnTo>
                    <a:pt x="6943337" y="327660"/>
                  </a:lnTo>
                  <a:lnTo>
                    <a:pt x="6944868" y="329184"/>
                  </a:lnTo>
                  <a:lnTo>
                    <a:pt x="6944868" y="332232"/>
                  </a:lnTo>
                  <a:lnTo>
                    <a:pt x="6943344" y="335280"/>
                  </a:lnTo>
                  <a:close/>
                </a:path>
                <a:path w="6944995" h="662939">
                  <a:moveTo>
                    <a:pt x="6609588" y="655320"/>
                  </a:moveTo>
                  <a:lnTo>
                    <a:pt x="6931931" y="331470"/>
                  </a:lnTo>
                  <a:lnTo>
                    <a:pt x="6935724" y="335280"/>
                  </a:lnTo>
                  <a:lnTo>
                    <a:pt x="6943344" y="335280"/>
                  </a:lnTo>
                  <a:lnTo>
                    <a:pt x="6623339" y="653796"/>
                  </a:lnTo>
                  <a:lnTo>
                    <a:pt x="6612636" y="653796"/>
                  </a:lnTo>
                  <a:lnTo>
                    <a:pt x="6609588" y="655320"/>
                  </a:lnTo>
                  <a:close/>
                </a:path>
                <a:path w="6944995" h="662939">
                  <a:moveTo>
                    <a:pt x="10668" y="658368"/>
                  </a:moveTo>
                  <a:lnTo>
                    <a:pt x="6096" y="653796"/>
                  </a:lnTo>
                  <a:lnTo>
                    <a:pt x="10668" y="653796"/>
                  </a:lnTo>
                  <a:lnTo>
                    <a:pt x="10668" y="658368"/>
                  </a:lnTo>
                  <a:close/>
                </a:path>
                <a:path w="6944995" h="662939">
                  <a:moveTo>
                    <a:pt x="6618746" y="658368"/>
                  </a:moveTo>
                  <a:lnTo>
                    <a:pt x="10668" y="658368"/>
                  </a:lnTo>
                  <a:lnTo>
                    <a:pt x="10668" y="653796"/>
                  </a:lnTo>
                  <a:lnTo>
                    <a:pt x="6611105" y="653796"/>
                  </a:lnTo>
                  <a:lnTo>
                    <a:pt x="6609588" y="655320"/>
                  </a:lnTo>
                  <a:lnTo>
                    <a:pt x="6621808" y="655320"/>
                  </a:lnTo>
                  <a:lnTo>
                    <a:pt x="6618746" y="658368"/>
                  </a:lnTo>
                  <a:close/>
                </a:path>
                <a:path w="6944995" h="662939">
                  <a:moveTo>
                    <a:pt x="6621808" y="655320"/>
                  </a:moveTo>
                  <a:lnTo>
                    <a:pt x="6609588" y="655320"/>
                  </a:lnTo>
                  <a:lnTo>
                    <a:pt x="6612636" y="653796"/>
                  </a:lnTo>
                  <a:lnTo>
                    <a:pt x="6623339" y="653796"/>
                  </a:lnTo>
                  <a:lnTo>
                    <a:pt x="6621808" y="655320"/>
                  </a:lnTo>
                  <a:close/>
                </a:path>
              </a:pathLst>
            </a:custGeom>
            <a:solidFill>
              <a:srgbClr val="4F80BC"/>
            </a:solidFill>
          </p:spPr>
          <p:txBody>
            <a:bodyPr wrap="square" lIns="0" tIns="0" rIns="0" bIns="0" rtlCol="0"/>
            <a:lstStyle>
              <a:defPPr>
                <a:defRPr kern="0"/>
              </a:defPPr>
            </a:lstStyle>
            <a:p/>
          </p:txBody>
        </p:sp>
      </p:grpSp>
      <p:sp>
        <p:nvSpPr>
          <p:cNvPr id="7" name="object 6"/>
          <p:cNvSpPr txBox="1">
            <a:spLocks noGrp="1"/>
          </p:cNvSpPr>
          <p:nvPr/>
        </p:nvSpPr>
        <p:spPr>
          <a:xfrm>
            <a:off x="3242627" y="937736"/>
            <a:ext cx="5700205" cy="382156"/>
          </a:xfrm>
          <a:prstGeom prst="rect">
            <a:avLst/>
          </a:prstGeom>
        </p:spPr>
        <p:txBody>
          <a:bodyPr vert="horz" wrap="square" lIns="0" tIns="12700" rIns="0" bIns="0" rtlCol="0">
            <a:spAutoFit/>
          </a:bodyPr>
          <a:lstStyle>
            <a:lvl1pPr>
              <a:defRPr sz="3200" b="0" i="1">
                <a:solidFill>
                  <a:schemeClr val="tx1"/>
                </a:solidFill>
                <a:latin typeface="Times New Roman" panose="02020603050405020304"/>
                <a:ea typeface="+mj-ea"/>
                <a:cs typeface="Times New Roman" panose="02020603050405020304"/>
              </a:defRPr>
            </a:lvl1pPr>
          </a:lstStyle>
          <a:p>
            <a:pPr marL="12700">
              <a:lnSpc>
                <a:spcPct val="100000"/>
              </a:lnSpc>
              <a:spcBef>
                <a:spcPts val="100"/>
              </a:spcBef>
            </a:pPr>
            <a:r>
              <a:rPr sz="2400" i="0" dirty="0">
                <a:latin typeface="Times New Roman" panose="02020603050405020304"/>
                <a:cs typeface="Times New Roman" panose="02020603050405020304"/>
              </a:rPr>
              <a:t>Quan</a:t>
            </a:r>
            <a:r>
              <a:rPr sz="2400" i="0" spc="-15"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niệm</a:t>
            </a:r>
            <a:r>
              <a:rPr sz="2400" i="0" spc="-35"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về vật</a:t>
            </a:r>
            <a:r>
              <a:rPr sz="2400" i="0" spc="-10"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chất</a:t>
            </a:r>
            <a:r>
              <a:rPr sz="2400" i="0" spc="-35"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của</a:t>
            </a:r>
            <a:r>
              <a:rPr sz="2400" i="0" spc="-20"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CNDV</a:t>
            </a:r>
            <a:r>
              <a:rPr sz="2400" i="0" spc="-45"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thời</a:t>
            </a:r>
            <a:r>
              <a:rPr sz="2400" i="0" spc="-5" dirty="0">
                <a:latin typeface="Times New Roman" panose="02020603050405020304"/>
                <a:cs typeface="Times New Roman" panose="02020603050405020304"/>
              </a:rPr>
              <a:t> </a:t>
            </a:r>
            <a:r>
              <a:rPr sz="2400" i="0" dirty="0">
                <a:latin typeface="Times New Roman" panose="02020603050405020304"/>
                <a:cs typeface="Times New Roman" panose="02020603050405020304"/>
              </a:rPr>
              <a:t>cận</a:t>
            </a:r>
            <a:r>
              <a:rPr sz="2400" i="0" spc="-40" dirty="0">
                <a:latin typeface="Times New Roman" panose="02020603050405020304"/>
                <a:cs typeface="Times New Roman" panose="02020603050405020304"/>
              </a:rPr>
              <a:t> </a:t>
            </a:r>
            <a:r>
              <a:rPr sz="2400" i="0" spc="-25" dirty="0">
                <a:latin typeface="Times New Roman" panose="02020603050405020304"/>
                <a:cs typeface="Times New Roman" panose="02020603050405020304"/>
              </a:rPr>
              <a:t>đại</a:t>
            </a:r>
            <a:endParaRPr sz="2400" dirty="0">
              <a:latin typeface="Times New Roman" panose="02020603050405020304"/>
              <a:cs typeface="Times New Roman" panose="02020603050405020304"/>
            </a:endParaRPr>
          </a:p>
        </p:txBody>
      </p:sp>
      <p:sp>
        <p:nvSpPr>
          <p:cNvPr id="8" name="Scroll: Vertical 7"/>
          <p:cNvSpPr/>
          <p:nvPr/>
        </p:nvSpPr>
        <p:spPr>
          <a:xfrm>
            <a:off x="1442720" y="2204720"/>
            <a:ext cx="2798064" cy="2763520"/>
          </a:xfrm>
          <a:prstGeom prst="vertic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err="1">
                <a:solidFill>
                  <a:schemeClr val="tx1"/>
                </a:solidFill>
                <a:latin typeface="Times New Roman" panose="02020603050405020304"/>
                <a:cs typeface="Times New Roman" panose="02020603050405020304"/>
              </a:rPr>
              <a:t>Chứng</a:t>
            </a:r>
            <a:r>
              <a:rPr lang="en-US" spc="-15" dirty="0">
                <a:solidFill>
                  <a:schemeClr val="tx1"/>
                </a:solidFill>
                <a:latin typeface="Times New Roman" panose="02020603050405020304"/>
                <a:cs typeface="Times New Roman" panose="02020603050405020304"/>
              </a:rPr>
              <a:t> </a:t>
            </a:r>
            <a:r>
              <a:rPr lang="en-US" spc="-20" dirty="0" err="1">
                <a:solidFill>
                  <a:schemeClr val="tx1"/>
                </a:solidFill>
                <a:latin typeface="Times New Roman" panose="02020603050405020304"/>
                <a:cs typeface="Times New Roman" panose="02020603050405020304"/>
              </a:rPr>
              <a:t>minh</a:t>
            </a:r>
            <a:r>
              <a:rPr lang="en-US" spc="60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sự</a:t>
            </a:r>
            <a:r>
              <a:rPr lang="en-US" spc="-1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tồn</a:t>
            </a:r>
            <a:r>
              <a:rPr lang="en-US" spc="-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tại</a:t>
            </a:r>
            <a:r>
              <a:rPr lang="en-US" spc="-20" dirty="0">
                <a:solidFill>
                  <a:schemeClr val="tx1"/>
                </a:solidFill>
                <a:latin typeface="Times New Roman" panose="02020603050405020304"/>
                <a:cs typeface="Times New Roman" panose="02020603050405020304"/>
              </a:rPr>
              <a:t> </a:t>
            </a:r>
            <a:r>
              <a:rPr lang="en-US" spc="-20" dirty="0" err="1">
                <a:solidFill>
                  <a:schemeClr val="tx1"/>
                </a:solidFill>
                <a:latin typeface="Times New Roman" panose="02020603050405020304"/>
                <a:cs typeface="Times New Roman" panose="02020603050405020304"/>
              </a:rPr>
              <a:t>thực</a:t>
            </a:r>
            <a:r>
              <a:rPr lang="en-US" spc="-2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sự</a:t>
            </a:r>
            <a:r>
              <a:rPr lang="en-US" spc="-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của</a:t>
            </a:r>
            <a:r>
              <a:rPr lang="en-US" spc="-10" dirty="0">
                <a:solidFill>
                  <a:schemeClr val="tx1"/>
                </a:solidFill>
                <a:latin typeface="Times New Roman" panose="02020603050405020304"/>
                <a:cs typeface="Times New Roman" panose="02020603050405020304"/>
              </a:rPr>
              <a:t> </a:t>
            </a:r>
            <a:r>
              <a:rPr lang="en-US" spc="-10" dirty="0" err="1">
                <a:solidFill>
                  <a:schemeClr val="tx1"/>
                </a:solidFill>
                <a:latin typeface="Times New Roman" panose="02020603050405020304"/>
                <a:cs typeface="Times New Roman" panose="02020603050405020304"/>
              </a:rPr>
              <a:t>nguyên</a:t>
            </a:r>
            <a:r>
              <a:rPr lang="en-US" spc="-1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tử</a:t>
            </a:r>
            <a:r>
              <a:rPr lang="en-US"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là</a:t>
            </a:r>
            <a:r>
              <a:rPr lang="en-US" spc="-3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phần</a:t>
            </a:r>
            <a:r>
              <a:rPr lang="en-US" spc="10" dirty="0">
                <a:solidFill>
                  <a:schemeClr val="tx1"/>
                </a:solidFill>
                <a:latin typeface="Times New Roman" panose="02020603050405020304"/>
                <a:cs typeface="Times New Roman" panose="02020603050405020304"/>
              </a:rPr>
              <a:t> </a:t>
            </a:r>
            <a:r>
              <a:rPr lang="en-US" spc="-25" dirty="0" err="1">
                <a:solidFill>
                  <a:schemeClr val="tx1"/>
                </a:solidFill>
                <a:latin typeface="Times New Roman" panose="02020603050405020304"/>
                <a:cs typeface="Times New Roman" panose="02020603050405020304"/>
              </a:rPr>
              <a:t>tử</a:t>
            </a:r>
            <a:r>
              <a:rPr lang="en-US" spc="-2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nhỏ</a:t>
            </a:r>
            <a:r>
              <a:rPr lang="en-US" spc="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nhất</a:t>
            </a:r>
            <a:r>
              <a:rPr lang="en-US" spc="-15" dirty="0">
                <a:solidFill>
                  <a:schemeClr val="tx1"/>
                </a:solidFill>
                <a:latin typeface="Times New Roman" panose="02020603050405020304"/>
                <a:cs typeface="Times New Roman" panose="02020603050405020304"/>
              </a:rPr>
              <a:t> </a:t>
            </a:r>
            <a:r>
              <a:rPr lang="en-US" spc="-25" dirty="0" err="1">
                <a:solidFill>
                  <a:schemeClr val="tx1"/>
                </a:solidFill>
                <a:latin typeface="Times New Roman" panose="02020603050405020304"/>
                <a:cs typeface="Times New Roman" panose="02020603050405020304"/>
              </a:rPr>
              <a:t>của</a:t>
            </a:r>
            <a:r>
              <a:rPr lang="en-US" spc="-2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vật</a:t>
            </a:r>
            <a:r>
              <a:rPr lang="en-US"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chất</a:t>
            </a:r>
            <a:r>
              <a:rPr lang="en-US" spc="-2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vĩ</a:t>
            </a:r>
            <a:r>
              <a:rPr lang="en-US" spc="-20" dirty="0">
                <a:solidFill>
                  <a:schemeClr val="tx1"/>
                </a:solidFill>
                <a:latin typeface="Times New Roman" panose="02020603050405020304"/>
                <a:cs typeface="Times New Roman" panose="02020603050405020304"/>
              </a:rPr>
              <a:t> </a:t>
            </a:r>
            <a:r>
              <a:rPr lang="en-US" spc="-25" dirty="0" err="1">
                <a:solidFill>
                  <a:schemeClr val="tx1"/>
                </a:solidFill>
                <a:latin typeface="Times New Roman" panose="02020603050405020304"/>
                <a:cs typeface="Times New Roman" panose="02020603050405020304"/>
              </a:rPr>
              <a:t>mô</a:t>
            </a:r>
            <a:r>
              <a:rPr lang="en-US" spc="-2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thông</a:t>
            </a:r>
            <a:r>
              <a:rPr lang="en-US" dirty="0">
                <a:solidFill>
                  <a:schemeClr val="tx1"/>
                </a:solidFill>
                <a:latin typeface="Times New Roman" panose="02020603050405020304"/>
                <a:cs typeface="Times New Roman" panose="02020603050405020304"/>
              </a:rPr>
              <a:t> qua</a:t>
            </a:r>
            <a:r>
              <a:rPr lang="en-US" spc="-5" dirty="0">
                <a:solidFill>
                  <a:schemeClr val="tx1"/>
                </a:solidFill>
                <a:latin typeface="Times New Roman" panose="02020603050405020304"/>
                <a:cs typeface="Times New Roman" panose="02020603050405020304"/>
              </a:rPr>
              <a:t> </a:t>
            </a:r>
            <a:r>
              <a:rPr lang="en-US" spc="-20" dirty="0" err="1">
                <a:solidFill>
                  <a:schemeClr val="tx1"/>
                </a:solidFill>
                <a:latin typeface="Times New Roman" panose="02020603050405020304"/>
                <a:cs typeface="Times New Roman" panose="02020603050405020304"/>
              </a:rPr>
              <a:t>thực</a:t>
            </a:r>
            <a:r>
              <a:rPr lang="en-US" spc="-2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nghiệm</a:t>
            </a:r>
            <a:r>
              <a:rPr lang="en-US" spc="-2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của</a:t>
            </a:r>
            <a:r>
              <a:rPr lang="en-US" spc="-5" dirty="0">
                <a:solidFill>
                  <a:schemeClr val="tx1"/>
                </a:solidFill>
                <a:latin typeface="Times New Roman" panose="02020603050405020304"/>
                <a:cs typeface="Times New Roman" panose="02020603050405020304"/>
              </a:rPr>
              <a:t> </a:t>
            </a:r>
            <a:r>
              <a:rPr lang="en-US" spc="-25" dirty="0" err="1">
                <a:solidFill>
                  <a:schemeClr val="tx1"/>
                </a:solidFill>
                <a:latin typeface="Times New Roman" panose="02020603050405020304"/>
                <a:cs typeface="Times New Roman" panose="02020603050405020304"/>
              </a:rPr>
              <a:t>vật</a:t>
            </a:r>
            <a:r>
              <a:rPr lang="en-US" spc="-2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lý</a:t>
            </a:r>
            <a:r>
              <a:rPr lang="en-US" spc="-25"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học</a:t>
            </a:r>
            <a:r>
              <a:rPr lang="en-US" spc="20" dirty="0">
                <a:solidFill>
                  <a:schemeClr val="tx1"/>
                </a:solidFill>
                <a:latin typeface="Times New Roman" panose="02020603050405020304"/>
                <a:cs typeface="Times New Roman" panose="02020603050405020304"/>
              </a:rPr>
              <a:t> </a:t>
            </a:r>
            <a:r>
              <a:rPr lang="en-US" dirty="0" err="1">
                <a:solidFill>
                  <a:schemeClr val="tx1"/>
                </a:solidFill>
                <a:latin typeface="Times New Roman" panose="02020603050405020304"/>
                <a:cs typeface="Times New Roman" panose="02020603050405020304"/>
              </a:rPr>
              <a:t>cổ</a:t>
            </a:r>
            <a:r>
              <a:rPr lang="en-US" spc="-20" dirty="0">
                <a:solidFill>
                  <a:schemeClr val="tx1"/>
                </a:solidFill>
                <a:latin typeface="Times New Roman" panose="02020603050405020304"/>
                <a:cs typeface="Times New Roman" panose="02020603050405020304"/>
              </a:rPr>
              <a:t> </a:t>
            </a:r>
            <a:r>
              <a:rPr lang="en-US" spc="-20" dirty="0" err="1">
                <a:solidFill>
                  <a:schemeClr val="tx1"/>
                </a:solidFill>
                <a:latin typeface="Times New Roman" panose="02020603050405020304"/>
                <a:cs typeface="Times New Roman" panose="02020603050405020304"/>
              </a:rPr>
              <a:t>điể</a:t>
            </a:r>
            <a:r>
              <a:rPr lang="vi-VN" spc="-20" dirty="0">
                <a:solidFill>
                  <a:schemeClr val="tx1"/>
                </a:solidFill>
                <a:latin typeface="Times New Roman" panose="02020603050405020304"/>
                <a:cs typeface="Times New Roman" panose="02020603050405020304"/>
              </a:rPr>
              <a:t>n</a:t>
            </a:r>
            <a:endParaRPr lang="en-US" dirty="0">
              <a:solidFill>
                <a:schemeClr val="tx1"/>
              </a:solidFill>
            </a:endParaRPr>
          </a:p>
        </p:txBody>
      </p:sp>
      <p:sp>
        <p:nvSpPr>
          <p:cNvPr id="9" name="Scroll: Vertical 8"/>
          <p:cNvSpPr/>
          <p:nvPr/>
        </p:nvSpPr>
        <p:spPr>
          <a:xfrm>
            <a:off x="4240784" y="2204720"/>
            <a:ext cx="2830576" cy="2763520"/>
          </a:xfrm>
          <a:prstGeom prst="vertic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2065" marR="5080" indent="-3810" algn="ctr">
              <a:lnSpc>
                <a:spcPct val="100000"/>
              </a:lnSpc>
              <a:spcBef>
                <a:spcPts val="100"/>
              </a:spcBef>
            </a:pPr>
            <a:r>
              <a:rPr lang="vi-VN" dirty="0">
                <a:solidFill>
                  <a:schemeClr val="tx1"/>
                </a:solidFill>
                <a:latin typeface="Times New Roman" panose="02020603050405020304"/>
                <a:cs typeface="Times New Roman" panose="02020603050405020304"/>
              </a:rPr>
              <a:t>Đồng</a:t>
            </a:r>
            <a:r>
              <a:rPr lang="vi-VN" spc="-1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nhất</a:t>
            </a:r>
            <a:r>
              <a:rPr lang="vi-VN" spc="-30" dirty="0">
                <a:solidFill>
                  <a:schemeClr val="tx1"/>
                </a:solidFill>
                <a:latin typeface="Times New Roman" panose="02020603050405020304"/>
                <a:cs typeface="Times New Roman" panose="02020603050405020304"/>
              </a:rPr>
              <a:t> </a:t>
            </a:r>
            <a:r>
              <a:rPr lang="vi-VN" spc="-25" dirty="0">
                <a:solidFill>
                  <a:schemeClr val="tx1"/>
                </a:solidFill>
                <a:latin typeface="Times New Roman" panose="02020603050405020304"/>
                <a:cs typeface="Times New Roman" panose="02020603050405020304"/>
              </a:rPr>
              <a:t>vật </a:t>
            </a:r>
            <a:r>
              <a:rPr lang="vi-VN" dirty="0">
                <a:solidFill>
                  <a:schemeClr val="tx1"/>
                </a:solidFill>
                <a:latin typeface="Times New Roman" panose="02020603050405020304"/>
                <a:cs typeface="Times New Roman" panose="02020603050405020304"/>
              </a:rPr>
              <a:t>chất</a:t>
            </a:r>
            <a:r>
              <a:rPr lang="vi-VN" spc="-3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với </a:t>
            </a:r>
            <a:r>
              <a:rPr lang="vi-VN" spc="-20" dirty="0">
                <a:solidFill>
                  <a:schemeClr val="tx1"/>
                </a:solidFill>
                <a:latin typeface="Times New Roman" panose="02020603050405020304"/>
                <a:cs typeface="Times New Roman" panose="02020603050405020304"/>
              </a:rPr>
              <a:t>khối </a:t>
            </a:r>
            <a:r>
              <a:rPr lang="vi-VN" dirty="0">
                <a:solidFill>
                  <a:schemeClr val="tx1"/>
                </a:solidFill>
                <a:latin typeface="Times New Roman" panose="02020603050405020304"/>
                <a:cs typeface="Times New Roman" panose="02020603050405020304"/>
              </a:rPr>
              <a:t>lượng;</a:t>
            </a:r>
            <a:r>
              <a:rPr lang="vi-VN" spc="-1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giải</a:t>
            </a:r>
            <a:r>
              <a:rPr lang="vi-VN" spc="-30" dirty="0">
                <a:solidFill>
                  <a:schemeClr val="tx1"/>
                </a:solidFill>
                <a:latin typeface="Times New Roman" panose="02020603050405020304"/>
                <a:cs typeface="Times New Roman" panose="02020603050405020304"/>
              </a:rPr>
              <a:t> </a:t>
            </a:r>
            <a:r>
              <a:rPr lang="vi-VN" spc="-20" dirty="0">
                <a:solidFill>
                  <a:schemeClr val="tx1"/>
                </a:solidFill>
                <a:latin typeface="Times New Roman" panose="02020603050405020304"/>
                <a:cs typeface="Times New Roman" panose="02020603050405020304"/>
              </a:rPr>
              <a:t>thích </a:t>
            </a:r>
            <a:r>
              <a:rPr lang="vi-VN" dirty="0">
                <a:solidFill>
                  <a:schemeClr val="tx1"/>
                </a:solidFill>
                <a:latin typeface="Times New Roman" panose="02020603050405020304"/>
                <a:cs typeface="Times New Roman" panose="02020603050405020304"/>
              </a:rPr>
              <a:t>sự</a:t>
            </a:r>
            <a:r>
              <a:rPr lang="vi-VN" spc="-5"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vận động </a:t>
            </a:r>
            <a:r>
              <a:rPr lang="vi-VN" spc="-25" dirty="0">
                <a:solidFill>
                  <a:schemeClr val="tx1"/>
                </a:solidFill>
                <a:latin typeface="Times New Roman" panose="02020603050405020304"/>
                <a:cs typeface="Times New Roman" panose="02020603050405020304"/>
              </a:rPr>
              <a:t>của </a:t>
            </a:r>
            <a:r>
              <a:rPr lang="vi-VN" dirty="0">
                <a:solidFill>
                  <a:schemeClr val="tx1"/>
                </a:solidFill>
                <a:latin typeface="Times New Roman" panose="02020603050405020304"/>
                <a:cs typeface="Times New Roman" panose="02020603050405020304"/>
              </a:rPr>
              <a:t>thế</a:t>
            </a:r>
            <a:r>
              <a:rPr lang="vi-VN" spc="-1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giới</a:t>
            </a:r>
            <a:r>
              <a:rPr lang="vi-VN" spc="-2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vật</a:t>
            </a:r>
            <a:r>
              <a:rPr lang="vi-VN" spc="-15" dirty="0">
                <a:solidFill>
                  <a:schemeClr val="tx1"/>
                </a:solidFill>
                <a:latin typeface="Times New Roman" panose="02020603050405020304"/>
                <a:cs typeface="Times New Roman" panose="02020603050405020304"/>
              </a:rPr>
              <a:t> </a:t>
            </a:r>
            <a:r>
              <a:rPr lang="vi-VN" spc="-20" dirty="0">
                <a:solidFill>
                  <a:schemeClr val="tx1"/>
                </a:solidFill>
                <a:latin typeface="Times New Roman" panose="02020603050405020304"/>
                <a:cs typeface="Times New Roman" panose="02020603050405020304"/>
              </a:rPr>
              <a:t>chất </a:t>
            </a:r>
            <a:r>
              <a:rPr lang="vi-VN" dirty="0">
                <a:solidFill>
                  <a:schemeClr val="tx1"/>
                </a:solidFill>
                <a:latin typeface="Times New Roman" panose="02020603050405020304"/>
                <a:cs typeface="Times New Roman" panose="02020603050405020304"/>
              </a:rPr>
              <a:t>trên</a:t>
            </a:r>
            <a:r>
              <a:rPr lang="vi-VN" spc="-25"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nền tảng</a:t>
            </a:r>
            <a:r>
              <a:rPr lang="vi-VN" spc="-25" dirty="0">
                <a:solidFill>
                  <a:schemeClr val="tx1"/>
                </a:solidFill>
                <a:latin typeface="Times New Roman" panose="02020603050405020304"/>
                <a:cs typeface="Times New Roman" panose="02020603050405020304"/>
              </a:rPr>
              <a:t> cơ </a:t>
            </a:r>
            <a:r>
              <a:rPr lang="vi-VN" dirty="0">
                <a:solidFill>
                  <a:schemeClr val="tx1"/>
                </a:solidFill>
                <a:latin typeface="Times New Roman" panose="02020603050405020304"/>
                <a:cs typeface="Times New Roman" panose="02020603050405020304"/>
              </a:rPr>
              <a:t>học; tách</a:t>
            </a:r>
            <a:r>
              <a:rPr lang="vi-VN" spc="-3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rời</a:t>
            </a:r>
            <a:r>
              <a:rPr lang="vi-VN" spc="-25" dirty="0">
                <a:solidFill>
                  <a:schemeClr val="tx1"/>
                </a:solidFill>
                <a:latin typeface="Times New Roman" panose="02020603050405020304"/>
                <a:cs typeface="Times New Roman" panose="02020603050405020304"/>
              </a:rPr>
              <a:t> vật </a:t>
            </a:r>
            <a:r>
              <a:rPr lang="vi-VN" dirty="0">
                <a:solidFill>
                  <a:schemeClr val="tx1"/>
                </a:solidFill>
                <a:latin typeface="Times New Roman" panose="02020603050405020304"/>
                <a:cs typeface="Times New Roman" panose="02020603050405020304"/>
              </a:rPr>
              <a:t>chất</a:t>
            </a:r>
            <a:r>
              <a:rPr lang="vi-VN" spc="-3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khỏi</a:t>
            </a:r>
            <a:r>
              <a:rPr lang="vi-VN" spc="-20" dirty="0">
                <a:solidFill>
                  <a:schemeClr val="tx1"/>
                </a:solidFill>
                <a:latin typeface="Times New Roman" panose="02020603050405020304"/>
                <a:cs typeface="Times New Roman" panose="02020603050405020304"/>
              </a:rPr>
              <a:t> </a:t>
            </a:r>
            <a:r>
              <a:rPr lang="vi-VN" spc="-25" dirty="0">
                <a:solidFill>
                  <a:schemeClr val="tx1"/>
                </a:solidFill>
                <a:latin typeface="Times New Roman" panose="02020603050405020304"/>
                <a:cs typeface="Times New Roman" panose="02020603050405020304"/>
              </a:rPr>
              <a:t>vận </a:t>
            </a:r>
            <a:r>
              <a:rPr lang="vi-VN" dirty="0">
                <a:solidFill>
                  <a:schemeClr val="tx1"/>
                </a:solidFill>
                <a:latin typeface="Times New Roman" panose="02020603050405020304"/>
                <a:cs typeface="Times New Roman" panose="02020603050405020304"/>
              </a:rPr>
              <a:t>động, không </a:t>
            </a:r>
            <a:r>
              <a:rPr lang="vi-VN" spc="-20" dirty="0">
                <a:solidFill>
                  <a:schemeClr val="tx1"/>
                </a:solidFill>
                <a:latin typeface="Times New Roman" panose="02020603050405020304"/>
                <a:cs typeface="Times New Roman" panose="02020603050405020304"/>
              </a:rPr>
              <a:t>gian </a:t>
            </a:r>
            <a:r>
              <a:rPr lang="vi-VN" dirty="0">
                <a:solidFill>
                  <a:schemeClr val="tx1"/>
                </a:solidFill>
                <a:latin typeface="Times New Roman" panose="02020603050405020304"/>
                <a:cs typeface="Times New Roman" panose="02020603050405020304"/>
              </a:rPr>
              <a:t>và</a:t>
            </a:r>
            <a:r>
              <a:rPr lang="vi-VN" spc="-2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thời</a:t>
            </a:r>
            <a:r>
              <a:rPr lang="vi-VN" spc="-25" dirty="0">
                <a:solidFill>
                  <a:schemeClr val="tx1"/>
                </a:solidFill>
                <a:latin typeface="Times New Roman" panose="02020603050405020304"/>
                <a:cs typeface="Times New Roman" panose="02020603050405020304"/>
              </a:rPr>
              <a:t> </a:t>
            </a:r>
            <a:r>
              <a:rPr lang="vi-VN" spc="-20" dirty="0">
                <a:solidFill>
                  <a:schemeClr val="tx1"/>
                </a:solidFill>
                <a:latin typeface="Times New Roman" panose="02020603050405020304"/>
                <a:cs typeface="Times New Roman" panose="02020603050405020304"/>
              </a:rPr>
              <a:t>gian</a:t>
            </a:r>
            <a:endParaRPr lang="vi-VN" dirty="0">
              <a:solidFill>
                <a:schemeClr val="tx1"/>
              </a:solidFill>
              <a:latin typeface="Times New Roman" panose="02020603050405020304"/>
              <a:cs typeface="Times New Roman" panose="02020603050405020304"/>
            </a:endParaRPr>
          </a:p>
        </p:txBody>
      </p:sp>
      <p:sp>
        <p:nvSpPr>
          <p:cNvPr id="10" name="Scroll: Vertical 9"/>
          <p:cNvSpPr/>
          <p:nvPr/>
        </p:nvSpPr>
        <p:spPr>
          <a:xfrm>
            <a:off x="7071360" y="2204720"/>
            <a:ext cx="2830576" cy="2763520"/>
          </a:xfrm>
          <a:prstGeom prst="verticalScroll">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0480" marR="22225" algn="ctr">
              <a:lnSpc>
                <a:spcPct val="100000"/>
              </a:lnSpc>
              <a:spcBef>
                <a:spcPts val="100"/>
              </a:spcBef>
            </a:pPr>
            <a:r>
              <a:rPr lang="vi-VN" dirty="0">
                <a:solidFill>
                  <a:schemeClr val="tx1"/>
                </a:solidFill>
                <a:latin typeface="Times New Roman" panose="02020603050405020304"/>
                <a:cs typeface="Times New Roman" panose="02020603050405020304"/>
              </a:rPr>
              <a:t>Không đưa</a:t>
            </a:r>
            <a:r>
              <a:rPr lang="vi-VN" spc="-25" dirty="0">
                <a:solidFill>
                  <a:schemeClr val="tx1"/>
                </a:solidFill>
                <a:latin typeface="Times New Roman" panose="02020603050405020304"/>
                <a:cs typeface="Times New Roman" panose="02020603050405020304"/>
              </a:rPr>
              <a:t> ra </a:t>
            </a:r>
            <a:r>
              <a:rPr lang="vi-VN" dirty="0">
                <a:solidFill>
                  <a:schemeClr val="tx1"/>
                </a:solidFill>
                <a:latin typeface="Times New Roman" panose="02020603050405020304"/>
                <a:cs typeface="Times New Roman" panose="02020603050405020304"/>
              </a:rPr>
              <a:t>được</a:t>
            </a:r>
            <a:r>
              <a:rPr lang="vi-VN" spc="-5"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sự</a:t>
            </a:r>
            <a:r>
              <a:rPr lang="vi-VN" spc="-20" dirty="0">
                <a:solidFill>
                  <a:schemeClr val="tx1"/>
                </a:solidFill>
                <a:latin typeface="Times New Roman" panose="02020603050405020304"/>
                <a:cs typeface="Times New Roman" panose="02020603050405020304"/>
              </a:rPr>
              <a:t> khái </a:t>
            </a:r>
            <a:r>
              <a:rPr lang="vi-VN" dirty="0">
                <a:solidFill>
                  <a:schemeClr val="tx1"/>
                </a:solidFill>
                <a:latin typeface="Times New Roman" panose="02020603050405020304"/>
                <a:cs typeface="Times New Roman" panose="02020603050405020304"/>
              </a:rPr>
              <a:t>quát triết</a:t>
            </a:r>
            <a:r>
              <a:rPr lang="vi-VN" spc="-50" dirty="0">
                <a:solidFill>
                  <a:schemeClr val="tx1"/>
                </a:solidFill>
                <a:latin typeface="Times New Roman" panose="02020603050405020304"/>
                <a:cs typeface="Times New Roman" panose="02020603050405020304"/>
              </a:rPr>
              <a:t> </a:t>
            </a:r>
            <a:r>
              <a:rPr lang="vi-VN" spc="-25" dirty="0">
                <a:solidFill>
                  <a:schemeClr val="tx1"/>
                </a:solidFill>
                <a:latin typeface="Times New Roman" panose="02020603050405020304"/>
                <a:cs typeface="Times New Roman" panose="02020603050405020304"/>
              </a:rPr>
              <a:t>học </a:t>
            </a:r>
            <a:r>
              <a:rPr lang="vi-VN" dirty="0">
                <a:solidFill>
                  <a:schemeClr val="tx1"/>
                </a:solidFill>
                <a:latin typeface="Times New Roman" panose="02020603050405020304"/>
                <a:cs typeface="Times New Roman" panose="02020603050405020304"/>
              </a:rPr>
              <a:t>trong</a:t>
            </a:r>
            <a:r>
              <a:rPr lang="vi-VN" spc="-15" dirty="0">
                <a:solidFill>
                  <a:schemeClr val="tx1"/>
                </a:solidFill>
                <a:latin typeface="Times New Roman" panose="02020603050405020304"/>
                <a:cs typeface="Times New Roman" panose="02020603050405020304"/>
              </a:rPr>
              <a:t> </a:t>
            </a:r>
            <a:r>
              <a:rPr lang="vi-VN" spc="-20" dirty="0">
                <a:solidFill>
                  <a:schemeClr val="tx1"/>
                </a:solidFill>
                <a:latin typeface="Times New Roman" panose="02020603050405020304"/>
                <a:cs typeface="Times New Roman" panose="02020603050405020304"/>
              </a:rPr>
              <a:t>quan </a:t>
            </a:r>
            <a:r>
              <a:rPr lang="vi-VN" dirty="0">
                <a:solidFill>
                  <a:schemeClr val="tx1"/>
                </a:solidFill>
                <a:latin typeface="Times New Roman" panose="02020603050405020304"/>
                <a:cs typeface="Times New Roman" panose="02020603050405020304"/>
              </a:rPr>
              <a:t>niệm</a:t>
            </a:r>
            <a:r>
              <a:rPr lang="vi-VN" spc="-15"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về </a:t>
            </a:r>
            <a:r>
              <a:rPr lang="vi-VN" spc="-25" dirty="0">
                <a:solidFill>
                  <a:schemeClr val="tx1"/>
                </a:solidFill>
                <a:latin typeface="Times New Roman" panose="02020603050405020304"/>
                <a:cs typeface="Times New Roman" panose="02020603050405020304"/>
              </a:rPr>
              <a:t>thế </a:t>
            </a:r>
            <a:r>
              <a:rPr lang="vi-VN" dirty="0">
                <a:solidFill>
                  <a:schemeClr val="tx1"/>
                </a:solidFill>
                <a:latin typeface="Times New Roman" panose="02020603050405020304"/>
                <a:cs typeface="Times New Roman" panose="02020603050405020304"/>
              </a:rPr>
              <a:t>giới</a:t>
            </a:r>
            <a:r>
              <a:rPr lang="vi-VN" spc="-2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vật</a:t>
            </a:r>
            <a:r>
              <a:rPr lang="vi-VN" spc="-20" dirty="0">
                <a:solidFill>
                  <a:schemeClr val="tx1"/>
                </a:solidFill>
                <a:latin typeface="Times New Roman" panose="02020603050405020304"/>
                <a:cs typeface="Times New Roman" panose="02020603050405020304"/>
              </a:rPr>
              <a:t> chất</a:t>
            </a:r>
            <a:endParaRPr lang="vi-VN" dirty="0">
              <a:solidFill>
                <a:schemeClr val="tx1"/>
              </a:solidFill>
              <a:latin typeface="Times New Roman" panose="02020603050405020304"/>
              <a:cs typeface="Times New Roman" panose="02020603050405020304"/>
            </a:endParaRPr>
          </a:p>
          <a:p>
            <a:pPr marL="12700" marR="5080" indent="-2540" algn="ctr">
              <a:lnSpc>
                <a:spcPct val="100000"/>
              </a:lnSpc>
            </a:pPr>
            <a:r>
              <a:rPr lang="vi-VN" dirty="0">
                <a:solidFill>
                  <a:schemeClr val="tx1"/>
                </a:solidFill>
                <a:latin typeface="Times New Roman" panose="02020603050405020304"/>
                <a:cs typeface="Times New Roman" panose="02020603050405020304"/>
              </a:rPr>
              <a:t>=&gt;</a:t>
            </a:r>
            <a:r>
              <a:rPr lang="vi-VN" spc="-15"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Hạn</a:t>
            </a:r>
            <a:r>
              <a:rPr lang="vi-VN" spc="-25" dirty="0">
                <a:solidFill>
                  <a:schemeClr val="tx1"/>
                </a:solidFill>
                <a:latin typeface="Times New Roman" panose="02020603050405020304"/>
                <a:cs typeface="Times New Roman" panose="02020603050405020304"/>
              </a:rPr>
              <a:t> chế </a:t>
            </a:r>
            <a:r>
              <a:rPr lang="vi-VN" dirty="0">
                <a:solidFill>
                  <a:schemeClr val="tx1"/>
                </a:solidFill>
                <a:latin typeface="Times New Roman" panose="02020603050405020304"/>
                <a:cs typeface="Times New Roman" panose="02020603050405020304"/>
              </a:rPr>
              <a:t>phương</a:t>
            </a:r>
            <a:r>
              <a:rPr lang="vi-VN" spc="-20" dirty="0">
                <a:solidFill>
                  <a:schemeClr val="tx1"/>
                </a:solidFill>
                <a:latin typeface="Times New Roman" panose="02020603050405020304"/>
                <a:cs typeface="Times New Roman" panose="02020603050405020304"/>
              </a:rPr>
              <a:t> pháp </a:t>
            </a:r>
            <a:r>
              <a:rPr lang="vi-VN" dirty="0">
                <a:solidFill>
                  <a:schemeClr val="tx1"/>
                </a:solidFill>
                <a:latin typeface="Times New Roman" panose="02020603050405020304"/>
                <a:cs typeface="Times New Roman" panose="02020603050405020304"/>
              </a:rPr>
              <a:t>luận</a:t>
            </a:r>
            <a:r>
              <a:rPr lang="vi-VN" spc="-10" dirty="0">
                <a:solidFill>
                  <a:schemeClr val="tx1"/>
                </a:solidFill>
                <a:latin typeface="Times New Roman" panose="02020603050405020304"/>
                <a:cs typeface="Times New Roman" panose="02020603050405020304"/>
              </a:rPr>
              <a:t> </a:t>
            </a:r>
            <a:r>
              <a:rPr lang="vi-VN" dirty="0">
                <a:solidFill>
                  <a:schemeClr val="tx1"/>
                </a:solidFill>
                <a:latin typeface="Times New Roman" panose="02020603050405020304"/>
                <a:cs typeface="Times New Roman" panose="02020603050405020304"/>
              </a:rPr>
              <a:t>siêu</a:t>
            </a:r>
            <a:r>
              <a:rPr lang="vi-VN" spc="-10" dirty="0">
                <a:solidFill>
                  <a:schemeClr val="tx1"/>
                </a:solidFill>
                <a:latin typeface="Times New Roman" panose="02020603050405020304"/>
                <a:cs typeface="Times New Roman" panose="02020603050405020304"/>
              </a:rPr>
              <a:t> </a:t>
            </a:r>
            <a:r>
              <a:rPr lang="vi-VN" spc="-20" dirty="0">
                <a:solidFill>
                  <a:schemeClr val="tx1"/>
                </a:solidFill>
                <a:latin typeface="Times New Roman" panose="02020603050405020304"/>
                <a:cs typeface="Times New Roman" panose="02020603050405020304"/>
              </a:rPr>
              <a:t>hình</a:t>
            </a:r>
            <a:endParaRPr lang="vi-VN" dirty="0">
              <a:solidFill>
                <a:schemeClr val="tx1"/>
              </a:solidFill>
              <a:latin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46561"/>
          </a:xfrm>
        </p:spPr>
        <p:txBody>
          <a:bodyPr/>
          <a:lstStyle/>
          <a:p>
            <a:endParaRPr lang="en-US" dirty="0"/>
          </a:p>
        </p:txBody>
      </p:sp>
      <p:sp>
        <p:nvSpPr>
          <p:cNvPr id="3" name="Rectangle 2"/>
          <p:cNvSpPr/>
          <p:nvPr/>
        </p:nvSpPr>
        <p:spPr>
          <a:xfrm>
            <a:off x="1121229" y="696686"/>
            <a:ext cx="5094514" cy="109945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255" marR="3175" algn="just">
              <a:spcBef>
                <a:spcPts val="65"/>
              </a:spcBef>
            </a:pPr>
            <a:r>
              <a:rPr lang="en-US" b="1" i="1" dirty="0">
                <a:solidFill>
                  <a:srgbClr val="002060"/>
                </a:solidFill>
                <a:latin typeface="Times New Roman" panose="02020603050405020304"/>
                <a:cs typeface="Times New Roman" panose="02020603050405020304"/>
              </a:rPr>
              <a:t>b.</a:t>
            </a:r>
            <a:r>
              <a:rPr lang="en-US" b="1" i="1" spc="-1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Cuộc</a:t>
            </a:r>
            <a:r>
              <a:rPr lang="en-US" b="1" i="1" spc="-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cách</a:t>
            </a:r>
            <a:r>
              <a:rPr lang="en-US" b="1" i="1" spc="-22"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mạng</a:t>
            </a:r>
            <a:r>
              <a:rPr lang="en-US" b="1" i="1" spc="-1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trong</a:t>
            </a:r>
            <a:r>
              <a:rPr lang="en-US" b="1" i="1" spc="-13" dirty="0">
                <a:solidFill>
                  <a:srgbClr val="002060"/>
                </a:solidFill>
                <a:latin typeface="Times New Roman" panose="02020603050405020304"/>
                <a:cs typeface="Times New Roman" panose="02020603050405020304"/>
              </a:rPr>
              <a:t> </a:t>
            </a:r>
            <a:r>
              <a:rPr lang="en-US" b="1" i="1" dirty="0">
                <a:solidFill>
                  <a:srgbClr val="002060"/>
                </a:solidFill>
                <a:latin typeface="Times New Roman" panose="02020603050405020304"/>
                <a:cs typeface="Times New Roman" panose="02020603050405020304"/>
              </a:rPr>
              <a:t>khoa </a:t>
            </a:r>
            <a:r>
              <a:rPr lang="en-US" b="1" i="1" dirty="0" err="1">
                <a:solidFill>
                  <a:srgbClr val="002060"/>
                </a:solidFill>
                <a:latin typeface="Times New Roman" panose="02020603050405020304"/>
                <a:cs typeface="Times New Roman" panose="02020603050405020304"/>
              </a:rPr>
              <a:t>học</a:t>
            </a:r>
            <a:r>
              <a:rPr lang="en-US" b="1" i="1" spc="-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tự</a:t>
            </a:r>
            <a:r>
              <a:rPr lang="en-US" b="1" i="1" spc="-1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nhiên</a:t>
            </a:r>
            <a:r>
              <a:rPr lang="en-US" b="1" i="1" spc="-19"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cuối</a:t>
            </a:r>
            <a:r>
              <a:rPr lang="en-US" b="1" i="1" spc="-10"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thế</a:t>
            </a:r>
            <a:r>
              <a:rPr lang="en-US" b="1" i="1" spc="-19"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kỷ</a:t>
            </a:r>
            <a:r>
              <a:rPr lang="en-US" b="1" i="1" spc="-19" dirty="0">
                <a:solidFill>
                  <a:srgbClr val="002060"/>
                </a:solidFill>
                <a:latin typeface="Times New Roman" panose="02020603050405020304"/>
                <a:cs typeface="Times New Roman" panose="02020603050405020304"/>
              </a:rPr>
              <a:t> </a:t>
            </a:r>
            <a:r>
              <a:rPr lang="en-US" b="1" i="1" spc="-13" dirty="0">
                <a:solidFill>
                  <a:srgbClr val="002060"/>
                </a:solidFill>
                <a:latin typeface="Times New Roman" panose="02020603050405020304"/>
                <a:cs typeface="Times New Roman" panose="02020603050405020304"/>
              </a:rPr>
              <a:t>XIX, </a:t>
            </a:r>
            <a:r>
              <a:rPr lang="en-US" b="1" i="1" dirty="0" err="1">
                <a:solidFill>
                  <a:srgbClr val="002060"/>
                </a:solidFill>
                <a:latin typeface="Times New Roman" panose="02020603050405020304"/>
                <a:cs typeface="Times New Roman" panose="02020603050405020304"/>
              </a:rPr>
              <a:t>đầu</a:t>
            </a:r>
            <a:r>
              <a:rPr lang="en-US" b="1" i="1" spc="-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thế</a:t>
            </a:r>
            <a:r>
              <a:rPr lang="en-US" b="1" i="1" spc="-1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kỷ</a:t>
            </a:r>
            <a:r>
              <a:rPr lang="en-US" b="1" i="1" spc="-10" dirty="0">
                <a:solidFill>
                  <a:srgbClr val="002060"/>
                </a:solidFill>
                <a:latin typeface="Times New Roman" panose="02020603050405020304"/>
                <a:cs typeface="Times New Roman" panose="02020603050405020304"/>
              </a:rPr>
              <a:t> </a:t>
            </a:r>
            <a:r>
              <a:rPr lang="en-US" b="1" i="1" dirty="0">
                <a:solidFill>
                  <a:srgbClr val="002060"/>
                </a:solidFill>
                <a:latin typeface="Times New Roman" panose="02020603050405020304"/>
                <a:cs typeface="Times New Roman" panose="02020603050405020304"/>
              </a:rPr>
              <a:t>XX,</a:t>
            </a:r>
            <a:r>
              <a:rPr lang="en-US" b="1" i="1" spc="-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và</a:t>
            </a:r>
            <a:r>
              <a:rPr lang="en-US" b="1" i="1" spc="-22"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sự</a:t>
            </a:r>
            <a:r>
              <a:rPr lang="en-US" b="1" i="1" spc="-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phá</a:t>
            </a:r>
            <a:r>
              <a:rPr lang="en-US" b="1" i="1" spc="-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sản</a:t>
            </a:r>
            <a:r>
              <a:rPr lang="en-US" b="1" i="1" spc="-1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của</a:t>
            </a:r>
            <a:r>
              <a:rPr lang="en-US" b="1" i="1" spc="-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các</a:t>
            </a:r>
            <a:r>
              <a:rPr lang="en-US" b="1" i="1" spc="-1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quan</a:t>
            </a:r>
            <a:r>
              <a:rPr lang="en-US" b="1" i="1" spc="-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điểm</a:t>
            </a:r>
            <a:r>
              <a:rPr lang="en-US" b="1" i="1" spc="-1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duy</a:t>
            </a:r>
            <a:r>
              <a:rPr lang="en-US" b="1" i="1" spc="-13" dirty="0">
                <a:solidFill>
                  <a:srgbClr val="002060"/>
                </a:solidFill>
                <a:latin typeface="Times New Roman" panose="02020603050405020304"/>
                <a:cs typeface="Times New Roman" panose="02020603050405020304"/>
              </a:rPr>
              <a:t> </a:t>
            </a:r>
            <a:r>
              <a:rPr lang="en-US" b="1" i="1" spc="-16" dirty="0" err="1">
                <a:solidFill>
                  <a:srgbClr val="002060"/>
                </a:solidFill>
                <a:latin typeface="Times New Roman" panose="02020603050405020304"/>
                <a:cs typeface="Times New Roman" panose="02020603050405020304"/>
              </a:rPr>
              <a:t>vật</a:t>
            </a:r>
            <a:r>
              <a:rPr lang="vi-VN" b="1" i="1" spc="-1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siêu</a:t>
            </a:r>
            <a:r>
              <a:rPr lang="en-US" b="1" i="1" spc="-19"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hình</a:t>
            </a:r>
            <a:r>
              <a:rPr lang="en-US" b="1" i="1" spc="-6"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về</a:t>
            </a:r>
            <a:r>
              <a:rPr lang="en-US" b="1" i="1" spc="-13" dirty="0">
                <a:solidFill>
                  <a:srgbClr val="002060"/>
                </a:solidFill>
                <a:latin typeface="Times New Roman" panose="02020603050405020304"/>
                <a:cs typeface="Times New Roman" panose="02020603050405020304"/>
              </a:rPr>
              <a:t> </a:t>
            </a:r>
            <a:r>
              <a:rPr lang="en-US" b="1" i="1" dirty="0" err="1">
                <a:solidFill>
                  <a:srgbClr val="002060"/>
                </a:solidFill>
                <a:latin typeface="Times New Roman" panose="02020603050405020304"/>
                <a:cs typeface="Times New Roman" panose="02020603050405020304"/>
              </a:rPr>
              <a:t>vật</a:t>
            </a:r>
            <a:r>
              <a:rPr lang="en-US" b="1" i="1" spc="-22" dirty="0">
                <a:solidFill>
                  <a:srgbClr val="002060"/>
                </a:solidFill>
                <a:latin typeface="Times New Roman" panose="02020603050405020304"/>
                <a:cs typeface="Times New Roman" panose="02020603050405020304"/>
              </a:rPr>
              <a:t> </a:t>
            </a:r>
            <a:r>
              <a:rPr lang="en-US" b="1" i="1" spc="-13" dirty="0" err="1">
                <a:solidFill>
                  <a:srgbClr val="002060"/>
                </a:solidFill>
                <a:latin typeface="Times New Roman" panose="02020603050405020304"/>
                <a:cs typeface="Times New Roman" panose="02020603050405020304"/>
              </a:rPr>
              <a:t>chất</a:t>
            </a:r>
            <a:endParaRPr lang="en-US" dirty="0">
              <a:solidFill>
                <a:srgbClr val="002060"/>
              </a:solidFill>
              <a:latin typeface="Times New Roman" panose="02020603050405020304"/>
              <a:cs typeface="Times New Roman" panose="02020603050405020304"/>
            </a:endParaRPr>
          </a:p>
        </p:txBody>
      </p:sp>
      <p:grpSp>
        <p:nvGrpSpPr>
          <p:cNvPr id="4" name="object 2"/>
          <p:cNvGrpSpPr/>
          <p:nvPr/>
        </p:nvGrpSpPr>
        <p:grpSpPr>
          <a:xfrm>
            <a:off x="1877786" y="2046514"/>
            <a:ext cx="8436428" cy="4114800"/>
            <a:chOff x="457200" y="2750820"/>
            <a:chExt cx="9144000" cy="4190365"/>
          </a:xfrm>
        </p:grpSpPr>
        <p:pic>
          <p:nvPicPr>
            <p:cNvPr id="5" name="object 3"/>
            <p:cNvPicPr/>
            <p:nvPr/>
          </p:nvPicPr>
          <p:blipFill>
            <a:blip r:embed="rId1" cstate="print"/>
            <a:stretch>
              <a:fillRect/>
            </a:stretch>
          </p:blipFill>
          <p:spPr>
            <a:xfrm>
              <a:off x="457200" y="2750820"/>
              <a:ext cx="9144000" cy="4190250"/>
            </a:xfrm>
            <a:prstGeom prst="rect">
              <a:avLst/>
            </a:prstGeom>
          </p:spPr>
        </p:pic>
        <p:pic>
          <p:nvPicPr>
            <p:cNvPr id="6" name="object 4"/>
            <p:cNvPicPr/>
            <p:nvPr/>
          </p:nvPicPr>
          <p:blipFill>
            <a:blip r:embed="rId2" cstate="print"/>
            <a:stretch>
              <a:fillRect/>
            </a:stretch>
          </p:blipFill>
          <p:spPr>
            <a:xfrm>
              <a:off x="2551176" y="5385816"/>
              <a:ext cx="288036" cy="288035"/>
            </a:xfrm>
            <a:prstGeom prst="rect">
              <a:avLst/>
            </a:prstGeom>
          </p:spPr>
        </p:pic>
      </p:grpSp>
      <p:sp>
        <p:nvSpPr>
          <p:cNvPr id="7" name="Rectangle 6"/>
          <p:cNvSpPr/>
          <p:nvPr/>
        </p:nvSpPr>
        <p:spPr>
          <a:xfrm>
            <a:off x="1763486" y="3918857"/>
            <a:ext cx="1393371" cy="11430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8255" marR="217170" algn="ctr">
              <a:lnSpc>
                <a:spcPct val="93000"/>
              </a:lnSpc>
              <a:spcBef>
                <a:spcPts val="190"/>
              </a:spcBef>
            </a:pPr>
            <a:r>
              <a:rPr lang="vi-VN" spc="-6" dirty="0">
                <a:solidFill>
                  <a:srgbClr val="002060"/>
                </a:solidFill>
                <a:latin typeface="Times New Roman" panose="02020603050405020304"/>
                <a:cs typeface="Times New Roman" panose="02020603050405020304"/>
              </a:rPr>
              <a:t>Rơn-</a:t>
            </a:r>
            <a:r>
              <a:rPr lang="vi-VN" spc="-13" dirty="0">
                <a:solidFill>
                  <a:srgbClr val="002060"/>
                </a:solidFill>
                <a:latin typeface="Times New Roman" panose="02020603050405020304"/>
                <a:cs typeface="Times New Roman" panose="02020603050405020304"/>
              </a:rPr>
              <a:t>ghen </a:t>
            </a:r>
            <a:r>
              <a:rPr lang="vi-VN" dirty="0">
                <a:solidFill>
                  <a:srgbClr val="002060"/>
                </a:solidFill>
                <a:latin typeface="Times New Roman" panose="02020603050405020304"/>
                <a:cs typeface="Times New Roman" panose="02020603050405020304"/>
              </a:rPr>
              <a:t>phát</a:t>
            </a:r>
            <a:r>
              <a:rPr lang="vi-VN" spc="99" dirty="0">
                <a:solidFill>
                  <a:srgbClr val="002060"/>
                </a:solidFill>
                <a:latin typeface="Times New Roman" panose="02020603050405020304"/>
                <a:cs typeface="Times New Roman" panose="02020603050405020304"/>
              </a:rPr>
              <a:t>  </a:t>
            </a:r>
            <a:r>
              <a:rPr lang="vi-VN" spc="-13" dirty="0">
                <a:solidFill>
                  <a:srgbClr val="002060"/>
                </a:solidFill>
                <a:latin typeface="Times New Roman" panose="02020603050405020304"/>
                <a:cs typeface="Times New Roman" panose="02020603050405020304"/>
              </a:rPr>
              <a:t>hiện </a:t>
            </a:r>
            <a:r>
              <a:rPr lang="vi-VN" dirty="0">
                <a:solidFill>
                  <a:srgbClr val="002060"/>
                </a:solidFill>
                <a:latin typeface="Times New Roman" panose="02020603050405020304"/>
                <a:cs typeface="Times New Roman" panose="02020603050405020304"/>
              </a:rPr>
              <a:t>ra</a:t>
            </a:r>
            <a:r>
              <a:rPr lang="vi-VN" spc="-10" dirty="0">
                <a:solidFill>
                  <a:srgbClr val="002060"/>
                </a:solidFill>
                <a:latin typeface="Times New Roman" panose="02020603050405020304"/>
                <a:cs typeface="Times New Roman" panose="02020603050405020304"/>
              </a:rPr>
              <a:t> </a:t>
            </a:r>
            <a:r>
              <a:rPr lang="vi-VN" dirty="0">
                <a:solidFill>
                  <a:srgbClr val="002060"/>
                </a:solidFill>
                <a:latin typeface="Times New Roman" panose="02020603050405020304"/>
                <a:cs typeface="Times New Roman" panose="02020603050405020304"/>
              </a:rPr>
              <a:t>tia</a:t>
            </a:r>
            <a:r>
              <a:rPr lang="vi-VN" spc="-10" dirty="0">
                <a:solidFill>
                  <a:srgbClr val="002060"/>
                </a:solidFill>
                <a:latin typeface="Times New Roman" panose="02020603050405020304"/>
                <a:cs typeface="Times New Roman" panose="02020603050405020304"/>
              </a:rPr>
              <a:t> </a:t>
            </a:r>
            <a:r>
              <a:rPr lang="vi-VN" spc="-32" dirty="0">
                <a:solidFill>
                  <a:srgbClr val="002060"/>
                </a:solidFill>
                <a:latin typeface="Times New Roman" panose="02020603050405020304"/>
                <a:cs typeface="Times New Roman" panose="02020603050405020304"/>
              </a:rPr>
              <a:t>X</a:t>
            </a:r>
            <a:endParaRPr lang="vi-VN" dirty="0">
              <a:solidFill>
                <a:srgbClr val="002060"/>
              </a:solidFill>
              <a:latin typeface="Times New Roman" panose="02020603050405020304"/>
              <a:cs typeface="Times New Roman" panose="02020603050405020304"/>
            </a:endParaRPr>
          </a:p>
        </p:txBody>
      </p:sp>
      <p:sp>
        <p:nvSpPr>
          <p:cNvPr id="8" name="Rectangle 7"/>
          <p:cNvSpPr/>
          <p:nvPr/>
        </p:nvSpPr>
        <p:spPr>
          <a:xfrm>
            <a:off x="3352801" y="3145972"/>
            <a:ext cx="1632856" cy="897618"/>
          </a:xfrm>
          <a:prstGeom prst="rect">
            <a:avLst/>
          </a:prstGeom>
          <a:solidFill>
            <a:schemeClr val="accent2">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8255" marR="3175" indent="635" algn="ctr">
              <a:lnSpc>
                <a:spcPct val="99000"/>
              </a:lnSpc>
              <a:spcBef>
                <a:spcPts val="75"/>
              </a:spcBef>
            </a:pPr>
            <a:r>
              <a:rPr lang="vi-VN" sz="1600" spc="-6" dirty="0">
                <a:latin typeface="Times New Roman" panose="02020603050405020304"/>
                <a:cs typeface="Times New Roman" panose="02020603050405020304"/>
              </a:rPr>
              <a:t>Béc-cơ-</a:t>
            </a:r>
            <a:r>
              <a:rPr lang="vi-VN" sz="1600" spc="-16" dirty="0">
                <a:latin typeface="Times New Roman" panose="02020603050405020304"/>
                <a:cs typeface="Times New Roman" panose="02020603050405020304"/>
              </a:rPr>
              <a:t>ren </a:t>
            </a:r>
            <a:r>
              <a:rPr lang="vi-VN" sz="1600" dirty="0">
                <a:latin typeface="Times New Roman" panose="02020603050405020304"/>
                <a:cs typeface="Times New Roman" panose="02020603050405020304"/>
              </a:rPr>
              <a:t>phát</a:t>
            </a:r>
            <a:r>
              <a:rPr lang="vi-VN" sz="1600" spc="-3" dirty="0">
                <a:latin typeface="Times New Roman" panose="02020603050405020304"/>
                <a:cs typeface="Times New Roman" panose="02020603050405020304"/>
              </a:rPr>
              <a:t> </a:t>
            </a:r>
            <a:r>
              <a:rPr lang="vi-VN" sz="1600" dirty="0">
                <a:latin typeface="Times New Roman" panose="02020603050405020304"/>
                <a:cs typeface="Times New Roman" panose="02020603050405020304"/>
              </a:rPr>
              <a:t>hiện</a:t>
            </a:r>
            <a:r>
              <a:rPr lang="vi-VN" sz="1600" spc="-3" dirty="0">
                <a:latin typeface="Times New Roman" panose="02020603050405020304"/>
                <a:cs typeface="Times New Roman" panose="02020603050405020304"/>
              </a:rPr>
              <a:t> </a:t>
            </a:r>
            <a:r>
              <a:rPr lang="vi-VN" sz="1600" spc="-13" dirty="0">
                <a:latin typeface="Times New Roman" panose="02020603050405020304"/>
                <a:cs typeface="Times New Roman" panose="02020603050405020304"/>
              </a:rPr>
              <a:t>được </a:t>
            </a:r>
            <a:r>
              <a:rPr lang="vi-VN" sz="1600" dirty="0">
                <a:latin typeface="Times New Roman" panose="02020603050405020304"/>
                <a:cs typeface="Times New Roman" panose="02020603050405020304"/>
              </a:rPr>
              <a:t>hiện</a:t>
            </a:r>
            <a:r>
              <a:rPr lang="vi-VN" sz="1600" spc="-6" dirty="0">
                <a:latin typeface="Times New Roman" panose="02020603050405020304"/>
                <a:cs typeface="Times New Roman" panose="02020603050405020304"/>
              </a:rPr>
              <a:t> tượng </a:t>
            </a:r>
            <a:r>
              <a:rPr lang="vi-VN" sz="1600" dirty="0">
                <a:latin typeface="Times New Roman" panose="02020603050405020304"/>
                <a:cs typeface="Times New Roman" panose="02020603050405020304"/>
              </a:rPr>
              <a:t>phóng </a:t>
            </a:r>
            <a:r>
              <a:rPr lang="vi-VN" sz="1600" spc="-16" dirty="0">
                <a:latin typeface="Times New Roman" panose="02020603050405020304"/>
                <a:cs typeface="Times New Roman" panose="02020603050405020304"/>
              </a:rPr>
              <a:t>xạ</a:t>
            </a:r>
            <a:endParaRPr lang="vi-VN" sz="1600" dirty="0">
              <a:latin typeface="Times New Roman" panose="02020603050405020304"/>
              <a:cs typeface="Times New Roman" panose="02020603050405020304"/>
            </a:endParaRPr>
          </a:p>
        </p:txBody>
      </p:sp>
      <p:sp>
        <p:nvSpPr>
          <p:cNvPr id="9" name="Rectangle 8"/>
          <p:cNvSpPr/>
          <p:nvPr/>
        </p:nvSpPr>
        <p:spPr>
          <a:xfrm>
            <a:off x="5203371" y="2579915"/>
            <a:ext cx="1262743" cy="897618"/>
          </a:xfrm>
          <a:prstGeom prst="rect">
            <a:avLst/>
          </a:prstGeom>
          <a:solidFill>
            <a:schemeClr val="accent5">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7620" marR="3175" algn="ctr">
              <a:lnSpc>
                <a:spcPct val="99000"/>
              </a:lnSpc>
              <a:spcBef>
                <a:spcPts val="75"/>
              </a:spcBef>
            </a:pPr>
            <a:r>
              <a:rPr lang="vi-VN" spc="-6">
                <a:latin typeface="Times New Roman" panose="02020603050405020304"/>
                <a:cs typeface="Times New Roman" panose="02020603050405020304"/>
              </a:rPr>
              <a:t>Tômxơn </a:t>
            </a:r>
            <a:r>
              <a:rPr lang="vi-VN" spc="-13">
                <a:latin typeface="Times New Roman" panose="02020603050405020304"/>
                <a:cs typeface="Times New Roman" panose="02020603050405020304"/>
              </a:rPr>
              <a:t>phát </a:t>
            </a:r>
            <a:r>
              <a:rPr lang="vi-VN">
                <a:latin typeface="Times New Roman" panose="02020603050405020304"/>
                <a:cs typeface="Times New Roman" panose="02020603050405020304"/>
              </a:rPr>
              <a:t>hiện</a:t>
            </a:r>
            <a:r>
              <a:rPr lang="vi-VN" spc="-6">
                <a:latin typeface="Times New Roman" panose="02020603050405020304"/>
                <a:cs typeface="Times New Roman" panose="02020603050405020304"/>
              </a:rPr>
              <a:t> </a:t>
            </a:r>
            <a:r>
              <a:rPr lang="vi-VN" spc="-16">
                <a:latin typeface="Times New Roman" panose="02020603050405020304"/>
                <a:cs typeface="Times New Roman" panose="02020603050405020304"/>
              </a:rPr>
              <a:t>ra </a:t>
            </a:r>
            <a:r>
              <a:rPr lang="vi-VN">
                <a:latin typeface="Times New Roman" panose="02020603050405020304"/>
                <a:cs typeface="Times New Roman" panose="02020603050405020304"/>
              </a:rPr>
              <a:t>điện</a:t>
            </a:r>
            <a:r>
              <a:rPr lang="vi-VN" spc="-6">
                <a:latin typeface="Times New Roman" panose="02020603050405020304"/>
                <a:cs typeface="Times New Roman" panose="02020603050405020304"/>
              </a:rPr>
              <a:t> </a:t>
            </a:r>
            <a:r>
              <a:rPr lang="vi-VN" spc="-16">
                <a:latin typeface="Times New Roman" panose="02020603050405020304"/>
                <a:cs typeface="Times New Roman" panose="02020603050405020304"/>
              </a:rPr>
              <a:t>tử</a:t>
            </a:r>
            <a:endParaRPr lang="vi-VN" dirty="0">
              <a:latin typeface="Times New Roman" panose="02020603050405020304"/>
              <a:cs typeface="Times New Roman" panose="02020603050405020304"/>
            </a:endParaRPr>
          </a:p>
        </p:txBody>
      </p:sp>
      <p:sp>
        <p:nvSpPr>
          <p:cNvPr id="11" name="Rectangle 10"/>
          <p:cNvSpPr/>
          <p:nvPr/>
        </p:nvSpPr>
        <p:spPr>
          <a:xfrm>
            <a:off x="6683828" y="1948543"/>
            <a:ext cx="1785258" cy="1290525"/>
          </a:xfrm>
          <a:prstGeom prst="rect">
            <a:avLst/>
          </a:prstGeom>
          <a:solidFill>
            <a:schemeClr val="accent4">
              <a:lumMod val="60000"/>
              <a:lumOff val="40000"/>
            </a:schemeClr>
          </a:solidFill>
        </p:spPr>
        <p:style>
          <a:lnRef idx="2">
            <a:schemeClr val="accent6"/>
          </a:lnRef>
          <a:fillRef idx="1">
            <a:schemeClr val="lt1"/>
          </a:fillRef>
          <a:effectRef idx="0">
            <a:schemeClr val="accent6"/>
          </a:effectRef>
          <a:fontRef idx="minor">
            <a:schemeClr val="dk1"/>
          </a:fontRef>
        </p:style>
        <p:txBody>
          <a:bodyPr rtlCol="0" anchor="ctr"/>
          <a:lstStyle/>
          <a:p>
            <a:pPr marL="8255" marR="3175" indent="1270" algn="ctr">
              <a:spcBef>
                <a:spcPts val="75"/>
              </a:spcBef>
            </a:pPr>
            <a:r>
              <a:rPr lang="vi-VN">
                <a:latin typeface="Times New Roman" panose="02020603050405020304"/>
                <a:cs typeface="Times New Roman" panose="02020603050405020304"/>
              </a:rPr>
              <a:t>Kaufman</a:t>
            </a:r>
            <a:r>
              <a:rPr lang="vi-VN" spc="-35">
                <a:latin typeface="Times New Roman" panose="02020603050405020304"/>
                <a:cs typeface="Times New Roman" panose="02020603050405020304"/>
              </a:rPr>
              <a:t> </a:t>
            </a:r>
            <a:r>
              <a:rPr lang="vi-VN" spc="-6">
                <a:latin typeface="Times New Roman" panose="02020603050405020304"/>
                <a:cs typeface="Times New Roman" panose="02020603050405020304"/>
              </a:rPr>
              <a:t>chứng </a:t>
            </a:r>
            <a:r>
              <a:rPr lang="vi-VN">
                <a:latin typeface="Times New Roman" panose="02020603050405020304"/>
                <a:cs typeface="Times New Roman" panose="02020603050405020304"/>
              </a:rPr>
              <a:t>minh</a:t>
            </a:r>
            <a:r>
              <a:rPr lang="vi-VN" spc="-10">
                <a:latin typeface="Times New Roman" panose="02020603050405020304"/>
                <a:cs typeface="Times New Roman" panose="02020603050405020304"/>
              </a:rPr>
              <a:t> </a:t>
            </a:r>
            <a:r>
              <a:rPr lang="vi-VN" spc="-13">
                <a:latin typeface="Times New Roman" panose="02020603050405020304"/>
                <a:cs typeface="Times New Roman" panose="02020603050405020304"/>
              </a:rPr>
              <a:t>khối </a:t>
            </a:r>
            <a:r>
              <a:rPr lang="vi-VN">
                <a:latin typeface="Times New Roman" panose="02020603050405020304"/>
                <a:cs typeface="Times New Roman" panose="02020603050405020304"/>
              </a:rPr>
              <a:t>lượng biến</a:t>
            </a:r>
            <a:r>
              <a:rPr lang="vi-VN" spc="-16">
                <a:latin typeface="Times New Roman" panose="02020603050405020304"/>
                <a:cs typeface="Times New Roman" panose="02020603050405020304"/>
              </a:rPr>
              <a:t> đổi </a:t>
            </a:r>
            <a:r>
              <a:rPr lang="vi-VN">
                <a:latin typeface="Times New Roman" panose="02020603050405020304"/>
                <a:cs typeface="Times New Roman" panose="02020603050405020304"/>
              </a:rPr>
              <a:t>theo</a:t>
            </a:r>
            <a:r>
              <a:rPr lang="vi-VN" spc="-13">
                <a:latin typeface="Times New Roman" panose="02020603050405020304"/>
                <a:cs typeface="Times New Roman" panose="02020603050405020304"/>
              </a:rPr>
              <a:t> </a:t>
            </a:r>
            <a:r>
              <a:rPr lang="vi-VN">
                <a:latin typeface="Times New Roman" panose="02020603050405020304"/>
                <a:cs typeface="Times New Roman" panose="02020603050405020304"/>
              </a:rPr>
              <a:t>vận</a:t>
            </a:r>
            <a:r>
              <a:rPr lang="vi-VN" spc="-10">
                <a:latin typeface="Times New Roman" panose="02020603050405020304"/>
                <a:cs typeface="Times New Roman" panose="02020603050405020304"/>
              </a:rPr>
              <a:t> </a:t>
            </a:r>
            <a:r>
              <a:rPr lang="vi-VN">
                <a:latin typeface="Times New Roman" panose="02020603050405020304"/>
                <a:cs typeface="Times New Roman" panose="02020603050405020304"/>
              </a:rPr>
              <a:t>tốc</a:t>
            </a:r>
            <a:r>
              <a:rPr lang="vi-VN" spc="3">
                <a:latin typeface="Times New Roman" panose="02020603050405020304"/>
                <a:cs typeface="Times New Roman" panose="02020603050405020304"/>
              </a:rPr>
              <a:t> </a:t>
            </a:r>
            <a:r>
              <a:rPr lang="vi-VN" spc="-16">
                <a:latin typeface="Times New Roman" panose="02020603050405020304"/>
                <a:cs typeface="Times New Roman" panose="02020603050405020304"/>
              </a:rPr>
              <a:t>của </a:t>
            </a:r>
            <a:r>
              <a:rPr lang="vi-VN">
                <a:latin typeface="Times New Roman" panose="02020603050405020304"/>
                <a:cs typeface="Times New Roman" panose="02020603050405020304"/>
              </a:rPr>
              <a:t>điện</a:t>
            </a:r>
            <a:r>
              <a:rPr lang="vi-VN" spc="-3">
                <a:latin typeface="Times New Roman" panose="02020603050405020304"/>
                <a:cs typeface="Times New Roman" panose="02020603050405020304"/>
              </a:rPr>
              <a:t> </a:t>
            </a:r>
            <a:r>
              <a:rPr lang="vi-VN" spc="-16">
                <a:latin typeface="Times New Roman" panose="02020603050405020304"/>
                <a:cs typeface="Times New Roman" panose="02020603050405020304"/>
              </a:rPr>
              <a:t>tử</a:t>
            </a:r>
            <a:endParaRPr lang="vi-VN" dirty="0">
              <a:latin typeface="Times New Roman" panose="02020603050405020304"/>
              <a:cs typeface="Times New Roman" panose="02020603050405020304"/>
            </a:endParaRPr>
          </a:p>
        </p:txBody>
      </p:sp>
      <p:sp>
        <p:nvSpPr>
          <p:cNvPr id="12" name="Rectangle 11"/>
          <p:cNvSpPr/>
          <p:nvPr/>
        </p:nvSpPr>
        <p:spPr>
          <a:xfrm>
            <a:off x="8643258" y="1328058"/>
            <a:ext cx="1502228" cy="1567544"/>
          </a:xfrm>
          <a:prstGeom prst="rect">
            <a:avLst/>
          </a:prstGeom>
          <a:solidFill>
            <a:schemeClr val="accent1">
              <a:lumMod val="40000"/>
              <a:lumOff val="60000"/>
            </a:schemeClr>
          </a:solidFill>
        </p:spPr>
        <p:style>
          <a:lnRef idx="2">
            <a:schemeClr val="accent6"/>
          </a:lnRef>
          <a:fillRef idx="1">
            <a:schemeClr val="lt1"/>
          </a:fillRef>
          <a:effectRef idx="0">
            <a:schemeClr val="accent6"/>
          </a:effectRef>
          <a:fontRef idx="minor">
            <a:schemeClr val="dk1"/>
          </a:fontRef>
        </p:style>
        <p:txBody>
          <a:bodyPr rtlCol="0" anchor="ctr"/>
          <a:lstStyle/>
          <a:p>
            <a:pPr marL="8255" marR="3175" indent="-635" algn="ctr">
              <a:spcBef>
                <a:spcPts val="65"/>
              </a:spcBef>
            </a:pPr>
            <a:r>
              <a:rPr lang="vi-VN" spc="-6">
                <a:latin typeface="Times New Roman" panose="02020603050405020304"/>
                <a:cs typeface="Times New Roman" panose="02020603050405020304"/>
              </a:rPr>
              <a:t>A.Anhxtanh: </a:t>
            </a:r>
            <a:r>
              <a:rPr lang="vi-VN">
                <a:latin typeface="Times New Roman" panose="02020603050405020304"/>
                <a:cs typeface="Times New Roman" panose="02020603050405020304"/>
              </a:rPr>
              <a:t>Thuyết</a:t>
            </a:r>
            <a:r>
              <a:rPr lang="vi-VN" spc="-16">
                <a:latin typeface="Times New Roman" panose="02020603050405020304"/>
                <a:cs typeface="Times New Roman" panose="02020603050405020304"/>
              </a:rPr>
              <a:t> </a:t>
            </a:r>
            <a:r>
              <a:rPr lang="vi-VN" spc="-13">
                <a:latin typeface="Times New Roman" panose="02020603050405020304"/>
                <a:cs typeface="Times New Roman" panose="02020603050405020304"/>
              </a:rPr>
              <a:t>tương </a:t>
            </a:r>
            <a:r>
              <a:rPr lang="vi-VN">
                <a:latin typeface="Times New Roman" panose="02020603050405020304"/>
                <a:cs typeface="Times New Roman" panose="02020603050405020304"/>
              </a:rPr>
              <a:t>đối hẹp</a:t>
            </a:r>
            <a:r>
              <a:rPr lang="vi-VN" spc="-3">
                <a:latin typeface="Times New Roman" panose="02020603050405020304"/>
                <a:cs typeface="Times New Roman" panose="02020603050405020304"/>
              </a:rPr>
              <a:t> </a:t>
            </a:r>
            <a:r>
              <a:rPr lang="vi-VN" spc="-16">
                <a:latin typeface="Times New Roman" panose="02020603050405020304"/>
                <a:cs typeface="Times New Roman" panose="02020603050405020304"/>
              </a:rPr>
              <a:t>và </a:t>
            </a:r>
            <a:r>
              <a:rPr lang="vi-VN">
                <a:latin typeface="Times New Roman" panose="02020603050405020304"/>
                <a:cs typeface="Times New Roman" panose="02020603050405020304"/>
              </a:rPr>
              <a:t>thuyết</a:t>
            </a:r>
            <a:r>
              <a:rPr lang="vi-VN" spc="-10">
                <a:latin typeface="Times New Roman" panose="02020603050405020304"/>
                <a:cs typeface="Times New Roman" panose="02020603050405020304"/>
              </a:rPr>
              <a:t> </a:t>
            </a:r>
            <a:r>
              <a:rPr lang="vi-VN" spc="-13">
                <a:latin typeface="Times New Roman" panose="02020603050405020304"/>
                <a:cs typeface="Times New Roman" panose="02020603050405020304"/>
              </a:rPr>
              <a:t>tương </a:t>
            </a:r>
            <a:r>
              <a:rPr lang="vi-VN">
                <a:latin typeface="Times New Roman" panose="02020603050405020304"/>
                <a:cs typeface="Times New Roman" panose="02020603050405020304"/>
              </a:rPr>
              <a:t>đối</a:t>
            </a:r>
            <a:r>
              <a:rPr lang="vi-VN" spc="-13">
                <a:latin typeface="Times New Roman" panose="02020603050405020304"/>
                <a:cs typeface="Times New Roman" panose="02020603050405020304"/>
              </a:rPr>
              <a:t> rộng</a:t>
            </a:r>
            <a:endParaRPr lang="vi-VN" dirty="0">
              <a:latin typeface="Times New Roman" panose="02020603050405020304"/>
              <a:cs typeface="Times New Roman" panose="02020603050405020304"/>
            </a:endParaRPr>
          </a:p>
        </p:txBody>
      </p:sp>
      <p:sp>
        <p:nvSpPr>
          <p:cNvPr id="13" name="Oval 12"/>
          <p:cNvSpPr/>
          <p:nvPr/>
        </p:nvSpPr>
        <p:spPr>
          <a:xfrm>
            <a:off x="2775857" y="5203371"/>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1895</a:t>
            </a:r>
            <a:endParaRPr lang="en-US" dirty="0">
              <a:latin typeface="Times New Roman" panose="02020603050405020304" pitchFamily="18" charset="0"/>
              <a:cs typeface="Times New Roman" panose="02020603050405020304" pitchFamily="18" charset="0"/>
            </a:endParaRPr>
          </a:p>
        </p:txBody>
      </p:sp>
      <p:sp>
        <p:nvSpPr>
          <p:cNvPr id="14" name="Oval 13"/>
          <p:cNvSpPr/>
          <p:nvPr/>
        </p:nvSpPr>
        <p:spPr>
          <a:xfrm>
            <a:off x="4615543" y="4522561"/>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1896</a:t>
            </a:r>
            <a:endParaRPr lang="en-US" dirty="0">
              <a:latin typeface="Times New Roman" panose="02020603050405020304" pitchFamily="18" charset="0"/>
              <a:cs typeface="Times New Roman" panose="02020603050405020304" pitchFamily="18" charset="0"/>
            </a:endParaRPr>
          </a:p>
        </p:txBody>
      </p:sp>
      <p:sp>
        <p:nvSpPr>
          <p:cNvPr id="15" name="Oval 14"/>
          <p:cNvSpPr/>
          <p:nvPr/>
        </p:nvSpPr>
        <p:spPr>
          <a:xfrm>
            <a:off x="6096000" y="4043590"/>
            <a:ext cx="914400"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1897</a:t>
            </a:r>
            <a:endParaRPr lang="en-US" dirty="0">
              <a:latin typeface="Times New Roman" panose="02020603050405020304" pitchFamily="18" charset="0"/>
              <a:cs typeface="Times New Roman" panose="02020603050405020304" pitchFamily="18" charset="0"/>
            </a:endParaRPr>
          </a:p>
        </p:txBody>
      </p:sp>
      <p:sp>
        <p:nvSpPr>
          <p:cNvPr id="16" name="Oval 15"/>
          <p:cNvSpPr/>
          <p:nvPr/>
        </p:nvSpPr>
        <p:spPr>
          <a:xfrm>
            <a:off x="7946571" y="3755570"/>
            <a:ext cx="914400" cy="914401"/>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1901</a:t>
            </a:r>
            <a:endParaRPr lang="en-US" dirty="0">
              <a:latin typeface="Times New Roman" panose="02020603050405020304" pitchFamily="18" charset="0"/>
              <a:cs typeface="Times New Roman" panose="02020603050405020304" pitchFamily="18" charset="0"/>
            </a:endParaRPr>
          </a:p>
        </p:txBody>
      </p:sp>
      <p:sp>
        <p:nvSpPr>
          <p:cNvPr id="17" name="Oval 16"/>
          <p:cNvSpPr/>
          <p:nvPr/>
        </p:nvSpPr>
        <p:spPr>
          <a:xfrm>
            <a:off x="9241971" y="3477532"/>
            <a:ext cx="990601"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t>1905</a:t>
            </a:r>
            <a:endParaRPr lang="vi-VN" dirty="0"/>
          </a:p>
          <a:p>
            <a:pPr algn="ctr"/>
            <a:r>
              <a:rPr lang="vi-VN" dirty="0"/>
              <a:t>1916</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644249" y="1188136"/>
            <a:ext cx="4709550" cy="2673207"/>
          </a:xfrm>
        </p:spPr>
        <p:txBody>
          <a:bodyPr/>
          <a:lstStyle/>
          <a:p>
            <a:endParaRPr lang="en-US" dirty="0"/>
          </a:p>
        </p:txBody>
      </p:sp>
      <p:pic>
        <p:nvPicPr>
          <p:cNvPr id="1026" name="Picture 2" descr="Tia X – Wikipedia tiếng Việt"/>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98806" y="801859"/>
            <a:ext cx="3685736" cy="30808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ien tuong phong xa da duoc phat hien nhu the na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36566" y="295422"/>
            <a:ext cx="5645833" cy="358726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flipH="1">
            <a:off x="5936566" y="4026076"/>
            <a:ext cx="5645824" cy="203006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b="1" dirty="0" err="1">
                <a:solidFill>
                  <a:schemeClr val="tx1"/>
                </a:solidFill>
                <a:latin typeface="Times New Roman" panose="02020603050405020304" pitchFamily="18" charset="0"/>
                <a:cs typeface="Times New Roman" panose="02020603050405020304" pitchFamily="18" charset="0"/>
              </a:rPr>
              <a:t>Becơren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phát</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hiện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ra</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hiện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tượng</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phóng</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xạ</a:t>
            </a:r>
            <a:endParaRPr lang="en-US" sz="2000" b="1" dirty="0">
              <a:solidFill>
                <a:schemeClr val="tx1"/>
              </a:solidFill>
              <a:latin typeface="Times New Roman" panose="02020603050405020304" pitchFamily="18" charset="0"/>
              <a:cs typeface="Times New Roman" panose="02020603050405020304" pitchFamily="18" charset="0"/>
            </a:endParaRPr>
          </a:p>
          <a:p>
            <a:pPr algn="just"/>
            <a:r>
              <a:rPr lang="en-US" sz="2000" dirty="0" err="1">
                <a:solidFill>
                  <a:schemeClr val="tx1"/>
                </a:solidFill>
                <a:latin typeface="Times New Roman" panose="02020603050405020304" pitchFamily="18" charset="0"/>
                <a:cs typeface="Times New Roman" panose="02020603050405020304" pitchFamily="18" charset="0"/>
              </a:rPr>
              <a:t>Hiện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tượng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phóng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xạ</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hiện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tượng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một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số</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hạt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nhân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nguyên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tử</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không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bền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tự</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biến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đổi</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và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phát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ra</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các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xạ</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hạt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nhân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Đây</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tiền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đề</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của</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nhiều</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phát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minh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quan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trọng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như</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bom</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nguyên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tử</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998806" y="4248443"/>
            <a:ext cx="3685736" cy="81592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err="1">
                <a:solidFill>
                  <a:schemeClr val="tx1"/>
                </a:solidFill>
                <a:latin typeface="Times New Roman" panose="02020603050405020304" pitchFamily="18" charset="0"/>
                <a:cs typeface="Times New Roman" panose="02020603050405020304" pitchFamily="18" charset="0"/>
              </a:rPr>
              <a:t>Rownghen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phát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hiện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tia</a:t>
            </a:r>
            <a:r>
              <a:rPr lang="en-US" sz="2200" dirty="0">
                <a:solidFill>
                  <a:schemeClr val="tx1"/>
                </a:solidFill>
                <a:latin typeface="Times New Roman" panose="02020603050405020304" pitchFamily="18" charset="0"/>
                <a:cs typeface="Times New Roman" panose="02020603050405020304" pitchFamily="18" charset="0"/>
              </a:rPr>
              <a:t> X</a:t>
            </a:r>
            <a:endParaRPr lang="en-US" sz="2200" dirty="0">
              <a:solidFill>
                <a:schemeClr val="tx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33646"/>
          </a:xfrm>
        </p:spPr>
        <p:txBody>
          <a:bodyPr/>
          <a:lstStyle/>
          <a:p>
            <a:endParaRPr lang="en-US" dirty="0"/>
          </a:p>
        </p:txBody>
      </p:sp>
      <p:sp>
        <p:nvSpPr>
          <p:cNvPr id="3" name="Rectangle: Rounded Corners 2"/>
          <p:cNvSpPr/>
          <p:nvPr/>
        </p:nvSpPr>
        <p:spPr>
          <a:xfrm>
            <a:off x="838200" y="729343"/>
            <a:ext cx="9710057" cy="102325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Wingdings" panose="05000000000000000000" pitchFamily="2" charset="2"/>
              <a:buChar char="Ø"/>
            </a:pPr>
            <a:r>
              <a:rPr lang="en-US" sz="2400" b="1" dirty="0" err="1">
                <a:solidFill>
                  <a:srgbClr val="C00000"/>
                </a:solidFill>
                <a:latin typeface="Times New Roman" panose="02020603050405020304" pitchFamily="18" charset="0"/>
                <a:cs typeface="Times New Roman" panose="02020603050405020304" pitchFamily="18" charset="0"/>
              </a:rPr>
              <a:t>Cuộc</a:t>
            </a:r>
            <a:r>
              <a:rPr lang="en-US" sz="2400" b="1" dirty="0">
                <a:solidFill>
                  <a:srgbClr val="C00000"/>
                </a:solidFill>
                <a:latin typeface="Times New Roman" panose="02020603050405020304" pitchFamily="18" charset="0"/>
                <a:cs typeface="Times New Roman" panose="02020603050405020304" pitchFamily="18" charset="0"/>
              </a:rPr>
              <a:t> CM </a:t>
            </a:r>
            <a:r>
              <a:rPr lang="en-US" sz="2400" b="1" dirty="0" err="1">
                <a:solidFill>
                  <a:srgbClr val="C00000"/>
                </a:solidFill>
                <a:latin typeface="Times New Roman" panose="02020603050405020304" pitchFamily="18" charset="0"/>
                <a:cs typeface="Times New Roman" panose="02020603050405020304" pitchFamily="18" charset="0"/>
              </a:rPr>
              <a:t>trong</a:t>
            </a:r>
            <a:r>
              <a:rPr lang="en-US" sz="2400" b="1" dirty="0">
                <a:solidFill>
                  <a:srgbClr val="C00000"/>
                </a:solidFill>
                <a:latin typeface="Times New Roman" panose="02020603050405020304" pitchFamily="18" charset="0"/>
                <a:cs typeface="Times New Roman" panose="02020603050405020304" pitchFamily="18" charset="0"/>
              </a:rPr>
              <a:t> khoa </a:t>
            </a:r>
            <a:r>
              <a:rPr lang="en-US" sz="2400" b="1" dirty="0" err="1">
                <a:solidFill>
                  <a:srgbClr val="C00000"/>
                </a:solidFill>
                <a:latin typeface="Times New Roman" panose="02020603050405020304" pitchFamily="18" charset="0"/>
                <a:cs typeface="Times New Roman" panose="02020603050405020304" pitchFamily="18" charset="0"/>
              </a:rPr>
              <a:t>học</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tự</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nhiên</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cuối</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tk</a:t>
            </a:r>
            <a:r>
              <a:rPr lang="en-US" sz="2400" b="1" dirty="0">
                <a:solidFill>
                  <a:srgbClr val="C00000"/>
                </a:solidFill>
                <a:latin typeface="Times New Roman" panose="02020603050405020304" pitchFamily="18" charset="0"/>
                <a:cs typeface="Times New Roman" panose="02020603050405020304" pitchFamily="18" charset="0"/>
              </a:rPr>
              <a:t> XIX, </a:t>
            </a:r>
            <a:r>
              <a:rPr lang="en-US" sz="2400" b="1" dirty="0" err="1">
                <a:solidFill>
                  <a:srgbClr val="C00000"/>
                </a:solidFill>
                <a:latin typeface="Times New Roman" panose="02020603050405020304" pitchFamily="18" charset="0"/>
                <a:cs typeface="Times New Roman" panose="02020603050405020304" pitchFamily="18" charset="0"/>
              </a:rPr>
              <a:t>đầu</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tk</a:t>
            </a:r>
            <a:r>
              <a:rPr lang="en-US" sz="2400" b="1" dirty="0">
                <a:solidFill>
                  <a:srgbClr val="C00000"/>
                </a:solidFill>
                <a:latin typeface="Times New Roman" panose="02020603050405020304" pitchFamily="18" charset="0"/>
                <a:cs typeface="Times New Roman" panose="02020603050405020304" pitchFamily="18" charset="0"/>
              </a:rPr>
              <a:t> XX </a:t>
            </a:r>
            <a:r>
              <a:rPr lang="en-US" sz="2400" b="1" dirty="0" err="1">
                <a:solidFill>
                  <a:srgbClr val="C00000"/>
                </a:solidFill>
                <a:latin typeface="Times New Roman" panose="02020603050405020304" pitchFamily="18" charset="0"/>
                <a:cs typeface="Times New Roman" panose="02020603050405020304" pitchFamily="18" charset="0"/>
              </a:rPr>
              <a:t>và</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sự</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phá</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sản</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của</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các</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quan</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điểm</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duy</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vật</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siêu</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hình</a:t>
            </a:r>
            <a:r>
              <a:rPr lang="en-US" sz="2400" b="1" dirty="0">
                <a:solidFill>
                  <a:srgbClr val="C00000"/>
                </a:solidFill>
                <a:latin typeface="Times New Roman" panose="02020603050405020304" pitchFamily="18" charset="0"/>
                <a:cs typeface="Times New Roman" panose="02020603050405020304" pitchFamily="18" charset="0"/>
              </a:rPr>
              <a:t> </a:t>
            </a:r>
            <a:r>
              <a:rPr lang="en-US" sz="2400" b="1" dirty="0" err="1">
                <a:solidFill>
                  <a:srgbClr val="C00000"/>
                </a:solidFill>
                <a:latin typeface="Times New Roman" panose="02020603050405020304" pitchFamily="18" charset="0"/>
                <a:cs typeface="Times New Roman" panose="02020603050405020304" pitchFamily="18" charset="0"/>
              </a:rPr>
              <a:t>về</a:t>
            </a:r>
            <a:r>
              <a:rPr lang="en-US" sz="2400" b="1" dirty="0">
                <a:solidFill>
                  <a:srgbClr val="C00000"/>
                </a:solidFill>
                <a:latin typeface="Times New Roman" panose="02020603050405020304" pitchFamily="18" charset="0"/>
                <a:cs typeface="Times New Roman" panose="02020603050405020304" pitchFamily="18" charset="0"/>
              </a:rPr>
              <a:t> VC.</a:t>
            </a:r>
            <a:endParaRPr lang="en-US" sz="2400" dirty="0">
              <a:solidFill>
                <a:srgbClr val="C00000"/>
              </a:solidFill>
              <a:latin typeface="Times New Roman" panose="02020603050405020304" pitchFamily="18" charset="0"/>
              <a:cs typeface="Times New Roman" panose="02020603050405020304" pitchFamily="18" charset="0"/>
            </a:endParaRPr>
          </a:p>
        </p:txBody>
      </p:sp>
      <p:sp>
        <p:nvSpPr>
          <p:cNvPr id="4" name="Rectangle 3"/>
          <p:cNvSpPr/>
          <p:nvPr/>
        </p:nvSpPr>
        <p:spPr>
          <a:xfrm>
            <a:off x="1643743" y="2111829"/>
            <a:ext cx="8044543"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Các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nhà</a:t>
            </a:r>
            <a:r>
              <a:rPr lang="en-US" sz="2000" dirty="0">
                <a:latin typeface="Times New Roman" panose="02020603050405020304" pitchFamily="18" charset="0"/>
                <a:cs typeface="Times New Roman" panose="02020603050405020304" pitchFamily="18" charset="0"/>
              </a:rPr>
              <a:t> khoa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triết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phát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hoài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niệm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VC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Chủ</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Nghĩa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kỳ</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trước</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2634343" y="3429001"/>
            <a:ext cx="7913914"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Chủ</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nghĩa</a:t>
            </a:r>
            <a:r>
              <a:rPr lang="en-US" sz="2000" dirty="0">
                <a:latin typeface="Times New Roman" panose="02020603050405020304" pitchFamily="18" charset="0"/>
                <a:cs typeface="Times New Roman" panose="02020603050405020304" pitchFamily="18" charset="0"/>
              </a:rPr>
              <a:t> Duy </a:t>
            </a:r>
            <a:r>
              <a:rPr lang="en-US" sz="2000" dirty="0" err="1">
                <a:latin typeface="Times New Roman" panose="02020603050405020304" pitchFamily="18" charset="0"/>
                <a:cs typeface="Times New Roman" panose="02020603050405020304" pitchFamily="18" charset="0"/>
              </a:rPr>
              <a:t>tâm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khoa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tấn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công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phủ</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nhận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quan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niệm</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về</a:t>
            </a:r>
            <a:r>
              <a:rPr lang="en-US" sz="2000" dirty="0">
                <a:latin typeface="Times New Roman" panose="02020603050405020304" pitchFamily="18" charset="0"/>
                <a:cs typeface="Times New Roman" panose="02020603050405020304" pitchFamily="18" charset="0"/>
              </a:rPr>
              <a:t> VC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Chủ</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nghĩa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3722914" y="4746173"/>
            <a:ext cx="7630886" cy="1023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ü"/>
            </a:pPr>
            <a:r>
              <a:rPr lang="en-US" sz="2000" dirty="0" err="1">
                <a:latin typeface="Times New Roman" panose="02020603050405020304" pitchFamily="18" charset="0"/>
                <a:cs typeface="Times New Roman" panose="02020603050405020304" pitchFamily="18" charset="0"/>
              </a:rPr>
              <a:t>Một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số</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nhà</a:t>
            </a:r>
            <a:r>
              <a:rPr lang="en-US" sz="2000" dirty="0">
                <a:latin typeface="Times New Roman" panose="02020603050405020304" pitchFamily="18" charset="0"/>
                <a:cs typeface="Times New Roman" panose="02020603050405020304" pitchFamily="18" charset="0"/>
              </a:rPr>
              <a:t> khoa </a:t>
            </a:r>
            <a:r>
              <a:rPr lang="en-US" sz="2000" dirty="0" err="1">
                <a:latin typeface="Times New Roman" panose="02020603050405020304" pitchFamily="18" charset="0"/>
                <a:cs typeface="Times New Roman" panose="02020603050405020304" pitchFamily="18" charset="0"/>
              </a:rPr>
              <a:t>học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trong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lĩnh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vực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tự</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nhiên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trượt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từ</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chủ</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nghĩa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vật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máy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móc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siêu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hình</a:t>
            </a:r>
            <a:r>
              <a:rPr lang="en-US" sz="2000" dirty="0">
                <a:latin typeface="Times New Roman" panose="02020603050405020304" pitchFamily="18" charset="0"/>
                <a:cs typeface="Times New Roman" panose="02020603050405020304" pitchFamily="18" charset="0"/>
              </a:rPr>
              <a:t> sang </a:t>
            </a:r>
            <a:r>
              <a:rPr lang="en-US" sz="2000" dirty="0" err="1">
                <a:latin typeface="Times New Roman" panose="02020603050405020304" pitchFamily="18" charset="0"/>
                <a:cs typeface="Times New Roman" panose="02020603050405020304" pitchFamily="18" charset="0"/>
              </a:rPr>
              <a:t>chủ</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nghĩa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tương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đối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rồi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rơi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vào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chue</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nghĩa</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duy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tâm</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68332"/>
          </a:xfrm>
        </p:spPr>
        <p:txBody>
          <a:bodyPr/>
          <a:lstStyle/>
          <a:p>
            <a:endParaRPr lang="en-US" dirty="0"/>
          </a:p>
        </p:txBody>
      </p:sp>
      <p:sp>
        <p:nvSpPr>
          <p:cNvPr id="3" name="Rectangle 2"/>
          <p:cNvSpPr/>
          <p:nvPr/>
        </p:nvSpPr>
        <p:spPr>
          <a:xfrm>
            <a:off x="1273629" y="576943"/>
            <a:ext cx="7826827" cy="9252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Ø"/>
            </a:pPr>
            <a:r>
              <a:rPr lang="en-US" sz="2800" b="1" dirty="0">
                <a:solidFill>
                  <a:srgbClr val="C00000"/>
                </a:solidFill>
                <a:latin typeface="Times New Roman" panose="02020603050405020304" pitchFamily="18" charset="0"/>
                <a:cs typeface="Times New Roman" panose="02020603050405020304" pitchFamily="18" charset="0"/>
              </a:rPr>
              <a:t>V. </a:t>
            </a:r>
            <a:r>
              <a:rPr lang="en-US" sz="2800" b="1" dirty="0" err="1">
                <a:solidFill>
                  <a:srgbClr val="C00000"/>
                </a:solidFill>
                <a:latin typeface="Times New Roman" panose="02020603050405020304" pitchFamily="18" charset="0"/>
                <a:cs typeface="Times New Roman" panose="02020603050405020304" pitchFamily="18" charset="0"/>
              </a:rPr>
              <a:t>Lênin</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đã</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phân</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tích</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tính</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phức</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tạp</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đó</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và</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chỉ</a:t>
            </a:r>
            <a:r>
              <a:rPr lang="en-US" sz="2800" b="1" dirty="0">
                <a:solidFill>
                  <a:srgbClr val="C00000"/>
                </a:solidFill>
                <a:latin typeface="Times New Roman" panose="02020603050405020304" pitchFamily="18" charset="0"/>
                <a:cs typeface="Times New Roman" panose="02020603050405020304" pitchFamily="18" charset="0"/>
              </a:rPr>
              <a:t> </a:t>
            </a:r>
            <a:r>
              <a:rPr lang="en-US" sz="2800" b="1" dirty="0" err="1">
                <a:solidFill>
                  <a:srgbClr val="C00000"/>
                </a:solidFill>
                <a:latin typeface="Times New Roman" panose="02020603050405020304" pitchFamily="18" charset="0"/>
                <a:cs typeface="Times New Roman" panose="02020603050405020304" pitchFamily="18" charset="0"/>
              </a:rPr>
              <a:t>rõ</a:t>
            </a:r>
            <a:endParaRPr lang="en-US" sz="2800" b="1" dirty="0">
              <a:solidFill>
                <a:srgbClr val="C00000"/>
              </a:solidFill>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1709056" y="1817914"/>
            <a:ext cx="7598229"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ü"/>
            </a:pPr>
            <a:r>
              <a:rPr lang="en-US" sz="2000" dirty="0" err="1">
                <a:solidFill>
                  <a:srgbClr val="002060"/>
                </a:solidFill>
                <a:latin typeface="Times New Roman" panose="02020603050405020304" pitchFamily="18" charset="0"/>
                <a:cs typeface="Times New Roman" panose="02020603050405020304" pitchFamily="18" charset="0"/>
              </a:rPr>
              <a:t>Vật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lý</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học</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không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bị</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khủng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hoảng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mà</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đó</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chính</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là</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dấu</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hiệu</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của</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một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cuộc</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cách</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mạng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trong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trong</a:t>
            </a:r>
            <a:r>
              <a:rPr lang="en-US" sz="2000" dirty="0">
                <a:solidFill>
                  <a:srgbClr val="002060"/>
                </a:solidFill>
                <a:latin typeface="Times New Roman" panose="02020603050405020304" pitchFamily="18" charset="0"/>
                <a:cs typeface="Times New Roman" panose="02020603050405020304" pitchFamily="18" charset="0"/>
              </a:rPr>
              <a:t> khoa </a:t>
            </a:r>
            <a:r>
              <a:rPr lang="en-US" sz="2000" dirty="0" err="1">
                <a:solidFill>
                  <a:srgbClr val="002060"/>
                </a:solidFill>
                <a:latin typeface="Times New Roman" panose="02020603050405020304" pitchFamily="18" charset="0"/>
                <a:cs typeface="Times New Roman" panose="02020603050405020304" pitchFamily="18" charset="0"/>
              </a:rPr>
              <a:t>học</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tự</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nhiên</a:t>
            </a: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2296887" y="3047999"/>
            <a:ext cx="78486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ü"/>
            </a:pPr>
            <a:r>
              <a:rPr lang="en-US" sz="2000" dirty="0" err="1">
                <a:solidFill>
                  <a:srgbClr val="002060"/>
                </a:solidFill>
                <a:latin typeface="Times New Roman" panose="02020603050405020304" pitchFamily="18" charset="0"/>
                <a:cs typeface="Times New Roman" panose="02020603050405020304" pitchFamily="18" charset="0"/>
              </a:rPr>
              <a:t>Cái</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bị</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tiêu</a:t>
            </a:r>
            <a:r>
              <a:rPr lang="en-US" sz="2000" dirty="0">
                <a:solidFill>
                  <a:srgbClr val="002060"/>
                </a:solidFill>
                <a:latin typeface="Times New Roman" panose="02020603050405020304" pitchFamily="18" charset="0"/>
                <a:cs typeface="Times New Roman" panose="02020603050405020304" pitchFamily="18" charset="0"/>
              </a:rPr>
              <a:t> t</a:t>
            </a:r>
            <a:r>
              <a:rPr lang="vi-VN" sz="2000" dirty="0">
                <a:solidFill>
                  <a:srgbClr val="002060"/>
                </a:solidFill>
                <a:latin typeface="Times New Roman" panose="02020603050405020304" pitchFamily="18" charset="0"/>
                <a:cs typeface="Times New Roman" panose="02020603050405020304" pitchFamily="18" charset="0"/>
              </a:rPr>
              <a:t>a</a:t>
            </a:r>
            <a:r>
              <a:rPr lang="en-US" sz="2000" dirty="0">
                <a:solidFill>
                  <a:srgbClr val="002060"/>
                </a:solidFill>
                <a:latin typeface="Times New Roman" panose="02020603050405020304" pitchFamily="18" charset="0"/>
                <a:cs typeface="Times New Roman" panose="02020603050405020304" pitchFamily="18" charset="0"/>
              </a:rPr>
              <a:t>n </a:t>
            </a:r>
            <a:r>
              <a:rPr lang="en-US" sz="2000" dirty="0" err="1">
                <a:solidFill>
                  <a:srgbClr val="002060"/>
                </a:solidFill>
                <a:latin typeface="Times New Roman" panose="02020603050405020304" pitchFamily="18" charset="0"/>
                <a:cs typeface="Times New Roman" panose="02020603050405020304" pitchFamily="18" charset="0"/>
              </a:rPr>
              <a:t>không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phải</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nguyên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tử</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không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phải</a:t>
            </a:r>
            <a:r>
              <a:rPr lang="en-US" sz="2000" dirty="0">
                <a:solidFill>
                  <a:srgbClr val="002060"/>
                </a:solidFill>
                <a:latin typeface="Times New Roman" panose="02020603050405020304" pitchFamily="18" charset="0"/>
                <a:cs typeface="Times New Roman" panose="02020603050405020304" pitchFamily="18" charset="0"/>
              </a:rPr>
              <a:t> “VC </a:t>
            </a:r>
            <a:r>
              <a:rPr lang="en-US" sz="2000" dirty="0" err="1">
                <a:solidFill>
                  <a:srgbClr val="002060"/>
                </a:solidFill>
                <a:latin typeface="Times New Roman" panose="02020603050405020304" pitchFamily="18" charset="0"/>
                <a:cs typeface="Times New Roman" panose="02020603050405020304" pitchFamily="18" charset="0"/>
              </a:rPr>
              <a:t>bị</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tiêu</a:t>
            </a:r>
            <a:r>
              <a:rPr lang="en-US" sz="2000" dirty="0">
                <a:solidFill>
                  <a:srgbClr val="002060"/>
                </a:solidFill>
                <a:latin typeface="Times New Roman" panose="02020603050405020304" pitchFamily="18" charset="0"/>
                <a:cs typeface="Times New Roman" panose="02020603050405020304" pitchFamily="18" charset="0"/>
              </a:rPr>
              <a:t> tan” </a:t>
            </a:r>
            <a:r>
              <a:rPr lang="en-US" sz="2000" dirty="0" err="1">
                <a:solidFill>
                  <a:srgbClr val="002060"/>
                </a:solidFill>
                <a:latin typeface="Times New Roman" panose="02020603050405020304" pitchFamily="18" charset="0"/>
                <a:cs typeface="Times New Roman" panose="02020603050405020304" pitchFamily="18" charset="0"/>
              </a:rPr>
              <a:t>mà</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chỉ</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có</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giới</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hạn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hiểu</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biết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của</a:t>
            </a:r>
            <a:r>
              <a:rPr lang="en-US" sz="2000" dirty="0">
                <a:solidFill>
                  <a:srgbClr val="002060"/>
                </a:solidFill>
                <a:latin typeface="Times New Roman" panose="02020603050405020304" pitchFamily="18" charset="0"/>
                <a:cs typeface="Times New Roman" panose="02020603050405020304" pitchFamily="18" charset="0"/>
              </a:rPr>
              <a:t> con </a:t>
            </a:r>
            <a:r>
              <a:rPr lang="en-US" sz="2000" dirty="0" err="1">
                <a:solidFill>
                  <a:srgbClr val="002060"/>
                </a:solidFill>
                <a:latin typeface="Times New Roman" panose="02020603050405020304" pitchFamily="18" charset="0"/>
                <a:cs typeface="Times New Roman" panose="02020603050405020304" pitchFamily="18" charset="0"/>
              </a:rPr>
              <a:t>người</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về</a:t>
            </a:r>
            <a:r>
              <a:rPr lang="en-US" sz="2000" dirty="0">
                <a:solidFill>
                  <a:srgbClr val="002060"/>
                </a:solidFill>
                <a:latin typeface="Times New Roman" panose="02020603050405020304" pitchFamily="18" charset="0"/>
                <a:cs typeface="Times New Roman" panose="02020603050405020304" pitchFamily="18" charset="0"/>
              </a:rPr>
              <a:t> VC </a:t>
            </a:r>
            <a:r>
              <a:rPr lang="en-US" sz="2000" dirty="0" err="1">
                <a:solidFill>
                  <a:srgbClr val="002060"/>
                </a:solidFill>
                <a:latin typeface="Times New Roman" panose="02020603050405020304" pitchFamily="18" charset="0"/>
                <a:cs typeface="Times New Roman" panose="02020603050405020304" pitchFamily="18" charset="0"/>
              </a:rPr>
              <a:t>bị</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tiêu</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tân</a:t>
            </a:r>
            <a:endParaRPr lang="en-US" sz="2000" dirty="0">
              <a:solidFill>
                <a:srgbClr val="002060"/>
              </a:solidFill>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3418114" y="4278085"/>
            <a:ext cx="78486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ü"/>
            </a:pPr>
            <a:r>
              <a:rPr lang="en-US" sz="2000" dirty="0" err="1">
                <a:solidFill>
                  <a:srgbClr val="002060"/>
                </a:solidFill>
                <a:latin typeface="Times New Roman" panose="02020603050405020304" pitchFamily="18" charset="0"/>
                <a:cs typeface="Times New Roman" panose="02020603050405020304" pitchFamily="18" charset="0"/>
              </a:rPr>
              <a:t>Những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phát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minh</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có</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giá</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trị</a:t>
            </a:r>
            <a:r>
              <a:rPr lang="en-US" sz="2000" dirty="0">
                <a:solidFill>
                  <a:srgbClr val="002060"/>
                </a:solidFill>
                <a:latin typeface="Times New Roman" panose="02020603050405020304" pitchFamily="18" charset="0"/>
                <a:cs typeface="Times New Roman" panose="02020603050405020304" pitchFamily="18" charset="0"/>
              </a:rPr>
              <a:t> to </a:t>
            </a:r>
            <a:r>
              <a:rPr lang="en-US" sz="2000" dirty="0" err="1">
                <a:solidFill>
                  <a:srgbClr val="002060"/>
                </a:solidFill>
                <a:latin typeface="Times New Roman" panose="02020603050405020304" pitchFamily="18" charset="0"/>
                <a:cs typeface="Times New Roman" panose="02020603050405020304" pitchFamily="18" charset="0"/>
              </a:rPr>
              <a:t>lớn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của</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vật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lý</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học</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đương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thời</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không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hề</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bác</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bỏ</a:t>
            </a:r>
            <a:r>
              <a:rPr lang="en-US" sz="2000" dirty="0">
                <a:solidFill>
                  <a:srgbClr val="002060"/>
                </a:solidFill>
                <a:latin typeface="Times New Roman" panose="02020603050405020304" pitchFamily="18" charset="0"/>
                <a:cs typeface="Times New Roman" panose="02020603050405020304" pitchFamily="18" charset="0"/>
              </a:rPr>
              <a:t> VC </a:t>
            </a:r>
            <a:r>
              <a:rPr lang="en-US" sz="2000" dirty="0" err="1">
                <a:solidFill>
                  <a:srgbClr val="002060"/>
                </a:solidFill>
                <a:latin typeface="Times New Roman" panose="02020603050405020304" pitchFamily="18" charset="0"/>
                <a:cs typeface="Times New Roman" panose="02020603050405020304" pitchFamily="18" charset="0"/>
              </a:rPr>
              <a:t>chỉ</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làm</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rõ</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hơn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hiểu</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biết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còn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hạn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chế</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của</a:t>
            </a:r>
            <a:r>
              <a:rPr lang="en-US" sz="2000" dirty="0">
                <a:solidFill>
                  <a:srgbClr val="002060"/>
                </a:solidFill>
                <a:latin typeface="Times New Roman" panose="02020603050405020304" pitchFamily="18" charset="0"/>
                <a:cs typeface="Times New Roman" panose="02020603050405020304" pitchFamily="18" charset="0"/>
              </a:rPr>
              <a:t> con </a:t>
            </a:r>
            <a:r>
              <a:rPr lang="en-US" sz="2000" dirty="0" err="1">
                <a:solidFill>
                  <a:srgbClr val="002060"/>
                </a:solidFill>
                <a:latin typeface="Times New Roman" panose="02020603050405020304" pitchFamily="18" charset="0"/>
                <a:cs typeface="Times New Roman" panose="02020603050405020304" pitchFamily="18" charset="0"/>
              </a:rPr>
              <a:t>người</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về</a:t>
            </a:r>
            <a:r>
              <a:rPr lang="en-US" sz="2000" dirty="0">
                <a:solidFill>
                  <a:srgbClr val="002060"/>
                </a:solidFill>
                <a:latin typeface="Times New Roman" panose="02020603050405020304" pitchFamily="18" charset="0"/>
                <a:cs typeface="Times New Roman" panose="02020603050405020304" pitchFamily="18" charset="0"/>
              </a:rPr>
              <a:t> VC</a:t>
            </a:r>
            <a:endParaRPr lang="en-US" sz="20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20732"/>
          </a:xfrm>
        </p:spPr>
        <p:txBody>
          <a:bodyPr/>
          <a:lstStyle/>
          <a:p>
            <a:endParaRPr lang="en-US" dirty="0"/>
          </a:p>
        </p:txBody>
      </p:sp>
      <p:sp>
        <p:nvSpPr>
          <p:cNvPr id="3" name="Rectangle 2"/>
          <p:cNvSpPr/>
          <p:nvPr/>
        </p:nvSpPr>
        <p:spPr>
          <a:xfrm>
            <a:off x="934720" y="2590800"/>
            <a:ext cx="2516051" cy="133894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Quan </a:t>
            </a:r>
            <a:r>
              <a:rPr lang="en-US" sz="2400" dirty="0" err="1">
                <a:latin typeface="Times New Roman" panose="02020603050405020304" pitchFamily="18" charset="0"/>
                <a:cs typeface="Times New Roman" panose="02020603050405020304" pitchFamily="18" charset="0"/>
              </a:rPr>
              <a:t>niệm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Ph. </a:t>
            </a:r>
            <a:r>
              <a:rPr lang="en-US" sz="2400" dirty="0" err="1">
                <a:latin typeface="Times New Roman" panose="02020603050405020304" pitchFamily="18" charset="0"/>
                <a:cs typeface="Times New Roman" panose="02020603050405020304" pitchFamily="18" charset="0"/>
              </a:rPr>
              <a:t>Ăngghen</a:t>
            </a:r>
            <a:endParaRPr lang="en-US" sz="2400"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4354287" y="1807027"/>
            <a:ext cx="6357256" cy="13389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latin typeface="Times New Roman" panose="02020603050405020304" pitchFamily="18" charset="0"/>
                <a:cs typeface="Times New Roman" panose="02020603050405020304" pitchFamily="18" charset="0"/>
              </a:rPr>
              <a:t>Để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quan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niệm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về</a:t>
            </a:r>
            <a:r>
              <a:rPr lang="en-US" sz="2400" dirty="0">
                <a:latin typeface="Times New Roman" panose="02020603050405020304" pitchFamily="18" charset="0"/>
                <a:cs typeface="Times New Roman" panose="02020603050405020304" pitchFamily="18" charset="0"/>
              </a:rPr>
              <a:t> VC,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phân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biệt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rõ</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ràng</a:t>
            </a:r>
            <a:r>
              <a:rPr lang="en-US" sz="2400" dirty="0">
                <a:latin typeface="Times New Roman" panose="02020603050405020304" pitchFamily="18" charset="0"/>
                <a:cs typeface="Times New Roman" panose="02020603050405020304" pitchFamily="18" charset="0"/>
              </a:rPr>
              <a:t> </a:t>
            </a:r>
            <a:r>
              <a:rPr lang="en-US" sz="2400" b="1" i="1" dirty="0">
                <a:latin typeface="Times New Roman" panose="02020603050405020304" pitchFamily="18" charset="0"/>
                <a:cs typeface="Times New Roman" panose="02020603050405020304" pitchFamily="18" charset="0"/>
              </a:rPr>
              <a:t>VC </a:t>
            </a:r>
            <a:r>
              <a:rPr lang="en-US" sz="2400" b="1" i="1" dirty="0" err="1">
                <a:latin typeface="Times New Roman" panose="02020603050405020304" pitchFamily="18" charset="0"/>
                <a:cs typeface="Times New Roman" panose="02020603050405020304" pitchFamily="18" charset="0"/>
              </a:rPr>
              <a:t>với</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tính</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cách</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là</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một</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phạm</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trù</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của</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triết</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học</a:t>
            </a:r>
            <a:r>
              <a:rPr lang="en-US" sz="2400" b="1" i="1" dirty="0">
                <a:latin typeface="Times New Roman" panose="02020603050405020304" pitchFamily="18" charset="0"/>
                <a:cs typeface="Times New Roman" panose="02020603050405020304" pitchFamily="18" charset="0"/>
              </a:rPr>
              <a:t>.</a:t>
            </a:r>
            <a:endParaRPr lang="en-US" sz="2400" b="1" i="1"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4354287" y="4016827"/>
            <a:ext cx="6357256" cy="133894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a:latin typeface="Times New Roman" panose="02020603050405020304" pitchFamily="18" charset="0"/>
                <a:cs typeface="Times New Roman" panose="02020603050405020304" pitchFamily="18" charset="0"/>
              </a:rPr>
              <a:t>Theo </a:t>
            </a:r>
            <a:r>
              <a:rPr lang="en-US" sz="2400" dirty="0" err="1">
                <a:latin typeface="Times New Roman" panose="02020603050405020304" pitchFamily="18" charset="0"/>
                <a:cs typeface="Times New Roman" panose="02020603050405020304" pitchFamily="18" charset="0"/>
              </a:rPr>
              <a:t>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tượng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dù</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phú</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muôn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vẻ</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một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đặc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chung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tính</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vật</a:t>
            </a:r>
            <a:r>
              <a:rPr lang="en-US" sz="2400" b="1" i="1" dirty="0">
                <a:latin typeface="Times New Roman" panose="02020603050405020304" pitchFamily="18" charset="0"/>
                <a:cs typeface="Times New Roman" panose="02020603050405020304" pitchFamily="18" charset="0"/>
              </a:rPr>
              <a:t> </a:t>
            </a:r>
            <a:r>
              <a:rPr lang="en-US" sz="2400" b="1" i="1" dirty="0" err="1">
                <a:latin typeface="Times New Roman" panose="02020603050405020304" pitchFamily="18" charset="0"/>
                <a:cs typeface="Times New Roman" panose="02020603050405020304" pitchFamily="18" charset="0"/>
              </a:rPr>
              <a:t>chất</a:t>
            </a:r>
            <a:r>
              <a:rPr lang="en-US" sz="2400" b="1" i="1" dirty="0">
                <a:latin typeface="Times New Roman" panose="02020603050405020304" pitchFamily="18" charset="0"/>
                <a:cs typeface="Times New Roman" panose="02020603050405020304" pitchFamily="18" charset="0"/>
              </a:rPr>
              <a:t>.</a:t>
            </a:r>
            <a:endParaRPr lang="en-US" sz="2400" b="1" i="1" dirty="0">
              <a:latin typeface="Times New Roman" panose="02020603050405020304" pitchFamily="18" charset="0"/>
              <a:cs typeface="Times New Roman" panose="02020603050405020304" pitchFamily="18" charset="0"/>
            </a:endParaRPr>
          </a:p>
        </p:txBody>
      </p:sp>
      <p:sp>
        <p:nvSpPr>
          <p:cNvPr id="6" name="Rectangle 5"/>
          <p:cNvSpPr/>
          <p:nvPr/>
        </p:nvSpPr>
        <p:spPr>
          <a:xfrm>
            <a:off x="1273629" y="653143"/>
            <a:ext cx="8066313" cy="6966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800" b="1" dirty="0">
                <a:solidFill>
                  <a:srgbClr val="FF0000"/>
                </a:solidFill>
                <a:latin typeface="Times New Roman" panose="02020603050405020304" pitchFamily="18" charset="0"/>
                <a:cs typeface="Times New Roman" panose="02020603050405020304" pitchFamily="18" charset="0"/>
              </a:rPr>
              <a:t>c. Quan </a:t>
            </a:r>
            <a:r>
              <a:rPr lang="en-US" sz="2800" b="1" dirty="0" err="1">
                <a:solidFill>
                  <a:srgbClr val="FF0000"/>
                </a:solidFill>
                <a:latin typeface="Times New Roman" panose="02020603050405020304" pitchFamily="18" charset="0"/>
                <a:cs typeface="Times New Roman" panose="02020603050405020304" pitchFamily="18" charset="0"/>
              </a:rPr>
              <a:t>niệm</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của</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triết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học</a:t>
            </a:r>
            <a:r>
              <a:rPr lang="en-US" sz="2800" b="1" dirty="0">
                <a:solidFill>
                  <a:srgbClr val="FF0000"/>
                </a:solidFill>
                <a:latin typeface="Times New Roman" panose="02020603050405020304" pitchFamily="18" charset="0"/>
                <a:cs typeface="Times New Roman" panose="02020603050405020304" pitchFamily="18" charset="0"/>
              </a:rPr>
              <a:t> Mac – </a:t>
            </a:r>
            <a:r>
              <a:rPr lang="en-US" sz="2800" b="1" dirty="0" err="1">
                <a:solidFill>
                  <a:srgbClr val="FF0000"/>
                </a:solidFill>
                <a:latin typeface="Times New Roman" panose="02020603050405020304" pitchFamily="18" charset="0"/>
                <a:cs typeface="Times New Roman" panose="02020603050405020304" pitchFamily="18" charset="0"/>
              </a:rPr>
              <a:t>Lênin</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về</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vật</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err="1">
                <a:solidFill>
                  <a:srgbClr val="FF0000"/>
                </a:solidFill>
                <a:latin typeface="Times New Roman" panose="02020603050405020304" pitchFamily="18" charset="0"/>
                <a:cs typeface="Times New Roman" panose="02020603050405020304" pitchFamily="18" charset="0"/>
              </a:rPr>
              <a:t>chất</a:t>
            </a:r>
            <a:r>
              <a:rPr lang="en-US" sz="2800" b="1" dirty="0">
                <a:solidFill>
                  <a:srgbClr val="FF0000"/>
                </a:solidFill>
                <a:latin typeface="Times New Roman" panose="02020603050405020304" pitchFamily="18" charset="0"/>
                <a:cs typeface="Times New Roman" panose="02020603050405020304" pitchFamily="18" charset="0"/>
              </a:rPr>
              <a:t>.</a:t>
            </a:r>
            <a:endParaRPr lang="en-US" sz="2800" dirty="0">
              <a:solidFill>
                <a:srgbClr val="FF0000"/>
              </a:solidFill>
            </a:endParaRPr>
          </a:p>
        </p:txBody>
      </p:sp>
      <p:cxnSp>
        <p:nvCxnSpPr>
          <p:cNvPr id="8" name="Straight Arrow Connector 7"/>
          <p:cNvCxnSpPr>
            <a:stCxn id="3" idx="3"/>
          </p:cNvCxnSpPr>
          <p:nvPr/>
        </p:nvCxnSpPr>
        <p:spPr>
          <a:xfrm flipV="1">
            <a:off x="3450771" y="2416629"/>
            <a:ext cx="903516" cy="8436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3" idx="3"/>
            <a:endCxn id="5" idx="1"/>
          </p:cNvCxnSpPr>
          <p:nvPr/>
        </p:nvCxnSpPr>
        <p:spPr>
          <a:xfrm>
            <a:off x="3450771" y="3260272"/>
            <a:ext cx="903516" cy="142602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70361"/>
          </a:xfrm>
        </p:spPr>
        <p:txBody>
          <a:bodyPr/>
          <a:lstStyle/>
          <a:p>
            <a:endParaRPr lang="en-US" dirty="0">
              <a:solidFill>
                <a:srgbClr val="0070C0"/>
              </a:solidFill>
            </a:endParaRPr>
          </a:p>
        </p:txBody>
      </p:sp>
      <p:sp>
        <p:nvSpPr>
          <p:cNvPr id="3" name="Rectangle 2"/>
          <p:cNvSpPr/>
          <p:nvPr/>
        </p:nvSpPr>
        <p:spPr>
          <a:xfrm>
            <a:off x="1426029" y="1905001"/>
            <a:ext cx="1719942" cy="2895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Font typeface="Wingdings" panose="05000000000000000000" pitchFamily="2" charset="2"/>
              <a:buChar char="v"/>
            </a:pPr>
            <a:r>
              <a:rPr lang="en-US" sz="2800" b="1" dirty="0">
                <a:solidFill>
                  <a:srgbClr val="0070C0"/>
                </a:solidFill>
                <a:latin typeface="Times New Roman" panose="02020603050405020304" pitchFamily="18" charset="0"/>
                <a:cs typeface="Times New Roman" panose="02020603050405020304" pitchFamily="18" charset="0"/>
              </a:rPr>
              <a:t>Quan </a:t>
            </a:r>
            <a:r>
              <a:rPr lang="en-US" sz="2800" b="1" dirty="0" err="1">
                <a:solidFill>
                  <a:srgbClr val="0070C0"/>
                </a:solidFill>
                <a:latin typeface="Times New Roman" panose="02020603050405020304" pitchFamily="18" charset="0"/>
                <a:cs typeface="Times New Roman" panose="02020603050405020304" pitchFamily="18" charset="0"/>
              </a:rPr>
              <a:t>niệm</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của</a:t>
            </a:r>
            <a:r>
              <a:rPr lang="vi-VN" sz="2800" b="1" dirty="0">
                <a:solidFill>
                  <a:srgbClr val="0070C0"/>
                </a:solidFill>
                <a:latin typeface="Times New Roman" panose="02020603050405020304" pitchFamily="18" charset="0"/>
                <a:cs typeface="Times New Roman" panose="02020603050405020304" pitchFamily="18" charset="0"/>
              </a:rPr>
              <a:t> Lênin</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về</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vật</a:t>
            </a:r>
            <a:r>
              <a:rPr lang="en-US" sz="2800" b="1" dirty="0">
                <a:solidFill>
                  <a:srgbClr val="0070C0"/>
                </a:solidFill>
                <a:latin typeface="Times New Roman" panose="02020603050405020304" pitchFamily="18" charset="0"/>
                <a:cs typeface="Times New Roman" panose="02020603050405020304" pitchFamily="18" charset="0"/>
              </a:rPr>
              <a:t> </a:t>
            </a:r>
            <a:r>
              <a:rPr lang="en-US" sz="2800" b="1" dirty="0" err="1">
                <a:solidFill>
                  <a:srgbClr val="0070C0"/>
                </a:solidFill>
                <a:latin typeface="Times New Roman" panose="02020603050405020304" pitchFamily="18" charset="0"/>
                <a:cs typeface="Times New Roman" panose="02020603050405020304" pitchFamily="18" charset="0"/>
              </a:rPr>
              <a:t>chất</a:t>
            </a:r>
            <a:r>
              <a:rPr lang="en-US" sz="2800" b="1" dirty="0">
                <a:solidFill>
                  <a:srgbClr val="0070C0"/>
                </a:solidFill>
                <a:latin typeface="Times New Roman" panose="02020603050405020304" pitchFamily="18" charset="0"/>
                <a:cs typeface="Times New Roman" panose="02020603050405020304" pitchFamily="18" charset="0"/>
              </a:rPr>
              <a:t>.</a:t>
            </a:r>
            <a:endParaRPr lang="en-US" sz="2800" b="1" dirty="0">
              <a:solidFill>
                <a:srgbClr val="0070C0"/>
              </a:solidFill>
            </a:endParaRPr>
          </a:p>
        </p:txBody>
      </p:sp>
      <p:sp>
        <p:nvSpPr>
          <p:cNvPr id="4" name="Rectangle: Rounded Corners 3"/>
          <p:cNvSpPr/>
          <p:nvPr/>
        </p:nvSpPr>
        <p:spPr>
          <a:xfrm>
            <a:off x="4354286" y="1545770"/>
            <a:ext cx="6553200" cy="14260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solidFill>
                  <a:srgbClr val="0070C0"/>
                </a:solidFill>
                <a:latin typeface="Times New Roman" panose="02020603050405020304" pitchFamily="18" charset="0"/>
                <a:cs typeface="Times New Roman" panose="02020603050405020304" pitchFamily="18" charset="0"/>
              </a:rPr>
              <a:t>Ông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đã</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tiến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hành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tổng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kết</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toàn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diện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các</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thành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tựu</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mới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nhất</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của</a:t>
            </a:r>
            <a:r>
              <a:rPr lang="en-US" sz="2400" dirty="0">
                <a:solidFill>
                  <a:srgbClr val="0070C0"/>
                </a:solidFill>
                <a:latin typeface="Times New Roman" panose="02020603050405020304" pitchFamily="18" charset="0"/>
                <a:cs typeface="Times New Roman" panose="02020603050405020304" pitchFamily="18" charset="0"/>
              </a:rPr>
              <a:t> khoa </a:t>
            </a:r>
            <a:r>
              <a:rPr lang="en-US" sz="2400" dirty="0" err="1">
                <a:solidFill>
                  <a:srgbClr val="0070C0"/>
                </a:solidFill>
                <a:latin typeface="Times New Roman" panose="02020603050405020304" pitchFamily="18" charset="0"/>
                <a:cs typeface="Times New Roman" panose="02020603050405020304" pitchFamily="18" charset="0"/>
              </a:rPr>
              <a:t>học</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đấu</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tranh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chống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mọi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biểu</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hiện</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của</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vhur</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nghĩa</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hoài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nghi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duy</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tâm</a:t>
            </a:r>
            <a:r>
              <a:rPr lang="en-US" sz="2400" dirty="0">
                <a:solidFill>
                  <a:srgbClr val="0070C0"/>
                </a:solidFill>
                <a:latin typeface="Times New Roman" panose="02020603050405020304" pitchFamily="18" charset="0"/>
                <a:cs typeface="Times New Roman" panose="02020603050405020304" pitchFamily="18" charset="0"/>
              </a:rPr>
              <a:t>.</a:t>
            </a:r>
            <a:endParaRPr lang="en-US" sz="2400" dirty="0">
              <a:solidFill>
                <a:srgbClr val="0070C0"/>
              </a:solidFill>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4354286" y="3570514"/>
            <a:ext cx="6553200" cy="142602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400" dirty="0" err="1">
                <a:solidFill>
                  <a:srgbClr val="0070C0"/>
                </a:solidFill>
                <a:latin typeface="Times New Roman" panose="02020603050405020304" pitchFamily="18" charset="0"/>
                <a:cs typeface="Times New Roman" panose="02020603050405020304" pitchFamily="18" charset="0"/>
              </a:rPr>
              <a:t>Ông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đã</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tím</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kiếm</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phương</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pháp</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định</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nghĩa</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mới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cho</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phạm</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trù</a:t>
            </a:r>
            <a:r>
              <a:rPr lang="en-US" sz="2400" dirty="0">
                <a:solidFill>
                  <a:srgbClr val="0070C0"/>
                </a:solidFill>
                <a:latin typeface="Times New Roman" panose="02020603050405020304" pitchFamily="18" charset="0"/>
                <a:cs typeface="Times New Roman" panose="02020603050405020304" pitchFamily="18" charset="0"/>
              </a:rPr>
              <a:t> VC </a:t>
            </a:r>
            <a:r>
              <a:rPr lang="en-US" sz="2400" dirty="0" err="1">
                <a:solidFill>
                  <a:srgbClr val="0070C0"/>
                </a:solidFill>
                <a:latin typeface="Times New Roman" panose="02020603050405020304" pitchFamily="18" charset="0"/>
                <a:cs typeface="Times New Roman" panose="02020603050405020304" pitchFamily="18" charset="0"/>
              </a:rPr>
              <a:t>thông</a:t>
            </a:r>
            <a:r>
              <a:rPr lang="en-US" sz="2400" dirty="0">
                <a:solidFill>
                  <a:srgbClr val="0070C0"/>
                </a:solidFill>
                <a:latin typeface="Times New Roman" panose="02020603050405020304" pitchFamily="18" charset="0"/>
                <a:cs typeface="Times New Roman" panose="02020603050405020304" pitchFamily="18" charset="0"/>
              </a:rPr>
              <a:t> qua </a:t>
            </a:r>
            <a:r>
              <a:rPr lang="en-US" sz="2400" dirty="0" err="1">
                <a:solidFill>
                  <a:srgbClr val="0070C0"/>
                </a:solidFill>
                <a:latin typeface="Times New Roman" panose="02020603050405020304" pitchFamily="18" charset="0"/>
                <a:cs typeface="Times New Roman" panose="02020603050405020304" pitchFamily="18" charset="0"/>
              </a:rPr>
              <a:t>đối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lập</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với</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phạm</a:t>
            </a:r>
            <a:r>
              <a:rPr lang="en-US" sz="2400" dirty="0">
                <a:solidFill>
                  <a:srgbClr val="0070C0"/>
                </a:solidFill>
                <a:latin typeface="Times New Roman" panose="02020603050405020304" pitchFamily="18" charset="0"/>
                <a:cs typeface="Times New Roman" panose="02020603050405020304" pitchFamily="18" charset="0"/>
              </a:rPr>
              <a:t> </a:t>
            </a:r>
            <a:r>
              <a:rPr lang="en-US" sz="2400" dirty="0" err="1">
                <a:solidFill>
                  <a:srgbClr val="0070C0"/>
                </a:solidFill>
                <a:latin typeface="Times New Roman" panose="02020603050405020304" pitchFamily="18" charset="0"/>
                <a:cs typeface="Times New Roman" panose="02020603050405020304" pitchFamily="18" charset="0"/>
              </a:rPr>
              <a:t>trù</a:t>
            </a:r>
            <a:r>
              <a:rPr lang="en-US" sz="2400" dirty="0">
                <a:solidFill>
                  <a:srgbClr val="0070C0"/>
                </a:solidFill>
                <a:latin typeface="Times New Roman" panose="02020603050405020304" pitchFamily="18" charset="0"/>
                <a:cs typeface="Times New Roman" panose="02020603050405020304" pitchFamily="18" charset="0"/>
              </a:rPr>
              <a:t> ý </a:t>
            </a:r>
            <a:r>
              <a:rPr lang="en-US" sz="2400" dirty="0" err="1">
                <a:solidFill>
                  <a:srgbClr val="0070C0"/>
                </a:solidFill>
                <a:latin typeface="Times New Roman" panose="02020603050405020304" pitchFamily="18" charset="0"/>
                <a:cs typeface="Times New Roman" panose="02020603050405020304" pitchFamily="18" charset="0"/>
              </a:rPr>
              <a:t>thức</a:t>
            </a:r>
            <a:endParaRPr lang="en-US" sz="2400" dirty="0">
              <a:solidFill>
                <a:srgbClr val="0070C0"/>
              </a:solidFill>
              <a:latin typeface="Times New Roman" panose="02020603050405020304" pitchFamily="18" charset="0"/>
              <a:cs typeface="Times New Roman" panose="02020603050405020304" pitchFamily="18" charset="0"/>
            </a:endParaRPr>
          </a:p>
        </p:txBody>
      </p:sp>
      <p:cxnSp>
        <p:nvCxnSpPr>
          <p:cNvPr id="7" name="Straight Arrow Connector 6"/>
          <p:cNvCxnSpPr>
            <a:stCxn id="3" idx="3"/>
            <a:endCxn id="4" idx="1"/>
          </p:cNvCxnSpPr>
          <p:nvPr/>
        </p:nvCxnSpPr>
        <p:spPr>
          <a:xfrm flipV="1">
            <a:off x="3145971" y="2258785"/>
            <a:ext cx="1208315" cy="10940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endCxn id="5" idx="1"/>
          </p:cNvCxnSpPr>
          <p:nvPr/>
        </p:nvCxnSpPr>
        <p:spPr>
          <a:xfrm>
            <a:off x="3145971" y="3429000"/>
            <a:ext cx="1208315" cy="8545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512618"/>
            <a:ext cx="10515599" cy="1745673"/>
          </a:xfrm>
        </p:spPr>
        <p:txBody>
          <a:bodyPr>
            <a:noAutofit/>
          </a:bodyPr>
          <a:lstStyle/>
          <a:p>
            <a:br>
              <a:rPr lang="en-US" sz="2800" dirty="0">
                <a:latin typeface="Times New Roman" panose="02020603050405020304" pitchFamily="18" charset="0"/>
                <a:cs typeface="Times New Roman" panose="02020603050405020304" pitchFamily="18" charset="0"/>
              </a:rPr>
            </a:br>
            <a:r>
              <a:rPr lang="en-US" sz="2800" b="1" i="1" dirty="0">
                <a:latin typeface="Times New Roman" panose="02020603050405020304" pitchFamily="18" charset="0"/>
                <a:cs typeface="Times New Roman" panose="02020603050405020304" pitchFamily="18" charset="0"/>
              </a:rPr>
              <a:t>Theo </a:t>
            </a:r>
            <a:r>
              <a:rPr lang="en-US" sz="2800" b="1" i="1" dirty="0" err="1">
                <a:latin typeface="Times New Roman" panose="02020603050405020304" pitchFamily="18" charset="0"/>
                <a:cs typeface="Times New Roman" panose="02020603050405020304" pitchFamily="18" charset="0"/>
              </a:rPr>
              <a:t>V.I.Lênin</a:t>
            </a:r>
            <a:r>
              <a:rPr lang="en-US" sz="2800" dirty="0">
                <a:latin typeface="Times New Roman" panose="02020603050405020304" pitchFamily="18" charset="0"/>
                <a:cs typeface="Times New Roman" panose="02020603050405020304" pitchFamily="18" charset="0"/>
              </a:rPr>
              <a:t>: </a:t>
            </a:r>
            <a:r>
              <a:rPr lang="en-US" altLang="en-US" sz="2800" b="1" i="1" dirty="0" err="1">
                <a:solidFill>
                  <a:schemeClr val="tx1"/>
                </a:solidFill>
                <a:latin typeface="Times New Roman" panose="02020603050405020304" pitchFamily="18" charset="0"/>
              </a:rPr>
              <a:t>Vật</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chất</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là</a:t>
            </a:r>
            <a:r>
              <a:rPr lang="en-US" altLang="en-US" sz="2800" b="1" i="1" dirty="0">
                <a:solidFill>
                  <a:schemeClr val="tx1"/>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phạm</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trù</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triết</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học</a:t>
            </a:r>
            <a:r>
              <a:rPr lang="en-US" altLang="en-US" sz="2800" b="1" i="1" dirty="0">
                <a:solidFill>
                  <a:srgbClr val="FF0000"/>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dùng</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để</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chỉ</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thực</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tại</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khách</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quan</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được</a:t>
            </a:r>
            <a:r>
              <a:rPr lang="en-US" altLang="en-US" sz="2800" b="1" i="1" dirty="0">
                <a:solidFill>
                  <a:schemeClr val="tx1"/>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đem</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lại</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cho</a:t>
            </a:r>
            <a:r>
              <a:rPr lang="en-US" altLang="en-US" sz="2800" b="1" i="1" dirty="0">
                <a:solidFill>
                  <a:srgbClr val="FF0000"/>
                </a:solidFill>
                <a:latin typeface="Times New Roman" panose="02020603050405020304" pitchFamily="18" charset="0"/>
              </a:rPr>
              <a:t> con </a:t>
            </a:r>
            <a:r>
              <a:rPr lang="en-US" altLang="en-US" sz="2800" b="1" i="1" dirty="0" err="1">
                <a:solidFill>
                  <a:srgbClr val="FF0000"/>
                </a:solidFill>
                <a:latin typeface="Times New Roman" panose="02020603050405020304" pitchFamily="18" charset="0"/>
              </a:rPr>
              <a:t>người</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trong</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cảm</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giác</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được</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cảm</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giác</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của</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chúng</a:t>
            </a:r>
            <a:r>
              <a:rPr lang="en-US" altLang="en-US" sz="2800" b="1" i="1" dirty="0">
                <a:solidFill>
                  <a:srgbClr val="FF0000"/>
                </a:solidFill>
                <a:latin typeface="Times New Roman" panose="02020603050405020304" pitchFamily="18" charset="0"/>
              </a:rPr>
              <a:t> ta </a:t>
            </a:r>
            <a:r>
              <a:rPr lang="en-US" altLang="en-US" sz="2800" b="1" i="1" dirty="0" err="1">
                <a:solidFill>
                  <a:srgbClr val="FF0000"/>
                </a:solidFill>
                <a:latin typeface="Times New Roman" panose="02020603050405020304" pitchFamily="18" charset="0"/>
              </a:rPr>
              <a:t>chép</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lại</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chụp</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lại</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phản</a:t>
            </a:r>
            <a:r>
              <a:rPr lang="en-US" altLang="en-US" sz="2800" b="1" i="1" dirty="0">
                <a:solidFill>
                  <a:srgbClr val="FF0000"/>
                </a:solidFill>
                <a:latin typeface="Times New Roman" panose="02020603050405020304" pitchFamily="18" charset="0"/>
              </a:rPr>
              <a:t> </a:t>
            </a:r>
            <a:r>
              <a:rPr lang="en-US" altLang="en-US" sz="2800" b="1" i="1" dirty="0" err="1">
                <a:solidFill>
                  <a:srgbClr val="FF0000"/>
                </a:solidFill>
                <a:latin typeface="Times New Roman" panose="02020603050405020304" pitchFamily="18" charset="0"/>
              </a:rPr>
              <a:t>ánh</a:t>
            </a:r>
            <a:r>
              <a:rPr lang="en-US" altLang="en-US" sz="2800" b="1" i="1" dirty="0">
                <a:solidFill>
                  <a:srgbClr val="FF0000"/>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và</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tồn</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tại</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không</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lệ</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thuộc</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vào</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cảm</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giác</a:t>
            </a:r>
            <a:r>
              <a:rPr lang="en-US" altLang="en-US" sz="2800" b="1" i="1" dirty="0">
                <a:solidFill>
                  <a:schemeClr val="tx1"/>
                </a:solidFill>
                <a:latin typeface="Times New Roman" panose="02020603050405020304" pitchFamily="18" charset="0"/>
              </a:rPr>
              <a:t>”</a:t>
            </a:r>
            <a:br>
              <a:rPr lang="en-US" altLang="en-US" sz="2800" b="1" i="1" dirty="0">
                <a:solidFill>
                  <a:schemeClr val="tx1"/>
                </a:solidFill>
                <a:latin typeface="Times New Roman" panose="02020603050405020304" pitchFamily="18" charset="0"/>
              </a:rPr>
            </a:br>
            <a:endParaRPr lang="en-US" sz="2800"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2258291"/>
            <a:ext cx="10515600" cy="4207823"/>
          </a:xfrm>
        </p:spPr>
        <p:txBody>
          <a:bodyPr>
            <a:normAutofit/>
          </a:bodyPr>
          <a:lstStyle/>
          <a:p>
            <a:pPr>
              <a:buFontTx/>
              <a:buChar char="-"/>
            </a:pPr>
            <a:endParaRPr lang="en-US" altLang="en-US" sz="2400" dirty="0">
              <a:solidFill>
                <a:schemeClr val="tx1"/>
              </a:solidFill>
              <a:latin typeface="Times New Roman" panose="02020603050405020304" pitchFamily="18" charset="0"/>
            </a:endParaRPr>
          </a:p>
          <a:p>
            <a:pPr marL="0" indent="0">
              <a:buNone/>
            </a:pPr>
            <a:endParaRPr lang="en-US" altLang="en-US" sz="2400" dirty="0">
              <a:latin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4" name="Rectangle 3"/>
          <p:cNvSpPr/>
          <p:nvPr/>
        </p:nvSpPr>
        <p:spPr>
          <a:xfrm rot="10800000" flipH="1" flipV="1">
            <a:off x="1086729" y="2982351"/>
            <a:ext cx="1276644" cy="191320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b="1" dirty="0" err="1">
                <a:solidFill>
                  <a:schemeClr val="tx1"/>
                </a:solidFill>
                <a:latin typeface="Times New Roman" panose="02020603050405020304" pitchFamily="18" charset="0"/>
                <a:cs typeface="Times New Roman" panose="02020603050405020304" pitchFamily="18" charset="0"/>
              </a:rPr>
              <a:t>Vật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chất</a:t>
            </a:r>
            <a:r>
              <a:rPr lang="en-US" sz="2200" b="1" dirty="0">
                <a:solidFill>
                  <a:schemeClr val="tx1"/>
                </a:solidFill>
                <a:latin typeface="Times New Roman" panose="02020603050405020304" pitchFamily="18" charset="0"/>
                <a:cs typeface="Times New Roman" panose="02020603050405020304" pitchFamily="18" charset="0"/>
              </a:rPr>
              <a:t> </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3981157" y="2461846"/>
            <a:ext cx="6766560" cy="9671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en-US" sz="2000" dirty="0">
              <a:solidFill>
                <a:schemeClr val="tx1"/>
              </a:solidFill>
              <a:latin typeface="Times New Roman" panose="02020603050405020304" pitchFamily="18" charset="0"/>
            </a:endParaRPr>
          </a:p>
          <a:p>
            <a:pPr marL="342900" indent="-342900">
              <a:buFont typeface="Arial" panose="020B0604020202020204" pitchFamily="34" charset="0"/>
              <a:buChar char="•"/>
            </a:pPr>
            <a:r>
              <a:rPr lang="en-US" altLang="en-US" sz="2400" dirty="0" err="1">
                <a:solidFill>
                  <a:schemeClr val="tx1"/>
                </a:solidFill>
                <a:latin typeface="Times New Roman" panose="02020603050405020304" pitchFamily="18" charset="0"/>
              </a:rPr>
              <a:t>Là</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thực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tại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khách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quan</a:t>
            </a:r>
            <a:r>
              <a:rPr lang="en-US" altLang="en-US" sz="2400" dirty="0">
                <a:solidFill>
                  <a:schemeClr val="tx1"/>
                </a:solidFill>
                <a:latin typeface="Times New Roman" panose="02020603050405020304" pitchFamily="18" charset="0"/>
              </a:rPr>
              <a:t> – </a:t>
            </a:r>
            <a:r>
              <a:rPr lang="en-US" altLang="en-US" sz="2400" dirty="0" err="1">
                <a:solidFill>
                  <a:schemeClr val="tx1"/>
                </a:solidFill>
                <a:latin typeface="Times New Roman" panose="02020603050405020304" pitchFamily="18" charset="0"/>
              </a:rPr>
              <a:t>cái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tồn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tại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hiện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thực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bên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ngoài</a:t>
            </a:r>
            <a:r>
              <a:rPr lang="en-US" altLang="en-US" sz="2400" dirty="0">
                <a:solidFill>
                  <a:schemeClr val="tx1"/>
                </a:solidFill>
                <a:latin typeface="Times New Roman" panose="02020603050405020304" pitchFamily="18" charset="0"/>
              </a:rPr>
              <a:t> ý </a:t>
            </a:r>
            <a:r>
              <a:rPr lang="en-US" altLang="en-US" sz="2400" dirty="0" err="1">
                <a:solidFill>
                  <a:schemeClr val="tx1"/>
                </a:solidFill>
                <a:latin typeface="Times New Roman" panose="02020603050405020304" pitchFamily="18" charset="0"/>
              </a:rPr>
              <a:t>thức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và</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không</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lệ</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thuộc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vào</a:t>
            </a:r>
            <a:r>
              <a:rPr lang="en-US" altLang="en-US" sz="2400" dirty="0">
                <a:solidFill>
                  <a:schemeClr val="tx1"/>
                </a:solidFill>
                <a:latin typeface="Times New Roman" panose="02020603050405020304" pitchFamily="18" charset="0"/>
              </a:rPr>
              <a:t> ý </a:t>
            </a:r>
            <a:r>
              <a:rPr lang="en-US" altLang="en-US" sz="2400" dirty="0" err="1">
                <a:solidFill>
                  <a:schemeClr val="tx1"/>
                </a:solidFill>
                <a:latin typeface="Times New Roman" panose="02020603050405020304" pitchFamily="18" charset="0"/>
              </a:rPr>
              <a:t>thức</a:t>
            </a:r>
            <a:r>
              <a:rPr lang="en-US" altLang="en-US" sz="2400" dirty="0">
                <a:solidFill>
                  <a:schemeClr val="tx1"/>
                </a:solidFill>
                <a:latin typeface="Times New Roman" panose="02020603050405020304" pitchFamily="18" charset="0"/>
              </a:rPr>
              <a:t>.</a:t>
            </a:r>
            <a:br>
              <a:rPr lang="en-US" altLang="en-US" sz="2000" dirty="0">
                <a:solidFill>
                  <a:schemeClr val="tx1"/>
                </a:solidFill>
                <a:latin typeface="Times New Roman" panose="02020603050405020304" pitchFamily="18" charset="0"/>
              </a:rPr>
            </a:br>
            <a:endParaRPr lang="en-US" sz="2000" dirty="0">
              <a:solidFill>
                <a:schemeClr val="tx1"/>
              </a:solidFill>
            </a:endParaRPr>
          </a:p>
        </p:txBody>
      </p:sp>
      <p:sp>
        <p:nvSpPr>
          <p:cNvPr id="6" name="Rectangle 5"/>
          <p:cNvSpPr/>
          <p:nvPr/>
        </p:nvSpPr>
        <p:spPr>
          <a:xfrm flipH="1">
            <a:off x="3981157" y="3784209"/>
            <a:ext cx="6766559" cy="111134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altLang="en-US" sz="2000" dirty="0">
              <a:solidFill>
                <a:schemeClr val="tx1"/>
              </a:solidFill>
              <a:latin typeface="Times New Roman" panose="02020603050405020304" pitchFamily="18" charset="0"/>
            </a:endParaRPr>
          </a:p>
          <a:p>
            <a:pPr marL="342900" indent="-342900">
              <a:buFont typeface="Arial" panose="020B0604020202020204" pitchFamily="34" charset="0"/>
              <a:buChar char="•"/>
            </a:pPr>
            <a:r>
              <a:rPr lang="en-US" altLang="en-US" sz="2400" dirty="0" err="1">
                <a:solidFill>
                  <a:schemeClr val="tx1"/>
                </a:solidFill>
                <a:latin typeface="Times New Roman" panose="02020603050405020304" pitchFamily="18" charset="0"/>
              </a:rPr>
              <a:t>Là</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cái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mà</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khi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tác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động</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vào</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các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giác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quan</a:t>
            </a:r>
            <a:r>
              <a:rPr lang="en-US" altLang="en-US" sz="2400" dirty="0">
                <a:solidFill>
                  <a:schemeClr val="tx1"/>
                </a:solidFill>
                <a:latin typeface="Times New Roman" panose="02020603050405020304" pitchFamily="18" charset="0"/>
              </a:rPr>
              <a:t> con </a:t>
            </a:r>
            <a:r>
              <a:rPr lang="en-US" altLang="en-US" sz="2400" dirty="0" err="1">
                <a:solidFill>
                  <a:schemeClr val="tx1"/>
                </a:solidFill>
                <a:latin typeface="Times New Roman" panose="02020603050405020304" pitchFamily="18" charset="0"/>
              </a:rPr>
              <a:t>người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thì</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đem</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lại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cho</a:t>
            </a:r>
            <a:r>
              <a:rPr lang="en-US" altLang="en-US" sz="2400" dirty="0">
                <a:solidFill>
                  <a:schemeClr val="tx1"/>
                </a:solidFill>
                <a:latin typeface="Times New Roman" panose="02020603050405020304" pitchFamily="18" charset="0"/>
              </a:rPr>
              <a:t> con </a:t>
            </a:r>
            <a:r>
              <a:rPr lang="en-US" altLang="en-US" sz="2400" dirty="0" err="1">
                <a:solidFill>
                  <a:schemeClr val="tx1"/>
                </a:solidFill>
                <a:latin typeface="Times New Roman" panose="02020603050405020304" pitchFamily="18" charset="0"/>
              </a:rPr>
              <a:t>người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cảm</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giác</a:t>
            </a:r>
            <a:r>
              <a:rPr lang="en-US" altLang="en-US" sz="2400" dirty="0">
                <a:solidFill>
                  <a:schemeClr val="tx1"/>
                </a:solidFill>
                <a:latin typeface="Times New Roman" panose="02020603050405020304" pitchFamily="18" charset="0"/>
              </a:rPr>
              <a:t>.</a:t>
            </a:r>
            <a:br>
              <a:rPr lang="en-US" altLang="en-US" sz="2400" dirty="0">
                <a:solidFill>
                  <a:schemeClr val="tx1"/>
                </a:solidFill>
                <a:latin typeface="Times New Roman" panose="02020603050405020304" pitchFamily="18" charset="0"/>
              </a:rPr>
            </a:br>
            <a:endParaRPr lang="en-US" sz="2400" dirty="0">
              <a:solidFill>
                <a:schemeClr val="tx1"/>
              </a:solidFill>
            </a:endParaRPr>
          </a:p>
        </p:txBody>
      </p:sp>
      <p:sp>
        <p:nvSpPr>
          <p:cNvPr id="8" name="Rectangle 7"/>
          <p:cNvSpPr/>
          <p:nvPr/>
        </p:nvSpPr>
        <p:spPr>
          <a:xfrm rot="10800000" flipV="1">
            <a:off x="3981157" y="5173394"/>
            <a:ext cx="6766560" cy="96715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Arial" panose="020B0604020202020204" pitchFamily="34" charset="0"/>
              <a:buChar char="•"/>
            </a:pPr>
            <a:r>
              <a:rPr lang="en-US" altLang="en-US" sz="2400" dirty="0" err="1">
                <a:solidFill>
                  <a:schemeClr val="tx1"/>
                </a:solidFill>
                <a:latin typeface="Times New Roman" panose="02020603050405020304" pitchFamily="18" charset="0"/>
              </a:rPr>
              <a:t>Là</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cái</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mà</a:t>
            </a:r>
            <a:r>
              <a:rPr lang="en-US" altLang="en-US" sz="2400" dirty="0">
                <a:solidFill>
                  <a:schemeClr val="tx1"/>
                </a:solidFill>
                <a:latin typeface="Times New Roman" panose="02020603050405020304" pitchFamily="18" charset="0"/>
              </a:rPr>
              <a:t> ý </a:t>
            </a:r>
            <a:r>
              <a:rPr lang="en-US" altLang="en-US" sz="2400" dirty="0" err="1">
                <a:solidFill>
                  <a:schemeClr val="tx1"/>
                </a:solidFill>
                <a:latin typeface="Times New Roman" panose="02020603050405020304" pitchFamily="18" charset="0"/>
              </a:rPr>
              <a:t>thức</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chẳng</a:t>
            </a:r>
            <a:r>
              <a:rPr lang="en-US" altLang="en-US" sz="2400" dirty="0">
                <a:solidFill>
                  <a:schemeClr val="tx1"/>
                </a:solidFill>
                <a:latin typeface="Times New Roman" panose="02020603050405020304" pitchFamily="18" charset="0"/>
              </a:rPr>
              <a:t> qua </a:t>
            </a:r>
            <a:r>
              <a:rPr lang="en-US" altLang="en-US" sz="2400" dirty="0" err="1">
                <a:solidFill>
                  <a:schemeClr val="tx1"/>
                </a:solidFill>
                <a:latin typeface="Times New Roman" panose="02020603050405020304" pitchFamily="18" charset="0"/>
              </a:rPr>
              <a:t>là</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sự</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phản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ánh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của</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nó</a:t>
            </a:r>
            <a:r>
              <a:rPr lang="en-US" altLang="en-US" sz="2400" dirty="0">
                <a:solidFill>
                  <a:schemeClr val="tx1"/>
                </a:solidFill>
                <a:latin typeface="Times New Roman" panose="02020603050405020304" pitchFamily="18" charset="0"/>
              </a:rPr>
              <a:t>.</a:t>
            </a:r>
            <a:endParaRPr lang="en-US" sz="2400" dirty="0">
              <a:solidFill>
                <a:schemeClr val="tx1"/>
              </a:solidFill>
            </a:endParaRPr>
          </a:p>
        </p:txBody>
      </p:sp>
      <p:cxnSp>
        <p:nvCxnSpPr>
          <p:cNvPr id="10" name="Straight Arrow Connector 9"/>
          <p:cNvCxnSpPr/>
          <p:nvPr/>
        </p:nvCxnSpPr>
        <p:spPr>
          <a:xfrm flipV="1">
            <a:off x="2363373" y="2932234"/>
            <a:ext cx="1617784" cy="99353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370407" y="3899388"/>
            <a:ext cx="1617785" cy="4009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3"/>
            <a:endCxn id="8" idx="3"/>
          </p:cNvCxnSpPr>
          <p:nvPr/>
        </p:nvCxnSpPr>
        <p:spPr>
          <a:xfrm>
            <a:off x="2363373" y="3938954"/>
            <a:ext cx="1617784" cy="17180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
                                        </p:tgtEl>
                                        <p:attrNameLst>
                                          <p:attrName>style.visibility</p:attrName>
                                        </p:attrNameLst>
                                      </p:cBhvr>
                                      <p:to>
                                        <p:strVal val="visible"/>
                                      </p:to>
                                    </p:set>
                                    <p:anim calcmode="lin" valueType="num">
                                      <p:cBhvr additive="base">
                                        <p:cTn id="25" dur="500" fill="hold"/>
                                        <p:tgtEl>
                                          <p:spTgt spid="5"/>
                                        </p:tgtEl>
                                        <p:attrNameLst>
                                          <p:attrName>ppt_x</p:attrName>
                                        </p:attrNameLst>
                                      </p:cBhvr>
                                      <p:tavLst>
                                        <p:tav tm="0">
                                          <p:val>
                                            <p:strVal val="#ppt_x"/>
                                          </p:val>
                                        </p:tav>
                                        <p:tav tm="100000">
                                          <p:val>
                                            <p:strVal val="#ppt_x"/>
                                          </p:val>
                                        </p:tav>
                                      </p:tavLst>
                                    </p:anim>
                                    <p:anim calcmode="lin" valueType="num">
                                      <p:cBhvr additive="base">
                                        <p:cTn id="26"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12"/>
                                        </p:tgtEl>
                                        <p:attrNameLst>
                                          <p:attrName>style.visibility</p:attrName>
                                        </p:attrNameLst>
                                      </p:cBhvr>
                                      <p:to>
                                        <p:strVal val="visible"/>
                                      </p:to>
                                    </p:set>
                                    <p:anim calcmode="lin" valueType="num">
                                      <p:cBhvr additive="base">
                                        <p:cTn id="31" dur="500" fill="hold"/>
                                        <p:tgtEl>
                                          <p:spTgt spid="12"/>
                                        </p:tgtEl>
                                        <p:attrNameLst>
                                          <p:attrName>ppt_x</p:attrName>
                                        </p:attrNameLst>
                                      </p:cBhvr>
                                      <p:tavLst>
                                        <p:tav tm="0">
                                          <p:val>
                                            <p:strVal val="#ppt_x"/>
                                          </p:val>
                                        </p:tav>
                                        <p:tav tm="100000">
                                          <p:val>
                                            <p:strVal val="#ppt_x"/>
                                          </p:val>
                                        </p:tav>
                                      </p:tavLst>
                                    </p:anim>
                                    <p:anim calcmode="lin" valueType="num">
                                      <p:cBhvr additive="base">
                                        <p:cTn id="32"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tgtEl>
                                        <p:attrNameLst>
                                          <p:attrName>style.visibility</p:attrName>
                                        </p:attrNameLst>
                                      </p:cBhvr>
                                      <p:to>
                                        <p:strVal val="visible"/>
                                      </p:to>
                                    </p:set>
                                    <p:anim calcmode="lin" valueType="num">
                                      <p:cBhvr additive="base">
                                        <p:cTn id="37" dur="500" fill="hold"/>
                                        <p:tgtEl>
                                          <p:spTgt spid="6"/>
                                        </p:tgtEl>
                                        <p:attrNameLst>
                                          <p:attrName>ppt_x</p:attrName>
                                        </p:attrNameLst>
                                      </p:cBhvr>
                                      <p:tavLst>
                                        <p:tav tm="0">
                                          <p:val>
                                            <p:strVal val="#ppt_x"/>
                                          </p:val>
                                        </p:tav>
                                        <p:tav tm="100000">
                                          <p:val>
                                            <p:strVal val="#ppt_x"/>
                                          </p:val>
                                        </p:tav>
                                      </p:tavLst>
                                    </p:anim>
                                    <p:anim calcmode="lin" valueType="num">
                                      <p:cBhvr additive="base">
                                        <p:cTn id="3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14"/>
                                        </p:tgtEl>
                                        <p:attrNameLst>
                                          <p:attrName>style.visibility</p:attrName>
                                        </p:attrNameLst>
                                      </p:cBhvr>
                                      <p:to>
                                        <p:strVal val="visible"/>
                                      </p:to>
                                    </p:set>
                                    <p:anim calcmode="lin" valueType="num">
                                      <p:cBhvr additive="base">
                                        <p:cTn id="43" dur="500" fill="hold"/>
                                        <p:tgtEl>
                                          <p:spTgt spid="14"/>
                                        </p:tgtEl>
                                        <p:attrNameLst>
                                          <p:attrName>ppt_x</p:attrName>
                                        </p:attrNameLst>
                                      </p:cBhvr>
                                      <p:tavLst>
                                        <p:tav tm="0">
                                          <p:val>
                                            <p:strVal val="#ppt_x"/>
                                          </p:val>
                                        </p:tav>
                                        <p:tav tm="100000">
                                          <p:val>
                                            <p:strVal val="#ppt_x"/>
                                          </p:val>
                                        </p:tav>
                                      </p:tavLst>
                                    </p:anim>
                                    <p:anim calcmode="lin" valueType="num">
                                      <p:cBhvr additive="base">
                                        <p:cTn id="4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 calcmode="lin" valueType="num">
                                      <p:cBhvr additive="base">
                                        <p:cTn id="49" dur="500" fill="hold"/>
                                        <p:tgtEl>
                                          <p:spTgt spid="8"/>
                                        </p:tgtEl>
                                        <p:attrNameLst>
                                          <p:attrName>ppt_x</p:attrName>
                                        </p:attrNameLst>
                                      </p:cBhvr>
                                      <p:tavLst>
                                        <p:tav tm="0">
                                          <p:val>
                                            <p:strVal val="#ppt_x"/>
                                          </p:val>
                                        </p:tav>
                                        <p:tav tm="100000">
                                          <p:val>
                                            <p:strVal val="#ppt_x"/>
                                          </p:val>
                                        </p:tav>
                                      </p:tavLst>
                                    </p:anim>
                                    <p:anim calcmode="lin" valueType="num">
                                      <p:cBhvr additive="base">
                                        <p:cTn id="50"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P spid="5" grpId="0" animBg="1"/>
      <p:bldP spid="6" grpId="0" animBg="1"/>
      <p:bldP spid="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18555"/>
          </a:xfrm>
        </p:spPr>
        <p:txBody>
          <a:bodyPr/>
          <a:lstStyle/>
          <a:p>
            <a:endParaRPr lang="en-US" dirty="0"/>
          </a:p>
        </p:txBody>
      </p:sp>
      <p:sp>
        <p:nvSpPr>
          <p:cNvPr id="3" name="Rectangle 2"/>
          <p:cNvSpPr/>
          <p:nvPr/>
        </p:nvSpPr>
        <p:spPr>
          <a:xfrm>
            <a:off x="1153551" y="1392701"/>
            <a:ext cx="1603717" cy="344658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v"/>
            </a:pPr>
            <a:r>
              <a:rPr lang="en-US" sz="2200" dirty="0">
                <a:solidFill>
                  <a:schemeClr val="tx1"/>
                </a:solidFill>
                <a:latin typeface="Times New Roman" panose="02020603050405020304" pitchFamily="18" charset="0"/>
                <a:cs typeface="Times New Roman" panose="02020603050405020304" pitchFamily="18" charset="0"/>
              </a:rPr>
              <a:t>Ý </a:t>
            </a:r>
            <a:r>
              <a:rPr lang="en-US" sz="2200" dirty="0" err="1">
                <a:solidFill>
                  <a:schemeClr val="tx1"/>
                </a:solidFill>
                <a:latin typeface="Times New Roman" panose="02020603050405020304" pitchFamily="18" charset="0"/>
                <a:cs typeface="Times New Roman" panose="02020603050405020304" pitchFamily="18" charset="0"/>
              </a:rPr>
              <a:t>nghĩa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phương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pháp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luận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quan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niệm</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triết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học</a:t>
            </a:r>
            <a:r>
              <a:rPr lang="en-US" sz="2200" dirty="0">
                <a:solidFill>
                  <a:schemeClr val="tx1"/>
                </a:solidFill>
                <a:latin typeface="Times New Roman" panose="02020603050405020304" pitchFamily="18" charset="0"/>
                <a:cs typeface="Times New Roman" panose="02020603050405020304" pitchFamily="18" charset="0"/>
              </a:rPr>
              <a:t> Mac-</a:t>
            </a:r>
            <a:r>
              <a:rPr lang="en-US" sz="2200" dirty="0" err="1">
                <a:solidFill>
                  <a:schemeClr val="tx1"/>
                </a:solidFill>
                <a:latin typeface="Times New Roman" panose="02020603050405020304" pitchFamily="18" charset="0"/>
                <a:cs typeface="Times New Roman" panose="02020603050405020304" pitchFamily="18" charset="0"/>
              </a:rPr>
              <a:t>Lênin</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4220308" y="886265"/>
            <a:ext cx="6175717" cy="11113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err="1">
                <a:solidFill>
                  <a:schemeClr val="tx1"/>
                </a:solidFill>
                <a:latin typeface="Times New Roman" panose="02020603050405020304" pitchFamily="18" charset="0"/>
                <a:cs typeface="Times New Roman" panose="02020603050405020304" pitchFamily="18" charset="0"/>
              </a:rPr>
              <a:t>Đã</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giải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quyết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được</a:t>
            </a:r>
            <a:r>
              <a:rPr lang="en-US" sz="2400" dirty="0">
                <a:solidFill>
                  <a:schemeClr val="tx1"/>
                </a:solidFill>
                <a:latin typeface="Times New Roman" panose="02020603050405020304" pitchFamily="18" charset="0"/>
                <a:cs typeface="Times New Roman" panose="02020603050405020304" pitchFamily="18" charset="0"/>
              </a:rPr>
              <a:t> 2 </a:t>
            </a:r>
            <a:r>
              <a:rPr lang="en-US" sz="2400" dirty="0" err="1">
                <a:solidFill>
                  <a:schemeClr val="tx1"/>
                </a:solidFill>
                <a:latin typeface="Times New Roman" panose="02020603050405020304" pitchFamily="18" charset="0"/>
                <a:cs typeface="Times New Roman" panose="02020603050405020304" pitchFamily="18" charset="0"/>
              </a:rPr>
              <a:t>vấn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đề</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cơ</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bản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triết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học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trên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lập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trường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của</a:t>
            </a:r>
            <a:r>
              <a:rPr lang="en-US" sz="2400" dirty="0">
                <a:solidFill>
                  <a:schemeClr val="tx1"/>
                </a:solidFill>
                <a:latin typeface="Times New Roman" panose="02020603050405020304" pitchFamily="18" charset="0"/>
                <a:cs typeface="Times New Roman" panose="02020603050405020304" pitchFamily="18" charset="0"/>
              </a:rPr>
              <a:t> CNDVBC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flipH="1">
            <a:off x="4220308" y="2630660"/>
            <a:ext cx="6175716" cy="11113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err="1">
                <a:solidFill>
                  <a:schemeClr val="tx1"/>
                </a:solidFill>
                <a:latin typeface="Times New Roman" panose="02020603050405020304" pitchFamily="18" charset="0"/>
                <a:cs typeface="Times New Roman" panose="02020603050405020304" pitchFamily="18" charset="0"/>
              </a:rPr>
              <a:t>Cung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cấp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nguyên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tắc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thế</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giới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quan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và</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phương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pháp</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luận</a:t>
            </a:r>
            <a:r>
              <a:rPr lang="en-US" sz="2400" dirty="0">
                <a:solidFill>
                  <a:schemeClr val="tx1"/>
                </a:solidFill>
                <a:latin typeface="Times New Roman" panose="02020603050405020304" pitchFamily="18" charset="0"/>
                <a:cs typeface="Times New Roman" panose="02020603050405020304" pitchFamily="18" charset="0"/>
              </a:rPr>
              <a:t> khoa </a:t>
            </a:r>
            <a:r>
              <a:rPr lang="en-US" sz="2400" dirty="0" err="1">
                <a:solidFill>
                  <a:schemeClr val="tx1"/>
                </a:solidFill>
                <a:latin typeface="Times New Roman" panose="02020603050405020304" pitchFamily="18" charset="0"/>
                <a:cs typeface="Times New Roman" panose="02020603050405020304" pitchFamily="18" charset="0"/>
              </a:rPr>
              <a:t>học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để</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đấu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tranh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chống</a:t>
            </a:r>
            <a:r>
              <a:rPr lang="en-US" sz="2400" dirty="0">
                <a:solidFill>
                  <a:schemeClr val="tx1"/>
                </a:solidFill>
                <a:latin typeface="Times New Roman" panose="02020603050405020304" pitchFamily="18" charset="0"/>
                <a:cs typeface="Times New Roman" panose="02020603050405020304" pitchFamily="18" charset="0"/>
              </a:rPr>
              <a:t> CNDT, </a:t>
            </a:r>
            <a:r>
              <a:rPr lang="en-US" sz="2400" dirty="0" err="1">
                <a:solidFill>
                  <a:schemeClr val="tx1"/>
                </a:solidFill>
                <a:latin typeface="Times New Roman" panose="02020603050405020304" pitchFamily="18" charset="0"/>
                <a:cs typeface="Times New Roman" panose="02020603050405020304" pitchFamily="18" charset="0"/>
              </a:rPr>
              <a:t>thuyết</a:t>
            </a:r>
            <a:r>
              <a:rPr lang="en-US" sz="2400" dirty="0">
                <a:solidFill>
                  <a:schemeClr val="tx1"/>
                </a:solidFill>
                <a:latin typeface="Times New Roman" panose="02020603050405020304" pitchFamily="18" charset="0"/>
                <a:cs typeface="Times New Roman" panose="02020603050405020304" pitchFamily="18" charset="0"/>
              </a:rPr>
              <a:t> ko </a:t>
            </a:r>
            <a:r>
              <a:rPr lang="en-US" sz="2400" dirty="0" err="1">
                <a:solidFill>
                  <a:schemeClr val="tx1"/>
                </a:solidFill>
                <a:latin typeface="Times New Roman" panose="02020603050405020304" pitchFamily="18" charset="0"/>
                <a:cs typeface="Times New Roman" panose="02020603050405020304" pitchFamily="18" charset="0"/>
              </a:rPr>
              <a:t>thể</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biết</a:t>
            </a:r>
            <a:r>
              <a:rPr lang="en-US" sz="2400" dirty="0">
                <a:solidFill>
                  <a:schemeClr val="tx1"/>
                </a:solidFill>
                <a:latin typeface="Times New Roman" panose="02020603050405020304" pitchFamily="18" charset="0"/>
                <a:cs typeface="Times New Roman" panose="02020603050405020304" pitchFamily="18" charset="0"/>
              </a:rPr>
              <a:t>, CNDV </a:t>
            </a:r>
            <a:r>
              <a:rPr lang="en-US" sz="2400" dirty="0" err="1">
                <a:solidFill>
                  <a:schemeClr val="tx1"/>
                </a:solidFill>
                <a:latin typeface="Times New Roman" panose="02020603050405020304" pitchFamily="18" charset="0"/>
                <a:cs typeface="Times New Roman" panose="02020603050405020304" pitchFamily="18" charset="0"/>
              </a:rPr>
              <a:t>siêu</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hình</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4220308" y="4171071"/>
            <a:ext cx="6175716" cy="111134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400" dirty="0" err="1">
                <a:solidFill>
                  <a:schemeClr val="tx1"/>
                </a:solidFill>
                <a:latin typeface="Times New Roman" panose="02020603050405020304" pitchFamily="18" charset="0"/>
                <a:cs typeface="Times New Roman" panose="02020603050405020304" pitchFamily="18" charset="0"/>
              </a:rPr>
              <a:t>Trong</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nhận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thức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đòi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hỏi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phải</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quán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triệt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nguyên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tắc</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khách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quan</a:t>
            </a: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8" name="Straight Arrow Connector 7"/>
          <p:cNvCxnSpPr>
            <a:stCxn id="3" idx="3"/>
          </p:cNvCxnSpPr>
          <p:nvPr/>
        </p:nvCxnSpPr>
        <p:spPr>
          <a:xfrm flipV="1">
            <a:off x="2757268" y="1505243"/>
            <a:ext cx="1463040" cy="16107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a:stCxn id="3" idx="3"/>
          </p:cNvCxnSpPr>
          <p:nvPr/>
        </p:nvCxnSpPr>
        <p:spPr>
          <a:xfrm>
            <a:off x="2757268" y="3115994"/>
            <a:ext cx="1463040" cy="7737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757268" y="3137730"/>
            <a:ext cx="1463040" cy="170155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58132"/>
          </a:xfrm>
        </p:spPr>
        <p:txBody>
          <a:bodyPr>
            <a:normAutofit/>
          </a:bodyPr>
          <a:lstStyle/>
          <a:p>
            <a:r>
              <a:rPr lang="en-US" sz="2400" b="1" dirty="0">
                <a:latin typeface="Times New Roman" panose="02020603050405020304" pitchFamily="18" charset="0"/>
                <a:cs typeface="Times New Roman" panose="02020603050405020304" pitchFamily="18" charset="0"/>
              </a:rPr>
              <a:t>d. </a:t>
            </a:r>
            <a:r>
              <a:rPr lang="vi-VN" sz="2400" b="1" dirty="0">
                <a:latin typeface="Times New Roman" panose="02020603050405020304" pitchFamily="18" charset="0"/>
                <a:cs typeface="Times New Roman" panose="02020603050405020304" pitchFamily="18" charset="0"/>
              </a:rPr>
              <a:t>Phương </a:t>
            </a:r>
            <a:r>
              <a:rPr lang="en-US" sz="2400" b="1" dirty="0" err="1">
                <a:latin typeface="Times New Roman" panose="02020603050405020304" pitchFamily="18" charset="0"/>
                <a:cs typeface="Times New Roman" panose="02020603050405020304" pitchFamily="18" charset="0"/>
              </a:rPr>
              <a:t>thức</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tồn</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tại</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của</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vật</a:t>
            </a:r>
            <a:r>
              <a:rPr lang="en-US" sz="2400" b="1" dirty="0">
                <a:latin typeface="Times New Roman" panose="02020603050405020304" pitchFamily="18" charset="0"/>
                <a:cs typeface="Times New Roman" panose="02020603050405020304" pitchFamily="18" charset="0"/>
              </a:rPr>
              <a:t> </a:t>
            </a:r>
            <a:r>
              <a:rPr lang="en-US" sz="2400" b="1" dirty="0" err="1">
                <a:latin typeface="Times New Roman" panose="02020603050405020304" pitchFamily="18" charset="0"/>
                <a:cs typeface="Times New Roman" panose="02020603050405020304" pitchFamily="18" charset="0"/>
              </a:rPr>
              <a:t>chất</a:t>
            </a:r>
            <a:r>
              <a:rPr lang="en-US" sz="2400" b="1"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849476"/>
            <a:ext cx="10515600" cy="5327488"/>
          </a:xfrm>
        </p:spPr>
        <p:txBody>
          <a:bodyPr/>
          <a:lstStyle/>
          <a:p>
            <a:pPr>
              <a:buFont typeface="Wingdings" panose="05000000000000000000" pitchFamily="2" charset="2"/>
              <a:buChar char="v"/>
            </a:pPr>
            <a:r>
              <a:rPr lang="en-US" altLang="en-US" b="1" i="1" dirty="0" err="1">
                <a:solidFill>
                  <a:srgbClr val="FF0000"/>
                </a:solidFill>
                <a:latin typeface="Times New Roman" panose="02020603050405020304" pitchFamily="18" charset="0"/>
              </a:rPr>
              <a:t>Vận</a:t>
            </a:r>
            <a:r>
              <a:rPr lang="en-US" altLang="en-US" b="1" i="1" dirty="0">
                <a:solidFill>
                  <a:srgbClr val="FF0000"/>
                </a:solidFill>
                <a:latin typeface="Times New Roman" panose="02020603050405020304" pitchFamily="18" charset="0"/>
              </a:rPr>
              <a:t> </a:t>
            </a:r>
            <a:r>
              <a:rPr lang="en-US" altLang="en-US" b="1" i="1" dirty="0" err="1">
                <a:solidFill>
                  <a:srgbClr val="FF0000"/>
                </a:solidFill>
                <a:latin typeface="Times New Roman" panose="02020603050405020304" pitchFamily="18" charset="0"/>
              </a:rPr>
              <a:t>động</a:t>
            </a:r>
            <a:r>
              <a:rPr lang="vi-VN" altLang="en-US" b="1" i="1" dirty="0">
                <a:solidFill>
                  <a:srgbClr val="FF0000"/>
                </a:solidFill>
                <a:latin typeface="Times New Roman" panose="02020603050405020304" pitchFamily="18" charset="0"/>
              </a:rPr>
              <a:t>:</a:t>
            </a:r>
            <a:endParaRPr lang="en-US" altLang="en-US" b="1" dirty="0">
              <a:solidFill>
                <a:srgbClr val="FF0000"/>
              </a:solidFill>
            </a:endParaRPr>
          </a:p>
          <a:p>
            <a:pPr marL="0" indent="0">
              <a:buNone/>
            </a:pPr>
            <a:endParaRPr lang="en-US" dirty="0"/>
          </a:p>
        </p:txBody>
      </p:sp>
      <p:pic>
        <p:nvPicPr>
          <p:cNvPr id="1028" name="Picture 4"/>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023257" y="1507609"/>
            <a:ext cx="3396343" cy="3946134"/>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p:cNvSpPr/>
          <p:nvPr/>
        </p:nvSpPr>
        <p:spPr>
          <a:xfrm>
            <a:off x="5921829" y="1507608"/>
            <a:ext cx="4898571" cy="394613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fr-FR" altLang="en-US" sz="2400" dirty="0" err="1">
                <a:latin typeface="Times New Roman" panose="02020603050405020304" pitchFamily="18" charset="0"/>
              </a:rPr>
              <a:t>Ăngghen</a:t>
            </a:r>
            <a:r>
              <a:rPr lang="fr-FR" altLang="en-US" sz="2400" dirty="0">
                <a:latin typeface="Times New Roman" panose="02020603050405020304" pitchFamily="18" charset="0"/>
              </a:rPr>
              <a:t> </a:t>
            </a:r>
            <a:r>
              <a:rPr lang="fr-FR" altLang="en-US" sz="2400" dirty="0" err="1">
                <a:latin typeface="Times New Roman" panose="02020603050405020304" pitchFamily="18" charset="0"/>
              </a:rPr>
              <a:t>định</a:t>
            </a:r>
            <a:r>
              <a:rPr lang="fr-FR" altLang="en-US" sz="2400" dirty="0">
                <a:latin typeface="Times New Roman" panose="02020603050405020304" pitchFamily="18" charset="0"/>
              </a:rPr>
              <a:t> </a:t>
            </a:r>
            <a:r>
              <a:rPr lang="fr-FR" altLang="en-US" sz="2400" dirty="0" err="1">
                <a:latin typeface="Times New Roman" panose="02020603050405020304" pitchFamily="18" charset="0"/>
              </a:rPr>
              <a:t>nghĩa</a:t>
            </a:r>
            <a:r>
              <a:rPr lang="vi-VN" altLang="en-US" sz="2400" dirty="0">
                <a:latin typeface="Times New Roman" panose="02020603050405020304" pitchFamily="18" charset="0"/>
              </a:rPr>
              <a:t>:</a:t>
            </a:r>
            <a:endParaRPr lang="vi-VN" altLang="en-US" sz="2400" dirty="0">
              <a:latin typeface="Times New Roman" panose="02020603050405020304" pitchFamily="18" charset="0"/>
            </a:endParaRPr>
          </a:p>
          <a:p>
            <a:pPr algn="just"/>
            <a:endParaRPr lang="vi-VN" altLang="en-US" sz="2400" b="1" i="1" dirty="0">
              <a:latin typeface="Times New Roman" panose="02020603050405020304" pitchFamily="18" charset="0"/>
            </a:endParaRPr>
          </a:p>
          <a:p>
            <a:pPr algn="just"/>
            <a:r>
              <a:rPr lang="fr-FR" altLang="en-US" sz="2400" b="1" i="1" dirty="0" err="1">
                <a:latin typeface="Times New Roman" panose="02020603050405020304" pitchFamily="18" charset="0"/>
              </a:rPr>
              <a:t>Vận</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đông</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hiểu</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theo</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nghĩa</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chung</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nhất</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tức</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được</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hiểu</a:t>
            </a:r>
            <a:r>
              <a:rPr lang="fr-FR" altLang="en-US" sz="2400" b="1" i="1" dirty="0">
                <a:latin typeface="Times New Roman" panose="02020603050405020304" pitchFamily="18" charset="0"/>
              </a:rPr>
              <a:t> là </a:t>
            </a:r>
            <a:r>
              <a:rPr lang="fr-FR" altLang="en-US" sz="2400" b="1" i="1" dirty="0" err="1">
                <a:latin typeface="Times New Roman" panose="02020603050405020304" pitchFamily="18" charset="0"/>
              </a:rPr>
              <a:t>một</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phương</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thức</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tồn</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tại</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của</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vật</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chất</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thì</a:t>
            </a:r>
            <a:r>
              <a:rPr lang="fr-FR" altLang="en-US" sz="2400" b="1" i="1" dirty="0">
                <a:latin typeface="Times New Roman" panose="02020603050405020304" pitchFamily="18" charset="0"/>
              </a:rPr>
              <a:t> bao </a:t>
            </a:r>
            <a:r>
              <a:rPr lang="fr-FR" altLang="en-US" sz="2400" b="1" i="1" dirty="0" err="1">
                <a:latin typeface="Times New Roman" panose="02020603050405020304" pitchFamily="18" charset="0"/>
              </a:rPr>
              <a:t>gồm</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tất</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cả</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sự</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thay</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đổi</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và</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mọi</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quá</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trình</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diễn</a:t>
            </a:r>
            <a:r>
              <a:rPr lang="fr-FR" altLang="en-US" sz="2400" b="1" i="1" dirty="0">
                <a:latin typeface="Times New Roman" panose="02020603050405020304" pitchFamily="18" charset="0"/>
              </a:rPr>
              <a:t> ra </a:t>
            </a:r>
            <a:r>
              <a:rPr lang="fr-FR" altLang="en-US" sz="2400" b="1" i="1" dirty="0" err="1">
                <a:latin typeface="Times New Roman" panose="02020603050405020304" pitchFamily="18" charset="0"/>
              </a:rPr>
              <a:t>trong</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vũ</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trụ</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kể</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từ</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sự</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thay</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đổi</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vị</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trí</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đơn</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giản</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cho</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đến</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tư</a:t>
            </a:r>
            <a:r>
              <a:rPr lang="fr-FR" altLang="en-US" sz="2400" b="1" i="1" dirty="0">
                <a:latin typeface="Times New Roman" panose="02020603050405020304" pitchFamily="18" charset="0"/>
              </a:rPr>
              <a:t> </a:t>
            </a:r>
            <a:r>
              <a:rPr lang="fr-FR" altLang="en-US" sz="2400" b="1" i="1" dirty="0" err="1">
                <a:latin typeface="Times New Roman" panose="02020603050405020304" pitchFamily="18" charset="0"/>
              </a:rPr>
              <a:t>duy</a:t>
            </a:r>
            <a:r>
              <a:rPr lang="fr-FR" altLang="en-US" sz="2400" b="1" i="1" dirty="0">
                <a:latin typeface="Times New Roman" panose="02020603050405020304" pitchFamily="18" charset="0"/>
              </a:rPr>
              <a:t> </a:t>
            </a:r>
            <a:endParaRPr lang="en-US" sz="2400" dirty="0"/>
          </a:p>
        </p:txBody>
      </p:sp>
      <p:sp>
        <p:nvSpPr>
          <p:cNvPr id="5" name="Rectangle 4"/>
          <p:cNvSpPr/>
          <p:nvPr/>
        </p:nvSpPr>
        <p:spPr>
          <a:xfrm>
            <a:off x="1023257" y="5551713"/>
            <a:ext cx="3396342" cy="62525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b="1" dirty="0">
                <a:latin typeface="Times New Roman" panose="02020603050405020304" pitchFamily="18" charset="0"/>
                <a:cs typeface="Times New Roman" panose="02020603050405020304" pitchFamily="18" charset="0"/>
              </a:rPr>
              <a:t>1820 - 1895</a:t>
            </a:r>
            <a:endParaRPr lang="en-US" sz="2400"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32304"/>
          </a:xfrm>
        </p:spPr>
        <p:txBody>
          <a:bodyPr>
            <a:normAutofit/>
          </a:bodyPr>
          <a:lstStyle/>
          <a:p>
            <a:pPr marL="571500" indent="-571500">
              <a:buFont typeface="Wingdings" panose="05000000000000000000" pitchFamily="2" charset="2"/>
              <a:buChar char="v"/>
            </a:pPr>
            <a:r>
              <a:rPr lang="vi-VN" sz="2400" b="1" dirty="0">
                <a:solidFill>
                  <a:srgbClr val="FF0000"/>
                </a:solidFill>
                <a:latin typeface="Times New Roman" panose="02020603050405020304" pitchFamily="18" charset="0"/>
                <a:cs typeface="Times New Roman" panose="02020603050405020304" pitchFamily="18" charset="0"/>
              </a:rPr>
              <a:t>Vận động là phương thức tồn tại của vật chất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97430"/>
            <a:ext cx="10515600" cy="4979533"/>
          </a:xfrm>
        </p:spPr>
        <p:txBody>
          <a:bodyPr/>
          <a:lstStyle/>
          <a:p>
            <a:pPr marL="0" indent="0">
              <a:buNone/>
            </a:pPr>
            <a:r>
              <a:rPr lang="vi-VN" sz="2800" dirty="0">
                <a:latin typeface="Times New Roman" panose="02020603050405020304" pitchFamily="18" charset="0"/>
                <a:cs typeface="Times New Roman" panose="02020603050405020304" pitchFamily="18" charset="0"/>
              </a:rPr>
              <a:t>- </a:t>
            </a:r>
            <a:r>
              <a:rPr lang="vi-VN" sz="2800" dirty="0">
                <a:solidFill>
                  <a:srgbClr val="002060"/>
                </a:solidFill>
                <a:latin typeface="Times New Roman" panose="02020603050405020304" pitchFamily="18" charset="0"/>
                <a:cs typeface="Times New Roman" panose="02020603050405020304" pitchFamily="18" charset="0"/>
              </a:rPr>
              <a:t>Vật chất chỉ có thể tồn tại bằng cách vận động và thông qua vận động mà biểu hiện sự tồn tại.</a:t>
            </a:r>
            <a:endParaRPr lang="vi-VN" sz="2800" dirty="0">
              <a:solidFill>
                <a:srgbClr val="002060"/>
              </a:solidFill>
              <a:latin typeface="Times New Roman" panose="02020603050405020304" pitchFamily="18" charset="0"/>
              <a:cs typeface="Times New Roman" panose="02020603050405020304" pitchFamily="18" charset="0"/>
            </a:endParaRPr>
          </a:p>
          <a:p>
            <a:pPr marL="0" indent="0">
              <a:buNone/>
            </a:pPr>
            <a:r>
              <a:rPr lang="vi-VN" sz="2800" dirty="0">
                <a:solidFill>
                  <a:srgbClr val="002060"/>
                </a:solidFill>
                <a:latin typeface="Times New Roman" panose="02020603050405020304" pitchFamily="18" charset="0"/>
                <a:cs typeface="Times New Roman" panose="02020603050405020304" pitchFamily="18" charset="0"/>
              </a:rPr>
              <a:t>- Con người chỉ nhận thức sâu sắc về sự vật thông qua trạng thái vận động của thế giới vật chất.</a:t>
            </a:r>
            <a:endParaRPr lang="vi-VN" sz="2800" dirty="0">
              <a:solidFill>
                <a:srgbClr val="002060"/>
              </a:solidFill>
              <a:latin typeface="Times New Roman" panose="02020603050405020304" pitchFamily="18" charset="0"/>
              <a:cs typeface="Times New Roman" panose="02020603050405020304" pitchFamily="18" charset="0"/>
            </a:endParaRPr>
          </a:p>
          <a:p>
            <a:pPr marL="0" indent="0">
              <a:buNone/>
            </a:pPr>
            <a:r>
              <a:rPr lang="vi-VN" dirty="0">
                <a:solidFill>
                  <a:srgbClr val="002060"/>
                </a:solidFill>
                <a:latin typeface="Times New Roman" panose="02020603050405020304" pitchFamily="18" charset="0"/>
                <a:cs typeface="Times New Roman" panose="02020603050405020304" pitchFamily="18" charset="0"/>
              </a:rPr>
              <a:t>- Vận động là thuộc tính cố hữu của VC</a:t>
            </a:r>
            <a:endParaRPr lang="vi-VN" dirty="0">
              <a:solidFill>
                <a:srgbClr val="00206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vi-VN" dirty="0">
                <a:solidFill>
                  <a:schemeClr val="accent6">
                    <a:lumMod val="50000"/>
                  </a:schemeClr>
                </a:solidFill>
                <a:latin typeface="Times New Roman" panose="02020603050405020304" pitchFamily="18" charset="0"/>
                <a:cs typeface="Times New Roman" panose="02020603050405020304" pitchFamily="18" charset="0"/>
              </a:rPr>
              <a:t>Vận động của VC là vận động tự thân (chống quan điểm duy tâm và siêu hình về vận động).</a:t>
            </a:r>
            <a:endParaRPr lang="vi-VN" dirty="0">
              <a:solidFill>
                <a:schemeClr val="accent6">
                  <a:lumMod val="50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vi-VN" dirty="0">
                <a:solidFill>
                  <a:schemeClr val="accent6">
                    <a:lumMod val="50000"/>
                  </a:schemeClr>
                </a:solidFill>
                <a:latin typeface="Times New Roman" panose="02020603050405020304" pitchFamily="18" charset="0"/>
                <a:cs typeface="Times New Roman" panose="02020603050405020304" pitchFamily="18" charset="0"/>
              </a:rPr>
              <a:t>Vận động sinh ra cùng với sự vật và chỉ mất đi khi sự vật mất đi =˃ chuyển hóa thành sự vật và hình thức vận động khác</a:t>
            </a:r>
            <a:endParaRPr lang="en-US" sz="2800" dirty="0">
              <a:solidFill>
                <a:schemeClr val="accent6">
                  <a:lumMod val="50000"/>
                </a:schemeClr>
              </a:solidFill>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5639"/>
          </a:xfrm>
        </p:spPr>
        <p:txBody>
          <a:bodyPr>
            <a:normAutofit/>
          </a:bodyPr>
          <a:lstStyle/>
          <a:p>
            <a:pPr marL="571500" indent="-571500">
              <a:buFont typeface="Wingdings" panose="05000000000000000000" pitchFamily="2" charset="2"/>
              <a:buChar char="v"/>
            </a:pPr>
            <a:r>
              <a:rPr lang="fr-FR" altLang="en-US" sz="3600" b="1" dirty="0" err="1">
                <a:solidFill>
                  <a:schemeClr val="tx1"/>
                </a:solidFill>
                <a:latin typeface="Times New Roman" panose="02020603050405020304" pitchFamily="18" charset="0"/>
              </a:rPr>
              <a:t>Các</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hình</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thức</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vận</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động</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cơ</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bản</a:t>
            </a:r>
            <a:r>
              <a:rPr lang="fr-FR" altLang="en-US" sz="3600" b="1" dirty="0">
                <a:solidFill>
                  <a:schemeClr val="tx1"/>
                </a:solidFill>
                <a:latin typeface="Times New Roman" panose="02020603050405020304" pitchFamily="18" charset="0"/>
              </a:rPr>
              <a:t> </a:t>
            </a:r>
            <a:r>
              <a:rPr lang="fr-FR" altLang="en-US" sz="3600" b="1" dirty="0" err="1">
                <a:solidFill>
                  <a:schemeClr val="tx1"/>
                </a:solidFill>
                <a:latin typeface="Times New Roman" panose="02020603050405020304" pitchFamily="18" charset="0"/>
              </a:rPr>
              <a:t>của</a:t>
            </a:r>
            <a:r>
              <a:rPr lang="fr-FR" altLang="en-US" sz="3600" b="1" dirty="0">
                <a:solidFill>
                  <a:schemeClr val="tx1"/>
                </a:solidFill>
                <a:latin typeface="Times New Roman" panose="02020603050405020304" pitchFamily="18" charset="0"/>
              </a:rPr>
              <a:t> VC: </a:t>
            </a:r>
            <a:endParaRPr lang="en-US" altLang="en-US" sz="3600" b="1" dirty="0">
              <a:solidFill>
                <a:schemeClr val="tx1"/>
              </a:solidFill>
              <a:latin typeface="Times New Roman" panose="02020603050405020304" pitchFamily="18" charset="0"/>
            </a:endParaRPr>
          </a:p>
        </p:txBody>
      </p:sp>
      <p:sp>
        <p:nvSpPr>
          <p:cNvPr id="3" name="Content Placeholder 2"/>
          <p:cNvSpPr>
            <a:spLocks noGrp="1"/>
          </p:cNvSpPr>
          <p:nvPr>
            <p:ph idx="1"/>
          </p:nvPr>
        </p:nvSpPr>
        <p:spPr>
          <a:xfrm>
            <a:off x="838200" y="1537855"/>
            <a:ext cx="10515600" cy="4639108"/>
          </a:xfrm>
        </p:spPr>
        <p:txBody>
          <a:bodyPr/>
          <a:lstStyle/>
          <a:p>
            <a:pPr marL="990600" lvl="1" indent="-533400">
              <a:buNone/>
            </a:pP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Vận</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động</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cơ</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học</a:t>
            </a:r>
            <a:endParaRPr lang="en-US" altLang="en-US" sz="4400" i="1" dirty="0">
              <a:solidFill>
                <a:schemeClr val="tx1"/>
              </a:solidFill>
              <a:latin typeface="Times New Roman" panose="02020603050405020304" pitchFamily="18" charset="0"/>
            </a:endParaRPr>
          </a:p>
          <a:p>
            <a:pPr marL="990600" lvl="1" indent="-533400">
              <a:buNone/>
            </a:pP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Vận</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động</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vật</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lý</a:t>
            </a:r>
            <a:endParaRPr lang="en-US" altLang="en-US" sz="4400" i="1" dirty="0">
              <a:solidFill>
                <a:schemeClr val="tx1"/>
              </a:solidFill>
              <a:latin typeface="Times New Roman" panose="02020603050405020304" pitchFamily="18" charset="0"/>
            </a:endParaRPr>
          </a:p>
          <a:p>
            <a:pPr marL="990600" lvl="1" indent="-533400">
              <a:buNone/>
            </a:pP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Vận</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động</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hoá</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học</a:t>
            </a:r>
            <a:endParaRPr lang="en-US" altLang="en-US" sz="4400" i="1" dirty="0">
              <a:solidFill>
                <a:schemeClr val="tx1"/>
              </a:solidFill>
              <a:latin typeface="Times New Roman" panose="02020603050405020304" pitchFamily="18" charset="0"/>
            </a:endParaRPr>
          </a:p>
          <a:p>
            <a:pPr marL="990600" lvl="1" indent="-533400">
              <a:buNone/>
            </a:pP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Vận</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động</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sinh</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vật</a:t>
            </a:r>
            <a:endParaRPr lang="en-US" altLang="en-US" sz="4400" i="1" dirty="0">
              <a:solidFill>
                <a:schemeClr val="tx1"/>
              </a:solidFill>
              <a:latin typeface="Times New Roman" panose="02020603050405020304" pitchFamily="18" charset="0"/>
            </a:endParaRPr>
          </a:p>
          <a:p>
            <a:pPr marL="990600" lvl="1" indent="-533400">
              <a:buNone/>
            </a:pP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Vận</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động</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xã</a:t>
            </a:r>
            <a:r>
              <a:rPr lang="en-US" altLang="en-US" sz="4400" i="1" dirty="0">
                <a:solidFill>
                  <a:schemeClr val="tx1"/>
                </a:solidFill>
                <a:latin typeface="Times New Roman" panose="02020603050405020304" pitchFamily="18" charset="0"/>
              </a:rPr>
              <a:t> </a:t>
            </a:r>
            <a:r>
              <a:rPr lang="en-US" altLang="en-US" sz="4400" i="1" dirty="0" err="1">
                <a:solidFill>
                  <a:schemeClr val="tx1"/>
                </a:solidFill>
                <a:latin typeface="Times New Roman" panose="02020603050405020304" pitchFamily="18" charset="0"/>
              </a:rPr>
              <a:t>hội</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0275"/>
          </a:xfrm>
        </p:spPr>
        <p:txBody>
          <a:bodyPr>
            <a:normAutofit/>
          </a:bodyPr>
          <a:lstStyle/>
          <a:p>
            <a:pPr marL="457200" indent="-457200" algn="just">
              <a:buFont typeface="Wingdings" panose="05000000000000000000" pitchFamily="2" charset="2"/>
              <a:buChar char="v"/>
            </a:pPr>
            <a:r>
              <a:rPr lang="vi-VN" sz="3200" dirty="0">
                <a:latin typeface="Times New Roman" panose="02020603050405020304" pitchFamily="18" charset="0"/>
                <a:cs typeface="Times New Roman" panose="02020603050405020304" pitchFamily="18" charset="0"/>
              </a:rPr>
              <a:t>Đứng im</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32857"/>
            <a:ext cx="10515600" cy="4544106"/>
          </a:xfrm>
        </p:spPr>
        <p:txBody>
          <a:bodyPr/>
          <a:lstStyle/>
          <a:p>
            <a:pPr algn="just">
              <a:buFontTx/>
              <a:buChar char="-"/>
            </a:pPr>
            <a:r>
              <a:rPr lang="vi-VN" dirty="0">
                <a:latin typeface="Times New Roman" panose="02020603050405020304" pitchFamily="18" charset="0"/>
                <a:cs typeface="Times New Roman" panose="02020603050405020304" pitchFamily="18" charset="0"/>
              </a:rPr>
              <a:t>Đứng im là vận động trong thăng bằng khi sự vật còn là nó mà chưa chuyển thành cái khác</a:t>
            </a:r>
            <a:endParaRPr lang="vi-VN" dirty="0">
              <a:latin typeface="Times New Roman" panose="02020603050405020304" pitchFamily="18" charset="0"/>
              <a:cs typeface="Times New Roman" panose="02020603050405020304" pitchFamily="18" charset="0"/>
            </a:endParaRPr>
          </a:p>
          <a:p>
            <a:pPr algn="just">
              <a:buFontTx/>
              <a:buChar char="-"/>
            </a:pPr>
            <a:r>
              <a:rPr lang="vi-VN" dirty="0">
                <a:latin typeface="Times New Roman" panose="02020603050405020304" pitchFamily="18" charset="0"/>
                <a:cs typeface="Times New Roman" panose="02020603050405020304" pitchFamily="18" charset="0"/>
              </a:rPr>
              <a:t>Vận động là tuyệt đối, đứng im là tương đối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5418"/>
          </a:xfrm>
        </p:spPr>
        <p:txBody>
          <a:bodyPr/>
          <a:lstStyle/>
          <a:p>
            <a:endParaRPr lang="en-US" dirty="0"/>
          </a:p>
        </p:txBody>
      </p:sp>
      <p:sp>
        <p:nvSpPr>
          <p:cNvPr id="3" name="Rectangle 2"/>
          <p:cNvSpPr/>
          <p:nvPr/>
        </p:nvSpPr>
        <p:spPr>
          <a:xfrm>
            <a:off x="838201" y="522515"/>
            <a:ext cx="1197430" cy="186145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solidFill>
                  <a:schemeClr val="tx1"/>
                </a:solidFill>
                <a:latin typeface="Times New Roman" panose="02020603050405020304" pitchFamily="18" charset="0"/>
                <a:cs typeface="Times New Roman" panose="02020603050405020304" pitchFamily="18" charset="0"/>
              </a:rPr>
              <a:t>Vận động</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4" name="Rectangle 3"/>
          <p:cNvSpPr/>
          <p:nvPr/>
        </p:nvSpPr>
        <p:spPr>
          <a:xfrm>
            <a:off x="838199" y="3537857"/>
            <a:ext cx="1121228" cy="20682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Đứng im</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2852062" y="522515"/>
            <a:ext cx="2427510" cy="5551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Tuyệt đối</a:t>
            </a:r>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2852062" y="1447799"/>
            <a:ext cx="2427510" cy="5551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Vĩnh viễn</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5617029" y="838200"/>
            <a:ext cx="2111828" cy="8708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Vật chất vô cùng, vô tận</a:t>
            </a:r>
            <a:endParaRPr lang="en-US" b="1" dirty="0">
              <a:latin typeface="Times New Roman" panose="02020603050405020304" pitchFamily="18" charset="0"/>
              <a:cs typeface="Times New Roman" panose="02020603050405020304" pitchFamily="18" charset="0"/>
            </a:endParaRPr>
          </a:p>
        </p:txBody>
      </p:sp>
      <p:sp>
        <p:nvSpPr>
          <p:cNvPr id="8" name="Rectangle 7"/>
          <p:cNvSpPr/>
          <p:nvPr/>
        </p:nvSpPr>
        <p:spPr>
          <a:xfrm>
            <a:off x="2514600" y="3211285"/>
            <a:ext cx="914400" cy="26778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Đứng im tạm thời</a:t>
            </a:r>
            <a:endParaRPr lang="en-US" b="1" dirty="0">
              <a:latin typeface="Times New Roman" panose="02020603050405020304" pitchFamily="18" charset="0"/>
              <a:cs typeface="Times New Roman" panose="02020603050405020304" pitchFamily="18" charset="0"/>
            </a:endParaRPr>
          </a:p>
        </p:txBody>
      </p:sp>
      <p:sp>
        <p:nvSpPr>
          <p:cNvPr id="9" name="Rectangle: Rounded Corners 8"/>
          <p:cNvSpPr/>
          <p:nvPr/>
        </p:nvSpPr>
        <p:spPr>
          <a:xfrm>
            <a:off x="4376057" y="2617563"/>
            <a:ext cx="6868885" cy="7293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1800" b="1" dirty="0" err="1">
                <a:solidFill>
                  <a:schemeClr val="tx1"/>
                </a:solidFill>
                <a:latin typeface="Times New Roman" panose="02020603050405020304" pitchFamily="18" charset="0"/>
                <a:cs typeface="Times New Roman" panose="02020603050405020304" pitchFamily="18" charset="0"/>
              </a:rPr>
              <a:t>Là</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trạng</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thái</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ổn</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định</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về</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chất</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của</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sự</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vật</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hiện</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tượng</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trong</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những</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mối</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quan</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hệ</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và</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điều</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kiện</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cụ</a:t>
            </a:r>
            <a:r>
              <a:rPr lang="en-US" sz="1800" b="1" dirty="0">
                <a:solidFill>
                  <a:schemeClr val="tx1"/>
                </a:solidFill>
                <a:latin typeface="Times New Roman" panose="02020603050405020304" pitchFamily="18" charset="0"/>
                <a:cs typeface="Times New Roman" panose="02020603050405020304" pitchFamily="18" charset="0"/>
              </a:rPr>
              <a:t> </a:t>
            </a:r>
            <a:r>
              <a:rPr lang="en-US" sz="1800" b="1" dirty="0" err="1">
                <a:solidFill>
                  <a:schemeClr val="tx1"/>
                </a:solidFill>
                <a:latin typeface="Times New Roman" panose="02020603050405020304" pitchFamily="18" charset="0"/>
                <a:cs typeface="Times New Roman" panose="02020603050405020304" pitchFamily="18" charset="0"/>
              </a:rPr>
              <a:t>thể</a:t>
            </a:r>
            <a:endParaRPr lang="en-US" b="1" dirty="0"/>
          </a:p>
        </p:txBody>
      </p:sp>
      <p:sp>
        <p:nvSpPr>
          <p:cNvPr id="11" name="Rectangle: Rounded Corners 10"/>
          <p:cNvSpPr/>
          <p:nvPr/>
        </p:nvSpPr>
        <p:spPr>
          <a:xfrm>
            <a:off x="4376057" y="3504296"/>
            <a:ext cx="6868885" cy="7511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altLang="en-US" sz="1800" b="1" dirty="0" err="1">
                <a:solidFill>
                  <a:schemeClr val="tx1"/>
                </a:solidFill>
                <a:latin typeface="Times New Roman" panose="02020603050405020304" pitchFamily="18" charset="0"/>
              </a:rPr>
              <a:t>Đứng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im</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cân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bằng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chỉ</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xảy</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ra</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trong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một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hình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thức</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vận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động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chứ</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không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phải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xảy</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ra</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với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tất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cả</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các</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hình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thức</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vân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động</a:t>
            </a:r>
            <a:endParaRPr lang="en-US" b="1" dirty="0"/>
          </a:p>
        </p:txBody>
      </p:sp>
      <p:sp>
        <p:nvSpPr>
          <p:cNvPr id="12" name="Rectangle: Rounded Corners 11"/>
          <p:cNvSpPr/>
          <p:nvPr/>
        </p:nvSpPr>
        <p:spPr>
          <a:xfrm>
            <a:off x="4376057" y="4412802"/>
            <a:ext cx="7532916" cy="87765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28600" lvl="1" algn="just">
              <a:spcBef>
                <a:spcPts val="1000"/>
              </a:spcBef>
            </a:pPr>
            <a:r>
              <a:rPr lang="en-US" altLang="en-US" sz="1800" b="1" dirty="0" err="1">
                <a:solidFill>
                  <a:schemeClr val="tx1"/>
                </a:solidFill>
                <a:latin typeface="Times New Roman" panose="02020603050405020304" pitchFamily="18" charset="0"/>
              </a:rPr>
              <a:t>Không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phải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là</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cái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tồn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tại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vĩnh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viễn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mà</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chỉ</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tồn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tại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trong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một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thời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gian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nhất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định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trong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một</a:t>
            </a:r>
            <a:r>
              <a:rPr lang="en-US" altLang="en-US" sz="1800" b="1" dirty="0">
                <a:solidFill>
                  <a:schemeClr val="tx1"/>
                </a:solidFill>
                <a:latin typeface="Times New Roman" panose="02020603050405020304" pitchFamily="18" charset="0"/>
              </a:rPr>
              <a:t> hay </a:t>
            </a:r>
            <a:r>
              <a:rPr lang="en-US" altLang="en-US" sz="1800" b="1" dirty="0" err="1">
                <a:solidFill>
                  <a:schemeClr val="tx1"/>
                </a:solidFill>
                <a:latin typeface="Times New Roman" panose="02020603050405020304" pitchFamily="18" charset="0"/>
              </a:rPr>
              <a:t>một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số</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quan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hệ</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nhất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định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ngay</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trong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sự</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đứng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im</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vẫn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diễn</a:t>
            </a:r>
            <a:r>
              <a:rPr lang="en-US" altLang="en-US" sz="1800" b="1" dirty="0">
                <a:solidFill>
                  <a:schemeClr val="tx1"/>
                </a:solidFill>
                <a:latin typeface="Times New Roman" panose="02020603050405020304" pitchFamily="18" charset="0"/>
              </a:rPr>
              <a:t> qua </a:t>
            </a:r>
            <a:r>
              <a:rPr lang="en-US" altLang="en-US" sz="1800" b="1" dirty="0" err="1">
                <a:solidFill>
                  <a:schemeClr val="tx1"/>
                </a:solidFill>
                <a:latin typeface="Times New Roman" panose="02020603050405020304" pitchFamily="18" charset="0"/>
              </a:rPr>
              <a:t>những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quá</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trình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biến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đổi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nhất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định</a:t>
            </a:r>
            <a:endParaRPr lang="en-US" altLang="en-US" sz="1800" b="1" dirty="0">
              <a:solidFill>
                <a:schemeClr val="tx1"/>
              </a:solidFill>
              <a:latin typeface="Times New Roman" panose="02020603050405020304" pitchFamily="18" charset="0"/>
            </a:endParaRPr>
          </a:p>
        </p:txBody>
      </p:sp>
      <p:sp>
        <p:nvSpPr>
          <p:cNvPr id="13" name="Rectangle: Rounded Corners 12"/>
          <p:cNvSpPr/>
          <p:nvPr/>
        </p:nvSpPr>
        <p:spPr>
          <a:xfrm>
            <a:off x="4376057" y="5447850"/>
            <a:ext cx="7532916" cy="104502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altLang="en-US" sz="1800" b="1" dirty="0" err="1">
                <a:solidFill>
                  <a:schemeClr val="tx1"/>
                </a:solidFill>
                <a:latin typeface="Times New Roman" panose="02020603050405020304" pitchFamily="18" charset="0"/>
              </a:rPr>
              <a:t>Là</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trạng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thái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đặc</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biệt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của</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vận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động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đó</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là</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vận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động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trong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thế</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cân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bằng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ổn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định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vận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động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chưa</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làm</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thay</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đổi</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cơ</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bản</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về</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chất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về</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vị</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trí</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hình</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dáng</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kết</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cấu</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của</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sự</a:t>
            </a:r>
            <a:r>
              <a:rPr lang="en-US" altLang="en-US" sz="1800" b="1" dirty="0">
                <a:solidFill>
                  <a:schemeClr val="tx1"/>
                </a:solidFill>
                <a:latin typeface="Times New Roman" panose="02020603050405020304" pitchFamily="18" charset="0"/>
              </a:rPr>
              <a:t> </a:t>
            </a:r>
            <a:r>
              <a:rPr lang="en-US" altLang="en-US" sz="1800" b="1" dirty="0" err="1">
                <a:solidFill>
                  <a:schemeClr val="tx1"/>
                </a:solidFill>
                <a:latin typeface="Times New Roman" panose="02020603050405020304" pitchFamily="18" charset="0"/>
              </a:rPr>
              <a:t>vật</a:t>
            </a:r>
            <a:r>
              <a:rPr lang="en-US" altLang="en-US" sz="1800" b="1" dirty="0">
                <a:solidFill>
                  <a:schemeClr val="tx1"/>
                </a:solidFill>
                <a:latin typeface="Times New Roman" panose="02020603050405020304" pitchFamily="18" charset="0"/>
              </a:rPr>
              <a:t>.</a:t>
            </a:r>
            <a:endParaRPr lang="en-US" b="1" dirty="0"/>
          </a:p>
        </p:txBody>
      </p:sp>
      <p:cxnSp>
        <p:nvCxnSpPr>
          <p:cNvPr id="15" name="Straight Arrow Connector 14"/>
          <p:cNvCxnSpPr/>
          <p:nvPr/>
        </p:nvCxnSpPr>
        <p:spPr>
          <a:xfrm>
            <a:off x="1262743" y="2383971"/>
            <a:ext cx="0" cy="11538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0" name="Straight Arrow Connector 19"/>
          <p:cNvCxnSpPr>
            <a:endCxn id="3" idx="2"/>
          </p:cNvCxnSpPr>
          <p:nvPr/>
        </p:nvCxnSpPr>
        <p:spPr>
          <a:xfrm flipH="1" flipV="1">
            <a:off x="1436916" y="2383971"/>
            <a:ext cx="54427" cy="115388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22" name="Straight Arrow Connector 21"/>
          <p:cNvCxnSpPr/>
          <p:nvPr/>
        </p:nvCxnSpPr>
        <p:spPr>
          <a:xfrm flipV="1">
            <a:off x="2035629" y="800101"/>
            <a:ext cx="810985" cy="6476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p:cNvCxnSpPr>
            <a:stCxn id="3" idx="3"/>
            <a:endCxn id="6" idx="1"/>
          </p:cNvCxnSpPr>
          <p:nvPr/>
        </p:nvCxnSpPr>
        <p:spPr>
          <a:xfrm>
            <a:off x="2035631" y="1453243"/>
            <a:ext cx="816431" cy="2721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6" name="Straight Connector 25"/>
          <p:cNvCxnSpPr>
            <a:endCxn id="7" idx="1"/>
          </p:cNvCxnSpPr>
          <p:nvPr/>
        </p:nvCxnSpPr>
        <p:spPr>
          <a:xfrm>
            <a:off x="5279572" y="838200"/>
            <a:ext cx="337457" cy="435429"/>
          </a:xfrm>
          <a:prstGeom prst="line">
            <a:avLst/>
          </a:prstGeom>
        </p:spPr>
        <p:style>
          <a:lnRef idx="1">
            <a:schemeClr val="dk1"/>
          </a:lnRef>
          <a:fillRef idx="0">
            <a:schemeClr val="dk1"/>
          </a:fillRef>
          <a:effectRef idx="0">
            <a:schemeClr val="dk1"/>
          </a:effectRef>
          <a:fontRef idx="minor">
            <a:schemeClr val="tx1"/>
          </a:fontRef>
        </p:style>
      </p:cxnSp>
      <p:cxnSp>
        <p:nvCxnSpPr>
          <p:cNvPr id="29" name="Straight Connector 28"/>
          <p:cNvCxnSpPr>
            <a:stCxn id="6" idx="3"/>
            <a:endCxn id="7" idx="1"/>
          </p:cNvCxnSpPr>
          <p:nvPr/>
        </p:nvCxnSpPr>
        <p:spPr>
          <a:xfrm flipV="1">
            <a:off x="5279572" y="1273629"/>
            <a:ext cx="337457" cy="451757"/>
          </a:xfrm>
          <a:prstGeom prst="line">
            <a:avLst/>
          </a:prstGeom>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endCxn id="8" idx="1"/>
          </p:cNvCxnSpPr>
          <p:nvPr/>
        </p:nvCxnSpPr>
        <p:spPr>
          <a:xfrm flipV="1">
            <a:off x="1959427" y="4550228"/>
            <a:ext cx="555173" cy="3265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p:cNvCxnSpPr>
            <a:stCxn id="8" idx="3"/>
            <a:endCxn id="9" idx="1"/>
          </p:cNvCxnSpPr>
          <p:nvPr/>
        </p:nvCxnSpPr>
        <p:spPr>
          <a:xfrm flipV="1">
            <a:off x="3429000" y="2982234"/>
            <a:ext cx="947057" cy="1567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8" idx="3"/>
            <a:endCxn id="11" idx="1"/>
          </p:cNvCxnSpPr>
          <p:nvPr/>
        </p:nvCxnSpPr>
        <p:spPr>
          <a:xfrm flipV="1">
            <a:off x="3429000" y="3879853"/>
            <a:ext cx="947057" cy="6703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a:stCxn id="8" idx="3"/>
            <a:endCxn id="12" idx="1"/>
          </p:cNvCxnSpPr>
          <p:nvPr/>
        </p:nvCxnSpPr>
        <p:spPr>
          <a:xfrm>
            <a:off x="3429000" y="4550228"/>
            <a:ext cx="947057" cy="30140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a:stCxn id="8" idx="3"/>
            <a:endCxn id="13" idx="1"/>
          </p:cNvCxnSpPr>
          <p:nvPr/>
        </p:nvCxnSpPr>
        <p:spPr>
          <a:xfrm>
            <a:off x="3429000" y="4550228"/>
            <a:ext cx="947057" cy="14201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54075"/>
          </a:xfrm>
        </p:spPr>
        <p:txBody>
          <a:bodyPr>
            <a:normAutofit/>
          </a:bodyPr>
          <a:lstStyle/>
          <a:p>
            <a:pPr marL="457200" indent="-457200" algn="just">
              <a:buFont typeface="Wingdings" panose="05000000000000000000" pitchFamily="2" charset="2"/>
              <a:buChar char="v"/>
            </a:pPr>
            <a:r>
              <a:rPr lang="en-US" sz="3200" dirty="0" err="1">
                <a:latin typeface="Times New Roman" panose="02020603050405020304" pitchFamily="18" charset="0"/>
                <a:cs typeface="Times New Roman" panose="02020603050405020304" pitchFamily="18" charset="0"/>
              </a:rPr>
              <a:t>Không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và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thời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gian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19200"/>
            <a:ext cx="10515600" cy="4957763"/>
          </a:xfrm>
        </p:spPr>
        <p:txBody>
          <a:bodyPr>
            <a:normAutofit lnSpcReduction="10000"/>
          </a:bodyPr>
          <a:lstStyle/>
          <a:p>
            <a:pPr algn="just">
              <a:spcBef>
                <a:spcPts val="1200"/>
              </a:spcBef>
              <a:spcAft>
                <a:spcPts val="1200"/>
              </a:spcAft>
              <a:buFontTx/>
              <a:buChar char="-"/>
              <a:defRPr/>
            </a:pPr>
            <a:r>
              <a:rPr lang="fr-FR" sz="2400" b="1" i="1" dirty="0" err="1">
                <a:latin typeface="Times New Roman" panose="02020603050405020304" pitchFamily="18" charset="0"/>
              </a:rPr>
              <a:t>Không</a:t>
            </a:r>
            <a:r>
              <a:rPr lang="fr-FR" sz="2400" b="1" i="1" dirty="0">
                <a:latin typeface="Times New Roman" panose="02020603050405020304" pitchFamily="18" charset="0"/>
              </a:rPr>
              <a:t> </a:t>
            </a:r>
            <a:r>
              <a:rPr lang="fr-FR" sz="2400" b="1" i="1" dirty="0" err="1">
                <a:latin typeface="Times New Roman" panose="02020603050405020304" pitchFamily="18" charset="0"/>
              </a:rPr>
              <a:t>gian</a:t>
            </a:r>
            <a:r>
              <a:rPr lang="fr-FR" sz="2400" dirty="0">
                <a:latin typeface="Times New Roman" panose="02020603050405020304" pitchFamily="18" charset="0"/>
              </a:rPr>
              <a:t> là </a:t>
            </a:r>
            <a:r>
              <a:rPr lang="fr-FR" sz="2400" dirty="0" err="1">
                <a:latin typeface="Times New Roman" panose="02020603050405020304" pitchFamily="18" charset="0"/>
              </a:rPr>
              <a:t>hình</a:t>
            </a:r>
            <a:r>
              <a:rPr lang="fr-FR" sz="2400" dirty="0">
                <a:latin typeface="Times New Roman" panose="02020603050405020304" pitchFamily="18" charset="0"/>
              </a:rPr>
              <a:t> </a:t>
            </a:r>
            <a:r>
              <a:rPr lang="fr-FR" sz="2400" dirty="0" err="1">
                <a:latin typeface="Times New Roman" panose="02020603050405020304" pitchFamily="18" charset="0"/>
              </a:rPr>
              <a:t>thức</a:t>
            </a:r>
            <a:r>
              <a:rPr lang="fr-FR" sz="2400" dirty="0">
                <a:latin typeface="Times New Roman" panose="02020603050405020304" pitchFamily="18" charset="0"/>
              </a:rPr>
              <a:t> </a:t>
            </a:r>
            <a:r>
              <a:rPr lang="fr-FR" sz="2400" dirty="0" err="1">
                <a:latin typeface="Times New Roman" panose="02020603050405020304" pitchFamily="18" charset="0"/>
              </a:rPr>
              <a:t>tồn</a:t>
            </a:r>
            <a:r>
              <a:rPr lang="fr-FR" sz="2400" dirty="0">
                <a:latin typeface="Times New Roman" panose="02020603050405020304" pitchFamily="18" charset="0"/>
              </a:rPr>
              <a:t> </a:t>
            </a:r>
            <a:r>
              <a:rPr lang="fr-FR" sz="2400" dirty="0" err="1">
                <a:latin typeface="Times New Roman" panose="02020603050405020304" pitchFamily="18" charset="0"/>
              </a:rPr>
              <a:t>tại</a:t>
            </a:r>
            <a:r>
              <a:rPr lang="fr-FR" sz="2400" dirty="0">
                <a:latin typeface="Times New Roman" panose="02020603050405020304" pitchFamily="18" charset="0"/>
              </a:rPr>
              <a:t> </a:t>
            </a:r>
            <a:r>
              <a:rPr lang="fr-FR" sz="2400" dirty="0" err="1">
                <a:latin typeface="Times New Roman" panose="02020603050405020304" pitchFamily="18" charset="0"/>
              </a:rPr>
              <a:t>của</a:t>
            </a:r>
            <a:r>
              <a:rPr lang="fr-FR" sz="2400" dirty="0">
                <a:latin typeface="Times New Roman" panose="02020603050405020304" pitchFamily="18" charset="0"/>
              </a:rPr>
              <a:t> </a:t>
            </a:r>
            <a:r>
              <a:rPr lang="fr-FR" sz="2400" dirty="0" err="1">
                <a:latin typeface="Times New Roman" panose="02020603050405020304" pitchFamily="18" charset="0"/>
              </a:rPr>
              <a:t>mọi</a:t>
            </a:r>
            <a:r>
              <a:rPr lang="fr-FR" sz="2400" dirty="0">
                <a:latin typeface="Times New Roman" panose="02020603050405020304" pitchFamily="18" charset="0"/>
              </a:rPr>
              <a:t> </a:t>
            </a:r>
            <a:r>
              <a:rPr lang="fr-FR" sz="2400" dirty="0" err="1">
                <a:latin typeface="Times New Roman" panose="02020603050405020304" pitchFamily="18" charset="0"/>
              </a:rPr>
              <a:t>dạng</a:t>
            </a:r>
            <a:r>
              <a:rPr lang="fr-FR" sz="2400" dirty="0">
                <a:latin typeface="Times New Roman" panose="02020603050405020304" pitchFamily="18" charset="0"/>
              </a:rPr>
              <a:t> </a:t>
            </a:r>
            <a:r>
              <a:rPr lang="fr-FR" sz="2400" dirty="0" err="1">
                <a:latin typeface="Times New Roman" panose="02020603050405020304" pitchFamily="18" charset="0"/>
              </a:rPr>
              <a:t>vật</a:t>
            </a:r>
            <a:r>
              <a:rPr lang="fr-FR" sz="2400" dirty="0">
                <a:latin typeface="Times New Roman" panose="02020603050405020304" pitchFamily="18" charset="0"/>
              </a:rPr>
              <a:t> </a:t>
            </a:r>
            <a:r>
              <a:rPr lang="fr-FR" sz="2400" dirty="0" err="1">
                <a:latin typeface="Times New Roman" panose="02020603050405020304" pitchFamily="18" charset="0"/>
              </a:rPr>
              <a:t>chất</a:t>
            </a:r>
            <a:r>
              <a:rPr lang="fr-FR" sz="2400" dirty="0">
                <a:latin typeface="Times New Roman" panose="02020603050405020304" pitchFamily="18" charset="0"/>
              </a:rPr>
              <a:t> ở </a:t>
            </a:r>
            <a:r>
              <a:rPr lang="fr-FR" sz="2400" dirty="0" err="1">
                <a:latin typeface="Times New Roman" panose="02020603050405020304" pitchFamily="18" charset="0"/>
              </a:rPr>
              <a:t>một</a:t>
            </a:r>
            <a:r>
              <a:rPr lang="fr-FR" sz="2400" dirty="0">
                <a:latin typeface="Times New Roman" panose="02020603050405020304" pitchFamily="18" charset="0"/>
              </a:rPr>
              <a:t> </a:t>
            </a:r>
            <a:r>
              <a:rPr lang="fr-FR" sz="2400" dirty="0" err="1">
                <a:latin typeface="Times New Roman" panose="02020603050405020304" pitchFamily="18" charset="0"/>
              </a:rPr>
              <a:t>vị</a:t>
            </a:r>
            <a:r>
              <a:rPr lang="fr-FR" sz="2400" dirty="0">
                <a:latin typeface="Times New Roman" panose="02020603050405020304" pitchFamily="18" charset="0"/>
              </a:rPr>
              <a:t> </a:t>
            </a:r>
            <a:r>
              <a:rPr lang="fr-FR" sz="2400" dirty="0" err="1">
                <a:latin typeface="Times New Roman" panose="02020603050405020304" pitchFamily="18" charset="0"/>
              </a:rPr>
              <a:t>trí</a:t>
            </a:r>
            <a:r>
              <a:rPr lang="fr-FR" sz="2400" dirty="0">
                <a:latin typeface="Times New Roman" panose="02020603050405020304" pitchFamily="18" charset="0"/>
              </a:rPr>
              <a:t> </a:t>
            </a:r>
            <a:r>
              <a:rPr lang="fr-FR" sz="2400" dirty="0" err="1">
                <a:latin typeface="Times New Roman" panose="02020603050405020304" pitchFamily="18" charset="0"/>
              </a:rPr>
              <a:t>nhất</a:t>
            </a:r>
            <a:r>
              <a:rPr lang="fr-FR" sz="2400" dirty="0">
                <a:latin typeface="Times New Roman" panose="02020603050405020304" pitchFamily="18" charset="0"/>
              </a:rPr>
              <a:t> </a:t>
            </a:r>
            <a:r>
              <a:rPr lang="fr-FR" sz="2400" dirty="0" err="1">
                <a:latin typeface="Times New Roman" panose="02020603050405020304" pitchFamily="18" charset="0"/>
              </a:rPr>
              <a:t>định</a:t>
            </a:r>
            <a:r>
              <a:rPr lang="fr-FR" sz="2400" dirty="0">
                <a:latin typeface="Times New Roman" panose="02020603050405020304" pitchFamily="18" charset="0"/>
              </a:rPr>
              <a:t>, </a:t>
            </a:r>
            <a:r>
              <a:rPr lang="fr-FR" sz="2400" dirty="0" err="1">
                <a:latin typeface="Times New Roman" panose="02020603050405020304" pitchFamily="18" charset="0"/>
              </a:rPr>
              <a:t>có</a:t>
            </a:r>
            <a:r>
              <a:rPr lang="fr-FR" sz="2400" dirty="0">
                <a:latin typeface="Times New Roman" panose="02020603050405020304" pitchFamily="18" charset="0"/>
              </a:rPr>
              <a:t> </a:t>
            </a:r>
            <a:r>
              <a:rPr lang="fr-FR" sz="2400" dirty="0" err="1">
                <a:latin typeface="Times New Roman" panose="02020603050405020304" pitchFamily="18" charset="0"/>
              </a:rPr>
              <a:t>một</a:t>
            </a:r>
            <a:r>
              <a:rPr lang="fr-FR" sz="2400" dirty="0">
                <a:latin typeface="Times New Roman" panose="02020603050405020304" pitchFamily="18" charset="0"/>
              </a:rPr>
              <a:t> </a:t>
            </a:r>
            <a:r>
              <a:rPr lang="fr-FR" sz="2400" dirty="0" err="1">
                <a:latin typeface="Times New Roman" panose="02020603050405020304" pitchFamily="18" charset="0"/>
              </a:rPr>
              <a:t>quảng</a:t>
            </a:r>
            <a:r>
              <a:rPr lang="fr-FR" sz="2400" dirty="0">
                <a:latin typeface="Times New Roman" panose="02020603050405020304" pitchFamily="18" charset="0"/>
              </a:rPr>
              <a:t> </a:t>
            </a:r>
            <a:r>
              <a:rPr lang="fr-FR" sz="2400" dirty="0" err="1">
                <a:latin typeface="Times New Roman" panose="02020603050405020304" pitchFamily="18" charset="0"/>
              </a:rPr>
              <a:t>tính</a:t>
            </a:r>
            <a:r>
              <a:rPr lang="fr-FR" sz="2400" dirty="0">
                <a:latin typeface="Times New Roman" panose="02020603050405020304" pitchFamily="18" charset="0"/>
              </a:rPr>
              <a:t> (</a:t>
            </a:r>
            <a:r>
              <a:rPr lang="fr-FR" sz="2400" dirty="0" err="1">
                <a:latin typeface="Times New Roman" panose="02020603050405020304" pitchFamily="18" charset="0"/>
              </a:rPr>
              <a:t>chiều</a:t>
            </a:r>
            <a:r>
              <a:rPr lang="fr-FR" sz="2400" dirty="0">
                <a:latin typeface="Times New Roman" panose="02020603050405020304" pitchFamily="18" charset="0"/>
              </a:rPr>
              <a:t> </a:t>
            </a:r>
            <a:r>
              <a:rPr lang="fr-FR" sz="2400" dirty="0" err="1">
                <a:latin typeface="Times New Roman" panose="02020603050405020304" pitchFamily="18" charset="0"/>
              </a:rPr>
              <a:t>cao</a:t>
            </a:r>
            <a:r>
              <a:rPr lang="fr-FR" sz="2400" dirty="0">
                <a:latin typeface="Times New Roman" panose="02020603050405020304" pitchFamily="18" charset="0"/>
              </a:rPr>
              <a:t>, </a:t>
            </a:r>
            <a:r>
              <a:rPr lang="fr-FR" sz="2400" dirty="0" err="1">
                <a:latin typeface="Times New Roman" panose="02020603050405020304" pitchFamily="18" charset="0"/>
              </a:rPr>
              <a:t>rộng</a:t>
            </a:r>
            <a:r>
              <a:rPr lang="fr-FR" sz="2400" dirty="0">
                <a:latin typeface="Times New Roman" panose="02020603050405020304" pitchFamily="18" charset="0"/>
              </a:rPr>
              <a:t>, </a:t>
            </a:r>
            <a:r>
              <a:rPr lang="fr-FR" sz="2400" dirty="0" err="1">
                <a:latin typeface="Times New Roman" panose="02020603050405020304" pitchFamily="18" charset="0"/>
              </a:rPr>
              <a:t>dài</a:t>
            </a:r>
            <a:r>
              <a:rPr lang="fr-FR" sz="2400" dirty="0">
                <a:latin typeface="Times New Roman" panose="02020603050405020304" pitchFamily="18" charset="0"/>
              </a:rPr>
              <a:t>) </a:t>
            </a:r>
            <a:r>
              <a:rPr lang="fr-FR" sz="2400" dirty="0" err="1">
                <a:latin typeface="Times New Roman" panose="02020603050405020304" pitchFamily="18" charset="0"/>
              </a:rPr>
              <a:t>nhất</a:t>
            </a:r>
            <a:r>
              <a:rPr lang="fr-FR" sz="2400" dirty="0">
                <a:latin typeface="Times New Roman" panose="02020603050405020304" pitchFamily="18" charset="0"/>
              </a:rPr>
              <a:t> </a:t>
            </a:r>
            <a:r>
              <a:rPr lang="fr-FR" sz="2400" dirty="0" err="1">
                <a:latin typeface="Times New Roman" panose="02020603050405020304" pitchFamily="18" charset="0"/>
              </a:rPr>
              <a:t>định</a:t>
            </a:r>
            <a:r>
              <a:rPr lang="fr-FR" sz="2400" dirty="0">
                <a:latin typeface="Times New Roman" panose="02020603050405020304" pitchFamily="18" charset="0"/>
              </a:rPr>
              <a:t> </a:t>
            </a:r>
            <a:r>
              <a:rPr lang="fr-FR" sz="2400" dirty="0" err="1">
                <a:latin typeface="Times New Roman" panose="02020603050405020304" pitchFamily="18" charset="0"/>
              </a:rPr>
              <a:t>và</a:t>
            </a:r>
            <a:r>
              <a:rPr lang="fr-FR" sz="2400" dirty="0">
                <a:latin typeface="Times New Roman" panose="02020603050405020304" pitchFamily="18" charset="0"/>
              </a:rPr>
              <a:t> </a:t>
            </a:r>
            <a:r>
              <a:rPr lang="fr-FR" sz="2400" dirty="0" err="1">
                <a:latin typeface="Times New Roman" panose="02020603050405020304" pitchFamily="18" charset="0"/>
              </a:rPr>
              <a:t>trong</a:t>
            </a:r>
            <a:r>
              <a:rPr lang="fr-FR" sz="2400" dirty="0">
                <a:latin typeface="Times New Roman" panose="02020603050405020304" pitchFamily="18" charset="0"/>
              </a:rPr>
              <a:t> </a:t>
            </a:r>
            <a:r>
              <a:rPr lang="fr-FR" sz="2400" dirty="0" err="1">
                <a:latin typeface="Times New Roman" panose="02020603050405020304" pitchFamily="18" charset="0"/>
              </a:rPr>
              <a:t>các</a:t>
            </a:r>
            <a:r>
              <a:rPr lang="fr-FR" sz="2400" dirty="0">
                <a:latin typeface="Times New Roman" panose="02020603050405020304" pitchFamily="18" charset="0"/>
              </a:rPr>
              <a:t> </a:t>
            </a:r>
            <a:r>
              <a:rPr lang="fr-FR" sz="2400" dirty="0" err="1">
                <a:latin typeface="Times New Roman" panose="02020603050405020304" pitchFamily="18" charset="0"/>
              </a:rPr>
              <a:t>mối</a:t>
            </a:r>
            <a:r>
              <a:rPr lang="fr-FR" sz="2400" dirty="0">
                <a:latin typeface="Times New Roman" panose="02020603050405020304" pitchFamily="18" charset="0"/>
              </a:rPr>
              <a:t> </a:t>
            </a:r>
            <a:r>
              <a:rPr lang="fr-FR" sz="2400" dirty="0" err="1">
                <a:latin typeface="Times New Roman" panose="02020603050405020304" pitchFamily="18" charset="0"/>
              </a:rPr>
              <a:t>tương</a:t>
            </a:r>
            <a:r>
              <a:rPr lang="fr-FR" sz="2400" dirty="0">
                <a:latin typeface="Times New Roman" panose="02020603050405020304" pitchFamily="18" charset="0"/>
              </a:rPr>
              <a:t> </a:t>
            </a:r>
            <a:r>
              <a:rPr lang="fr-FR" sz="2400" dirty="0" err="1">
                <a:latin typeface="Times New Roman" panose="02020603050405020304" pitchFamily="18" charset="0"/>
              </a:rPr>
              <a:t>quan</a:t>
            </a:r>
            <a:r>
              <a:rPr lang="fr-FR" sz="2400" dirty="0">
                <a:latin typeface="Times New Roman" panose="02020603050405020304" pitchFamily="18" charset="0"/>
              </a:rPr>
              <a:t> </a:t>
            </a:r>
            <a:r>
              <a:rPr lang="fr-FR" sz="2400" dirty="0" err="1">
                <a:latin typeface="Times New Roman" panose="02020603050405020304" pitchFamily="18" charset="0"/>
              </a:rPr>
              <a:t>nhất</a:t>
            </a:r>
            <a:r>
              <a:rPr lang="fr-FR" sz="2400" dirty="0">
                <a:latin typeface="Times New Roman" panose="02020603050405020304" pitchFamily="18" charset="0"/>
              </a:rPr>
              <a:t> </a:t>
            </a:r>
            <a:r>
              <a:rPr lang="fr-FR" sz="2400" dirty="0" err="1">
                <a:latin typeface="Times New Roman" panose="02020603050405020304" pitchFamily="18" charset="0"/>
              </a:rPr>
              <a:t>định</a:t>
            </a:r>
            <a:r>
              <a:rPr lang="fr-FR" sz="2400" dirty="0">
                <a:latin typeface="Times New Roman" panose="02020603050405020304" pitchFamily="18" charset="0"/>
              </a:rPr>
              <a:t> (</a:t>
            </a:r>
            <a:r>
              <a:rPr lang="fr-FR" sz="2400" dirty="0" err="1">
                <a:latin typeface="Times New Roman" panose="02020603050405020304" pitchFamily="18" charset="0"/>
              </a:rPr>
              <a:t>trước</a:t>
            </a:r>
            <a:r>
              <a:rPr lang="fr-FR" sz="2400" dirty="0">
                <a:latin typeface="Times New Roman" panose="02020603050405020304" pitchFamily="18" charset="0"/>
              </a:rPr>
              <a:t> </a:t>
            </a:r>
            <a:r>
              <a:rPr lang="fr-FR" sz="2400" dirty="0" err="1">
                <a:latin typeface="Times New Roman" panose="02020603050405020304" pitchFamily="18" charset="0"/>
              </a:rPr>
              <a:t>hay</a:t>
            </a:r>
            <a:r>
              <a:rPr lang="fr-FR" sz="2400" dirty="0">
                <a:latin typeface="Times New Roman" panose="02020603050405020304" pitchFamily="18" charset="0"/>
              </a:rPr>
              <a:t> </a:t>
            </a:r>
            <a:r>
              <a:rPr lang="fr-FR" sz="2400" dirty="0" err="1">
                <a:latin typeface="Times New Roman" panose="02020603050405020304" pitchFamily="18" charset="0"/>
              </a:rPr>
              <a:t>sau</a:t>
            </a:r>
            <a:r>
              <a:rPr lang="fr-FR" sz="2400" dirty="0">
                <a:latin typeface="Times New Roman" panose="02020603050405020304" pitchFamily="18" charset="0"/>
              </a:rPr>
              <a:t>, </a:t>
            </a:r>
            <a:r>
              <a:rPr lang="fr-FR" sz="2400" dirty="0" err="1">
                <a:latin typeface="Times New Roman" panose="02020603050405020304" pitchFamily="18" charset="0"/>
              </a:rPr>
              <a:t>trên</a:t>
            </a:r>
            <a:r>
              <a:rPr lang="fr-FR" sz="2400" dirty="0">
                <a:latin typeface="Times New Roman" panose="02020603050405020304" pitchFamily="18" charset="0"/>
              </a:rPr>
              <a:t> </a:t>
            </a:r>
            <a:r>
              <a:rPr lang="fr-FR" sz="2400" dirty="0" err="1">
                <a:latin typeface="Times New Roman" panose="02020603050405020304" pitchFamily="18" charset="0"/>
              </a:rPr>
              <a:t>hay</a:t>
            </a:r>
            <a:r>
              <a:rPr lang="fr-FR" sz="2400" dirty="0">
                <a:latin typeface="Times New Roman" panose="02020603050405020304" pitchFamily="18" charset="0"/>
              </a:rPr>
              <a:t> </a:t>
            </a:r>
            <a:r>
              <a:rPr lang="fr-FR" sz="2400" dirty="0" err="1">
                <a:latin typeface="Times New Roman" panose="02020603050405020304" pitchFamily="18" charset="0"/>
              </a:rPr>
              <a:t>dưới</a:t>
            </a:r>
            <a:r>
              <a:rPr lang="fr-FR" sz="2400" dirty="0">
                <a:latin typeface="Times New Roman" panose="02020603050405020304" pitchFamily="18" charset="0"/>
              </a:rPr>
              <a:t>, </a:t>
            </a:r>
            <a:r>
              <a:rPr lang="fr-FR" sz="2400" dirty="0" err="1">
                <a:latin typeface="Times New Roman" panose="02020603050405020304" pitchFamily="18" charset="0"/>
              </a:rPr>
              <a:t>bên</a:t>
            </a:r>
            <a:r>
              <a:rPr lang="fr-FR" sz="2400" dirty="0">
                <a:latin typeface="Times New Roman" panose="02020603050405020304" pitchFamily="18" charset="0"/>
              </a:rPr>
              <a:t> </a:t>
            </a:r>
            <a:r>
              <a:rPr lang="fr-FR" sz="2400" dirty="0" err="1">
                <a:latin typeface="Times New Roman" panose="02020603050405020304" pitchFamily="18" charset="0"/>
              </a:rPr>
              <a:t>phải</a:t>
            </a:r>
            <a:r>
              <a:rPr lang="fr-FR" sz="2400" dirty="0">
                <a:latin typeface="Times New Roman" panose="02020603050405020304" pitchFamily="18" charset="0"/>
              </a:rPr>
              <a:t> </a:t>
            </a:r>
            <a:r>
              <a:rPr lang="fr-FR" sz="2400" dirty="0" err="1">
                <a:latin typeface="Times New Roman" panose="02020603050405020304" pitchFamily="18" charset="0"/>
              </a:rPr>
              <a:t>hay</a:t>
            </a:r>
            <a:r>
              <a:rPr lang="fr-FR" sz="2400" dirty="0">
                <a:latin typeface="Times New Roman" panose="02020603050405020304" pitchFamily="18" charset="0"/>
              </a:rPr>
              <a:t> </a:t>
            </a:r>
            <a:r>
              <a:rPr lang="fr-FR" sz="2400" dirty="0" err="1">
                <a:latin typeface="Times New Roman" panose="02020603050405020304" pitchFamily="18" charset="0"/>
              </a:rPr>
              <a:t>trái</a:t>
            </a:r>
            <a:r>
              <a:rPr lang="fr-FR" sz="2400" dirty="0">
                <a:latin typeface="Times New Roman" panose="02020603050405020304" pitchFamily="18" charset="0"/>
              </a:rPr>
              <a:t> </a:t>
            </a:r>
            <a:r>
              <a:rPr lang="fr-FR" sz="2400" dirty="0" err="1">
                <a:latin typeface="Times New Roman" panose="02020603050405020304" pitchFamily="18" charset="0"/>
              </a:rPr>
              <a:t>v.v</a:t>
            </a:r>
            <a:r>
              <a:rPr lang="fr-FR" sz="2400" dirty="0">
                <a:latin typeface="Times New Roman" panose="02020603050405020304" pitchFamily="18" charset="0"/>
              </a:rPr>
              <a:t>...).</a:t>
            </a:r>
            <a:endParaRPr lang="fr-FR" sz="2400" dirty="0">
              <a:latin typeface="Times New Roman" panose="02020603050405020304" pitchFamily="18" charset="0"/>
            </a:endParaRPr>
          </a:p>
          <a:p>
            <a:pPr algn="just">
              <a:spcBef>
                <a:spcPts val="1200"/>
              </a:spcBef>
              <a:spcAft>
                <a:spcPts val="1200"/>
              </a:spcAft>
              <a:buFontTx/>
              <a:buChar char="-"/>
              <a:defRPr/>
            </a:pPr>
            <a:r>
              <a:rPr lang="fr-FR" sz="2400" b="1" i="1" dirty="0" err="1">
                <a:latin typeface="Times New Roman" panose="02020603050405020304" pitchFamily="18" charset="0"/>
              </a:rPr>
              <a:t>Thời</a:t>
            </a:r>
            <a:r>
              <a:rPr lang="fr-FR" sz="2400" b="1" i="1" dirty="0">
                <a:latin typeface="Times New Roman" panose="02020603050405020304" pitchFamily="18" charset="0"/>
              </a:rPr>
              <a:t> </a:t>
            </a:r>
            <a:r>
              <a:rPr lang="fr-FR" sz="2400" b="1" i="1" dirty="0" err="1">
                <a:latin typeface="Times New Roman" panose="02020603050405020304" pitchFamily="18" charset="0"/>
              </a:rPr>
              <a:t>gian</a:t>
            </a:r>
            <a:r>
              <a:rPr lang="fr-FR" sz="2400" dirty="0">
                <a:latin typeface="Times New Roman" panose="02020603050405020304" pitchFamily="18" charset="0"/>
              </a:rPr>
              <a:t> là </a:t>
            </a:r>
            <a:r>
              <a:rPr lang="fr-FR" sz="2400" dirty="0" err="1">
                <a:latin typeface="Times New Roman" panose="02020603050405020304" pitchFamily="18" charset="0"/>
              </a:rPr>
              <a:t>sự</a:t>
            </a:r>
            <a:r>
              <a:rPr lang="fr-FR" sz="2400" dirty="0">
                <a:latin typeface="Times New Roman" panose="02020603050405020304" pitchFamily="18" charset="0"/>
              </a:rPr>
              <a:t> </a:t>
            </a:r>
            <a:r>
              <a:rPr lang="fr-FR" sz="2400" dirty="0" err="1">
                <a:latin typeface="Times New Roman" panose="02020603050405020304" pitchFamily="18" charset="0"/>
              </a:rPr>
              <a:t>tồn</a:t>
            </a:r>
            <a:r>
              <a:rPr lang="fr-FR" sz="2400" dirty="0">
                <a:latin typeface="Times New Roman" panose="02020603050405020304" pitchFamily="18" charset="0"/>
              </a:rPr>
              <a:t> </a:t>
            </a:r>
            <a:r>
              <a:rPr lang="fr-FR" sz="2400" dirty="0" err="1">
                <a:latin typeface="Times New Roman" panose="02020603050405020304" pitchFamily="18" charset="0"/>
              </a:rPr>
              <a:t>tại</a:t>
            </a:r>
            <a:r>
              <a:rPr lang="fr-FR" sz="2400" dirty="0">
                <a:latin typeface="Times New Roman" panose="02020603050405020304" pitchFamily="18" charset="0"/>
              </a:rPr>
              <a:t> </a:t>
            </a:r>
            <a:r>
              <a:rPr lang="fr-FR" sz="2400" dirty="0" err="1">
                <a:latin typeface="Times New Roman" panose="02020603050405020304" pitchFamily="18" charset="0"/>
              </a:rPr>
              <a:t>của</a:t>
            </a:r>
            <a:r>
              <a:rPr lang="fr-FR" sz="2400" dirty="0">
                <a:latin typeface="Times New Roman" panose="02020603050405020304" pitchFamily="18" charset="0"/>
              </a:rPr>
              <a:t> </a:t>
            </a:r>
            <a:r>
              <a:rPr lang="fr-FR" sz="2400" dirty="0" err="1">
                <a:latin typeface="Times New Roman" panose="02020603050405020304" pitchFamily="18" charset="0"/>
              </a:rPr>
              <a:t>sự</a:t>
            </a:r>
            <a:r>
              <a:rPr lang="fr-FR" sz="2400" dirty="0">
                <a:latin typeface="Times New Roman" panose="02020603050405020304" pitchFamily="18" charset="0"/>
              </a:rPr>
              <a:t> </a:t>
            </a:r>
            <a:r>
              <a:rPr lang="fr-FR" sz="2400" dirty="0" err="1">
                <a:latin typeface="Times New Roman" panose="02020603050405020304" pitchFamily="18" charset="0"/>
              </a:rPr>
              <a:t>vật</a:t>
            </a:r>
            <a:r>
              <a:rPr lang="fr-FR" sz="2400" dirty="0">
                <a:latin typeface="Times New Roman" panose="02020603050405020304" pitchFamily="18" charset="0"/>
              </a:rPr>
              <a:t> </a:t>
            </a:r>
            <a:r>
              <a:rPr lang="fr-FR" sz="2400" dirty="0" err="1">
                <a:latin typeface="Times New Roman" panose="02020603050405020304" pitchFamily="18" charset="0"/>
              </a:rPr>
              <a:t>thể</a:t>
            </a:r>
            <a:r>
              <a:rPr lang="fr-FR" sz="2400" dirty="0">
                <a:latin typeface="Times New Roman" panose="02020603050405020304" pitchFamily="18" charset="0"/>
              </a:rPr>
              <a:t> </a:t>
            </a:r>
            <a:r>
              <a:rPr lang="fr-FR" sz="2400" dirty="0" err="1">
                <a:latin typeface="Times New Roman" panose="02020603050405020304" pitchFamily="18" charset="0"/>
              </a:rPr>
              <a:t>hiện</a:t>
            </a:r>
            <a:r>
              <a:rPr lang="fr-FR" sz="2400" dirty="0">
                <a:latin typeface="Times New Roman" panose="02020603050405020304" pitchFamily="18" charset="0"/>
              </a:rPr>
              <a:t> ở </a:t>
            </a:r>
            <a:r>
              <a:rPr lang="fr-FR" sz="2400" dirty="0" err="1">
                <a:latin typeface="Times New Roman" panose="02020603050405020304" pitchFamily="18" charset="0"/>
              </a:rPr>
              <a:t>quá</a:t>
            </a:r>
            <a:r>
              <a:rPr lang="fr-FR" sz="2400" dirty="0">
                <a:latin typeface="Times New Roman" panose="02020603050405020304" pitchFamily="18" charset="0"/>
              </a:rPr>
              <a:t> </a:t>
            </a:r>
            <a:r>
              <a:rPr lang="fr-FR" sz="2400" dirty="0" err="1">
                <a:latin typeface="Times New Roman" panose="02020603050405020304" pitchFamily="18" charset="0"/>
              </a:rPr>
              <a:t>trình</a:t>
            </a:r>
            <a:r>
              <a:rPr lang="fr-FR" sz="2400" dirty="0">
                <a:latin typeface="Times New Roman" panose="02020603050405020304" pitchFamily="18" charset="0"/>
              </a:rPr>
              <a:t> </a:t>
            </a:r>
            <a:r>
              <a:rPr lang="fr-FR" sz="2400" dirty="0" err="1">
                <a:latin typeface="Times New Roman" panose="02020603050405020304" pitchFamily="18" charset="0"/>
              </a:rPr>
              <a:t>biến</a:t>
            </a:r>
            <a:r>
              <a:rPr lang="fr-FR" sz="2400" dirty="0">
                <a:latin typeface="Times New Roman" panose="02020603050405020304" pitchFamily="18" charset="0"/>
              </a:rPr>
              <a:t> </a:t>
            </a:r>
            <a:r>
              <a:rPr lang="fr-FR" sz="2400" dirty="0" err="1">
                <a:latin typeface="Times New Roman" panose="02020603050405020304" pitchFamily="18" charset="0"/>
              </a:rPr>
              <a:t>đổi</a:t>
            </a:r>
            <a:r>
              <a:rPr lang="en-US" sz="2400" dirty="0">
                <a:latin typeface="Times New Roman" panose="02020603050405020304" pitchFamily="18" charset="0"/>
              </a:rPr>
              <a:t>: </a:t>
            </a:r>
            <a:r>
              <a:rPr lang="en-US" sz="2400" dirty="0" err="1">
                <a:latin typeface="Times New Roman" panose="02020603050405020304" pitchFamily="18" charset="0"/>
              </a:rPr>
              <a:t>nhanh</a:t>
            </a:r>
            <a:r>
              <a:rPr lang="en-US" sz="2400" dirty="0">
                <a:latin typeface="Times New Roman" panose="02020603050405020304" pitchFamily="18" charset="0"/>
              </a:rPr>
              <a:t> hay </a:t>
            </a:r>
            <a:r>
              <a:rPr lang="en-US" sz="2400" dirty="0" err="1">
                <a:latin typeface="Times New Roman" panose="02020603050405020304" pitchFamily="18" charset="0"/>
              </a:rPr>
              <a:t>chậm</a:t>
            </a:r>
            <a:r>
              <a:rPr lang="en-US" sz="2400" dirty="0">
                <a:latin typeface="Times New Roman" panose="02020603050405020304" pitchFamily="18" charset="0"/>
              </a:rPr>
              <a:t>, </a:t>
            </a:r>
            <a:r>
              <a:rPr lang="en-US" sz="2400" dirty="0" err="1">
                <a:latin typeface="Times New Roman" panose="02020603050405020304" pitchFamily="18" charset="0"/>
              </a:rPr>
              <a:t>kế</a:t>
            </a:r>
            <a:r>
              <a:rPr lang="en-US" sz="2400" dirty="0">
                <a:latin typeface="Times New Roman" panose="02020603050405020304" pitchFamily="18" charset="0"/>
              </a:rPr>
              <a:t> </a:t>
            </a:r>
            <a:r>
              <a:rPr lang="en-US" sz="2400" dirty="0" err="1">
                <a:latin typeface="Times New Roman" panose="02020603050405020304" pitchFamily="18" charset="0"/>
              </a:rPr>
              <a:t>tiếp</a:t>
            </a:r>
            <a:r>
              <a:rPr lang="en-US" sz="2400" dirty="0">
                <a:latin typeface="Times New Roman" panose="02020603050405020304" pitchFamily="18" charset="0"/>
              </a:rPr>
              <a:t> </a:t>
            </a:r>
            <a:r>
              <a:rPr lang="en-US" sz="2400" dirty="0" err="1">
                <a:latin typeface="Times New Roman" panose="02020603050405020304" pitchFamily="18" charset="0"/>
              </a:rPr>
              <a:t>và</a:t>
            </a:r>
            <a:r>
              <a:rPr lang="en-US" sz="2400" dirty="0">
                <a:latin typeface="Times New Roman" panose="02020603050405020304" pitchFamily="18" charset="0"/>
              </a:rPr>
              <a:t> </a:t>
            </a:r>
            <a:r>
              <a:rPr lang="en-US" sz="2400" dirty="0" err="1">
                <a:latin typeface="Times New Roman" panose="02020603050405020304" pitchFamily="18" charset="0"/>
              </a:rPr>
              <a:t>chuyển</a:t>
            </a:r>
            <a:r>
              <a:rPr lang="en-US" sz="2400" dirty="0">
                <a:latin typeface="Times New Roman" panose="02020603050405020304" pitchFamily="18" charset="0"/>
              </a:rPr>
              <a:t> </a:t>
            </a:r>
            <a:r>
              <a:rPr lang="en-US" sz="2400" dirty="0" err="1">
                <a:latin typeface="Times New Roman" panose="02020603050405020304" pitchFamily="18" charset="0"/>
              </a:rPr>
              <a:t>hóa</a:t>
            </a:r>
            <a:r>
              <a:rPr lang="en-US" sz="2400" dirty="0">
                <a:latin typeface="Times New Roman" panose="02020603050405020304" pitchFamily="18" charset="0"/>
              </a:rPr>
              <a:t> </a:t>
            </a:r>
            <a:r>
              <a:rPr lang="en-US" sz="2400" dirty="0" err="1">
                <a:latin typeface="Times New Roman" panose="02020603050405020304" pitchFamily="18" charset="0"/>
              </a:rPr>
              <a:t>v.v</a:t>
            </a:r>
            <a:r>
              <a:rPr lang="en-US" sz="2400" dirty="0">
                <a:latin typeface="Times New Roman" panose="02020603050405020304" pitchFamily="18" charset="0"/>
              </a:rPr>
              <a:t>…</a:t>
            </a:r>
            <a:endParaRPr lang="en-US" sz="2400" dirty="0">
              <a:latin typeface="Times New Roman" panose="02020603050405020304" pitchFamily="18" charset="0"/>
            </a:endParaRPr>
          </a:p>
          <a:p>
            <a:pPr algn="just">
              <a:spcBef>
                <a:spcPts val="1200"/>
              </a:spcBef>
              <a:spcAft>
                <a:spcPts val="1200"/>
              </a:spcAft>
              <a:defRPr/>
            </a:pPr>
            <a:r>
              <a:rPr lang="en-US" sz="2400" dirty="0" err="1">
                <a:latin typeface="Times New Roman" panose="02020603050405020304" pitchFamily="18" charset="0"/>
              </a:rPr>
              <a:t>Có</a:t>
            </a:r>
            <a:r>
              <a:rPr lang="en-US" sz="2400" dirty="0">
                <a:latin typeface="Times New Roman" panose="02020603050405020304" pitchFamily="18" charset="0"/>
              </a:rPr>
              <a:t> </a:t>
            </a:r>
            <a:r>
              <a:rPr lang="en-US" sz="2400" dirty="0" err="1">
                <a:latin typeface="Times New Roman" panose="02020603050405020304" pitchFamily="18" charset="0"/>
              </a:rPr>
              <a:t>tính</a:t>
            </a:r>
            <a:r>
              <a:rPr lang="en-US" sz="2400" dirty="0">
                <a:latin typeface="Times New Roman" panose="02020603050405020304" pitchFamily="18" charset="0"/>
              </a:rPr>
              <a:t> </a:t>
            </a:r>
            <a:r>
              <a:rPr lang="en-US" sz="2400" dirty="0" err="1">
                <a:latin typeface="Times New Roman" panose="02020603050405020304" pitchFamily="18" charset="0"/>
              </a:rPr>
              <a:t>khách</a:t>
            </a:r>
            <a:r>
              <a:rPr lang="en-US" sz="2400" dirty="0">
                <a:latin typeface="Times New Roman" panose="02020603050405020304" pitchFamily="18" charset="0"/>
              </a:rPr>
              <a:t> </a:t>
            </a:r>
            <a:r>
              <a:rPr lang="en-US" sz="2400" dirty="0" err="1">
                <a:latin typeface="Times New Roman" panose="02020603050405020304" pitchFamily="18" charset="0"/>
              </a:rPr>
              <a:t>quan</a:t>
            </a:r>
            <a:r>
              <a:rPr lang="en-US" sz="2400" dirty="0">
                <a:latin typeface="Times New Roman" panose="02020603050405020304" pitchFamily="18" charset="0"/>
              </a:rPr>
              <a:t>, </a:t>
            </a:r>
            <a:r>
              <a:rPr lang="en-US" sz="2400" dirty="0" err="1">
                <a:latin typeface="Times New Roman" panose="02020603050405020304" pitchFamily="18" charset="0"/>
              </a:rPr>
              <a:t>vĩnh</a:t>
            </a:r>
            <a:r>
              <a:rPr lang="en-US" sz="2400" dirty="0">
                <a:latin typeface="Times New Roman" panose="02020603050405020304" pitchFamily="18" charset="0"/>
              </a:rPr>
              <a:t> </a:t>
            </a:r>
            <a:r>
              <a:rPr lang="en-US" sz="2400" dirty="0" err="1">
                <a:latin typeface="Times New Roman" panose="02020603050405020304" pitchFamily="18" charset="0"/>
              </a:rPr>
              <a:t>cửu</a:t>
            </a:r>
            <a:r>
              <a:rPr lang="en-US" sz="2400" dirty="0">
                <a:latin typeface="Times New Roman" panose="02020603050405020304" pitchFamily="18" charset="0"/>
              </a:rPr>
              <a:t>, </a:t>
            </a:r>
            <a:r>
              <a:rPr lang="en-US" sz="2400" dirty="0" err="1">
                <a:latin typeface="Times New Roman" panose="02020603050405020304" pitchFamily="18" charset="0"/>
              </a:rPr>
              <a:t>vô</a:t>
            </a:r>
            <a:r>
              <a:rPr lang="en-US" sz="2400" dirty="0">
                <a:latin typeface="Times New Roman" panose="02020603050405020304" pitchFamily="18" charset="0"/>
              </a:rPr>
              <a:t> </a:t>
            </a:r>
            <a:r>
              <a:rPr lang="en-US" sz="2400" dirty="0" err="1">
                <a:latin typeface="Times New Roman" panose="02020603050405020304" pitchFamily="18" charset="0"/>
              </a:rPr>
              <a:t>tận</a:t>
            </a:r>
            <a:r>
              <a:rPr lang="en-US" sz="2400" dirty="0">
                <a:latin typeface="Times New Roman" panose="02020603050405020304" pitchFamily="18" charset="0"/>
              </a:rPr>
              <a:t>, </a:t>
            </a:r>
            <a:r>
              <a:rPr lang="en-US" sz="2400" dirty="0" err="1">
                <a:latin typeface="Times New Roman" panose="02020603050405020304" pitchFamily="18" charset="0"/>
              </a:rPr>
              <a:t>vô</a:t>
            </a:r>
            <a:r>
              <a:rPr lang="en-US" sz="2400" dirty="0">
                <a:latin typeface="Times New Roman" panose="02020603050405020304" pitchFamily="18" charset="0"/>
              </a:rPr>
              <a:t> </a:t>
            </a:r>
            <a:r>
              <a:rPr lang="en-US" sz="2400" dirty="0" err="1">
                <a:latin typeface="Times New Roman" panose="02020603050405020304" pitchFamily="18" charset="0"/>
              </a:rPr>
              <a:t>hạn</a:t>
            </a:r>
            <a:r>
              <a:rPr lang="en-US" sz="2400" dirty="0">
                <a:latin typeface="Times New Roman" panose="02020603050405020304" pitchFamily="18" charset="0"/>
              </a:rPr>
              <a:t>.</a:t>
            </a:r>
            <a:endParaRPr lang="en-US" sz="2400" dirty="0">
              <a:latin typeface="Times New Roman" panose="02020603050405020304" pitchFamily="18" charset="0"/>
            </a:endParaRPr>
          </a:p>
          <a:p>
            <a:pPr algn="just">
              <a:spcBef>
                <a:spcPts val="1200"/>
              </a:spcBef>
              <a:spcAft>
                <a:spcPts val="1200"/>
              </a:spcAft>
              <a:defRPr/>
            </a:pPr>
            <a:r>
              <a:rPr lang="en-US" sz="2400" dirty="0" err="1">
                <a:latin typeface="Times New Roman" panose="02020603050405020304" pitchFamily="18" charset="0"/>
              </a:rPr>
              <a:t>Không</a:t>
            </a:r>
            <a:r>
              <a:rPr lang="en-US" sz="2400" dirty="0">
                <a:latin typeface="Times New Roman" panose="02020603050405020304" pitchFamily="18" charset="0"/>
              </a:rPr>
              <a:t> </a:t>
            </a:r>
            <a:r>
              <a:rPr lang="en-US" sz="2400" dirty="0" err="1">
                <a:latin typeface="Times New Roman" panose="02020603050405020304" pitchFamily="18" charset="0"/>
              </a:rPr>
              <a:t>gian</a:t>
            </a:r>
            <a:r>
              <a:rPr lang="en-US" sz="2400" dirty="0">
                <a:latin typeface="Times New Roman" panose="02020603050405020304" pitchFamily="18" charset="0"/>
              </a:rPr>
              <a:t> </a:t>
            </a:r>
            <a:r>
              <a:rPr lang="en-US" sz="2400" dirty="0" err="1">
                <a:latin typeface="Times New Roman" panose="02020603050405020304" pitchFamily="18" charset="0"/>
              </a:rPr>
              <a:t>có</a:t>
            </a:r>
            <a:r>
              <a:rPr lang="en-US" sz="2400" dirty="0">
                <a:latin typeface="Times New Roman" panose="02020603050405020304" pitchFamily="18" charset="0"/>
              </a:rPr>
              <a:t> </a:t>
            </a:r>
            <a:r>
              <a:rPr lang="en-US" sz="2400" dirty="0" err="1">
                <a:latin typeface="Times New Roman" panose="02020603050405020304" pitchFamily="18" charset="0"/>
              </a:rPr>
              <a:t>thuộc</a:t>
            </a:r>
            <a:r>
              <a:rPr lang="en-US" sz="2400" dirty="0">
                <a:latin typeface="Times New Roman" panose="02020603050405020304" pitchFamily="18" charset="0"/>
              </a:rPr>
              <a:t> </a:t>
            </a:r>
            <a:r>
              <a:rPr lang="en-US" sz="2400" dirty="0" err="1">
                <a:latin typeface="Times New Roman" panose="02020603050405020304" pitchFamily="18" charset="0"/>
              </a:rPr>
              <a:t>tính</a:t>
            </a:r>
            <a:r>
              <a:rPr lang="en-US" sz="2400" dirty="0">
                <a:latin typeface="Times New Roman" panose="02020603050405020304" pitchFamily="18" charset="0"/>
              </a:rPr>
              <a:t> </a:t>
            </a:r>
            <a:r>
              <a:rPr lang="en-US" sz="2400" dirty="0" err="1">
                <a:latin typeface="Times New Roman" panose="02020603050405020304" pitchFamily="18" charset="0"/>
              </a:rPr>
              <a:t>ba</a:t>
            </a:r>
            <a:r>
              <a:rPr lang="en-US" sz="2400" dirty="0">
                <a:latin typeface="Times New Roman" panose="02020603050405020304" pitchFamily="18" charset="0"/>
              </a:rPr>
              <a:t> </a:t>
            </a:r>
            <a:r>
              <a:rPr lang="en-US" sz="2400" dirty="0" err="1">
                <a:latin typeface="Times New Roman" panose="02020603050405020304" pitchFamily="18" charset="0"/>
              </a:rPr>
              <a:t>chiều</a:t>
            </a:r>
            <a:r>
              <a:rPr lang="en-US" sz="2400" dirty="0">
                <a:latin typeface="Times New Roman" panose="02020603050405020304" pitchFamily="18" charset="0"/>
              </a:rPr>
              <a:t> (</a:t>
            </a:r>
            <a:r>
              <a:rPr lang="en-US" sz="2400" dirty="0" err="1">
                <a:latin typeface="Times New Roman" panose="02020603050405020304" pitchFamily="18" charset="0"/>
              </a:rPr>
              <a:t>cao</a:t>
            </a:r>
            <a:r>
              <a:rPr lang="en-US" sz="2400" dirty="0">
                <a:latin typeface="Times New Roman" panose="02020603050405020304" pitchFamily="18" charset="0"/>
              </a:rPr>
              <a:t>, </a:t>
            </a:r>
            <a:r>
              <a:rPr lang="en-US" sz="2400" dirty="0" err="1">
                <a:latin typeface="Times New Roman" panose="02020603050405020304" pitchFamily="18" charset="0"/>
              </a:rPr>
              <a:t>rộng</a:t>
            </a:r>
            <a:r>
              <a:rPr lang="en-US" sz="2400" dirty="0">
                <a:latin typeface="Times New Roman" panose="02020603050405020304" pitchFamily="18" charset="0"/>
              </a:rPr>
              <a:t>, </a:t>
            </a:r>
            <a:r>
              <a:rPr lang="en-US" sz="2400" dirty="0" err="1">
                <a:latin typeface="Times New Roman" panose="02020603050405020304" pitchFamily="18" charset="0"/>
              </a:rPr>
              <a:t>dài</a:t>
            </a:r>
            <a:r>
              <a:rPr lang="en-US" sz="2400" dirty="0">
                <a:latin typeface="Times New Roman" panose="02020603050405020304" pitchFamily="18" charset="0"/>
              </a:rPr>
              <a:t>), </a:t>
            </a:r>
            <a:r>
              <a:rPr lang="en-US" sz="2400" dirty="0" err="1">
                <a:latin typeface="Times New Roman" panose="02020603050405020304" pitchFamily="18" charset="0"/>
              </a:rPr>
              <a:t>còn</a:t>
            </a:r>
            <a:r>
              <a:rPr lang="en-US" sz="2400" dirty="0">
                <a:latin typeface="Times New Roman" panose="02020603050405020304" pitchFamily="18" charset="0"/>
              </a:rPr>
              <a:t> </a:t>
            </a:r>
            <a:r>
              <a:rPr lang="en-US" sz="2400" dirty="0" err="1">
                <a:latin typeface="Times New Roman" panose="02020603050405020304" pitchFamily="18" charset="0"/>
              </a:rPr>
              <a:t>thời</a:t>
            </a:r>
            <a:r>
              <a:rPr lang="en-US" sz="2400" dirty="0">
                <a:latin typeface="Times New Roman" panose="02020603050405020304" pitchFamily="18" charset="0"/>
              </a:rPr>
              <a:t> </a:t>
            </a:r>
            <a:r>
              <a:rPr lang="en-US" sz="2400" dirty="0" err="1">
                <a:latin typeface="Times New Roman" panose="02020603050405020304" pitchFamily="18" charset="0"/>
              </a:rPr>
              <a:t>gian</a:t>
            </a:r>
            <a:r>
              <a:rPr lang="en-US" sz="2400" dirty="0">
                <a:latin typeface="Times New Roman" panose="02020603050405020304" pitchFamily="18" charset="0"/>
              </a:rPr>
              <a:t> </a:t>
            </a:r>
            <a:r>
              <a:rPr lang="en-US" sz="2400" dirty="0" err="1">
                <a:latin typeface="Times New Roman" panose="02020603050405020304" pitchFamily="18" charset="0"/>
              </a:rPr>
              <a:t>chỉ</a:t>
            </a:r>
            <a:r>
              <a:rPr lang="en-US" sz="2400" dirty="0">
                <a:latin typeface="Times New Roman" panose="02020603050405020304" pitchFamily="18" charset="0"/>
              </a:rPr>
              <a:t> </a:t>
            </a:r>
            <a:r>
              <a:rPr lang="en-US" sz="2400" dirty="0" err="1">
                <a:latin typeface="Times New Roman" panose="02020603050405020304" pitchFamily="18" charset="0"/>
              </a:rPr>
              <a:t>có</a:t>
            </a:r>
            <a:r>
              <a:rPr lang="en-US" sz="2400" dirty="0">
                <a:latin typeface="Times New Roman" panose="02020603050405020304" pitchFamily="18" charset="0"/>
              </a:rPr>
              <a:t> </a:t>
            </a:r>
            <a:r>
              <a:rPr lang="en-US" sz="2400" dirty="0" err="1">
                <a:latin typeface="Times New Roman" panose="02020603050405020304" pitchFamily="18" charset="0"/>
              </a:rPr>
              <a:t>một</a:t>
            </a:r>
            <a:r>
              <a:rPr lang="en-US" sz="2400" dirty="0">
                <a:latin typeface="Times New Roman" panose="02020603050405020304" pitchFamily="18" charset="0"/>
              </a:rPr>
              <a:t> </a:t>
            </a:r>
            <a:r>
              <a:rPr lang="en-US" sz="2400" dirty="0" err="1">
                <a:latin typeface="Times New Roman" panose="02020603050405020304" pitchFamily="18" charset="0"/>
              </a:rPr>
              <a:t>chiều</a:t>
            </a:r>
            <a:r>
              <a:rPr lang="en-US" sz="2400" dirty="0">
                <a:latin typeface="Times New Roman" panose="02020603050405020304" pitchFamily="18" charset="0"/>
              </a:rPr>
              <a:t> (</a:t>
            </a:r>
            <a:r>
              <a:rPr lang="en-US" sz="2400" dirty="0" err="1">
                <a:latin typeface="Times New Roman" panose="02020603050405020304" pitchFamily="18" charset="0"/>
              </a:rPr>
              <a:t>từ</a:t>
            </a:r>
            <a:r>
              <a:rPr lang="en-US" sz="2400" dirty="0">
                <a:latin typeface="Times New Roman" panose="02020603050405020304" pitchFamily="18" charset="0"/>
              </a:rPr>
              <a:t> </a:t>
            </a:r>
            <a:r>
              <a:rPr lang="en-US" sz="2400" dirty="0" err="1">
                <a:latin typeface="Times New Roman" panose="02020603050405020304" pitchFamily="18" charset="0"/>
              </a:rPr>
              <a:t>quá</a:t>
            </a:r>
            <a:r>
              <a:rPr lang="en-US" sz="2400" dirty="0">
                <a:latin typeface="Times New Roman" panose="02020603050405020304" pitchFamily="18" charset="0"/>
              </a:rPr>
              <a:t> </a:t>
            </a:r>
            <a:r>
              <a:rPr lang="en-US" sz="2400" dirty="0" err="1">
                <a:latin typeface="Times New Roman" panose="02020603050405020304" pitchFamily="18" charset="0"/>
              </a:rPr>
              <a:t>khứ</a:t>
            </a:r>
            <a:r>
              <a:rPr lang="en-US" sz="2400" dirty="0">
                <a:latin typeface="Times New Roman" panose="02020603050405020304" pitchFamily="18" charset="0"/>
              </a:rPr>
              <a:t> </a:t>
            </a:r>
            <a:r>
              <a:rPr lang="en-US" sz="2400" dirty="0" err="1">
                <a:latin typeface="Times New Roman" panose="02020603050405020304" pitchFamily="18" charset="0"/>
              </a:rPr>
              <a:t>đến</a:t>
            </a:r>
            <a:r>
              <a:rPr lang="en-US" sz="2400" dirty="0">
                <a:latin typeface="Times New Roman" panose="02020603050405020304" pitchFamily="18" charset="0"/>
              </a:rPr>
              <a:t> </a:t>
            </a:r>
            <a:r>
              <a:rPr lang="en-US" sz="2400" dirty="0" err="1">
                <a:latin typeface="Times New Roman" panose="02020603050405020304" pitchFamily="18" charset="0"/>
              </a:rPr>
              <a:t>tương</a:t>
            </a:r>
            <a:r>
              <a:rPr lang="en-US" sz="2400" dirty="0">
                <a:latin typeface="Times New Roman" panose="02020603050405020304" pitchFamily="18" charset="0"/>
              </a:rPr>
              <a:t> </a:t>
            </a:r>
            <a:r>
              <a:rPr lang="en-US" sz="2400" dirty="0" err="1">
                <a:latin typeface="Times New Roman" panose="02020603050405020304" pitchFamily="18" charset="0"/>
              </a:rPr>
              <a:t>lai</a:t>
            </a:r>
            <a:r>
              <a:rPr lang="en-US" sz="2400" dirty="0">
                <a:latin typeface="Times New Roman" panose="02020603050405020304" pitchFamily="18" charset="0"/>
              </a:rPr>
              <a:t>), </a:t>
            </a:r>
            <a:r>
              <a:rPr lang="en-US" sz="2400" dirty="0" err="1">
                <a:latin typeface="Times New Roman" panose="02020603050405020304" pitchFamily="18" charset="0"/>
              </a:rPr>
              <a:t>biểu</a:t>
            </a:r>
            <a:r>
              <a:rPr lang="en-US" sz="2400" dirty="0">
                <a:latin typeface="Times New Roman" panose="02020603050405020304" pitchFamily="18" charset="0"/>
              </a:rPr>
              <a:t> </a:t>
            </a:r>
            <a:r>
              <a:rPr lang="en-US" sz="2400" dirty="0" err="1">
                <a:latin typeface="Times New Roman" panose="02020603050405020304" pitchFamily="18" charset="0"/>
              </a:rPr>
              <a:t>hiện</a:t>
            </a:r>
            <a:r>
              <a:rPr lang="en-US" sz="2400" dirty="0">
                <a:latin typeface="Times New Roman" panose="02020603050405020304" pitchFamily="18" charset="0"/>
              </a:rPr>
              <a:t> </a:t>
            </a:r>
            <a:r>
              <a:rPr lang="en-US" sz="2400" dirty="0" err="1">
                <a:latin typeface="Times New Roman" panose="02020603050405020304" pitchFamily="18" charset="0"/>
              </a:rPr>
              <a:t>hình</a:t>
            </a:r>
            <a:r>
              <a:rPr lang="en-US" sz="2400" dirty="0">
                <a:latin typeface="Times New Roman" panose="02020603050405020304" pitchFamily="18" charset="0"/>
              </a:rPr>
              <a:t> </a:t>
            </a:r>
            <a:r>
              <a:rPr lang="en-US" sz="2400" dirty="0" err="1">
                <a:latin typeface="Times New Roman" panose="02020603050405020304" pitchFamily="18" charset="0"/>
              </a:rPr>
              <a:t>thức</a:t>
            </a:r>
            <a:r>
              <a:rPr lang="en-US" sz="2400" dirty="0">
                <a:latin typeface="Times New Roman" panose="02020603050405020304" pitchFamily="18" charset="0"/>
              </a:rPr>
              <a:t> </a:t>
            </a:r>
            <a:r>
              <a:rPr lang="en-US" sz="2400" dirty="0" err="1">
                <a:latin typeface="Times New Roman" panose="02020603050405020304" pitchFamily="18" charset="0"/>
              </a:rPr>
              <a:t>tồn</a:t>
            </a:r>
            <a:r>
              <a:rPr lang="en-US" sz="2400" dirty="0">
                <a:latin typeface="Times New Roman" panose="02020603050405020304" pitchFamily="18" charset="0"/>
              </a:rPr>
              <a:t> </a:t>
            </a:r>
            <a:r>
              <a:rPr lang="en-US" sz="2400" dirty="0" err="1">
                <a:latin typeface="Times New Roman" panose="02020603050405020304" pitchFamily="18" charset="0"/>
              </a:rPr>
              <a:t>tại</a:t>
            </a:r>
            <a:r>
              <a:rPr lang="en-US" sz="2400" dirty="0">
                <a:latin typeface="Times New Roman" panose="02020603050405020304" pitchFamily="18" charset="0"/>
              </a:rPr>
              <a:t> </a:t>
            </a:r>
            <a:r>
              <a:rPr lang="en-US" sz="2400" dirty="0" err="1">
                <a:latin typeface="Times New Roman" panose="02020603050405020304" pitchFamily="18" charset="0"/>
              </a:rPr>
              <a:t>về</a:t>
            </a:r>
            <a:r>
              <a:rPr lang="en-US" sz="2400" dirty="0">
                <a:latin typeface="Times New Roman" panose="02020603050405020304" pitchFamily="18" charset="0"/>
              </a:rPr>
              <a:t> </a:t>
            </a:r>
            <a:r>
              <a:rPr lang="en-US" sz="2400" dirty="0" err="1">
                <a:latin typeface="Times New Roman" panose="02020603050405020304" pitchFamily="18" charset="0"/>
              </a:rPr>
              <a:t>quảng</a:t>
            </a:r>
            <a:r>
              <a:rPr lang="en-US" sz="2400" dirty="0">
                <a:latin typeface="Times New Roman" panose="02020603050405020304" pitchFamily="18" charset="0"/>
              </a:rPr>
              <a:t> </a:t>
            </a:r>
            <a:r>
              <a:rPr lang="en-US" sz="2400" dirty="0" err="1">
                <a:latin typeface="Times New Roman" panose="02020603050405020304" pitchFamily="18" charset="0"/>
              </a:rPr>
              <a:t>tính</a:t>
            </a:r>
            <a:r>
              <a:rPr lang="en-US" sz="2400" dirty="0">
                <a:latin typeface="Times New Roman" panose="02020603050405020304" pitchFamily="18" charset="0"/>
              </a:rPr>
              <a:t> </a:t>
            </a:r>
            <a:r>
              <a:rPr lang="en-US" sz="2400" dirty="0" err="1">
                <a:latin typeface="Times New Roman" panose="02020603050405020304" pitchFamily="18" charset="0"/>
              </a:rPr>
              <a:t>và</a:t>
            </a:r>
            <a:r>
              <a:rPr lang="en-US" sz="2400" dirty="0">
                <a:latin typeface="Times New Roman" panose="02020603050405020304" pitchFamily="18" charset="0"/>
              </a:rPr>
              <a:t> </a:t>
            </a:r>
            <a:r>
              <a:rPr lang="en-US" sz="2400" dirty="0" err="1">
                <a:latin typeface="Times New Roman" panose="02020603050405020304" pitchFamily="18" charset="0"/>
              </a:rPr>
              <a:t>quá</a:t>
            </a:r>
            <a:r>
              <a:rPr lang="en-US" sz="2400" dirty="0">
                <a:latin typeface="Times New Roman" panose="02020603050405020304" pitchFamily="18" charset="0"/>
              </a:rPr>
              <a:t> </a:t>
            </a:r>
            <a:r>
              <a:rPr lang="en-US" sz="2400" dirty="0" err="1">
                <a:latin typeface="Times New Roman" panose="02020603050405020304" pitchFamily="18" charset="0"/>
              </a:rPr>
              <a:t>trình</a:t>
            </a:r>
            <a:r>
              <a:rPr lang="en-US" sz="2400" dirty="0">
                <a:latin typeface="Times New Roman" panose="02020603050405020304" pitchFamily="18" charset="0"/>
              </a:rPr>
              <a:t> </a:t>
            </a:r>
            <a:r>
              <a:rPr lang="en-US" sz="2400" dirty="0" err="1">
                <a:latin typeface="Times New Roman" panose="02020603050405020304" pitchFamily="18" charset="0"/>
              </a:rPr>
              <a:t>diễn</a:t>
            </a:r>
            <a:r>
              <a:rPr lang="en-US" sz="2400" dirty="0">
                <a:latin typeface="Times New Roman" panose="02020603050405020304" pitchFamily="18" charset="0"/>
              </a:rPr>
              <a:t> </a:t>
            </a:r>
            <a:r>
              <a:rPr lang="en-US" sz="2400" dirty="0" err="1">
                <a:latin typeface="Times New Roman" panose="02020603050405020304" pitchFamily="18" charset="0"/>
              </a:rPr>
              <a:t>biến</a:t>
            </a:r>
            <a:r>
              <a:rPr lang="en-US" sz="2400" dirty="0">
                <a:latin typeface="Times New Roman" panose="02020603050405020304" pitchFamily="18" charset="0"/>
              </a:rPr>
              <a:t> </a:t>
            </a:r>
            <a:r>
              <a:rPr lang="en-US" sz="2400" dirty="0" err="1">
                <a:latin typeface="Times New Roman" panose="02020603050405020304" pitchFamily="18" charset="0"/>
              </a:rPr>
              <a:t>của</a:t>
            </a:r>
            <a:r>
              <a:rPr lang="en-US" sz="2400" dirty="0">
                <a:latin typeface="Times New Roman" panose="02020603050405020304" pitchFamily="18" charset="0"/>
              </a:rPr>
              <a:t> </a:t>
            </a:r>
            <a:r>
              <a:rPr lang="en-US" sz="2400" dirty="0" err="1">
                <a:latin typeface="Times New Roman" panose="02020603050405020304" pitchFamily="18" charset="0"/>
              </a:rPr>
              <a:t>vật</a:t>
            </a:r>
            <a:r>
              <a:rPr lang="en-US" sz="2400" dirty="0">
                <a:latin typeface="Times New Roman" panose="02020603050405020304" pitchFamily="18" charset="0"/>
              </a:rPr>
              <a:t> </a:t>
            </a:r>
            <a:r>
              <a:rPr lang="en-US" sz="2400" dirty="0" err="1">
                <a:latin typeface="Times New Roman" panose="02020603050405020304" pitchFamily="18" charset="0"/>
              </a:rPr>
              <a:t>chất</a:t>
            </a:r>
            <a:r>
              <a:rPr lang="en-US" sz="2400" dirty="0">
                <a:latin typeface="Times New Roman" panose="02020603050405020304" pitchFamily="18" charset="0"/>
              </a:rPr>
              <a:t> </a:t>
            </a:r>
            <a:r>
              <a:rPr lang="en-US" sz="2400" dirty="0" err="1">
                <a:latin typeface="Times New Roman" panose="02020603050405020304" pitchFamily="18" charset="0"/>
              </a:rPr>
              <a:t>vận</a:t>
            </a:r>
            <a:r>
              <a:rPr lang="en-US" sz="2400" dirty="0">
                <a:latin typeface="Times New Roman" panose="02020603050405020304" pitchFamily="18" charset="0"/>
              </a:rPr>
              <a:t> </a:t>
            </a:r>
            <a:r>
              <a:rPr lang="en-US" sz="2400" dirty="0" err="1">
                <a:latin typeface="Times New Roman" panose="02020603050405020304" pitchFamily="18" charset="0"/>
              </a:rPr>
              <a:t>động</a:t>
            </a:r>
            <a:r>
              <a:rPr lang="en-US" sz="2400" dirty="0">
                <a:latin typeface="Times New Roman" panose="02020603050405020304" pitchFamily="18" charset="0"/>
              </a:rPr>
              <a:t>.</a:t>
            </a:r>
            <a:endParaRPr lang="en-US" sz="2400" dirty="0">
              <a:latin typeface="Times New Roman" panose="02020603050405020304" pitchFamily="18" charset="0"/>
            </a:endParaRPr>
          </a:p>
          <a:p>
            <a:pPr algn="just">
              <a:spcBef>
                <a:spcPts val="1200"/>
              </a:spcBef>
              <a:spcAft>
                <a:spcPts val="1200"/>
              </a:spcAft>
              <a:buFont typeface="Wingdings" panose="05000000000000000000" pitchFamily="2" charset="2"/>
              <a:buChar char="Ø"/>
              <a:defRPr/>
            </a:pPr>
            <a:r>
              <a:rPr lang="en-US" sz="2400" dirty="0" err="1">
                <a:latin typeface="Times New Roman" panose="02020603050405020304" pitchFamily="18" charset="0"/>
              </a:rPr>
              <a:t>Lênin</a:t>
            </a:r>
            <a:r>
              <a:rPr lang="en-US" sz="2400" dirty="0">
                <a:latin typeface="Times New Roman" panose="02020603050405020304" pitchFamily="18" charset="0"/>
              </a:rPr>
              <a:t> </a:t>
            </a:r>
            <a:r>
              <a:rPr lang="en-US" sz="2400" dirty="0" err="1">
                <a:latin typeface="Times New Roman" panose="02020603050405020304" pitchFamily="18" charset="0"/>
              </a:rPr>
              <a:t>viết</a:t>
            </a:r>
            <a:r>
              <a:rPr lang="en-US" sz="2400" dirty="0">
                <a:latin typeface="Times New Roman" panose="02020603050405020304" pitchFamily="18" charset="0"/>
              </a:rPr>
              <a:t>: “</a:t>
            </a:r>
            <a:r>
              <a:rPr lang="en-US" sz="2400" dirty="0" err="1">
                <a:latin typeface="Times New Roman" panose="02020603050405020304" pitchFamily="18" charset="0"/>
              </a:rPr>
              <a:t>trong</a:t>
            </a:r>
            <a:r>
              <a:rPr lang="en-US" sz="2400" dirty="0">
                <a:latin typeface="Times New Roman" panose="02020603050405020304" pitchFamily="18" charset="0"/>
              </a:rPr>
              <a:t> </a:t>
            </a:r>
            <a:r>
              <a:rPr lang="en-US" sz="2400" dirty="0" err="1">
                <a:latin typeface="Times New Roman" panose="02020603050405020304" pitchFamily="18" charset="0"/>
              </a:rPr>
              <a:t>thế</a:t>
            </a:r>
            <a:r>
              <a:rPr lang="en-US" sz="2400" dirty="0">
                <a:latin typeface="Times New Roman" panose="02020603050405020304" pitchFamily="18" charset="0"/>
              </a:rPr>
              <a:t> </a:t>
            </a:r>
            <a:r>
              <a:rPr lang="en-US" sz="2400" dirty="0" err="1">
                <a:latin typeface="Times New Roman" panose="02020603050405020304" pitchFamily="18" charset="0"/>
              </a:rPr>
              <a:t>giới</a:t>
            </a:r>
            <a:r>
              <a:rPr lang="en-US" sz="2400" dirty="0">
                <a:latin typeface="Times New Roman" panose="02020603050405020304" pitchFamily="18" charset="0"/>
              </a:rPr>
              <a:t> </a:t>
            </a:r>
            <a:r>
              <a:rPr lang="en-US" sz="2400" dirty="0" err="1">
                <a:latin typeface="Times New Roman" panose="02020603050405020304" pitchFamily="18" charset="0"/>
              </a:rPr>
              <a:t>không</a:t>
            </a:r>
            <a:r>
              <a:rPr lang="en-US" sz="2400" dirty="0">
                <a:latin typeface="Times New Roman" panose="02020603050405020304" pitchFamily="18" charset="0"/>
              </a:rPr>
              <a:t> </a:t>
            </a:r>
            <a:r>
              <a:rPr lang="en-US" sz="2400" dirty="0" err="1">
                <a:latin typeface="Times New Roman" panose="02020603050405020304" pitchFamily="18" charset="0"/>
              </a:rPr>
              <a:t>có</a:t>
            </a:r>
            <a:r>
              <a:rPr lang="en-US" sz="2400" dirty="0">
                <a:latin typeface="Times New Roman" panose="02020603050405020304" pitchFamily="18" charset="0"/>
              </a:rPr>
              <a:t> </a:t>
            </a:r>
            <a:r>
              <a:rPr lang="en-US" sz="2400" dirty="0" err="1">
                <a:latin typeface="Times New Roman" panose="02020603050405020304" pitchFamily="18" charset="0"/>
              </a:rPr>
              <a:t>gì</a:t>
            </a:r>
            <a:r>
              <a:rPr lang="en-US" sz="2400" dirty="0">
                <a:latin typeface="Times New Roman" panose="02020603050405020304" pitchFamily="18" charset="0"/>
              </a:rPr>
              <a:t> </a:t>
            </a:r>
            <a:r>
              <a:rPr lang="en-US" sz="2400" dirty="0" err="1">
                <a:latin typeface="Times New Roman" panose="02020603050405020304" pitchFamily="18" charset="0"/>
              </a:rPr>
              <a:t>ngoài</a:t>
            </a:r>
            <a:r>
              <a:rPr lang="en-US" sz="2400" dirty="0">
                <a:latin typeface="Times New Roman" panose="02020603050405020304" pitchFamily="18" charset="0"/>
              </a:rPr>
              <a:t> </a:t>
            </a:r>
            <a:r>
              <a:rPr lang="en-US" sz="2400" dirty="0" err="1">
                <a:latin typeface="Times New Roman" panose="02020603050405020304" pitchFamily="18" charset="0"/>
              </a:rPr>
              <a:t>vật</a:t>
            </a:r>
            <a:r>
              <a:rPr lang="en-US" sz="2400" dirty="0">
                <a:latin typeface="Times New Roman" panose="02020603050405020304" pitchFamily="18" charset="0"/>
              </a:rPr>
              <a:t> </a:t>
            </a:r>
            <a:r>
              <a:rPr lang="en-US" sz="2400" dirty="0" err="1">
                <a:latin typeface="Times New Roman" panose="02020603050405020304" pitchFamily="18" charset="0"/>
              </a:rPr>
              <a:t>chất</a:t>
            </a:r>
            <a:r>
              <a:rPr lang="en-US" sz="2400" dirty="0">
                <a:latin typeface="Times New Roman" panose="02020603050405020304" pitchFamily="18" charset="0"/>
              </a:rPr>
              <a:t> </a:t>
            </a:r>
            <a:r>
              <a:rPr lang="en-US" sz="2400" dirty="0" err="1">
                <a:latin typeface="Times New Roman" panose="02020603050405020304" pitchFamily="18" charset="0"/>
              </a:rPr>
              <a:t>đang</a:t>
            </a:r>
            <a:r>
              <a:rPr lang="en-US" sz="2400" dirty="0">
                <a:latin typeface="Times New Roman" panose="02020603050405020304" pitchFamily="18" charset="0"/>
              </a:rPr>
              <a:t> </a:t>
            </a:r>
            <a:r>
              <a:rPr lang="en-US" sz="2400" dirty="0" err="1">
                <a:latin typeface="Times New Roman" panose="02020603050405020304" pitchFamily="18" charset="0"/>
              </a:rPr>
              <a:t>vận</a:t>
            </a:r>
            <a:r>
              <a:rPr lang="en-US" sz="2400" dirty="0">
                <a:latin typeface="Times New Roman" panose="02020603050405020304" pitchFamily="18" charset="0"/>
              </a:rPr>
              <a:t> </a:t>
            </a:r>
            <a:r>
              <a:rPr lang="en-US" sz="2400" dirty="0" err="1">
                <a:latin typeface="Times New Roman" panose="02020603050405020304" pitchFamily="18" charset="0"/>
              </a:rPr>
              <a:t>động</a:t>
            </a:r>
            <a:r>
              <a:rPr lang="en-US" sz="2400" dirty="0">
                <a:latin typeface="Times New Roman" panose="02020603050405020304" pitchFamily="18" charset="0"/>
              </a:rPr>
              <a:t> </a:t>
            </a:r>
            <a:r>
              <a:rPr lang="en-US" sz="2400" dirty="0" err="1">
                <a:latin typeface="Times New Roman" panose="02020603050405020304" pitchFamily="18" charset="0"/>
              </a:rPr>
              <a:t>và</a:t>
            </a:r>
            <a:r>
              <a:rPr lang="en-US" sz="2400" dirty="0">
                <a:latin typeface="Times New Roman" panose="02020603050405020304" pitchFamily="18" charset="0"/>
              </a:rPr>
              <a:t> </a:t>
            </a:r>
            <a:r>
              <a:rPr lang="en-US" sz="2400" dirty="0" err="1">
                <a:latin typeface="Times New Roman" panose="02020603050405020304" pitchFamily="18" charset="0"/>
              </a:rPr>
              <a:t>vật</a:t>
            </a:r>
            <a:r>
              <a:rPr lang="en-US" sz="2400" dirty="0">
                <a:latin typeface="Times New Roman" panose="02020603050405020304" pitchFamily="18" charset="0"/>
              </a:rPr>
              <a:t> </a:t>
            </a:r>
            <a:r>
              <a:rPr lang="en-US" sz="2400" dirty="0" err="1">
                <a:latin typeface="Times New Roman" panose="02020603050405020304" pitchFamily="18" charset="0"/>
              </a:rPr>
              <a:t>chất</a:t>
            </a:r>
            <a:r>
              <a:rPr lang="en-US" sz="2400" dirty="0">
                <a:latin typeface="Times New Roman" panose="02020603050405020304" pitchFamily="18" charset="0"/>
              </a:rPr>
              <a:t> </a:t>
            </a:r>
            <a:r>
              <a:rPr lang="en-US" sz="2400" dirty="0" err="1">
                <a:latin typeface="Times New Roman" panose="02020603050405020304" pitchFamily="18" charset="0"/>
              </a:rPr>
              <a:t>đang</a:t>
            </a:r>
            <a:r>
              <a:rPr lang="en-US" sz="2400" dirty="0">
                <a:latin typeface="Times New Roman" panose="02020603050405020304" pitchFamily="18" charset="0"/>
              </a:rPr>
              <a:t> </a:t>
            </a:r>
            <a:r>
              <a:rPr lang="en-US" sz="2400" dirty="0" err="1">
                <a:latin typeface="Times New Roman" panose="02020603050405020304" pitchFamily="18" charset="0"/>
              </a:rPr>
              <a:t>vận</a:t>
            </a:r>
            <a:r>
              <a:rPr lang="en-US" sz="2400" dirty="0">
                <a:latin typeface="Times New Roman" panose="02020603050405020304" pitchFamily="18" charset="0"/>
              </a:rPr>
              <a:t> </a:t>
            </a:r>
            <a:r>
              <a:rPr lang="en-US" sz="2400" dirty="0" err="1">
                <a:latin typeface="Times New Roman" panose="02020603050405020304" pitchFamily="18" charset="0"/>
              </a:rPr>
              <a:t>động</a:t>
            </a:r>
            <a:r>
              <a:rPr lang="en-US" sz="2400" dirty="0">
                <a:latin typeface="Times New Roman" panose="02020603050405020304" pitchFamily="18" charset="0"/>
              </a:rPr>
              <a:t> </a:t>
            </a:r>
            <a:r>
              <a:rPr lang="en-US" sz="2400" dirty="0" err="1">
                <a:latin typeface="Times New Roman" panose="02020603050405020304" pitchFamily="18" charset="0"/>
              </a:rPr>
              <a:t>không</a:t>
            </a:r>
            <a:r>
              <a:rPr lang="en-US" sz="2400" dirty="0">
                <a:latin typeface="Times New Roman" panose="02020603050405020304" pitchFamily="18" charset="0"/>
              </a:rPr>
              <a:t> </a:t>
            </a:r>
            <a:r>
              <a:rPr lang="en-US" sz="2400" dirty="0" err="1">
                <a:latin typeface="Times New Roman" panose="02020603050405020304" pitchFamily="18" charset="0"/>
              </a:rPr>
              <a:t>thể</a:t>
            </a:r>
            <a:r>
              <a:rPr lang="en-US" sz="2400" dirty="0">
                <a:latin typeface="Times New Roman" panose="02020603050405020304" pitchFamily="18" charset="0"/>
              </a:rPr>
              <a:t> </a:t>
            </a:r>
            <a:r>
              <a:rPr lang="en-US" sz="2400" dirty="0" err="1">
                <a:latin typeface="Times New Roman" panose="02020603050405020304" pitchFamily="18" charset="0"/>
              </a:rPr>
              <a:t>vận</a:t>
            </a:r>
            <a:r>
              <a:rPr lang="en-US" sz="2400" dirty="0">
                <a:latin typeface="Times New Roman" panose="02020603050405020304" pitchFamily="18" charset="0"/>
              </a:rPr>
              <a:t> </a:t>
            </a:r>
            <a:r>
              <a:rPr lang="en-US" sz="2400" dirty="0" err="1">
                <a:latin typeface="Times New Roman" panose="02020603050405020304" pitchFamily="18" charset="0"/>
              </a:rPr>
              <a:t>động</a:t>
            </a:r>
            <a:r>
              <a:rPr lang="en-US" sz="2400" dirty="0">
                <a:latin typeface="Times New Roman" panose="02020603050405020304" pitchFamily="18" charset="0"/>
              </a:rPr>
              <a:t> ở </a:t>
            </a:r>
            <a:r>
              <a:rPr lang="en-US" sz="2400" dirty="0" err="1">
                <a:latin typeface="Times New Roman" panose="02020603050405020304" pitchFamily="18" charset="0"/>
              </a:rPr>
              <a:t>ngoài</a:t>
            </a:r>
            <a:r>
              <a:rPr lang="en-US" sz="2400" dirty="0">
                <a:latin typeface="Times New Roman" panose="02020603050405020304" pitchFamily="18" charset="0"/>
              </a:rPr>
              <a:t> </a:t>
            </a:r>
            <a:r>
              <a:rPr lang="en-US" sz="2400" dirty="0" err="1">
                <a:latin typeface="Times New Roman" panose="02020603050405020304" pitchFamily="18" charset="0"/>
              </a:rPr>
              <a:t>không</a:t>
            </a:r>
            <a:r>
              <a:rPr lang="en-US" sz="2400" dirty="0">
                <a:latin typeface="Times New Roman" panose="02020603050405020304" pitchFamily="18" charset="0"/>
              </a:rPr>
              <a:t> </a:t>
            </a:r>
            <a:r>
              <a:rPr lang="en-US" sz="2400" dirty="0" err="1">
                <a:latin typeface="Times New Roman" panose="02020603050405020304" pitchFamily="18" charset="0"/>
              </a:rPr>
              <a:t>gian</a:t>
            </a:r>
            <a:r>
              <a:rPr lang="en-US" sz="2400" dirty="0">
                <a:latin typeface="Times New Roman" panose="02020603050405020304" pitchFamily="18" charset="0"/>
              </a:rPr>
              <a:t> </a:t>
            </a:r>
            <a:r>
              <a:rPr lang="en-US" sz="2400" dirty="0" err="1">
                <a:latin typeface="Times New Roman" panose="02020603050405020304" pitchFamily="18" charset="0"/>
              </a:rPr>
              <a:t>và</a:t>
            </a:r>
            <a:r>
              <a:rPr lang="en-US" sz="2400" dirty="0">
                <a:latin typeface="Times New Roman" panose="02020603050405020304" pitchFamily="18" charset="0"/>
              </a:rPr>
              <a:t> </a:t>
            </a:r>
            <a:r>
              <a:rPr lang="en-US" sz="2400" dirty="0" err="1">
                <a:latin typeface="Times New Roman" panose="02020603050405020304" pitchFamily="18" charset="0"/>
              </a:rPr>
              <a:t>thời</a:t>
            </a:r>
            <a:r>
              <a:rPr lang="en-US" sz="2400" dirty="0">
                <a:latin typeface="Times New Roman" panose="02020603050405020304" pitchFamily="18" charset="0"/>
              </a:rPr>
              <a:t> </a:t>
            </a:r>
            <a:r>
              <a:rPr lang="en-US" sz="2400" dirty="0" err="1">
                <a:latin typeface="Times New Roman" panose="02020603050405020304" pitchFamily="18" charset="0"/>
              </a:rPr>
              <a:t>gian</a:t>
            </a:r>
            <a:endParaRPr lang="en-US" sz="2400" dirty="0">
              <a:latin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 calcmode="lin" valueType="num">
                                      <p:cBhvr additive="base">
                                        <p:cTn id="1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 calcmode="lin" valueType="num">
                                      <p:cBhvr additive="base">
                                        <p:cTn id="2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40220"/>
          </a:xfrm>
        </p:spPr>
        <p:txBody>
          <a:bodyPr>
            <a:normAutofit/>
          </a:bodyPr>
          <a:lstStyle/>
          <a:p>
            <a:pPr algn="just"/>
            <a:r>
              <a:rPr lang="en-US" sz="3600" b="1" dirty="0">
                <a:latin typeface="Times New Roman" panose="02020603050405020304" pitchFamily="18" charset="0"/>
                <a:cs typeface="Times New Roman" panose="02020603050405020304" pitchFamily="18" charset="0"/>
              </a:rPr>
              <a:t>e. </a:t>
            </a:r>
            <a:r>
              <a:rPr lang="en-US" sz="3600" b="1" dirty="0" err="1">
                <a:latin typeface="Times New Roman" panose="02020603050405020304" pitchFamily="18" charset="0"/>
                <a:cs typeface="Times New Roman" panose="02020603050405020304" pitchFamily="18" charset="0"/>
              </a:rPr>
              <a:t>Tính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thống</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nhất</a:t>
            </a:r>
            <a:r>
              <a:rPr lang="en-US" sz="3600" b="1" dirty="0">
                <a:latin typeface="Times New Roman" panose="02020603050405020304" pitchFamily="18" charset="0"/>
                <a:cs typeface="Times New Roman" panose="02020603050405020304" pitchFamily="18" charset="0"/>
              </a:rPr>
              <a:t> VC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thế</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giới</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05346"/>
            <a:ext cx="10515600" cy="4971617"/>
          </a:xfrm>
        </p:spPr>
        <p:txBody>
          <a:bodyPr>
            <a:normAutofit fontScale="62500" lnSpcReduction="20000"/>
          </a:bodyPr>
          <a:lstStyle/>
          <a:p>
            <a:pPr>
              <a:buFont typeface="Wingdings" panose="05000000000000000000" pitchFamily="2" charset="2"/>
              <a:buChar char="v"/>
            </a:pPr>
            <a:endParaRPr lang="en-US" sz="2400" b="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vi-VN" sz="2400" b="1" dirty="0">
                <a:latin typeface="Times New Roman" panose="02020603050405020304" pitchFamily="18" charset="0"/>
                <a:cs typeface="Times New Roman" panose="02020603050405020304" pitchFamily="18" charset="0"/>
              </a:rPr>
              <a:t> T</a:t>
            </a:r>
            <a:r>
              <a:rPr lang="en-US" sz="4000" b="1" dirty="0" err="1">
                <a:latin typeface="Times New Roman" panose="02020603050405020304" pitchFamily="18" charset="0"/>
                <a:cs typeface="Times New Roman" panose="02020603050405020304" pitchFamily="18" charset="0"/>
              </a:rPr>
              <a:t>ồn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tại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của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thế</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giới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là</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tiền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đề</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cho</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sự</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thống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nhất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của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thế</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giới</a:t>
            </a:r>
            <a:r>
              <a:rPr lang="en-US" sz="4000" b="1" dirty="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a:p>
            <a:pPr marL="0" indent="0">
              <a:buNone/>
            </a:pPr>
            <a:r>
              <a:rPr lang="en-US" sz="4000" i="1" dirty="0" err="1">
                <a:latin typeface="Times New Roman" panose="02020603050405020304" pitchFamily="18" charset="0"/>
                <a:cs typeface="Times New Roman" panose="02020603050405020304" pitchFamily="18" charset="0"/>
              </a:rPr>
              <a:t>Tồn</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tại</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là</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phạm</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trù</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dùng</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để</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chỉ</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tính</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có</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thực</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của</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thế</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giới</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xung</a:t>
            </a:r>
            <a:r>
              <a:rPr lang="en-US" sz="4000" i="1" dirty="0">
                <a:latin typeface="Times New Roman" panose="02020603050405020304" pitchFamily="18" charset="0"/>
                <a:cs typeface="Times New Roman" panose="02020603050405020304" pitchFamily="18" charset="0"/>
              </a:rPr>
              <a:t> </a:t>
            </a:r>
            <a:r>
              <a:rPr lang="en-US" sz="4000" i="1" dirty="0" err="1">
                <a:latin typeface="Times New Roman" panose="02020603050405020304" pitchFamily="18" charset="0"/>
                <a:cs typeface="Times New Roman" panose="02020603050405020304" pitchFamily="18" charset="0"/>
              </a:rPr>
              <a:t>quanh</a:t>
            </a:r>
            <a:r>
              <a:rPr lang="en-US" sz="4000" i="1" dirty="0">
                <a:latin typeface="Times New Roman" panose="02020603050405020304" pitchFamily="18" charset="0"/>
                <a:cs typeface="Times New Roman" panose="02020603050405020304" pitchFamily="18" charset="0"/>
              </a:rPr>
              <a:t> con </a:t>
            </a:r>
            <a:r>
              <a:rPr lang="en-US" sz="4000" i="1" dirty="0" err="1">
                <a:latin typeface="Times New Roman" panose="02020603050405020304" pitchFamily="18" charset="0"/>
                <a:cs typeface="Times New Roman" panose="02020603050405020304" pitchFamily="18" charset="0"/>
              </a:rPr>
              <a:t>người</a:t>
            </a:r>
            <a:endParaRPr lang="en-US" sz="4000" i="1" dirty="0">
              <a:latin typeface="Times New Roman" panose="02020603050405020304" pitchFamily="18" charset="0"/>
              <a:cs typeface="Times New Roman" panose="02020603050405020304" pitchFamily="18" charset="0"/>
            </a:endParaRPr>
          </a:p>
          <a:p>
            <a:pPr marL="0" indent="0">
              <a:buNone/>
            </a:pPr>
            <a:endParaRPr lang="en-US" sz="4000" i="1"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4000" b="1" dirty="0" err="1">
                <a:latin typeface="Times New Roman" panose="02020603050405020304" pitchFamily="18" charset="0"/>
                <a:cs typeface="Times New Roman" panose="02020603050405020304" pitchFamily="18" charset="0"/>
              </a:rPr>
              <a:t>Thế</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giới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thống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nhất</a:t>
            </a:r>
            <a:r>
              <a:rPr lang="en-US" sz="4000" b="1" dirty="0">
                <a:latin typeface="Times New Roman" panose="02020603050405020304" pitchFamily="18" charset="0"/>
                <a:cs typeface="Times New Roman" panose="02020603050405020304" pitchFamily="18" charset="0"/>
              </a:rPr>
              <a:t> ở </a:t>
            </a:r>
            <a:r>
              <a:rPr lang="en-US" sz="4000" b="1" dirty="0" err="1">
                <a:latin typeface="Times New Roman" panose="02020603050405020304" pitchFamily="18" charset="0"/>
                <a:cs typeface="Times New Roman" panose="02020603050405020304" pitchFamily="18" charset="0"/>
              </a:rPr>
              <a:t>tính</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vật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chất</a:t>
            </a:r>
            <a:endParaRPr lang="en-US" sz="4000" b="1" dirty="0">
              <a:latin typeface="Times New Roman" panose="02020603050405020304" pitchFamily="18" charset="0"/>
              <a:cs typeface="Times New Roman" panose="02020603050405020304" pitchFamily="18" charset="0"/>
            </a:endParaRPr>
          </a:p>
          <a:p>
            <a:pPr algn="just">
              <a:spcBef>
                <a:spcPts val="1200"/>
              </a:spcBef>
              <a:spcAft>
                <a:spcPts val="1200"/>
              </a:spcAft>
              <a:buFontTx/>
              <a:buChar char="-"/>
            </a:pPr>
            <a:r>
              <a:rPr lang="en-US" altLang="en-US" sz="4000" i="1" dirty="0" err="1">
                <a:latin typeface="Times New Roman" panose="02020603050405020304" pitchFamily="18" charset="0"/>
              </a:rPr>
              <a:t>Chỉ</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có</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một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thế</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giới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duy</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nhất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và</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thống</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nhất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là</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thế</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giới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vật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chất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tồn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tại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khách</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quan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độc</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lập</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với</a:t>
            </a:r>
            <a:r>
              <a:rPr lang="en-US" altLang="en-US" sz="4000" i="1" dirty="0">
                <a:latin typeface="Times New Roman" panose="02020603050405020304" pitchFamily="18" charset="0"/>
              </a:rPr>
              <a:t> ý </a:t>
            </a:r>
            <a:r>
              <a:rPr lang="en-US" altLang="en-US" sz="4000" i="1" dirty="0" err="1">
                <a:latin typeface="Times New Roman" panose="02020603050405020304" pitchFamily="18" charset="0"/>
              </a:rPr>
              <a:t>thức</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của</a:t>
            </a:r>
            <a:r>
              <a:rPr lang="en-US" altLang="en-US" sz="4000" i="1" dirty="0">
                <a:latin typeface="Times New Roman" panose="02020603050405020304" pitchFamily="18" charset="0"/>
              </a:rPr>
              <a:t> con </a:t>
            </a:r>
            <a:r>
              <a:rPr lang="en-US" altLang="en-US" sz="4000" i="1" dirty="0" err="1">
                <a:latin typeface="Times New Roman" panose="02020603050405020304" pitchFamily="18" charset="0"/>
              </a:rPr>
              <a:t>người</a:t>
            </a:r>
            <a:r>
              <a:rPr lang="en-US" altLang="en-US" sz="4000" i="1" dirty="0">
                <a:latin typeface="Times New Roman" panose="02020603050405020304" pitchFamily="18" charset="0"/>
              </a:rPr>
              <a:t>.</a:t>
            </a:r>
            <a:endParaRPr lang="en-US" altLang="en-US" sz="4000" i="1" dirty="0">
              <a:latin typeface="Times New Roman" panose="02020603050405020304" pitchFamily="18" charset="0"/>
            </a:endParaRPr>
          </a:p>
          <a:p>
            <a:pPr algn="just">
              <a:spcBef>
                <a:spcPts val="1200"/>
              </a:spcBef>
              <a:spcAft>
                <a:spcPts val="1200"/>
              </a:spcAft>
              <a:buFontTx/>
              <a:buChar char="-"/>
            </a:pPr>
            <a:r>
              <a:rPr lang="en-US" altLang="en-US" sz="4000" i="1" dirty="0" err="1">
                <a:latin typeface="Times New Roman" panose="02020603050405020304" pitchFamily="18" charset="0"/>
              </a:rPr>
              <a:t>Thế</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giới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vật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chất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tồn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tại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vĩnh</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viễn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vô</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tận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vô</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hạn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không</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ai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sinh</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ra</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và</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không</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bị</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mất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đi</a:t>
            </a:r>
            <a:r>
              <a:rPr lang="en-US" altLang="en-US" sz="4000" i="1" dirty="0">
                <a:latin typeface="Times New Roman" panose="02020603050405020304" pitchFamily="18" charset="0"/>
              </a:rPr>
              <a:t>.</a:t>
            </a:r>
            <a:endParaRPr lang="en-US" altLang="en-US" sz="4000" i="1" dirty="0">
              <a:latin typeface="Times New Roman" panose="02020603050405020304" pitchFamily="18" charset="0"/>
            </a:endParaRPr>
          </a:p>
          <a:p>
            <a:pPr algn="just">
              <a:spcBef>
                <a:spcPts val="1200"/>
              </a:spcBef>
              <a:spcAft>
                <a:spcPts val="1200"/>
              </a:spcAft>
              <a:buFontTx/>
              <a:buChar char="-"/>
            </a:pPr>
            <a:r>
              <a:rPr lang="en-US" altLang="en-US" sz="4000" i="1" dirty="0" err="1">
                <a:latin typeface="Times New Roman" panose="02020603050405020304" pitchFamily="18" charset="0"/>
              </a:rPr>
              <a:t>Mọi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tồn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tại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của</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thế</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giới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vật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chất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đều</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có</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mối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liên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hệ</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kh.quan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th.nhất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với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nhau</a:t>
            </a:r>
            <a:r>
              <a:rPr lang="en-US" altLang="en-US" sz="4000" i="1" dirty="0">
                <a:latin typeface="Times New Roman" panose="02020603050405020304" pitchFamily="18" charset="0"/>
              </a:rPr>
              <a:t>…</a:t>
            </a:r>
            <a:r>
              <a:rPr lang="en-US" altLang="en-US" sz="4000" i="1" dirty="0" err="1">
                <a:latin typeface="Times New Roman" panose="02020603050405020304" pitchFamily="18" charset="0"/>
              </a:rPr>
              <a:t>và</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cùng</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chịu</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sự</a:t>
            </a:r>
            <a:r>
              <a:rPr lang="en-US" altLang="en-US" sz="4000" i="1" dirty="0">
                <a:latin typeface="Times New Roman" panose="02020603050405020304" pitchFamily="18" charset="0"/>
              </a:rPr>
              <a:t> chi </a:t>
            </a:r>
            <a:r>
              <a:rPr lang="en-US" altLang="en-US" sz="4000" i="1" dirty="0" err="1">
                <a:latin typeface="Times New Roman" panose="02020603050405020304" pitchFamily="18" charset="0"/>
              </a:rPr>
              <a:t>phối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của</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những</a:t>
            </a:r>
            <a:r>
              <a:rPr lang="en-US" altLang="en-US" sz="4000" i="1" dirty="0">
                <a:latin typeface="Times New Roman" panose="02020603050405020304" pitchFamily="18" charset="0"/>
              </a:rPr>
              <a:t> qui </a:t>
            </a:r>
            <a:r>
              <a:rPr lang="en-US" altLang="en-US" sz="4000" i="1" dirty="0" err="1">
                <a:latin typeface="Times New Roman" panose="02020603050405020304" pitchFamily="18" charset="0"/>
              </a:rPr>
              <a:t>luật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phổ</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biến</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của</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thế</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giới</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vật</a:t>
            </a:r>
            <a:r>
              <a:rPr lang="en-US" altLang="en-US" sz="4000" i="1" dirty="0">
                <a:latin typeface="Times New Roman" panose="02020603050405020304" pitchFamily="18" charset="0"/>
              </a:rPr>
              <a:t> </a:t>
            </a:r>
            <a:r>
              <a:rPr lang="en-US" altLang="en-US" sz="4000" i="1" dirty="0" err="1">
                <a:latin typeface="Times New Roman" panose="02020603050405020304" pitchFamily="18" charset="0"/>
              </a:rPr>
              <a:t>chất</a:t>
            </a:r>
            <a:r>
              <a:rPr lang="en-US" altLang="en-US" sz="4000" i="1" dirty="0">
                <a:latin typeface="Times New Roman" panose="02020603050405020304" pitchFamily="18" charset="0"/>
              </a:rPr>
              <a:t>. </a:t>
            </a:r>
            <a:endParaRPr lang="en-US" altLang="en-US" sz="4000" i="1" dirty="0">
              <a:latin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96932"/>
          </a:xfrm>
        </p:spPr>
        <p:txBody>
          <a:bodyPr/>
          <a:lstStyle/>
          <a:p>
            <a:endParaRPr lang="en-US" dirty="0"/>
          </a:p>
        </p:txBody>
      </p:sp>
      <p:sp>
        <p:nvSpPr>
          <p:cNvPr id="3" name="Rectangle 2"/>
          <p:cNvSpPr/>
          <p:nvPr/>
        </p:nvSpPr>
        <p:spPr>
          <a:xfrm>
            <a:off x="1143000" y="1676399"/>
            <a:ext cx="1621971" cy="28738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2400" i="1" dirty="0" err="1">
                <a:latin typeface="Times New Roman" panose="02020603050405020304" pitchFamily="18" charset="0"/>
              </a:rPr>
              <a:t>Chỉ</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có</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một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thế</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giới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duy</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nhất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thống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nhất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thế</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giới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chất</a:t>
            </a:r>
            <a:endParaRPr lang="en-US" sz="2400" dirty="0"/>
          </a:p>
        </p:txBody>
      </p:sp>
      <p:sp>
        <p:nvSpPr>
          <p:cNvPr id="4" name="Rectangle: Rounded Corners 3"/>
          <p:cNvSpPr/>
          <p:nvPr/>
        </p:nvSpPr>
        <p:spPr>
          <a:xfrm>
            <a:off x="4201886" y="468086"/>
            <a:ext cx="3058885" cy="12736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400" i="1" dirty="0">
                <a:latin typeface="Times New Roman" panose="02020603050405020304" pitchFamily="18" charset="0"/>
                <a:cs typeface="Times New Roman" panose="02020603050405020304" pitchFamily="18" charset="0"/>
              </a:rPr>
              <a:t>Các bộ phận trong thế giới vật chất đều có mối liên hệ với nhau</a:t>
            </a:r>
            <a:endParaRPr lang="en-US" sz="2400" i="1" dirty="0">
              <a:latin typeface="Times New Roman" panose="02020603050405020304" pitchFamily="18" charset="0"/>
              <a:cs typeface="Times New Roman" panose="02020603050405020304" pitchFamily="18" charset="0"/>
            </a:endParaRPr>
          </a:p>
        </p:txBody>
      </p:sp>
      <p:sp>
        <p:nvSpPr>
          <p:cNvPr id="5" name="Rectangle 4"/>
          <p:cNvSpPr/>
          <p:nvPr/>
        </p:nvSpPr>
        <p:spPr>
          <a:xfrm>
            <a:off x="8871856" y="1894114"/>
            <a:ext cx="2481944" cy="26561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spcBef>
                <a:spcPts val="1200"/>
              </a:spcBef>
              <a:spcAft>
                <a:spcPts val="1200"/>
              </a:spcAft>
            </a:pPr>
            <a:r>
              <a:rPr lang="en-US" altLang="en-US" sz="2400" i="1" dirty="0" err="1">
                <a:latin typeface="Times New Roman" panose="02020603050405020304" pitchFamily="18" charset="0"/>
              </a:rPr>
              <a:t>Thế</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giới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chất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tồn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tại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vĩnh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viễn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vô</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tận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vô</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hạn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không</a:t>
            </a:r>
            <a:r>
              <a:rPr lang="en-US" altLang="en-US" sz="2400" i="1" dirty="0">
                <a:latin typeface="Times New Roman" panose="02020603050405020304" pitchFamily="18" charset="0"/>
              </a:rPr>
              <a:t> ai </a:t>
            </a:r>
            <a:r>
              <a:rPr lang="en-US" altLang="en-US" sz="2400" i="1" dirty="0" err="1">
                <a:latin typeface="Times New Roman" panose="02020603050405020304" pitchFamily="18" charset="0"/>
              </a:rPr>
              <a:t>sinh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ra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không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bị</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mất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đi</a:t>
            </a:r>
            <a:r>
              <a:rPr lang="en-US" altLang="en-US" sz="2400" i="1" dirty="0">
                <a:latin typeface="Times New Roman" panose="02020603050405020304" pitchFamily="18" charset="0"/>
              </a:rPr>
              <a:t>.</a:t>
            </a:r>
            <a:endParaRPr lang="en-US" altLang="en-US" sz="2400" i="1" dirty="0">
              <a:latin typeface="Times New Roman" panose="02020603050405020304" pitchFamily="18" charset="0"/>
            </a:endParaRPr>
          </a:p>
        </p:txBody>
      </p:sp>
      <p:sp>
        <p:nvSpPr>
          <p:cNvPr id="6" name="Oval 5"/>
          <p:cNvSpPr/>
          <p:nvPr/>
        </p:nvSpPr>
        <p:spPr>
          <a:xfrm>
            <a:off x="4201886" y="2830286"/>
            <a:ext cx="3233057" cy="15784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THẾ GIỚI THỐNG NHẤT Ở TÍNH VẬT CHẤT</a:t>
            </a:r>
            <a:endParaRPr lang="en-US" sz="2000" b="1" dirty="0">
              <a:latin typeface="Times New Roman" panose="02020603050405020304" pitchFamily="18" charset="0"/>
              <a:cs typeface="Times New Roman" panose="02020603050405020304" pitchFamily="18" charset="0"/>
            </a:endParaRPr>
          </a:p>
        </p:txBody>
      </p:sp>
      <p:sp>
        <p:nvSpPr>
          <p:cNvPr id="7" name="Rectangle 6"/>
          <p:cNvSpPr/>
          <p:nvPr/>
        </p:nvSpPr>
        <p:spPr>
          <a:xfrm>
            <a:off x="2111829" y="5083629"/>
            <a:ext cx="8577942" cy="11647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Định luật bảo toàn và chuyể hóa năng lượng.</a:t>
            </a:r>
            <a:endParaRPr lang="vi-VN" sz="2000" dirty="0">
              <a:latin typeface="Times New Roman" panose="02020603050405020304" pitchFamily="18" charset="0"/>
              <a:cs typeface="Times New Roman" panose="02020603050405020304" pitchFamily="18" charset="0"/>
            </a:endParaRPr>
          </a:p>
          <a:p>
            <a:pPr marL="285750" indent="-285750" algn="ctr">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Thuyết tiến hóa các loài</a:t>
            </a:r>
            <a:endParaRPr lang="vi-VN" sz="2000" dirty="0">
              <a:latin typeface="Times New Roman" panose="02020603050405020304" pitchFamily="18" charset="0"/>
              <a:cs typeface="Times New Roman" panose="02020603050405020304" pitchFamily="18" charset="0"/>
            </a:endParaRPr>
          </a:p>
          <a:p>
            <a:pPr marL="285750" indent="-285750" algn="ctr">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Thuyết tế bào</a:t>
            </a:r>
            <a:endParaRPr lang="vi-VN" sz="2000" dirty="0">
              <a:latin typeface="Times New Roman" panose="02020603050405020304" pitchFamily="18" charset="0"/>
              <a:cs typeface="Times New Roman" panose="02020603050405020304" pitchFamily="18" charset="0"/>
            </a:endParaRPr>
          </a:p>
          <a:p>
            <a:pPr marL="285750" indent="-285750" algn="ctr">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Những thành tựu của Vật lý, Hóa học, Khoa học về vũ trụ ở thế kỷ XX, XXI</a:t>
            </a:r>
            <a:endParaRPr lang="en-US" sz="2000" dirty="0">
              <a:latin typeface="Times New Roman" panose="02020603050405020304" pitchFamily="18" charset="0"/>
              <a:cs typeface="Times New Roman" panose="02020603050405020304" pitchFamily="18" charset="0"/>
            </a:endParaRPr>
          </a:p>
        </p:txBody>
      </p:sp>
      <p:cxnSp>
        <p:nvCxnSpPr>
          <p:cNvPr id="9" name="Straight Arrow Connector 8"/>
          <p:cNvCxnSpPr>
            <a:stCxn id="6" idx="0"/>
          </p:cNvCxnSpPr>
          <p:nvPr/>
        </p:nvCxnSpPr>
        <p:spPr>
          <a:xfrm flipV="1">
            <a:off x="5818415" y="1676399"/>
            <a:ext cx="5442" cy="115388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3" name="Straight Arrow Connector 12"/>
          <p:cNvCxnSpPr>
            <a:stCxn id="6" idx="0"/>
          </p:cNvCxnSpPr>
          <p:nvPr/>
        </p:nvCxnSpPr>
        <p:spPr>
          <a:xfrm flipH="1">
            <a:off x="2764971" y="2830286"/>
            <a:ext cx="3053444" cy="2503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5" name="Straight Arrow Connector 14"/>
          <p:cNvCxnSpPr>
            <a:stCxn id="6" idx="0"/>
          </p:cNvCxnSpPr>
          <p:nvPr/>
        </p:nvCxnSpPr>
        <p:spPr>
          <a:xfrm>
            <a:off x="5818415" y="2830286"/>
            <a:ext cx="3053441" cy="16328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Arrow: Up 16"/>
          <p:cNvSpPr/>
          <p:nvPr/>
        </p:nvSpPr>
        <p:spPr>
          <a:xfrm>
            <a:off x="5818415" y="4408714"/>
            <a:ext cx="484632" cy="674915"/>
          </a:xfrm>
          <a:prstGeom prst="upArrow">
            <a:avLst>
              <a:gd name="adj1" fmla="val 50000"/>
              <a:gd name="adj2" fmla="val 38769"/>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49237"/>
            <a:ext cx="10515600" cy="879230"/>
          </a:xfrm>
        </p:spPr>
        <p:txBody>
          <a:bodyPr>
            <a:normAutofit/>
          </a:bodyPr>
          <a:lstStyle/>
          <a:p>
            <a:pPr algn="just"/>
            <a:r>
              <a:rPr lang="en-US" sz="3600" b="1" dirty="0">
                <a:latin typeface="Times New Roman" panose="02020603050405020304" pitchFamily="18" charset="0"/>
                <a:cs typeface="Times New Roman" panose="02020603050405020304" pitchFamily="18" charset="0"/>
              </a:rPr>
              <a:t>2. </a:t>
            </a:r>
            <a:r>
              <a:rPr lang="en-US" sz="3600" b="1" dirty="0" err="1">
                <a:latin typeface="Times New Roman" panose="02020603050405020304" pitchFamily="18" charset="0"/>
                <a:cs typeface="Times New Roman" panose="02020603050405020304" pitchFamily="18" charset="0"/>
              </a:rPr>
              <a:t>Nguồn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gốc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chất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và</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cấu</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ý </a:t>
            </a:r>
            <a:r>
              <a:rPr lang="en-US" sz="3600" b="1" dirty="0" err="1">
                <a:latin typeface="Times New Roman" panose="02020603050405020304" pitchFamily="18" charset="0"/>
                <a:cs typeface="Times New Roman" panose="02020603050405020304" pitchFamily="18" charset="0"/>
              </a:rPr>
              <a:t>thức</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06199"/>
            <a:ext cx="10515600" cy="5546293"/>
          </a:xfrm>
        </p:spPr>
        <p:txBody>
          <a:bodyPr/>
          <a:lstStyle/>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9" name="Arrow: Right 8"/>
          <p:cNvSpPr/>
          <p:nvPr/>
        </p:nvSpPr>
        <p:spPr>
          <a:xfrm>
            <a:off x="1139695" y="1077686"/>
            <a:ext cx="2800933" cy="1470698"/>
          </a:xfrm>
          <a:prstGeom prst="rightArrow">
            <a:avLst>
              <a:gd name="adj1" fmla="val 72462"/>
              <a:gd name="adj2" fmla="val 50000"/>
            </a:avLst>
          </a:prstGeom>
        </p:spPr>
        <p:style>
          <a:lnRef idx="2">
            <a:schemeClr val="accent6"/>
          </a:lnRef>
          <a:fillRef idx="1">
            <a:schemeClr val="lt1"/>
          </a:fillRef>
          <a:effectRef idx="0">
            <a:schemeClr val="accent6"/>
          </a:effectRef>
          <a:fontRef idx="minor">
            <a:schemeClr val="dk1"/>
          </a:fontRef>
        </p:style>
        <p:txBody>
          <a:bodyPr rtlCol="0" anchor="ctr"/>
          <a:lstStyle/>
          <a:p>
            <a:pPr algn="ct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Quan </a:t>
            </a:r>
            <a:r>
              <a:rPr lang="en-US" sz="1800" dirty="0" err="1">
                <a:solidFill>
                  <a:schemeClr val="tx1"/>
                </a:solidFill>
                <a:latin typeface="Times New Roman" panose="02020603050405020304" pitchFamily="18" charset="0"/>
                <a:cs typeface="Times New Roman" panose="02020603050405020304" pitchFamily="18" charset="0"/>
              </a:rPr>
              <a:t>điểm</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của</a:t>
            </a:r>
            <a:r>
              <a:rPr lang="en-US" sz="1800" dirty="0">
                <a:solidFill>
                  <a:schemeClr val="tx1"/>
                </a:solidFill>
                <a:latin typeface="Times New Roman" panose="02020603050405020304" pitchFamily="18" charset="0"/>
                <a:cs typeface="Times New Roman" panose="02020603050405020304" pitchFamily="18" charset="0"/>
              </a:rPr>
              <a:t> CNDT</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1" name="Rectangle: Rounded Corners 10"/>
          <p:cNvSpPr/>
          <p:nvPr/>
        </p:nvSpPr>
        <p:spPr>
          <a:xfrm>
            <a:off x="3940628" y="1469571"/>
            <a:ext cx="7413172"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Ý thức là bản thể đầu tiên, tồn tại vĩnh viễn, là nguyên nhân sinh thành, chi phối sự tồn tại, biến đổi của toàn thế giới vật chất</a:t>
            </a:r>
            <a:endParaRPr lang="en-US" dirty="0">
              <a:latin typeface="Times New Roman" panose="02020603050405020304" pitchFamily="18" charset="0"/>
              <a:cs typeface="Times New Roman" panose="02020603050405020304" pitchFamily="18" charset="0"/>
            </a:endParaRPr>
          </a:p>
        </p:txBody>
      </p:sp>
      <p:sp>
        <p:nvSpPr>
          <p:cNvPr id="13" name="Arrow: Right 12"/>
          <p:cNvSpPr/>
          <p:nvPr/>
        </p:nvSpPr>
        <p:spPr>
          <a:xfrm>
            <a:off x="1139695" y="2826115"/>
            <a:ext cx="2800933" cy="1724113"/>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Quan </a:t>
            </a:r>
            <a:r>
              <a:rPr lang="en-US" sz="1800" dirty="0" err="1">
                <a:solidFill>
                  <a:schemeClr val="tx1"/>
                </a:solidFill>
                <a:latin typeface="Times New Roman" panose="02020603050405020304" pitchFamily="18" charset="0"/>
                <a:cs typeface="Times New Roman" panose="02020603050405020304" pitchFamily="18" charset="0"/>
              </a:rPr>
              <a:t>điểm</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của</a:t>
            </a:r>
            <a:r>
              <a:rPr lang="en-US" sz="1800" dirty="0">
                <a:solidFill>
                  <a:schemeClr val="tx1"/>
                </a:solidFill>
                <a:latin typeface="Times New Roman" panose="02020603050405020304" pitchFamily="18" charset="0"/>
                <a:cs typeface="Times New Roman" panose="02020603050405020304" pitchFamily="18" charset="0"/>
              </a:rPr>
              <a:t> </a:t>
            </a:r>
            <a:r>
              <a:rPr lang="vi-VN" sz="1800" dirty="0">
                <a:solidFill>
                  <a:schemeClr val="tx1"/>
                </a:solidFill>
                <a:latin typeface="Times New Roman" panose="02020603050405020304" pitchFamily="18" charset="0"/>
                <a:cs typeface="Times New Roman" panose="02020603050405020304" pitchFamily="18" charset="0"/>
              </a:rPr>
              <a:t>CNDVSH</a:t>
            </a:r>
            <a:endParaRPr lang="en-US" sz="1800" dirty="0">
              <a:solidFill>
                <a:schemeClr val="tx1"/>
              </a:solidFill>
              <a:latin typeface="Times New Roman" panose="02020603050405020304" pitchFamily="18" charset="0"/>
              <a:cs typeface="Times New Roman" panose="02020603050405020304" pitchFamily="18" charset="0"/>
            </a:endParaRPr>
          </a:p>
        </p:txBody>
      </p:sp>
      <p:sp>
        <p:nvSpPr>
          <p:cNvPr id="14" name="Rectangle: Rounded Corners 13"/>
          <p:cNvSpPr/>
          <p:nvPr/>
        </p:nvSpPr>
        <p:spPr>
          <a:xfrm>
            <a:off x="3940627" y="3091543"/>
            <a:ext cx="7413171" cy="10668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Xuất phát từ thế giới hiện thực để lý giải nguồn gốc của ý thức, coi ý thức cũng chỉ là một dạng vật chất đặc biệt, do vật chất sinh ra</a:t>
            </a:r>
            <a:endParaRPr lang="en-US" dirty="0">
              <a:latin typeface="Times New Roman" panose="02020603050405020304" pitchFamily="18" charset="0"/>
              <a:cs typeface="Times New Roman" panose="02020603050405020304" pitchFamily="18" charset="0"/>
            </a:endParaRPr>
          </a:p>
        </p:txBody>
      </p:sp>
      <p:sp>
        <p:nvSpPr>
          <p:cNvPr id="15" name="Arrow: Right 14"/>
          <p:cNvSpPr/>
          <p:nvPr/>
        </p:nvSpPr>
        <p:spPr>
          <a:xfrm>
            <a:off x="1139694" y="4827960"/>
            <a:ext cx="2800933" cy="1507526"/>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ctr">
              <a:buFont typeface="Wingdings" panose="05000000000000000000" pitchFamily="2" charset="2"/>
              <a:buChar char="Ø"/>
            </a:pPr>
            <a:r>
              <a:rPr lang="en-US" sz="1800" dirty="0">
                <a:solidFill>
                  <a:schemeClr val="tx1"/>
                </a:solidFill>
                <a:latin typeface="Times New Roman" panose="02020603050405020304" pitchFamily="18" charset="0"/>
                <a:cs typeface="Times New Roman" panose="02020603050405020304" pitchFamily="18" charset="0"/>
              </a:rPr>
              <a:t>Quan </a:t>
            </a:r>
            <a:r>
              <a:rPr lang="en-US" sz="1800" dirty="0" err="1">
                <a:solidFill>
                  <a:schemeClr val="tx1"/>
                </a:solidFill>
                <a:latin typeface="Times New Roman" panose="02020603050405020304" pitchFamily="18" charset="0"/>
                <a:cs typeface="Times New Roman" panose="02020603050405020304" pitchFamily="18" charset="0"/>
              </a:rPr>
              <a:t>điểm</a:t>
            </a:r>
            <a:r>
              <a:rPr lang="en-US" sz="1800" dirty="0">
                <a:solidFill>
                  <a:schemeClr val="tx1"/>
                </a:solidFill>
                <a:latin typeface="Times New Roman" panose="02020603050405020304" pitchFamily="18" charset="0"/>
                <a:cs typeface="Times New Roman" panose="02020603050405020304" pitchFamily="18" charset="0"/>
              </a:rPr>
              <a:t> </a:t>
            </a:r>
            <a:r>
              <a:rPr lang="en-US" sz="1800" dirty="0" err="1">
                <a:solidFill>
                  <a:schemeClr val="tx1"/>
                </a:solidFill>
                <a:latin typeface="Times New Roman" panose="02020603050405020304" pitchFamily="18" charset="0"/>
                <a:cs typeface="Times New Roman" panose="02020603050405020304" pitchFamily="18" charset="0"/>
              </a:rPr>
              <a:t>của</a:t>
            </a:r>
            <a:r>
              <a:rPr lang="en-US" sz="1800" dirty="0">
                <a:solidFill>
                  <a:schemeClr val="tx1"/>
                </a:solidFill>
                <a:latin typeface="Times New Roman" panose="02020603050405020304" pitchFamily="18" charset="0"/>
                <a:cs typeface="Times New Roman" panose="02020603050405020304" pitchFamily="18" charset="0"/>
              </a:rPr>
              <a:t> </a:t>
            </a:r>
            <a:r>
              <a:rPr lang="vi-VN" sz="1800" dirty="0">
                <a:solidFill>
                  <a:schemeClr val="tx1"/>
                </a:solidFill>
                <a:latin typeface="Times New Roman" panose="02020603050405020304" pitchFamily="18" charset="0"/>
                <a:cs typeface="Times New Roman" panose="02020603050405020304" pitchFamily="18" charset="0"/>
              </a:rPr>
              <a:t>CNDVBC</a:t>
            </a:r>
            <a:endParaRPr lang="en-US" dirty="0"/>
          </a:p>
        </p:txBody>
      </p:sp>
      <p:sp>
        <p:nvSpPr>
          <p:cNvPr id="16" name="Rectangle: Rounded Corners 15"/>
          <p:cNvSpPr/>
          <p:nvPr/>
        </p:nvSpPr>
        <p:spPr>
          <a:xfrm>
            <a:off x="3940626" y="5093387"/>
            <a:ext cx="7413171" cy="110280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Ý thức xuất hiện là kết quả của quá trình tiến hóa lâu dài của giới tự nhiên, của lịch sử trái đất, đồng thời là kết quả trực tiếp của thực tiễn XH – lịch sử của con nguiowf</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09846"/>
          </a:xfrm>
        </p:spPr>
        <p:txBody>
          <a:bodyPr/>
          <a:lstStyle/>
          <a:p>
            <a:endParaRPr lang="en-US" dirty="0"/>
          </a:p>
        </p:txBody>
      </p:sp>
      <p:sp>
        <p:nvSpPr>
          <p:cNvPr id="3" name="Rectangle 2"/>
          <p:cNvSpPr/>
          <p:nvPr/>
        </p:nvSpPr>
        <p:spPr>
          <a:xfrm>
            <a:off x="3951513" y="478971"/>
            <a:ext cx="4299857" cy="81642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NGUỒN GỐC CỦA Ý THỨC</a:t>
            </a:r>
            <a:endParaRPr lang="en-US" sz="2000" b="1"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1992086" y="2035629"/>
            <a:ext cx="2362200"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Nguồn gốc tự nhiên</a:t>
            </a:r>
            <a:endParaRPr lang="en-US" sz="2000" b="1"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7445828" y="2133600"/>
            <a:ext cx="2754085"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Nguồn gốc xã hội</a:t>
            </a:r>
            <a:endParaRPr lang="en-US" sz="2000" b="1" dirty="0">
              <a:latin typeface="Times New Roman" panose="02020603050405020304" pitchFamily="18" charset="0"/>
              <a:cs typeface="Times New Roman" panose="02020603050405020304" pitchFamily="18" charset="0"/>
            </a:endParaRPr>
          </a:p>
        </p:txBody>
      </p:sp>
      <p:sp>
        <p:nvSpPr>
          <p:cNvPr id="6" name="Rectangle 5"/>
          <p:cNvSpPr/>
          <p:nvPr/>
        </p:nvSpPr>
        <p:spPr>
          <a:xfrm>
            <a:off x="1121229" y="3701142"/>
            <a:ext cx="1262742" cy="1513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Bộ óc</a:t>
            </a:r>
            <a:endParaRPr lang="en-US" sz="2000" b="1" dirty="0">
              <a:latin typeface="Times New Roman" panose="02020603050405020304" pitchFamily="18" charset="0"/>
              <a:cs typeface="Times New Roman" panose="02020603050405020304" pitchFamily="18" charset="0"/>
            </a:endParaRPr>
          </a:p>
        </p:txBody>
      </p:sp>
      <p:sp>
        <p:nvSpPr>
          <p:cNvPr id="7" name="Rectangle 6"/>
          <p:cNvSpPr/>
          <p:nvPr/>
        </p:nvSpPr>
        <p:spPr>
          <a:xfrm>
            <a:off x="3766457" y="3701141"/>
            <a:ext cx="1262742" cy="1513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Thế giới khách quan</a:t>
            </a:r>
            <a:endParaRPr lang="en-US" sz="2000" b="1" dirty="0">
              <a:latin typeface="Times New Roman" panose="02020603050405020304" pitchFamily="18" charset="0"/>
              <a:cs typeface="Times New Roman" panose="02020603050405020304" pitchFamily="18" charset="0"/>
            </a:endParaRPr>
          </a:p>
        </p:txBody>
      </p:sp>
      <p:sp>
        <p:nvSpPr>
          <p:cNvPr id="8" name="Rectangle 7"/>
          <p:cNvSpPr/>
          <p:nvPr/>
        </p:nvSpPr>
        <p:spPr>
          <a:xfrm>
            <a:off x="6836229" y="3701140"/>
            <a:ext cx="1415141" cy="1513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Lao động</a:t>
            </a:r>
            <a:endParaRPr lang="en-US" sz="2000" b="1" dirty="0">
              <a:latin typeface="Times New Roman" panose="02020603050405020304" pitchFamily="18" charset="0"/>
              <a:cs typeface="Times New Roman" panose="02020603050405020304" pitchFamily="18" charset="0"/>
            </a:endParaRPr>
          </a:p>
        </p:txBody>
      </p:sp>
      <p:sp>
        <p:nvSpPr>
          <p:cNvPr id="9" name="Rectangle 8"/>
          <p:cNvSpPr/>
          <p:nvPr/>
        </p:nvSpPr>
        <p:spPr>
          <a:xfrm>
            <a:off x="9612087" y="3701140"/>
            <a:ext cx="1415141" cy="151311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Ngôn ngữ</a:t>
            </a:r>
            <a:endParaRPr lang="en-US" sz="2000" b="1" dirty="0">
              <a:latin typeface="Times New Roman" panose="02020603050405020304" pitchFamily="18" charset="0"/>
              <a:cs typeface="Times New Roman" panose="02020603050405020304" pitchFamily="18" charset="0"/>
            </a:endParaRPr>
          </a:p>
        </p:txBody>
      </p:sp>
      <p:cxnSp>
        <p:nvCxnSpPr>
          <p:cNvPr id="11" name="Straight Arrow Connector 10"/>
          <p:cNvCxnSpPr>
            <a:stCxn id="3" idx="2"/>
          </p:cNvCxnSpPr>
          <p:nvPr/>
        </p:nvCxnSpPr>
        <p:spPr>
          <a:xfrm flipH="1">
            <a:off x="3233057" y="1295400"/>
            <a:ext cx="2868385" cy="69668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9" name="Straight Arrow Connector 18"/>
          <p:cNvCxnSpPr>
            <a:stCxn id="3" idx="2"/>
          </p:cNvCxnSpPr>
          <p:nvPr/>
        </p:nvCxnSpPr>
        <p:spPr>
          <a:xfrm>
            <a:off x="6101442" y="1295400"/>
            <a:ext cx="2672444" cy="83820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1" name="Straight Arrow Connector 20"/>
          <p:cNvCxnSpPr/>
          <p:nvPr/>
        </p:nvCxnSpPr>
        <p:spPr>
          <a:xfrm flipH="1">
            <a:off x="1752600" y="2950029"/>
            <a:ext cx="1480457" cy="7511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p:cNvCxnSpPr/>
          <p:nvPr/>
        </p:nvCxnSpPr>
        <p:spPr>
          <a:xfrm>
            <a:off x="3156857" y="2950029"/>
            <a:ext cx="1306286" cy="7511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p:cNvCxnSpPr>
            <a:stCxn id="5" idx="2"/>
          </p:cNvCxnSpPr>
          <p:nvPr/>
        </p:nvCxnSpPr>
        <p:spPr>
          <a:xfrm flipH="1">
            <a:off x="7331528" y="3048000"/>
            <a:ext cx="1491343" cy="6531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7" name="Straight Arrow Connector 26"/>
          <p:cNvCxnSpPr>
            <a:stCxn id="5" idx="2"/>
            <a:endCxn id="9" idx="0"/>
          </p:cNvCxnSpPr>
          <p:nvPr/>
        </p:nvCxnSpPr>
        <p:spPr>
          <a:xfrm>
            <a:off x="8822871" y="3048000"/>
            <a:ext cx="1496787" cy="65314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86153" y="126610"/>
            <a:ext cx="7263619" cy="829994"/>
          </a:xfrm>
        </p:spPr>
        <p:txBody>
          <a:bodyPr/>
          <a:lstStyle/>
          <a:p>
            <a:pPr marL="571500" indent="-571500">
              <a:buFont typeface="Wingdings" panose="05000000000000000000" pitchFamily="2" charset="2"/>
              <a:buChar char="Ø"/>
            </a:pPr>
            <a:r>
              <a:rPr lang="en-US" b="1" dirty="0">
                <a:latin typeface="Times New Roman" panose="02020603050405020304" pitchFamily="18" charset="0"/>
                <a:cs typeface="Times New Roman" panose="02020603050405020304" pitchFamily="18" charset="0"/>
              </a:rPr>
              <a:t>Quan </a:t>
            </a:r>
            <a:r>
              <a:rPr lang="en-US" b="1" dirty="0" err="1">
                <a:latin typeface="Times New Roman" panose="02020603050405020304" pitchFamily="18" charset="0"/>
                <a:cs typeface="Times New Roman" panose="02020603050405020304" pitchFamily="18" charset="0"/>
              </a:rPr>
              <a:t>điểm</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CNDV BC</a:t>
            </a:r>
            <a:endParaRPr lang="en-US" dirty="0"/>
          </a:p>
        </p:txBody>
      </p:sp>
      <p:pic>
        <p:nvPicPr>
          <p:cNvPr id="3074" name="Picture 2" descr="Não người – Wikipedia tiếng Việt"/>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229600" y="1350499"/>
            <a:ext cx="3573194" cy="3967089"/>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rot="10800000" flipV="1">
            <a:off x="586154" y="1097280"/>
            <a:ext cx="7263618" cy="543716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1" algn="just">
              <a:lnSpc>
                <a:spcPct val="80000"/>
              </a:lnSpc>
              <a:buFont typeface="Wingdings" panose="05000000000000000000" pitchFamily="2" charset="2"/>
              <a:buChar char="v"/>
            </a:pPr>
            <a:r>
              <a:rPr lang="en-US" altLang="en-US" sz="2800" b="1" i="1" dirty="0" err="1">
                <a:solidFill>
                  <a:schemeClr val="tx1"/>
                </a:solidFill>
                <a:latin typeface="Times New Roman" panose="02020603050405020304" pitchFamily="18" charset="0"/>
              </a:rPr>
              <a:t>Nguồn</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gốc</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tự</a:t>
            </a:r>
            <a:r>
              <a:rPr lang="en-US" altLang="en-US" sz="2800" b="1" i="1" dirty="0">
                <a:solidFill>
                  <a:schemeClr val="tx1"/>
                </a:solidFill>
                <a:latin typeface="Times New Roman" panose="02020603050405020304" pitchFamily="18" charset="0"/>
              </a:rPr>
              <a:t> </a:t>
            </a:r>
            <a:r>
              <a:rPr lang="en-US" altLang="en-US" sz="2800" b="1" i="1" dirty="0" err="1">
                <a:solidFill>
                  <a:schemeClr val="tx1"/>
                </a:solidFill>
                <a:latin typeface="Times New Roman" panose="02020603050405020304" pitchFamily="18" charset="0"/>
              </a:rPr>
              <a:t>nhiên</a:t>
            </a:r>
            <a:r>
              <a:rPr lang="en-US" altLang="en-US" sz="2800" b="1" i="1" dirty="0">
                <a:solidFill>
                  <a:schemeClr val="tx1"/>
                </a:solidFill>
                <a:latin typeface="Times New Roman" panose="02020603050405020304" pitchFamily="18" charset="0"/>
              </a:rPr>
              <a:t>:</a:t>
            </a:r>
            <a:endParaRPr lang="en-US" altLang="en-US" sz="2800" b="1" i="1" dirty="0">
              <a:solidFill>
                <a:schemeClr val="tx1"/>
              </a:solidFill>
              <a:latin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Ø"/>
            </a:pPr>
            <a:r>
              <a:rPr lang="en-US" altLang="en-US" sz="2000" b="1" dirty="0">
                <a:solidFill>
                  <a:schemeClr val="bg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óc</a:t>
            </a:r>
            <a:r>
              <a:rPr lang="en-US" altLang="en-US" sz="2200" dirty="0">
                <a:solidFill>
                  <a:schemeClr val="tx1"/>
                </a:solidFill>
                <a:latin typeface="Times New Roman" panose="02020603050405020304" pitchFamily="18" charset="0"/>
              </a:rPr>
              <a:t> con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gồm</a:t>
            </a:r>
            <a:r>
              <a:rPr lang="en-US" altLang="en-US" sz="2200" dirty="0">
                <a:solidFill>
                  <a:schemeClr val="tx1"/>
                </a:solidFill>
                <a:latin typeface="Times New Roman" panose="02020603050405020304" pitchFamily="18" charset="0"/>
              </a:rPr>
              <a:t> 14 – 15 </a:t>
            </a:r>
            <a:r>
              <a:rPr lang="en-US" altLang="en-US" sz="2200" dirty="0" err="1">
                <a:solidFill>
                  <a:schemeClr val="tx1"/>
                </a:solidFill>
                <a:latin typeface="Times New Roman" panose="02020603050405020304" pitchFamily="18" charset="0"/>
              </a:rPr>
              <a:t>tỷ</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tế</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bào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thần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kinh</a:t>
            </a:r>
            <a:endParaRPr lang="en-US" altLang="en-US" sz="2200" dirty="0">
              <a:solidFill>
                <a:schemeClr val="tx1"/>
              </a:solidFill>
              <a:latin typeface="Times New Roman" panose="02020603050405020304" pitchFamily="18" charset="0"/>
            </a:endParaRPr>
          </a:p>
          <a:p>
            <a:pPr algn="just">
              <a:spcBef>
                <a:spcPts val="600"/>
              </a:spcBef>
              <a:spcAft>
                <a:spcPts val="600"/>
              </a:spcAft>
              <a:buNone/>
            </a:pPr>
            <a:r>
              <a:rPr lang="en-US" altLang="en-US" sz="2200" dirty="0">
                <a:solidFill>
                  <a:schemeClr val="tx1"/>
                </a:solidFill>
                <a:latin typeface="Times New Roman" panose="02020603050405020304" pitchFamily="18" charset="0"/>
              </a:rPr>
              <a:t>      - </a:t>
            </a:r>
            <a:r>
              <a:rPr lang="en-US" altLang="en-US" sz="2200" dirty="0" err="1">
                <a:solidFill>
                  <a:schemeClr val="tx1"/>
                </a:solidFill>
                <a:latin typeface="Times New Roman" panose="02020603050405020304" pitchFamily="18" charset="0"/>
              </a:rPr>
              <a:t>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não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một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dạng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vật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chất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có</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tổ</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chức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cao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có</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cấu</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trúc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tinh</a:t>
            </a:r>
            <a:r>
              <a:rPr lang="en-US" altLang="en-US" sz="2200" dirty="0">
                <a:solidFill>
                  <a:schemeClr val="tx1"/>
                </a:solidFill>
                <a:latin typeface="Times New Roman" panose="02020603050405020304" pitchFamily="18" charset="0"/>
              </a:rPr>
              <a:t> vi </a:t>
            </a:r>
            <a:r>
              <a:rPr lang="en-US" altLang="en-US" sz="2200" dirty="0" err="1">
                <a:solidFill>
                  <a:schemeClr val="tx1"/>
                </a:solidFill>
                <a:latin typeface="Times New Roman" panose="02020603050405020304" pitchFamily="18" charset="0"/>
              </a:rPr>
              <a:t>và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phức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tạp</a:t>
            </a:r>
            <a:r>
              <a:rPr lang="en-US" altLang="en-US" sz="2200" dirty="0">
                <a:solidFill>
                  <a:schemeClr val="tx1"/>
                </a:solidFill>
                <a:latin typeface="Times New Roman" panose="02020603050405020304" pitchFamily="18" charset="0"/>
              </a:rPr>
              <a:t>.</a:t>
            </a:r>
            <a:endParaRPr lang="en-US" altLang="en-US" sz="2200" dirty="0">
              <a:solidFill>
                <a:schemeClr val="tx1"/>
              </a:solidFill>
              <a:latin typeface="Times New Roman" panose="02020603050405020304" pitchFamily="18" charset="0"/>
            </a:endParaRPr>
          </a:p>
          <a:p>
            <a:pPr algn="just">
              <a:spcBef>
                <a:spcPts val="600"/>
              </a:spcBef>
              <a:spcAft>
                <a:spcPts val="600"/>
              </a:spcAft>
              <a:buNone/>
            </a:pPr>
            <a:r>
              <a:rPr lang="en-US" altLang="en-US" sz="2200" dirty="0">
                <a:solidFill>
                  <a:schemeClr val="tx1"/>
                </a:solidFill>
                <a:latin typeface="Times New Roman" panose="02020603050405020304" pitchFamily="18" charset="0"/>
              </a:rPr>
              <a:t>      - </a:t>
            </a:r>
            <a:r>
              <a:rPr lang="en-US" altLang="en-US" sz="2200" dirty="0" err="1">
                <a:solidFill>
                  <a:schemeClr val="tx1"/>
                </a:solidFill>
                <a:latin typeface="Times New Roman" panose="02020603050405020304" pitchFamily="18" charset="0"/>
              </a:rPr>
              <a:t>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não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cơ</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quan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vật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chất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của</a:t>
            </a:r>
            <a:r>
              <a:rPr lang="en-US" altLang="en-US" sz="2200" dirty="0">
                <a:solidFill>
                  <a:schemeClr val="tx1"/>
                </a:solidFill>
                <a:latin typeface="Times New Roman" panose="02020603050405020304" pitchFamily="18" charset="0"/>
              </a:rPr>
              <a:t> ý </a:t>
            </a:r>
            <a:r>
              <a:rPr lang="en-US" altLang="en-US" sz="2200" dirty="0" err="1">
                <a:solidFill>
                  <a:schemeClr val="tx1"/>
                </a:solidFill>
                <a:latin typeface="Times New Roman" panose="02020603050405020304" pitchFamily="18" charset="0"/>
              </a:rPr>
              <a:t>thức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tiền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đề</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để</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có</a:t>
            </a:r>
            <a:r>
              <a:rPr lang="en-US" altLang="en-US" sz="2200" dirty="0">
                <a:solidFill>
                  <a:schemeClr val="tx1"/>
                </a:solidFill>
                <a:latin typeface="Times New Roman" panose="02020603050405020304" pitchFamily="18" charset="0"/>
              </a:rPr>
              <a:t> ý </a:t>
            </a:r>
            <a:r>
              <a:rPr lang="en-US" altLang="en-US" sz="2200" dirty="0" err="1">
                <a:solidFill>
                  <a:schemeClr val="tx1"/>
                </a:solidFill>
                <a:latin typeface="Times New Roman" panose="02020603050405020304" pitchFamily="18" charset="0"/>
              </a:rPr>
              <a:t>thức</a:t>
            </a:r>
            <a:r>
              <a:rPr lang="en-US" altLang="en-US" sz="2200" dirty="0">
                <a:solidFill>
                  <a:schemeClr val="tx1"/>
                </a:solidFill>
                <a:latin typeface="Times New Roman" panose="02020603050405020304" pitchFamily="18" charset="0"/>
              </a:rPr>
              <a:t>.</a:t>
            </a:r>
            <a:endParaRPr lang="en-US" altLang="en-US" sz="2200" dirty="0">
              <a:solidFill>
                <a:schemeClr val="tx1"/>
              </a:solidFill>
              <a:latin typeface="Times New Roman" panose="02020603050405020304" pitchFamily="18" charset="0"/>
            </a:endParaRPr>
          </a:p>
          <a:p>
            <a:pPr algn="just">
              <a:spcBef>
                <a:spcPts val="600"/>
              </a:spcBef>
              <a:spcAft>
                <a:spcPts val="600"/>
              </a:spcAft>
              <a:buNone/>
            </a:pPr>
            <a:r>
              <a:rPr lang="en-US" altLang="en-US" sz="2200" dirty="0">
                <a:solidFill>
                  <a:schemeClr val="tx1"/>
                </a:solidFill>
                <a:latin typeface="Times New Roman" panose="02020603050405020304" pitchFamily="18" charset="0"/>
              </a:rPr>
              <a:t>      - </a:t>
            </a:r>
            <a:r>
              <a:rPr lang="en-US" altLang="en-US" sz="2200" dirty="0" err="1">
                <a:solidFill>
                  <a:schemeClr val="tx1"/>
                </a:solidFill>
                <a:latin typeface="Times New Roman" panose="02020603050405020304" pitchFamily="18" charset="0"/>
              </a:rPr>
              <a:t>Hoạt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động</a:t>
            </a:r>
            <a:r>
              <a:rPr lang="en-US" altLang="en-US" sz="2200" dirty="0">
                <a:solidFill>
                  <a:schemeClr val="tx1"/>
                </a:solidFill>
                <a:latin typeface="Times New Roman" panose="02020603050405020304" pitchFamily="18" charset="0"/>
              </a:rPr>
              <a:t> ý </a:t>
            </a:r>
            <a:r>
              <a:rPr lang="en-US" altLang="en-US" sz="2200" dirty="0" err="1">
                <a:solidFill>
                  <a:schemeClr val="tx1"/>
                </a:solidFill>
                <a:latin typeface="Times New Roman" panose="02020603050405020304" pitchFamily="18" charset="0"/>
              </a:rPr>
              <a:t>thức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chỉ</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diễn</a:t>
            </a:r>
            <a:r>
              <a:rPr lang="en-US" altLang="en-US" sz="2200" dirty="0">
                <a:solidFill>
                  <a:schemeClr val="tx1"/>
                </a:solidFill>
                <a:latin typeface="Times New Roman" panose="02020603050405020304" pitchFamily="18" charset="0"/>
              </a:rPr>
              <a:t> ra </a:t>
            </a:r>
            <a:r>
              <a:rPr lang="en-US" altLang="en-US" sz="2200" dirty="0" err="1">
                <a:solidFill>
                  <a:schemeClr val="tx1"/>
                </a:solidFill>
                <a:latin typeface="Times New Roman" panose="02020603050405020304" pitchFamily="18" charset="0"/>
              </a:rPr>
              <a:t>trong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não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trên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cơ</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sở</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các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quá</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trình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sinh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lý</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thần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kinh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của</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não.Bộ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óc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càng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hoàn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thiện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hoạt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động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sinh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lý</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thần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kinh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càng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có</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hiệu</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quả</a:t>
            </a:r>
            <a:r>
              <a:rPr lang="en-US" altLang="en-US" sz="2200" dirty="0">
                <a:solidFill>
                  <a:schemeClr val="tx1"/>
                </a:solidFill>
                <a:latin typeface="Times New Roman" panose="02020603050405020304" pitchFamily="18" charset="0"/>
              </a:rPr>
              <a:t>, ý </a:t>
            </a:r>
            <a:r>
              <a:rPr lang="en-US" altLang="en-US" sz="2200" dirty="0" err="1">
                <a:solidFill>
                  <a:schemeClr val="tx1"/>
                </a:solidFill>
                <a:latin typeface="Times New Roman" panose="02020603050405020304" pitchFamily="18" charset="0"/>
              </a:rPr>
              <a:t>thức</a:t>
            </a:r>
            <a:r>
              <a:rPr lang="en-US" altLang="en-US" sz="2200" dirty="0">
                <a:solidFill>
                  <a:schemeClr val="tx1"/>
                </a:solidFill>
                <a:latin typeface="Times New Roman" panose="02020603050405020304" pitchFamily="18" charset="0"/>
              </a:rPr>
              <a:t> con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càng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phong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phú</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sâu</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sắc</a:t>
            </a:r>
            <a:r>
              <a:rPr lang="en-US" altLang="en-US" sz="2200" dirty="0">
                <a:solidFill>
                  <a:schemeClr val="tx1"/>
                </a:solidFill>
                <a:latin typeface="Times New Roman" panose="02020603050405020304" pitchFamily="18" charset="0"/>
              </a:rPr>
              <a:t>.</a:t>
            </a:r>
            <a:endParaRPr lang="en-US" altLang="en-US" sz="2200" dirty="0">
              <a:solidFill>
                <a:schemeClr val="tx1"/>
              </a:solidFill>
              <a:latin typeface="Times New Roman" panose="02020603050405020304" pitchFamily="18" charset="0"/>
            </a:endParaRPr>
          </a:p>
          <a:p>
            <a:pPr marL="342900" indent="-342900" algn="just">
              <a:spcBef>
                <a:spcPts val="600"/>
              </a:spcBef>
              <a:spcAft>
                <a:spcPts val="600"/>
              </a:spcAft>
              <a:buFont typeface="Wingdings" panose="05000000000000000000" pitchFamily="2" charset="2"/>
              <a:buChar char="Ø"/>
            </a:pPr>
            <a:r>
              <a:rPr lang="en-US" altLang="en-US" sz="2200" dirty="0" err="1">
                <a:solidFill>
                  <a:schemeClr val="tx1"/>
                </a:solidFill>
                <a:latin typeface="Times New Roman" panose="02020603050405020304" pitchFamily="18" charset="0"/>
              </a:rPr>
              <a:t>Như</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vậy</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sự</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suất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hiện</a:t>
            </a:r>
            <a:r>
              <a:rPr lang="en-US" altLang="en-US" sz="2200" dirty="0">
                <a:solidFill>
                  <a:schemeClr val="tx1"/>
                </a:solidFill>
                <a:latin typeface="Times New Roman" panose="02020603050405020304" pitchFamily="18" charset="0"/>
              </a:rPr>
              <a:t> con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hình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thành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bộ</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óc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của</a:t>
            </a:r>
            <a:r>
              <a:rPr lang="en-US" altLang="en-US" sz="2200" dirty="0">
                <a:solidFill>
                  <a:schemeClr val="tx1"/>
                </a:solidFill>
                <a:latin typeface="Times New Roman" panose="02020603050405020304" pitchFamily="18" charset="0"/>
              </a:rPr>
              <a:t> con </a:t>
            </a:r>
            <a:r>
              <a:rPr lang="en-US" altLang="en-US" sz="2200" dirty="0" err="1">
                <a:solidFill>
                  <a:schemeClr val="tx1"/>
                </a:solidFill>
                <a:latin typeface="Times New Roman" panose="02020603050405020304" pitchFamily="18" charset="0"/>
              </a:rPr>
              <a:t>người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có</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năng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lực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phản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ánh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hiện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thực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khách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quan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nguồn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gốc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tự</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nhiên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của</a:t>
            </a:r>
            <a:r>
              <a:rPr lang="en-US" altLang="en-US" sz="2200" dirty="0">
                <a:solidFill>
                  <a:schemeClr val="tx1"/>
                </a:solidFill>
                <a:latin typeface="Times New Roman" panose="02020603050405020304" pitchFamily="18" charset="0"/>
              </a:rPr>
              <a:t> ý </a:t>
            </a:r>
            <a:r>
              <a:rPr lang="en-US" altLang="en-US" sz="2200" dirty="0" err="1">
                <a:solidFill>
                  <a:schemeClr val="tx1"/>
                </a:solidFill>
                <a:latin typeface="Times New Roman" panose="02020603050405020304" pitchFamily="18" charset="0"/>
              </a:rPr>
              <a:t>thức</a:t>
            </a:r>
            <a:endParaRPr lang="en-US" altLang="en-US" sz="220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074"/>
                                        </p:tgtEl>
                                        <p:attrNameLst>
                                          <p:attrName>style.visibility</p:attrName>
                                        </p:attrNameLst>
                                      </p:cBhvr>
                                      <p:to>
                                        <p:strVal val="visible"/>
                                      </p:to>
                                    </p:set>
                                    <p:anim calcmode="lin" valueType="num">
                                      <p:cBhvr additive="base">
                                        <p:cTn id="19" dur="500" fill="hold"/>
                                        <p:tgtEl>
                                          <p:spTgt spid="3074"/>
                                        </p:tgtEl>
                                        <p:attrNameLst>
                                          <p:attrName>ppt_x</p:attrName>
                                        </p:attrNameLst>
                                      </p:cBhvr>
                                      <p:tavLst>
                                        <p:tav tm="0">
                                          <p:val>
                                            <p:strVal val="#ppt_x"/>
                                          </p:val>
                                        </p:tav>
                                        <p:tav tm="100000">
                                          <p:val>
                                            <p:strVal val="#ppt_x"/>
                                          </p:val>
                                        </p:tav>
                                      </p:tavLst>
                                    </p:anim>
                                    <p:anim calcmode="lin" valueType="num">
                                      <p:cBhvr additive="base">
                                        <p:cTn id="20"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8855"/>
            <a:ext cx="10515600" cy="757093"/>
          </a:xfrm>
        </p:spPr>
        <p:txBody>
          <a:bodyPr>
            <a:normAutofit fontScale="90000"/>
          </a:bodyPr>
          <a:lstStyle/>
          <a:p>
            <a:pPr marL="571500" indent="-571500" algn="just">
              <a:buFont typeface="Wingdings" panose="05000000000000000000" pitchFamily="2" charset="2"/>
              <a:buChar char="v"/>
            </a:pPr>
            <a:r>
              <a:rPr lang="en-US" sz="3600" dirty="0" err="1">
                <a:latin typeface="Times New Roman" panose="02020603050405020304" pitchFamily="18" charset="0"/>
                <a:cs typeface="Times New Roman" panose="02020603050405020304" pitchFamily="18" charset="0"/>
              </a:rPr>
              <a:t>Nguồn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gốc</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xã</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hội</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có</a:t>
            </a:r>
            <a:r>
              <a:rPr lang="en-US" sz="3600" dirty="0">
                <a:latin typeface="Times New Roman" panose="02020603050405020304" pitchFamily="18" charset="0"/>
                <a:cs typeface="Times New Roman" panose="02020603050405020304" pitchFamily="18" charset="0"/>
              </a:rPr>
              <a:t> 2 </a:t>
            </a:r>
            <a:r>
              <a:rPr lang="en-US" sz="3600" dirty="0" err="1">
                <a:latin typeface="Times New Roman" panose="02020603050405020304" pitchFamily="18" charset="0"/>
                <a:cs typeface="Times New Roman" panose="02020603050405020304" pitchFamily="18" charset="0"/>
              </a:rPr>
              <a:t>nhân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tố</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là</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lao</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động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và</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ngôn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ngữ</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60764"/>
            <a:ext cx="10515600" cy="4916199"/>
          </a:xfrm>
        </p:spPr>
        <p:txBody>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Lao </a:t>
            </a:r>
            <a:r>
              <a:rPr lang="en-US" dirty="0" err="1">
                <a:latin typeface="Times New Roman" panose="02020603050405020304" pitchFamily="18" charset="0"/>
                <a:cs typeface="Times New Roman" panose="02020603050405020304" pitchFamily="18" charset="0"/>
              </a:rPr>
              <a:t>động</a:t>
            </a: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4" name="Oval 24" descr="TT"/>
          <p:cNvSpPr>
            <a:spLocks noChangeArrowheads="1"/>
          </p:cNvSpPr>
          <p:nvPr/>
        </p:nvSpPr>
        <p:spPr bwMode="auto">
          <a:xfrm>
            <a:off x="4731325" y="2660073"/>
            <a:ext cx="2847111" cy="2519363"/>
          </a:xfrm>
          <a:prstGeom prst="ellipse">
            <a:avLst/>
          </a:prstGeom>
          <a:blipFill dpi="0" rotWithShape="1">
            <a:blip r:embed="rId1"/>
            <a:srcRect/>
            <a:stretch>
              <a:fillRect/>
            </a:stretch>
          </a:blipFill>
          <a:ln w="9525">
            <a:solidFill>
              <a:srgbClr val="FF0000"/>
            </a:solidFill>
            <a:round/>
          </a:ln>
        </p:spPr>
        <p:txBody>
          <a:bodyPr wrap="none" anchor="ctr"/>
          <a:lstStyle>
            <a:lvl1pPr eaLnBrk="0" hangingPunct="0">
              <a:defRPr b="1">
                <a:solidFill>
                  <a:schemeClr val="tx1"/>
                </a:solidFill>
                <a:latin typeface="Arial" panose="020B0604020202020204" pitchFamily="34" charset="0"/>
              </a:defRPr>
            </a:lvl1pPr>
            <a:lvl2pPr marL="742950" indent="-285750" eaLnBrk="0" hangingPunct="0">
              <a:defRPr b="1">
                <a:solidFill>
                  <a:schemeClr val="tx1"/>
                </a:solidFill>
                <a:latin typeface="Arial" panose="020B0604020202020204" pitchFamily="34" charset="0"/>
              </a:defRPr>
            </a:lvl2pPr>
            <a:lvl3pPr marL="1143000" indent="-228600" eaLnBrk="0" hangingPunct="0">
              <a:defRPr b="1">
                <a:solidFill>
                  <a:schemeClr val="tx1"/>
                </a:solidFill>
                <a:latin typeface="Arial" panose="020B0604020202020204" pitchFamily="34" charset="0"/>
              </a:defRPr>
            </a:lvl3pPr>
            <a:lvl4pPr marL="1600200" indent="-228600" eaLnBrk="0" hangingPunct="0">
              <a:defRPr b="1">
                <a:solidFill>
                  <a:schemeClr val="tx1"/>
                </a:solidFill>
                <a:latin typeface="Arial" panose="020B0604020202020204" pitchFamily="34" charset="0"/>
              </a:defRPr>
            </a:lvl4pPr>
            <a:lvl5pPr marL="2057400" indent="-228600" eaLnBrk="0" hangingPunct="0">
              <a:defRPr b="1">
                <a:solidFill>
                  <a:schemeClr val="tx1"/>
                </a:solidFill>
                <a:latin typeface="Arial" panose="020B0604020202020204" pitchFamily="34" charset="0"/>
              </a:defRPr>
            </a:lvl5pPr>
            <a:lvl6pPr marL="2514600" indent="-228600" eaLnBrk="0" fontAlgn="base" hangingPunct="0">
              <a:spcBef>
                <a:spcPct val="0"/>
              </a:spcBef>
              <a:spcAft>
                <a:spcPct val="0"/>
              </a:spcAft>
              <a:defRPr b="1">
                <a:solidFill>
                  <a:schemeClr val="tx1"/>
                </a:solidFill>
                <a:latin typeface="Arial" panose="020B0604020202020204" pitchFamily="34" charset="0"/>
              </a:defRPr>
            </a:lvl6pPr>
            <a:lvl7pPr marL="2971800" indent="-228600" eaLnBrk="0" fontAlgn="base" hangingPunct="0">
              <a:spcBef>
                <a:spcPct val="0"/>
              </a:spcBef>
              <a:spcAft>
                <a:spcPct val="0"/>
              </a:spcAft>
              <a:defRPr b="1">
                <a:solidFill>
                  <a:schemeClr val="tx1"/>
                </a:solidFill>
                <a:latin typeface="Arial" panose="020B0604020202020204" pitchFamily="34" charset="0"/>
              </a:defRPr>
            </a:lvl7pPr>
            <a:lvl8pPr marL="3429000" indent="-228600" eaLnBrk="0" fontAlgn="base" hangingPunct="0">
              <a:spcBef>
                <a:spcPct val="0"/>
              </a:spcBef>
              <a:spcAft>
                <a:spcPct val="0"/>
              </a:spcAft>
              <a:defRPr b="1">
                <a:solidFill>
                  <a:schemeClr val="tx1"/>
                </a:solidFill>
                <a:latin typeface="Arial" panose="020B0604020202020204" pitchFamily="34" charset="0"/>
              </a:defRPr>
            </a:lvl8pPr>
            <a:lvl9pPr marL="3886200" indent="-228600" eaLnBrk="0" fontAlgn="base" hangingPunct="0">
              <a:spcBef>
                <a:spcPct val="0"/>
              </a:spcBef>
              <a:spcAft>
                <a:spcPct val="0"/>
              </a:spcAft>
              <a:defRPr b="1">
                <a:solidFill>
                  <a:schemeClr val="tx1"/>
                </a:solidFill>
                <a:latin typeface="Arial" panose="020B0604020202020204" pitchFamily="34" charset="0"/>
              </a:defRPr>
            </a:lvl9pPr>
          </a:lstStyle>
          <a:p>
            <a:pPr eaLnBrk="1" hangingPunct="1"/>
            <a:endParaRPr lang="en-US" altLang="en-US"/>
          </a:p>
        </p:txBody>
      </p:sp>
      <p:pic>
        <p:nvPicPr>
          <p:cNvPr id="5" name="Picture 17" descr="Ảnh1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7781" y="2036619"/>
            <a:ext cx="2092036" cy="181494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14" descr="Ảnh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7781" y="4292600"/>
            <a:ext cx="2189019" cy="174798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7" name="Picture 13" descr="PE01561_"/>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536871" y="2036619"/>
            <a:ext cx="2272147" cy="1814945"/>
          </a:xfrm>
          <a:prstGeom prst="rect">
            <a:avLst/>
          </a:prstGeom>
          <a:gradFill rotWithShape="1">
            <a:gsLst>
              <a:gs pos="0">
                <a:srgbClr val="FF3399"/>
              </a:gs>
              <a:gs pos="100000">
                <a:schemeClr val="bg1"/>
              </a:gs>
            </a:gsLst>
            <a:path path="shape">
              <a:fillToRect l="50000" t="50000" r="50000" b="50000"/>
            </a:path>
          </a:gradFill>
          <a:ln w="9525">
            <a:solidFill>
              <a:srgbClr val="FF0000"/>
            </a:solidFill>
            <a:miter lim="800000"/>
            <a:headEnd/>
            <a:tailEnd/>
          </a:ln>
        </p:spPr>
      </p:pic>
      <p:pic>
        <p:nvPicPr>
          <p:cNvPr id="8" name="Picture 15" descr="33-FFS_Indonesia_199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536870" y="4184073"/>
            <a:ext cx="2272148" cy="185650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6"/>
                                        </p:tgtEl>
                                        <p:attrNameLst>
                                          <p:attrName>style.visibility</p:attrName>
                                        </p:attrNameLst>
                                      </p:cBhvr>
                                      <p:to>
                                        <p:strVal val="visible"/>
                                      </p:to>
                                    </p:set>
                                    <p:anim calcmode="lin" valueType="num">
                                      <p:cBhvr additive="base">
                                        <p:cTn id="25" dur="500" fill="hold"/>
                                        <p:tgtEl>
                                          <p:spTgt spid="6"/>
                                        </p:tgtEl>
                                        <p:attrNameLst>
                                          <p:attrName>ppt_x</p:attrName>
                                        </p:attrNameLst>
                                      </p:cBhvr>
                                      <p:tavLst>
                                        <p:tav tm="0">
                                          <p:val>
                                            <p:strVal val="#ppt_x"/>
                                          </p:val>
                                        </p:tav>
                                        <p:tav tm="100000">
                                          <p:val>
                                            <p:strVal val="#ppt_x"/>
                                          </p:val>
                                        </p:tav>
                                      </p:tavLst>
                                    </p:anim>
                                    <p:anim calcmode="lin" valueType="num">
                                      <p:cBhvr additive="base">
                                        <p:cTn id="26"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 calcmode="lin" valueType="num">
                                      <p:cBhvr additive="base">
                                        <p:cTn id="37" dur="500" fill="hold"/>
                                        <p:tgtEl>
                                          <p:spTgt spid="8"/>
                                        </p:tgtEl>
                                        <p:attrNameLst>
                                          <p:attrName>ppt_x</p:attrName>
                                        </p:attrNameLst>
                                      </p:cBhvr>
                                      <p:tavLst>
                                        <p:tav tm="0">
                                          <p:val>
                                            <p:strVal val="#ppt_x"/>
                                          </p:val>
                                        </p:tav>
                                        <p:tav tm="100000">
                                          <p:val>
                                            <p:strVal val="#ppt_x"/>
                                          </p:val>
                                        </p:tav>
                                      </p:tavLst>
                                    </p:anim>
                                    <p:anim calcmode="lin" valueType="num">
                                      <p:cBhvr additive="base">
                                        <p:cTn id="3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7"/>
                                        </p:tgtEl>
                                        <p:attrNameLst>
                                          <p:attrName>style.visibility</p:attrName>
                                        </p:attrNameLst>
                                      </p:cBhvr>
                                      <p:to>
                                        <p:strVal val="visible"/>
                                      </p:to>
                                    </p:set>
                                    <p:anim calcmode="lin" valueType="num">
                                      <p:cBhvr additive="base">
                                        <p:cTn id="43" dur="500" fill="hold"/>
                                        <p:tgtEl>
                                          <p:spTgt spid="7"/>
                                        </p:tgtEl>
                                        <p:attrNameLst>
                                          <p:attrName>ppt_x</p:attrName>
                                        </p:attrNameLst>
                                      </p:cBhvr>
                                      <p:tavLst>
                                        <p:tav tm="0">
                                          <p:val>
                                            <p:strVal val="#ppt_x"/>
                                          </p:val>
                                        </p:tav>
                                        <p:tav tm="100000">
                                          <p:val>
                                            <p:strVal val="#ppt_x"/>
                                          </p:val>
                                        </p:tav>
                                      </p:tavLst>
                                    </p:anim>
                                    <p:anim calcmode="lin" valueType="num">
                                      <p:cBhvr additive="base">
                                        <p:cTn id="44"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63234"/>
            <a:ext cx="10515600" cy="1399311"/>
          </a:xfrm>
        </p:spPr>
        <p:txBody>
          <a:bodyPr>
            <a:normAutofit fontScale="90000"/>
          </a:bodyPr>
          <a:lstStyle/>
          <a:p>
            <a:pPr algn="just"/>
            <a:r>
              <a:rPr lang="en-US" altLang="en-US" sz="3200" i="1" dirty="0">
                <a:latin typeface="Times New Roman" panose="02020603050405020304" pitchFamily="18" charset="0"/>
                <a:cs typeface="Times New Roman" panose="02020603050405020304" pitchFamily="18" charset="0"/>
              </a:rPr>
              <a:t>LĐ </a:t>
            </a:r>
            <a:r>
              <a:rPr lang="en-US" altLang="en-US" sz="3200" i="1" dirty="0" err="1">
                <a:latin typeface="Times New Roman" panose="02020603050405020304" pitchFamily="18" charset="0"/>
                <a:cs typeface="Times New Roman" panose="02020603050405020304" pitchFamily="18" charset="0"/>
              </a:rPr>
              <a:t>là</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quá</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trình</a:t>
            </a:r>
            <a:r>
              <a:rPr lang="en-US" altLang="en-US" sz="3200" i="1" dirty="0">
                <a:latin typeface="Times New Roman" panose="02020603050405020304" pitchFamily="18" charset="0"/>
                <a:cs typeface="Times New Roman" panose="02020603050405020304" pitchFamily="18" charset="0"/>
              </a:rPr>
              <a:t> con </a:t>
            </a:r>
            <a:r>
              <a:rPr lang="en-US" altLang="en-US" sz="3200" i="1" dirty="0" err="1">
                <a:latin typeface="Times New Roman" panose="02020603050405020304" pitchFamily="18" charset="0"/>
                <a:cs typeface="Times New Roman" panose="02020603050405020304" pitchFamily="18" charset="0"/>
              </a:rPr>
              <a:t>người</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sử</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dụng</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công</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cụ</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tác</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động</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vào</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giới</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tự</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nhiên</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nhằm</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thay</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đổi</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giới</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tự</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nhiên</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cho</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phù</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hợp</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với</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nhu</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cầu</a:t>
            </a:r>
            <a:r>
              <a:rPr lang="en-US" altLang="en-US" sz="3200" i="1" dirty="0">
                <a:latin typeface="Times New Roman" panose="02020603050405020304" pitchFamily="18" charset="0"/>
                <a:cs typeface="Times New Roman" panose="02020603050405020304" pitchFamily="18" charset="0"/>
              </a:rPr>
              <a:t> </a:t>
            </a:r>
            <a:r>
              <a:rPr lang="en-US" altLang="en-US" sz="3200" i="1" dirty="0" err="1">
                <a:latin typeface="Times New Roman" panose="02020603050405020304" pitchFamily="18" charset="0"/>
                <a:cs typeface="Times New Roman" panose="02020603050405020304" pitchFamily="18" charset="0"/>
              </a:rPr>
              <a:t>của</a:t>
            </a:r>
            <a:r>
              <a:rPr lang="en-US" altLang="en-US" sz="3200" i="1" dirty="0">
                <a:latin typeface="Times New Roman" panose="02020603050405020304" pitchFamily="18" charset="0"/>
                <a:cs typeface="Times New Roman" panose="02020603050405020304" pitchFamily="18" charset="0"/>
              </a:rPr>
              <a:t> con </a:t>
            </a:r>
            <a:r>
              <a:rPr lang="en-US" altLang="en-US" sz="3200" i="1" dirty="0" err="1">
                <a:latin typeface="Times New Roman" panose="02020603050405020304" pitchFamily="18" charset="0"/>
                <a:cs typeface="Times New Roman" panose="02020603050405020304" pitchFamily="18" charset="0"/>
              </a:rPr>
              <a:t>người</a:t>
            </a:r>
            <a:r>
              <a:rPr lang="en-US" altLang="en-US" sz="3200" i="1" dirty="0">
                <a:latin typeface="Times New Roman" panose="02020603050405020304" pitchFamily="18" charset="0"/>
                <a:cs typeface="Times New Roman" panose="02020603050405020304" pitchFamily="18" charset="0"/>
              </a:rPr>
              <a:t>.</a:t>
            </a:r>
            <a:endParaRPr lang="en-US" altLang="en-US" sz="3200"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30036"/>
            <a:ext cx="10515600" cy="4943908"/>
          </a:xfrm>
        </p:spPr>
        <p:txBody>
          <a:bodyPr/>
          <a:lstStyle/>
          <a:p>
            <a:pPr algn="just">
              <a:buNone/>
            </a:pPr>
            <a:endParaRPr lang="en-US" altLang="en-US" dirty="0">
              <a:latin typeface="Times New Roman" panose="02020603050405020304" pitchFamily="18" charset="0"/>
              <a:cs typeface="Times New Roman" panose="02020603050405020304" pitchFamily="18" charset="0"/>
            </a:endParaRPr>
          </a:p>
          <a:p>
            <a:pPr algn="just">
              <a:buNone/>
            </a:pPr>
            <a:r>
              <a:rPr lang="en-US" altLang="en-US"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Vai</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trò</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của</a:t>
            </a:r>
            <a:r>
              <a:rPr lang="en-US" altLang="en-US" b="1" i="1" dirty="0">
                <a:latin typeface="Times New Roman" panose="02020603050405020304" pitchFamily="18" charset="0"/>
                <a:cs typeface="Times New Roman" panose="02020603050405020304" pitchFamily="18" charset="0"/>
              </a:rPr>
              <a:t> LĐ</a:t>
            </a:r>
            <a:r>
              <a:rPr lang="en-US" altLang="en-US" dirty="0">
                <a:latin typeface="Times New Roman" panose="02020603050405020304" pitchFamily="18" charset="0"/>
                <a:cs typeface="Times New Roman" panose="02020603050405020304" pitchFamily="18" charset="0"/>
              </a:rPr>
              <a:t>: con </a:t>
            </a:r>
            <a:r>
              <a:rPr lang="en-US" altLang="en-US" dirty="0" err="1">
                <a:latin typeface="Times New Roman" panose="02020603050405020304" pitchFamily="18" charset="0"/>
                <a:cs typeface="Times New Roman" panose="02020603050405020304" pitchFamily="18" charset="0"/>
              </a:rPr>
              <a:t>người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đóng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vai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trò</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môi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giữa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nhiên</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Đây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cũng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thay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cấu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trúc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trình</a:t>
            </a:r>
            <a:r>
              <a:rPr lang="en-US" altLang="en-US" dirty="0">
                <a:latin typeface="Times New Roman" panose="02020603050405020304" pitchFamily="18" charset="0"/>
                <a:cs typeface="Times New Roman" panose="02020603050405020304" pitchFamily="18" charset="0"/>
              </a:rPr>
              <a:t> con </a:t>
            </a:r>
            <a:r>
              <a:rPr lang="en-US" altLang="en-US" dirty="0" err="1">
                <a:latin typeface="Times New Roman" panose="02020603050405020304" pitchFamily="18" charset="0"/>
                <a:cs typeface="Times New Roman" panose="02020603050405020304" pitchFamily="18" charset="0"/>
              </a:rPr>
              <a:t>người</a:t>
            </a:r>
            <a:r>
              <a:rPr lang="en-US" altLang="en-US" dirty="0">
                <a:latin typeface="Times New Roman" panose="02020603050405020304" pitchFamily="18" charset="0"/>
                <a:cs typeface="Times New Roman" panose="02020603050405020304" pitchFamily="18" charset="0"/>
              </a:rPr>
              <a:t> LĐ </a:t>
            </a:r>
            <a:r>
              <a:rPr lang="en-US" altLang="en-US" dirty="0" err="1">
                <a:latin typeface="Times New Roman" panose="02020603050405020304" pitchFamily="18" charset="0"/>
                <a:cs typeface="Times New Roman" panose="02020603050405020304" pitchFamily="18" charset="0"/>
              </a:rPr>
              <a:t>làm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…Con </a:t>
            </a:r>
            <a:r>
              <a:rPr lang="en-US" altLang="en-US" dirty="0" err="1">
                <a:latin typeface="Times New Roman" panose="02020603050405020304" pitchFamily="18" charset="0"/>
                <a:cs typeface="Times New Roman" panose="02020603050405020304" pitchFamily="18" charset="0"/>
              </a:rPr>
              <a:t>người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nắm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bắt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thuộc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ấy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tạo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nên</a:t>
            </a:r>
            <a:r>
              <a:rPr lang="en-US" altLang="en-US" dirty="0">
                <a:latin typeface="Times New Roman" panose="02020603050405020304" pitchFamily="18" charset="0"/>
                <a:cs typeface="Times New Roman" panose="02020603050405020304" pitchFamily="18" charset="0"/>
              </a:rPr>
              <a:t> tri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mình</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algn="just"/>
            <a:r>
              <a:rPr lang="en-US" altLang="en-US" dirty="0">
                <a:latin typeface="Times New Roman" panose="02020603050405020304" pitchFamily="18" charset="0"/>
                <a:cs typeface="Times New Roman" panose="02020603050405020304" pitchFamily="18" charset="0"/>
              </a:rPr>
              <a:t>LĐ </a:t>
            </a:r>
            <a:r>
              <a:rPr lang="en-US" altLang="en-US" dirty="0" err="1">
                <a:latin typeface="Times New Roman" panose="02020603050405020304" pitchFamily="18" charset="0"/>
                <a:cs typeface="Times New Roman" panose="02020603050405020304" pitchFamily="18" charset="0"/>
              </a:rPr>
              <a:t>không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xuất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ở </a:t>
            </a:r>
            <a:r>
              <a:rPr lang="en-US" altLang="en-US" dirty="0" err="1">
                <a:latin typeface="Times New Roman" panose="02020603050405020304" pitchFamily="18" charset="0"/>
                <a:cs typeface="Times New Roman" panose="02020603050405020304" pitchFamily="18" charset="0"/>
              </a:rPr>
              <a:t>trạng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ngay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từ</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đầu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mang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tập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XH. </a:t>
            </a:r>
            <a:r>
              <a:rPr lang="en-US" altLang="en-US" dirty="0" err="1">
                <a:latin typeface="Times New Roman" panose="02020603050405020304" pitchFamily="18" charset="0"/>
                <a:cs typeface="Times New Roman" panose="02020603050405020304" pitchFamily="18" charset="0"/>
              </a:rPr>
              <a:t>Vì</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cầu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đổi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nghiệm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tư</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tưởng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xuất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70948"/>
          </a:xfrm>
        </p:spPr>
        <p:txBody>
          <a:bodyPr>
            <a:normAutofit/>
          </a:bodyPr>
          <a:lstStyle/>
          <a:p>
            <a:pPr marL="571500" indent="-571500" algn="just">
              <a:buFont typeface="Wingdings" panose="05000000000000000000" pitchFamily="2" charset="2"/>
              <a:buChar char="Ø"/>
            </a:pPr>
            <a:r>
              <a:rPr lang="en-US" sz="3600" dirty="0" err="1">
                <a:latin typeface="Times New Roman" panose="02020603050405020304" pitchFamily="18" charset="0"/>
                <a:cs typeface="Times New Roman" panose="02020603050405020304" pitchFamily="18" charset="0"/>
              </a:rPr>
              <a:t>Ngôn</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ngữ</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63784"/>
            <a:ext cx="10515600" cy="5040889"/>
          </a:xfrm>
        </p:spPr>
        <p:txBody>
          <a:bodyPr/>
          <a:lstStyle/>
          <a:p>
            <a:pPr>
              <a:buNone/>
            </a:pPr>
            <a:r>
              <a:rPr lang="en-US" altLang="en-US" b="1" dirty="0"/>
              <a:t>-</a:t>
            </a:r>
            <a:r>
              <a:rPr lang="en-US" altLang="en-US" dirty="0"/>
              <a:t> </a:t>
            </a:r>
            <a:r>
              <a:rPr lang="en-US" altLang="en-US" i="1" dirty="0" err="1">
                <a:latin typeface="Times New Roman" panose="02020603050405020304" pitchFamily="18" charset="0"/>
                <a:cs typeface="Times New Roman" panose="02020603050405020304" pitchFamily="18" charset="0"/>
              </a:rPr>
              <a:t>Là</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hệ</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thống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tín</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hiệu</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vc</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chứa</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đựng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thông</a:t>
            </a:r>
            <a:r>
              <a:rPr lang="en-US" altLang="en-US" i="1" dirty="0">
                <a:latin typeface="Times New Roman" panose="02020603050405020304" pitchFamily="18" charset="0"/>
                <a:cs typeface="Times New Roman" panose="02020603050405020304" pitchFamily="18" charset="0"/>
              </a:rPr>
              <a:t> tin </a:t>
            </a:r>
            <a:r>
              <a:rPr lang="en-US" altLang="en-US" i="1" dirty="0" err="1">
                <a:latin typeface="Times New Roman" panose="02020603050405020304" pitchFamily="18" charset="0"/>
                <a:cs typeface="Times New Roman" panose="02020603050405020304" pitchFamily="18" charset="0"/>
              </a:rPr>
              <a:t>mang</a:t>
            </a:r>
            <a:r>
              <a:rPr lang="en-US" altLang="en-US" i="1" dirty="0">
                <a:latin typeface="Times New Roman" panose="02020603050405020304" pitchFamily="18" charset="0"/>
                <a:cs typeface="Times New Roman" panose="02020603050405020304" pitchFamily="18" charset="0"/>
              </a:rPr>
              <a:t> </a:t>
            </a:r>
            <a:r>
              <a:rPr lang="en-US" altLang="en-US" i="1" dirty="0" err="1">
                <a:latin typeface="Times New Roman" panose="02020603050405020304" pitchFamily="18" charset="0"/>
                <a:cs typeface="Times New Roman" panose="02020603050405020304" pitchFamily="18" charset="0"/>
              </a:rPr>
              <a:t>nội</a:t>
            </a:r>
            <a:r>
              <a:rPr lang="en-US" altLang="en-US" i="1" dirty="0">
                <a:latin typeface="Times New Roman" panose="02020603050405020304" pitchFamily="18" charset="0"/>
                <a:cs typeface="Times New Roman" panose="02020603050405020304" pitchFamily="18" charset="0"/>
              </a:rPr>
              <a:t> dung ý </a:t>
            </a:r>
            <a:r>
              <a:rPr lang="en-US" altLang="en-US" i="1" dirty="0" err="1">
                <a:latin typeface="Times New Roman" panose="02020603050405020304" pitchFamily="18" charset="0"/>
                <a:cs typeface="Times New Roman" panose="02020603050405020304" pitchFamily="18" charset="0"/>
              </a:rPr>
              <a:t>thức</a:t>
            </a:r>
            <a:r>
              <a:rPr lang="en-US" altLang="en-US" i="1" dirty="0">
                <a:latin typeface="Times New Roman" panose="02020603050405020304" pitchFamily="18" charset="0"/>
                <a:cs typeface="Times New Roman" panose="02020603050405020304" pitchFamily="18" charset="0"/>
              </a:rPr>
              <a:t>.</a:t>
            </a:r>
            <a:endParaRPr lang="en-US" altLang="en-US" i="1" dirty="0">
              <a:latin typeface="Times New Roman" panose="02020603050405020304" pitchFamily="18" charset="0"/>
              <a:cs typeface="Times New Roman" panose="02020603050405020304" pitchFamily="18" charset="0"/>
            </a:endParaRPr>
          </a:p>
          <a:p>
            <a:pPr>
              <a:buNone/>
            </a:pP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Nguồn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gốc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triển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ngôn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ngữ</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Bắt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nguồn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triển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cùng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triển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LĐ.</a:t>
            </a: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triển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từ</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thấp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đến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từ</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âm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đến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âm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tiết</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a:buNone/>
            </a:pPr>
            <a:r>
              <a:rPr lang="en-US" altLang="en-US" b="1" dirty="0">
                <a:latin typeface="Times New Roman" panose="02020603050405020304" pitchFamily="18" charset="0"/>
                <a:cs typeface="Times New Roman" panose="02020603050405020304" pitchFamily="18" charset="0"/>
              </a:rPr>
              <a: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Vai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trò</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ngôn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ngữ</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liên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tiếp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SX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đời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sống</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buNone/>
            </a:pPr>
            <a:r>
              <a:rPr lang="en-US" altLang="en-US" dirty="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hóa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tổng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tiễn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đúc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nghiệm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truyền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thế</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hệ</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sau</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buNone/>
            </a:pPr>
            <a:r>
              <a:rPr lang="en-US" altLang="en-US" dirty="0" err="1">
                <a:latin typeface="Times New Roman" panose="02020603050405020304" pitchFamily="18" charset="0"/>
                <a:cs typeface="Times New Roman" panose="02020603050405020304" pitchFamily="18" charset="0"/>
              </a:rPr>
              <a:t>Vậy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nguồn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gốc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tiếp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trọng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đời</a:t>
            </a:r>
            <a:r>
              <a:rPr lang="en-US" altLang="en-US" dirty="0">
                <a:latin typeface="Times New Roman" panose="02020603050405020304" pitchFamily="18" charset="0"/>
                <a:cs typeface="Times New Roman" panose="02020603050405020304" pitchFamily="18" charset="0"/>
              </a:rPr>
              <a:t> &amp;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triển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ý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LĐ,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tiễn</a:t>
            </a:r>
            <a:r>
              <a:rPr lang="en-US" altLang="en-US" dirty="0">
                <a:latin typeface="Times New Roman" panose="02020603050405020304" pitchFamily="18" charset="0"/>
                <a:cs typeface="Times New Roman" panose="02020603050405020304" pitchFamily="18" charset="0"/>
              </a:rPr>
              <a:t> XH.</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4802"/>
          </a:xfrm>
        </p:spPr>
        <p:txBody>
          <a:bodyPr>
            <a:normAutofit/>
          </a:bodyPr>
          <a:lstStyle/>
          <a:p>
            <a:pPr algn="just"/>
            <a:r>
              <a:rPr lang="en-US" sz="3600" b="1" dirty="0">
                <a:latin typeface="Times New Roman" panose="02020603050405020304" pitchFamily="18" charset="0"/>
                <a:cs typeface="Times New Roman" panose="02020603050405020304" pitchFamily="18" charset="0"/>
              </a:rPr>
              <a:t>b.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chất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ý </a:t>
            </a:r>
            <a:r>
              <a:rPr lang="en-US" sz="3600" b="1" dirty="0" err="1">
                <a:latin typeface="Times New Roman" panose="02020603050405020304" pitchFamily="18" charset="0"/>
                <a:cs typeface="Times New Roman" panose="02020603050405020304" pitchFamily="18" charset="0"/>
              </a:rPr>
              <a:t>thức</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85057" y="990600"/>
            <a:ext cx="11876314" cy="5780314"/>
          </a:xfrm>
        </p:spPr>
        <p:txBody>
          <a:bodyPr>
            <a:normAutofit/>
          </a:bodyPr>
          <a:lstStyle/>
          <a:p>
            <a:pPr algn="just">
              <a:buFontTx/>
              <a:buChar char="-"/>
            </a:pP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ảnh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chủ</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thế</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giới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là</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quá</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trình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phản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ánh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tích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cực</a:t>
            </a:r>
            <a:r>
              <a:rPr lang="en-US" sz="3200" dirty="0">
                <a:latin typeface="Times New Roman" panose="02020603050405020304" pitchFamily="18" charset="0"/>
                <a:cs typeface="Times New Roman" panose="02020603050405020304" pitchFamily="18" charset="0"/>
              </a:rPr>
              <a:t> , </a:t>
            </a:r>
            <a:r>
              <a:rPr lang="en-US" sz="3200" dirty="0" err="1">
                <a:latin typeface="Times New Roman" panose="02020603050405020304" pitchFamily="18" charset="0"/>
                <a:cs typeface="Times New Roman" panose="02020603050405020304" pitchFamily="18" charset="0"/>
              </a:rPr>
              <a:t>sáng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tạo</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hiện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thực</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khách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quan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của</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óc</a:t>
            </a:r>
            <a:r>
              <a:rPr lang="en-US" sz="3200" dirty="0">
                <a:latin typeface="Times New Roman" panose="02020603050405020304" pitchFamily="18" charset="0"/>
                <a:cs typeface="Times New Roman" panose="02020603050405020304" pitchFamily="18" charset="0"/>
              </a:rPr>
              <a:t> con </a:t>
            </a:r>
            <a:r>
              <a:rPr lang="en-US" sz="3200" dirty="0" err="1">
                <a:latin typeface="Times New Roman" panose="02020603050405020304" pitchFamily="18" charset="0"/>
                <a:cs typeface="Times New Roman" panose="02020603050405020304" pitchFamily="18" charset="0"/>
              </a:rPr>
              <a:t>người</a:t>
            </a:r>
            <a:r>
              <a:rPr lang="en-US" sz="3200" dirty="0">
                <a:latin typeface="Times New Roman" panose="02020603050405020304" pitchFamily="18" charset="0"/>
                <a:cs typeface="Times New Roman" panose="02020603050405020304" pitchFamily="18" charset="0"/>
              </a:rPr>
              <a:t>.</a:t>
            </a:r>
            <a:endParaRPr lang="en-US" sz="3200" dirty="0">
              <a:latin typeface="Times New Roman" panose="02020603050405020304" pitchFamily="18" charset="0"/>
              <a:cs typeface="Times New Roman" panose="02020603050405020304" pitchFamily="18" charset="0"/>
            </a:endParaRPr>
          </a:p>
        </p:txBody>
      </p:sp>
      <p:sp>
        <p:nvSpPr>
          <p:cNvPr id="4" name="Rectangle 3"/>
          <p:cNvSpPr/>
          <p:nvPr/>
        </p:nvSpPr>
        <p:spPr>
          <a:xfrm>
            <a:off x="838200" y="2514600"/>
            <a:ext cx="1468901" cy="183968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Phản</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ánh</a:t>
            </a:r>
            <a:r>
              <a:rPr lang="en-US" sz="2400" dirty="0">
                <a:solidFill>
                  <a:schemeClr val="tx1"/>
                </a:solidFill>
                <a:latin typeface="Times New Roman" panose="02020603050405020304" pitchFamily="18" charset="0"/>
                <a:cs typeface="Times New Roman" panose="02020603050405020304" pitchFamily="18" charset="0"/>
              </a:rPr>
              <a:t> ý </a:t>
            </a:r>
            <a:r>
              <a:rPr lang="en-US" sz="2400" dirty="0" err="1">
                <a:solidFill>
                  <a:schemeClr val="tx1"/>
                </a:solidFill>
                <a:latin typeface="Times New Roman" panose="02020603050405020304" pitchFamily="18" charset="0"/>
                <a:cs typeface="Times New Roman" panose="02020603050405020304" pitchFamily="18" charset="0"/>
              </a:rPr>
              <a:t>thức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flipH="1">
            <a:off x="3502855" y="2057916"/>
            <a:ext cx="6879096" cy="7548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err="1">
                <a:solidFill>
                  <a:schemeClr val="tx1"/>
                </a:solidFill>
                <a:latin typeface="Times New Roman" panose="02020603050405020304" pitchFamily="18" charset="0"/>
                <a:cs typeface="Times New Roman" panose="02020603050405020304" pitchFamily="18" charset="0"/>
              </a:rPr>
              <a:t>Trao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đổi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thông</a:t>
            </a:r>
            <a:r>
              <a:rPr lang="en-US" sz="2200" dirty="0">
                <a:solidFill>
                  <a:schemeClr val="tx1"/>
                </a:solidFill>
                <a:latin typeface="Times New Roman" panose="02020603050405020304" pitchFamily="18" charset="0"/>
                <a:cs typeface="Times New Roman" panose="02020603050405020304" pitchFamily="18" charset="0"/>
              </a:rPr>
              <a:t> tin </a:t>
            </a:r>
            <a:r>
              <a:rPr lang="en-US" sz="2200" dirty="0" err="1">
                <a:solidFill>
                  <a:schemeClr val="tx1"/>
                </a:solidFill>
                <a:latin typeface="Times New Roman" panose="02020603050405020304" pitchFamily="18" charset="0"/>
                <a:cs typeface="Times New Roman" panose="02020603050405020304" pitchFamily="18" charset="0"/>
              </a:rPr>
              <a:t>giữa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chủ</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thể</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đối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tượng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phản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ánh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Mang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tính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hai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chiều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có</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định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hướng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có</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chọn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lọc</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a:off x="3502855" y="3003671"/>
            <a:ext cx="6879099" cy="7835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err="1">
                <a:solidFill>
                  <a:schemeClr val="tx1"/>
                </a:solidFill>
                <a:latin typeface="Times New Roman" panose="02020603050405020304" pitchFamily="18" charset="0"/>
                <a:cs typeface="Times New Roman" panose="02020603050405020304" pitchFamily="18" charset="0"/>
              </a:rPr>
              <a:t>Mô</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hình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hoá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đối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tượng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trong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tư</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duy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dưới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dạng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hình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ảnh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tinh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thần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sáng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tạo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mã</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hoá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đối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tượng</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502854" y="4040647"/>
            <a:ext cx="6879099" cy="7835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200" dirty="0" err="1">
                <a:solidFill>
                  <a:schemeClr val="tx1"/>
                </a:solidFill>
                <a:latin typeface="Times New Roman" panose="02020603050405020304" pitchFamily="18" charset="0"/>
                <a:cs typeface="Times New Roman" panose="02020603050405020304" pitchFamily="18" charset="0"/>
              </a:rPr>
              <a:t>Chuyển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hoá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mô</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hình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từ</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tư</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duy</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hiện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thực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khách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quan</a:t>
            </a:r>
            <a:endParaRPr lang="en-US" sz="2200" dirty="0">
              <a:solidFill>
                <a:schemeClr val="tx1"/>
              </a:solidFill>
              <a:latin typeface="Times New Roman" panose="02020603050405020304" pitchFamily="18" charset="0"/>
              <a:cs typeface="Times New Roman" panose="02020603050405020304" pitchFamily="18" charset="0"/>
            </a:endParaRPr>
          </a:p>
        </p:txBody>
      </p:sp>
      <p:cxnSp>
        <p:nvCxnSpPr>
          <p:cNvPr id="19" name="Straight Arrow Connector 18"/>
          <p:cNvCxnSpPr>
            <a:stCxn id="4" idx="3"/>
            <a:endCxn id="7" idx="3"/>
          </p:cNvCxnSpPr>
          <p:nvPr/>
        </p:nvCxnSpPr>
        <p:spPr>
          <a:xfrm flipV="1">
            <a:off x="2307101" y="2435358"/>
            <a:ext cx="1195754" cy="99908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a:stCxn id="4" idx="3"/>
            <a:endCxn id="9" idx="1"/>
          </p:cNvCxnSpPr>
          <p:nvPr/>
        </p:nvCxnSpPr>
        <p:spPr>
          <a:xfrm flipV="1">
            <a:off x="2307101" y="3395449"/>
            <a:ext cx="1195754" cy="3899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4" idx="3"/>
            <a:endCxn id="11" idx="1"/>
          </p:cNvCxnSpPr>
          <p:nvPr/>
        </p:nvCxnSpPr>
        <p:spPr>
          <a:xfrm>
            <a:off x="2307101" y="3434443"/>
            <a:ext cx="1195753" cy="9979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7" name="Arrow: Right 16"/>
          <p:cNvSpPr/>
          <p:nvPr/>
        </p:nvSpPr>
        <p:spPr>
          <a:xfrm>
            <a:off x="972273" y="4799115"/>
            <a:ext cx="10675440" cy="2472541"/>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vi-V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Ý thức là hình thức phản ánh cao nhất riêng có của óc người về hiện thực khách quan trên cơ sở thực tiễn xã hội – lịch sử</a:t>
            </a:r>
            <a:endParaRPr lang="vi-VN"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Chỉ</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con </a:t>
            </a:r>
            <a:r>
              <a:rPr lang="en-US" sz="2000" dirty="0" err="1">
                <a:latin typeface="Times New Roman" panose="02020603050405020304" pitchFamily="18" charset="0"/>
                <a:cs typeface="Times New Roman" panose="02020603050405020304" pitchFamily="18" charset="0"/>
              </a:rPr>
              <a:t>người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mới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có</a:t>
            </a:r>
            <a:r>
              <a:rPr lang="en-US" sz="2000" dirty="0">
                <a:latin typeface="Times New Roman" panose="02020603050405020304" pitchFamily="18" charset="0"/>
                <a:cs typeface="Times New Roman" panose="02020603050405020304" pitchFamily="18" charset="0"/>
              </a:rPr>
              <a:t> ý </a:t>
            </a:r>
            <a:r>
              <a:rPr lang="en-US" sz="2000" dirty="0" err="1">
                <a:latin typeface="Times New Roman" panose="02020603050405020304" pitchFamily="18" charset="0"/>
                <a:cs typeface="Times New Roman" panose="02020603050405020304" pitchFamily="18" charset="0"/>
              </a:rPr>
              <a:t>thức</a:t>
            </a:r>
            <a:r>
              <a:rPr lang="en-US" sz="2000"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000" dirty="0" err="1">
                <a:latin typeface="Times New Roman" panose="02020603050405020304" pitchFamily="18" charset="0"/>
                <a:cs typeface="Times New Roman" panose="02020603050405020304" pitchFamily="18" charset="0"/>
              </a:rPr>
              <a:t>Sáng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tạo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là</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thuộc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tính</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đặc</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trưng</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bản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nhất</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của</a:t>
            </a:r>
            <a:r>
              <a:rPr lang="en-US" sz="2000" dirty="0">
                <a:latin typeface="Times New Roman" panose="02020603050405020304" pitchFamily="18" charset="0"/>
                <a:cs typeface="Times New Roman" panose="02020603050405020304" pitchFamily="18" charset="0"/>
              </a:rPr>
              <a:t> ý </a:t>
            </a:r>
            <a:r>
              <a:rPr lang="en-US" sz="2000" dirty="0" err="1">
                <a:latin typeface="Times New Roman" panose="02020603050405020304" pitchFamily="18" charset="0"/>
                <a:cs typeface="Times New Roman" panose="02020603050405020304" pitchFamily="18" charset="0"/>
              </a:rPr>
              <a:t>thức</a:t>
            </a:r>
            <a:endParaRPr lang="en-US" sz="2000" dirty="0">
              <a:latin typeface="Times New Roman" panose="02020603050405020304" pitchFamily="18" charset="0"/>
              <a:cs typeface="Times New Roman" panose="02020603050405020304" pitchFamily="18" charset="0"/>
            </a:endParaRPr>
          </a:p>
          <a:p>
            <a:pPr algn="just"/>
            <a:endParaRPr lang="en-US"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 calcmode="lin" valueType="num">
                                      <p:cBhvr additive="base">
                                        <p:cTn id="19" dur="500" fill="hold"/>
                                        <p:tgtEl>
                                          <p:spTgt spid="4"/>
                                        </p:tgtEl>
                                        <p:attrNameLst>
                                          <p:attrName>ppt_x</p:attrName>
                                        </p:attrNameLst>
                                      </p:cBhvr>
                                      <p:tavLst>
                                        <p:tav tm="0">
                                          <p:val>
                                            <p:strVal val="#ppt_x"/>
                                          </p:val>
                                        </p:tav>
                                        <p:tav tm="100000">
                                          <p:val>
                                            <p:strVal val="#ppt_x"/>
                                          </p:val>
                                        </p:tav>
                                      </p:tavLst>
                                    </p:anim>
                                    <p:anim calcmode="lin" valueType="num">
                                      <p:cBhvr additive="base">
                                        <p:cTn id="20"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anim calcmode="lin" valueType="num">
                                      <p:cBhvr additive="base">
                                        <p:cTn id="25" dur="500" fill="hold"/>
                                        <p:tgtEl>
                                          <p:spTgt spid="19"/>
                                        </p:tgtEl>
                                        <p:attrNameLst>
                                          <p:attrName>ppt_x</p:attrName>
                                        </p:attrNameLst>
                                      </p:cBhvr>
                                      <p:tavLst>
                                        <p:tav tm="0">
                                          <p:val>
                                            <p:strVal val="#ppt_x"/>
                                          </p:val>
                                        </p:tav>
                                        <p:tav tm="100000">
                                          <p:val>
                                            <p:strVal val="#ppt_x"/>
                                          </p:val>
                                        </p:tav>
                                      </p:tavLst>
                                    </p:anim>
                                    <p:anim calcmode="lin" valueType="num">
                                      <p:cBhvr additive="base">
                                        <p:cTn id="26"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anim calcmode="lin" valueType="num">
                                      <p:cBhvr additive="base">
                                        <p:cTn id="31" dur="500" fill="hold"/>
                                        <p:tgtEl>
                                          <p:spTgt spid="7"/>
                                        </p:tgtEl>
                                        <p:attrNameLst>
                                          <p:attrName>ppt_x</p:attrName>
                                        </p:attrNameLst>
                                      </p:cBhvr>
                                      <p:tavLst>
                                        <p:tav tm="0">
                                          <p:val>
                                            <p:strVal val="#ppt_x"/>
                                          </p:val>
                                        </p:tav>
                                        <p:tav tm="100000">
                                          <p:val>
                                            <p:strVal val="#ppt_x"/>
                                          </p:val>
                                        </p:tav>
                                      </p:tavLst>
                                    </p:anim>
                                    <p:anim calcmode="lin" valueType="num">
                                      <p:cBhvr additive="base">
                                        <p:cTn id="3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ppt_x"/>
                                          </p:val>
                                        </p:tav>
                                        <p:tav tm="100000">
                                          <p:val>
                                            <p:strVal val="#ppt_x"/>
                                          </p:val>
                                        </p:tav>
                                      </p:tavLst>
                                    </p:anim>
                                    <p:anim calcmode="lin" valueType="num">
                                      <p:cBhvr additive="base">
                                        <p:cTn id="38"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 calcmode="lin" valueType="num">
                                      <p:cBhvr additive="base">
                                        <p:cTn id="43" dur="500" fill="hold"/>
                                        <p:tgtEl>
                                          <p:spTgt spid="9"/>
                                        </p:tgtEl>
                                        <p:attrNameLst>
                                          <p:attrName>ppt_x</p:attrName>
                                        </p:attrNameLst>
                                      </p:cBhvr>
                                      <p:tavLst>
                                        <p:tav tm="0">
                                          <p:val>
                                            <p:strVal val="#ppt_x"/>
                                          </p:val>
                                        </p:tav>
                                        <p:tav tm="100000">
                                          <p:val>
                                            <p:strVal val="#ppt_x"/>
                                          </p:val>
                                        </p:tav>
                                      </p:tavLst>
                                    </p:anim>
                                    <p:anim calcmode="lin" valueType="num">
                                      <p:cBhvr additive="base">
                                        <p:cTn id="4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nodeType="clickEffect">
                                  <p:stCondLst>
                                    <p:cond delay="0"/>
                                  </p:stCondLst>
                                  <p:childTnLst>
                                    <p:set>
                                      <p:cBhvr>
                                        <p:cTn id="48" dur="1" fill="hold">
                                          <p:stCondLst>
                                            <p:cond delay="0"/>
                                          </p:stCondLst>
                                        </p:cTn>
                                        <p:tgtEl>
                                          <p:spTgt spid="23"/>
                                        </p:tgtEl>
                                        <p:attrNameLst>
                                          <p:attrName>style.visibility</p:attrName>
                                        </p:attrNameLst>
                                      </p:cBhvr>
                                      <p:to>
                                        <p:strVal val="visible"/>
                                      </p:to>
                                    </p:set>
                                    <p:anim calcmode="lin" valueType="num">
                                      <p:cBhvr additive="base">
                                        <p:cTn id="49" dur="500" fill="hold"/>
                                        <p:tgtEl>
                                          <p:spTgt spid="23"/>
                                        </p:tgtEl>
                                        <p:attrNameLst>
                                          <p:attrName>ppt_x</p:attrName>
                                        </p:attrNameLst>
                                      </p:cBhvr>
                                      <p:tavLst>
                                        <p:tav tm="0">
                                          <p:val>
                                            <p:strVal val="#ppt_x"/>
                                          </p:val>
                                        </p:tav>
                                        <p:tav tm="100000">
                                          <p:val>
                                            <p:strVal val="#ppt_x"/>
                                          </p:val>
                                        </p:tav>
                                      </p:tavLst>
                                    </p:anim>
                                    <p:anim calcmode="lin" valueType="num">
                                      <p:cBhvr additive="base">
                                        <p:cTn id="50"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11"/>
                                        </p:tgtEl>
                                        <p:attrNameLst>
                                          <p:attrName>style.visibility</p:attrName>
                                        </p:attrNameLst>
                                      </p:cBhvr>
                                      <p:to>
                                        <p:strVal val="visible"/>
                                      </p:to>
                                    </p:set>
                                    <p:anim calcmode="lin" valueType="num">
                                      <p:cBhvr additive="base">
                                        <p:cTn id="55" dur="500" fill="hold"/>
                                        <p:tgtEl>
                                          <p:spTgt spid="11"/>
                                        </p:tgtEl>
                                        <p:attrNameLst>
                                          <p:attrName>ppt_x</p:attrName>
                                        </p:attrNameLst>
                                      </p:cBhvr>
                                      <p:tavLst>
                                        <p:tav tm="0">
                                          <p:val>
                                            <p:strVal val="#ppt_x"/>
                                          </p:val>
                                        </p:tav>
                                        <p:tav tm="100000">
                                          <p:val>
                                            <p:strVal val="#ppt_x"/>
                                          </p:val>
                                        </p:tav>
                                      </p:tavLst>
                                    </p:anim>
                                    <p:anim calcmode="lin" valueType="num">
                                      <p:cBhvr additive="base">
                                        <p:cTn id="56"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17"/>
                                        </p:tgtEl>
                                        <p:attrNameLst>
                                          <p:attrName>style.visibility</p:attrName>
                                        </p:attrNameLst>
                                      </p:cBhvr>
                                      <p:to>
                                        <p:strVal val="visible"/>
                                      </p:to>
                                    </p:set>
                                    <p:anim calcmode="lin" valueType="num">
                                      <p:cBhvr additive="base">
                                        <p:cTn id="61" dur="500" fill="hold"/>
                                        <p:tgtEl>
                                          <p:spTgt spid="17"/>
                                        </p:tgtEl>
                                        <p:attrNameLst>
                                          <p:attrName>ppt_x</p:attrName>
                                        </p:attrNameLst>
                                      </p:cBhvr>
                                      <p:tavLst>
                                        <p:tav tm="0">
                                          <p:val>
                                            <p:strVal val="#ppt_x"/>
                                          </p:val>
                                        </p:tav>
                                        <p:tav tm="100000">
                                          <p:val>
                                            <p:strVal val="#ppt_x"/>
                                          </p:val>
                                        </p:tav>
                                      </p:tavLst>
                                    </p:anim>
                                    <p:anim calcmode="lin" valueType="num">
                                      <p:cBhvr additive="base">
                                        <p:cTn id="62"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4" grpId="0" animBg="1"/>
      <p:bldP spid="7" grpId="0" animBg="1"/>
      <p:bldP spid="9" grpId="0" animBg="1"/>
      <p:bldP spid="11" grpId="0" animBg="1"/>
      <p:bldP spid="17"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37625"/>
            <a:ext cx="10515600" cy="1041009"/>
          </a:xfrm>
        </p:spPr>
        <p:txBody>
          <a:bodyPr>
            <a:normAutofit/>
          </a:bodyPr>
          <a:lstStyle/>
          <a:p>
            <a:pPr marL="457200" indent="-457200">
              <a:buFont typeface="Wingdings" panose="05000000000000000000" pitchFamily="2" charset="2"/>
              <a:buChar char="v"/>
            </a:pPr>
            <a:r>
              <a:rPr lang="en-US" altLang="en-US" sz="3200" b="1" dirty="0" err="1">
                <a:solidFill>
                  <a:schemeClr val="tx1"/>
                </a:solidFill>
                <a:latin typeface="Times New Roman" panose="02020603050405020304" pitchFamily="18" charset="0"/>
              </a:rPr>
              <a:t>Phản</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ánh</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được</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thể</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hiện</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dưới</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nhiều</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hình</a:t>
            </a:r>
            <a:r>
              <a:rPr lang="en-US" altLang="en-US" sz="3200" b="1" dirty="0">
                <a:solidFill>
                  <a:schemeClr val="tx1"/>
                </a:solidFill>
                <a:latin typeface="Times New Roman" panose="02020603050405020304" pitchFamily="18" charset="0"/>
              </a:rPr>
              <a:t> </a:t>
            </a:r>
            <a:r>
              <a:rPr lang="en-US" altLang="en-US" sz="3200" b="1" dirty="0" err="1">
                <a:solidFill>
                  <a:schemeClr val="tx1"/>
                </a:solidFill>
                <a:latin typeface="Times New Roman" panose="02020603050405020304" pitchFamily="18" charset="0"/>
              </a:rPr>
              <a:t>thức</a:t>
            </a:r>
            <a:r>
              <a:rPr lang="en-US" altLang="en-US" sz="3200" b="1" dirty="0">
                <a:solidFill>
                  <a:schemeClr val="tx1"/>
                </a:solidFill>
                <a:latin typeface="Times New Roman" panose="02020603050405020304" pitchFamily="18" charset="0"/>
              </a:rPr>
              <a:t>:</a:t>
            </a:r>
            <a:endParaRPr lang="en-US" sz="3200" dirty="0"/>
          </a:p>
        </p:txBody>
      </p:sp>
      <p:sp>
        <p:nvSpPr>
          <p:cNvPr id="3" name="Content Placeholder 2"/>
          <p:cNvSpPr>
            <a:spLocks noGrp="1"/>
          </p:cNvSpPr>
          <p:nvPr>
            <p:ph idx="1"/>
          </p:nvPr>
        </p:nvSpPr>
        <p:spPr>
          <a:xfrm>
            <a:off x="838200" y="1547446"/>
            <a:ext cx="10515600" cy="4629517"/>
          </a:xfrm>
        </p:spPr>
        <p:txBody>
          <a:bodyPr>
            <a:normAutofit/>
          </a:bodyPr>
          <a:lstStyle/>
          <a:p>
            <a:r>
              <a:rPr lang="en-US" altLang="en-US" sz="2400" dirty="0" err="1">
                <a:solidFill>
                  <a:schemeClr val="tx1"/>
                </a:solidFill>
                <a:latin typeface="Times New Roman" panose="02020603050405020304" pitchFamily="18" charset="0"/>
              </a:rPr>
              <a:t>Phản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ánh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vật</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lý</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hóa</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học</a:t>
            </a:r>
            <a:r>
              <a:rPr lang="en-US" altLang="en-US" sz="2400" dirty="0">
                <a:latin typeface="Times New Roman" panose="02020603050405020304" pitchFamily="18" charset="0"/>
              </a:rPr>
              <a:t>.</a:t>
            </a:r>
            <a:endParaRPr lang="en-US" altLang="en-US" sz="2400" dirty="0">
              <a:latin typeface="Times New Roman" panose="02020603050405020304" pitchFamily="18" charset="0"/>
            </a:endParaRPr>
          </a:p>
          <a:p>
            <a:r>
              <a:rPr lang="en-US" altLang="en-US" sz="2400" dirty="0" err="1">
                <a:solidFill>
                  <a:schemeClr val="tx1"/>
                </a:solidFill>
                <a:latin typeface="Times New Roman" panose="02020603050405020304" pitchFamily="18" charset="0"/>
              </a:rPr>
              <a:t>Phản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ánh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sinh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học</a:t>
            </a:r>
            <a:r>
              <a:rPr lang="en-US" altLang="en-US" sz="2400" dirty="0">
                <a:latin typeface="Times New Roman" panose="02020603050405020304" pitchFamily="18" charset="0"/>
              </a:rPr>
              <a:t>.</a:t>
            </a:r>
            <a:endParaRPr lang="en-US" altLang="en-US" sz="2400" dirty="0">
              <a:latin typeface="Times New Roman" panose="02020603050405020304" pitchFamily="18" charset="0"/>
            </a:endParaRPr>
          </a:p>
          <a:p>
            <a:r>
              <a:rPr lang="en-US" altLang="en-US" sz="2400" dirty="0" err="1">
                <a:solidFill>
                  <a:schemeClr val="tx1"/>
                </a:solidFill>
                <a:latin typeface="Times New Roman" panose="02020603050405020304" pitchFamily="18" charset="0"/>
              </a:rPr>
              <a:t>Phản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ánh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tâm</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lý</a:t>
            </a:r>
            <a:r>
              <a:rPr lang="en-US" altLang="en-US" sz="2400" dirty="0">
                <a:latin typeface="Times New Roman" panose="02020603050405020304" pitchFamily="18" charset="0"/>
              </a:rPr>
              <a:t>.</a:t>
            </a:r>
            <a:endParaRPr lang="en-US" altLang="en-US" sz="2400" dirty="0">
              <a:latin typeface="Times New Roman" panose="02020603050405020304" pitchFamily="18" charset="0"/>
            </a:endParaRPr>
          </a:p>
          <a:p>
            <a:r>
              <a:rPr lang="en-US" altLang="en-US" sz="2400" dirty="0" err="1">
                <a:solidFill>
                  <a:schemeClr val="tx1"/>
                </a:solidFill>
                <a:latin typeface="Times New Roman" panose="02020603050405020304" pitchFamily="18" charset="0"/>
              </a:rPr>
              <a:t>Phản</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ánh</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năng</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động</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sáng</a:t>
            </a:r>
            <a:r>
              <a:rPr lang="en-US" altLang="en-US" sz="2400" dirty="0">
                <a:solidFill>
                  <a:schemeClr val="tx1"/>
                </a:solidFill>
                <a:latin typeface="Times New Roman" panose="02020603050405020304" pitchFamily="18" charset="0"/>
              </a:rPr>
              <a:t> </a:t>
            </a:r>
            <a:r>
              <a:rPr lang="en-US" altLang="en-US" sz="2400" dirty="0" err="1">
                <a:solidFill>
                  <a:schemeClr val="tx1"/>
                </a:solidFill>
                <a:latin typeface="Times New Roman" panose="02020603050405020304" pitchFamily="18" charset="0"/>
              </a:rPr>
              <a:t>tạo</a:t>
            </a:r>
            <a:endParaRPr lang="en-US" sz="2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15530"/>
          </a:xfrm>
        </p:spPr>
        <p:txBody>
          <a:bodyPr>
            <a:normAutofit/>
          </a:bodyPr>
          <a:lstStyle/>
          <a:p>
            <a:pPr algn="just"/>
            <a:r>
              <a:rPr lang="en-US" sz="3600" b="1" dirty="0">
                <a:latin typeface="Times New Roman" panose="02020603050405020304" pitchFamily="18" charset="0"/>
                <a:cs typeface="Times New Roman" panose="02020603050405020304" pitchFamily="18" charset="0"/>
              </a:rPr>
              <a:t>c. </a:t>
            </a:r>
            <a:r>
              <a:rPr lang="en-US" sz="3600" b="1" dirty="0" err="1">
                <a:latin typeface="Times New Roman" panose="02020603050405020304" pitchFamily="18" charset="0"/>
                <a:cs typeface="Times New Roman" panose="02020603050405020304" pitchFamily="18" charset="0"/>
              </a:rPr>
              <a:t>Kết</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cấu</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ý </a:t>
            </a:r>
            <a:r>
              <a:rPr lang="en-US" sz="3600" b="1" dirty="0" err="1">
                <a:latin typeface="Times New Roman" panose="02020603050405020304" pitchFamily="18" charset="0"/>
                <a:cs typeface="Times New Roman" panose="02020603050405020304" pitchFamily="18" charset="0"/>
              </a:rPr>
              <a:t>thức</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80656"/>
            <a:ext cx="10515600" cy="5096307"/>
          </a:xfrm>
        </p:spPr>
        <p:txBody>
          <a:bodyPr>
            <a:normAutofit/>
          </a:bodyPr>
          <a:lstStyle/>
          <a:p>
            <a:pPr marL="0" indent="0" algn="ctr">
              <a:buNone/>
            </a:pPr>
            <a:r>
              <a:rPr lang="en-US" altLang="en-US" dirty="0" err="1">
                <a:latin typeface="Times New Roman" panose="02020603050405020304" pitchFamily="18" charset="0"/>
              </a:rPr>
              <a:t>Sơ</a:t>
            </a:r>
            <a:r>
              <a:rPr lang="en-US" altLang="en-US" dirty="0">
                <a:latin typeface="Times New Roman" panose="02020603050405020304" pitchFamily="18" charset="0"/>
              </a:rPr>
              <a:t> </a:t>
            </a:r>
            <a:r>
              <a:rPr lang="en-US" altLang="en-US" dirty="0" err="1">
                <a:latin typeface="Times New Roman" panose="02020603050405020304" pitchFamily="18" charset="0"/>
              </a:rPr>
              <a:t>đồ</a:t>
            </a:r>
            <a:r>
              <a:rPr lang="en-US" altLang="en-US" dirty="0">
                <a:latin typeface="Times New Roman" panose="02020603050405020304" pitchFamily="18" charset="0"/>
              </a:rPr>
              <a:t>: </a:t>
            </a:r>
            <a:r>
              <a:rPr lang="en-US" altLang="en-US" b="1" i="1" dirty="0" err="1">
                <a:latin typeface="Times New Roman" panose="02020603050405020304" pitchFamily="18" charset="0"/>
              </a:rPr>
              <a:t>Các</a:t>
            </a:r>
            <a:r>
              <a:rPr lang="en-US" altLang="en-US" b="1" i="1" dirty="0">
                <a:latin typeface="Times New Roman" panose="02020603050405020304" pitchFamily="18" charset="0"/>
              </a:rPr>
              <a:t> </a:t>
            </a:r>
            <a:r>
              <a:rPr lang="en-US" altLang="en-US" b="1" i="1" dirty="0" err="1">
                <a:latin typeface="Times New Roman" panose="02020603050405020304" pitchFamily="18" charset="0"/>
              </a:rPr>
              <a:t>lớp</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cấu</a:t>
            </a:r>
            <a:r>
              <a:rPr lang="en-US" altLang="en-US" b="1" i="1" dirty="0">
                <a:latin typeface="Times New Roman" panose="02020603050405020304" pitchFamily="18" charset="0"/>
              </a:rPr>
              <a:t> </a:t>
            </a:r>
            <a:r>
              <a:rPr lang="en-US" altLang="en-US" b="1" i="1" dirty="0" err="1">
                <a:latin typeface="Times New Roman" panose="02020603050405020304" pitchFamily="18" charset="0"/>
              </a:rPr>
              <a:t>trúc</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của</a:t>
            </a:r>
            <a:r>
              <a:rPr lang="en-US" altLang="en-US" b="1" i="1" dirty="0">
                <a:latin typeface="Times New Roman" panose="02020603050405020304" pitchFamily="18" charset="0"/>
              </a:rPr>
              <a:t> ý </a:t>
            </a:r>
            <a:r>
              <a:rPr lang="en-US" altLang="en-US" b="1" i="1" dirty="0" err="1">
                <a:latin typeface="Times New Roman" panose="02020603050405020304" pitchFamily="18" charset="0"/>
              </a:rPr>
              <a:t>thức</a:t>
            </a:r>
            <a:r>
              <a:rPr lang="en-US" altLang="en-US" b="1" i="1" dirty="0">
                <a:latin typeface="Times New Roman" panose="02020603050405020304" pitchFamily="18" charset="0"/>
              </a:rPr>
              <a:t> </a:t>
            </a:r>
            <a:endParaRPr lang="en-US" sz="2600" dirty="0">
              <a:latin typeface="Times New Roman" panose="02020603050405020304" pitchFamily="18" charset="0"/>
              <a:cs typeface="Times New Roman" panose="02020603050405020304" pitchFamily="18" charset="0"/>
            </a:endParaRPr>
          </a:p>
        </p:txBody>
      </p:sp>
      <p:sp>
        <p:nvSpPr>
          <p:cNvPr id="4" name="Rectangle 3"/>
          <p:cNvSpPr/>
          <p:nvPr/>
        </p:nvSpPr>
        <p:spPr>
          <a:xfrm rot="10800000" flipV="1">
            <a:off x="1246910" y="2979795"/>
            <a:ext cx="1288472" cy="9144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Ý </a:t>
            </a:r>
            <a:r>
              <a:rPr lang="en-US" sz="2400" dirty="0" err="1">
                <a:solidFill>
                  <a:schemeClr val="tx1"/>
                </a:solidFill>
                <a:latin typeface="Times New Roman" panose="02020603050405020304" pitchFamily="18" charset="0"/>
                <a:cs typeface="Times New Roman" panose="02020603050405020304" pitchFamily="18" charset="0"/>
              </a:rPr>
              <a:t>thức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rot="10800000" flipV="1">
            <a:off x="4973782" y="1796184"/>
            <a:ext cx="2937163" cy="69208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Tri </a:t>
            </a:r>
            <a:r>
              <a:rPr lang="en-US" sz="2400" dirty="0" err="1">
                <a:solidFill>
                  <a:schemeClr val="tx1"/>
                </a:solidFill>
                <a:latin typeface="Times New Roman" panose="02020603050405020304" pitchFamily="18" charset="0"/>
                <a:cs typeface="Times New Roman" panose="02020603050405020304" pitchFamily="18" charset="0"/>
              </a:rPr>
              <a:t>thức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4973780" y="3069851"/>
            <a:ext cx="2937163" cy="73428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Tình</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cảm</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rot="10800000" flipH="1" flipV="1">
            <a:off x="4973777" y="4099236"/>
            <a:ext cx="2937165" cy="75645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solidFill>
                  <a:schemeClr val="tx1"/>
                </a:solidFill>
                <a:latin typeface="Times New Roman" panose="02020603050405020304" pitchFamily="18" charset="0"/>
                <a:cs typeface="Times New Roman" panose="02020603050405020304" pitchFamily="18" charset="0"/>
              </a:rPr>
              <a:t>Ý </a:t>
            </a:r>
            <a:r>
              <a:rPr lang="en-US" sz="2400" dirty="0" err="1">
                <a:solidFill>
                  <a:schemeClr val="tx1"/>
                </a:solidFill>
                <a:latin typeface="Times New Roman" panose="02020603050405020304" pitchFamily="18" charset="0"/>
                <a:cs typeface="Times New Roman" panose="02020603050405020304" pitchFamily="18" charset="0"/>
              </a:rPr>
              <a:t>chí</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9" name="Rectangle 8"/>
          <p:cNvSpPr/>
          <p:nvPr/>
        </p:nvSpPr>
        <p:spPr>
          <a:xfrm rot="10800000" flipH="1" flipV="1">
            <a:off x="4973777" y="5260795"/>
            <a:ext cx="2937165" cy="67332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Quyết</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tâm</a:t>
            </a: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11" name="Straight Arrow Connector 10"/>
          <p:cNvCxnSpPr>
            <a:stCxn id="4" idx="1"/>
            <a:endCxn id="5" idx="3"/>
          </p:cNvCxnSpPr>
          <p:nvPr/>
        </p:nvCxnSpPr>
        <p:spPr>
          <a:xfrm flipV="1">
            <a:off x="2535382" y="2142227"/>
            <a:ext cx="2438400" cy="12947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1"/>
            <a:endCxn id="6" idx="1"/>
          </p:cNvCxnSpPr>
          <p:nvPr/>
        </p:nvCxnSpPr>
        <p:spPr>
          <a:xfrm>
            <a:off x="2535382" y="3436995"/>
            <a:ext cx="2438398" cy="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a:stCxn id="4" idx="1"/>
            <a:endCxn id="8" idx="1"/>
          </p:cNvCxnSpPr>
          <p:nvPr/>
        </p:nvCxnSpPr>
        <p:spPr>
          <a:xfrm>
            <a:off x="2535382" y="3436995"/>
            <a:ext cx="2438395" cy="10404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4" idx="1"/>
            <a:endCxn id="9" idx="1"/>
          </p:cNvCxnSpPr>
          <p:nvPr/>
        </p:nvCxnSpPr>
        <p:spPr>
          <a:xfrm>
            <a:off x="2535382" y="3436995"/>
            <a:ext cx="2438395" cy="216046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7820"/>
          </a:xfrm>
        </p:spPr>
        <p:txBody>
          <a:bodyPr>
            <a:normAutofit/>
          </a:bodyPr>
          <a:lstStyle/>
          <a:p>
            <a:pPr marL="0" indent="0" algn="ctr"/>
            <a:r>
              <a:rPr lang="en-US" altLang="en-US" sz="3600" dirty="0" err="1">
                <a:latin typeface="Times New Roman" panose="02020603050405020304" pitchFamily="18" charset="0"/>
              </a:rPr>
              <a:t>Sơ</a:t>
            </a:r>
            <a:r>
              <a:rPr lang="en-US" altLang="en-US" sz="3600" dirty="0">
                <a:latin typeface="Times New Roman" panose="02020603050405020304" pitchFamily="18" charset="0"/>
              </a:rPr>
              <a:t> </a:t>
            </a:r>
            <a:r>
              <a:rPr lang="en-US" altLang="en-US" sz="3600" dirty="0" err="1">
                <a:latin typeface="Times New Roman" panose="02020603050405020304" pitchFamily="18" charset="0"/>
              </a:rPr>
              <a:t>đồ</a:t>
            </a:r>
            <a:r>
              <a:rPr lang="en-US" altLang="en-US" sz="3600" dirty="0">
                <a:latin typeface="Times New Roman" panose="02020603050405020304" pitchFamily="18" charset="0"/>
              </a:rPr>
              <a:t>: </a:t>
            </a:r>
            <a:r>
              <a:rPr lang="en-US" altLang="en-US" sz="3600" b="1" i="1" dirty="0" err="1">
                <a:latin typeface="Times New Roman" panose="02020603050405020304" pitchFamily="18" charset="0"/>
              </a:rPr>
              <a:t>Các</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cấp</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độ</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của</a:t>
            </a:r>
            <a:r>
              <a:rPr lang="en-US" altLang="en-US" sz="3600" b="1" i="1" dirty="0">
                <a:latin typeface="Times New Roman" panose="02020603050405020304" pitchFamily="18" charset="0"/>
              </a:rPr>
              <a:t> ý </a:t>
            </a:r>
            <a:r>
              <a:rPr lang="en-US" altLang="en-US" sz="3600" b="1" i="1" dirty="0" err="1">
                <a:latin typeface="Times New Roman" panose="02020603050405020304" pitchFamily="18" charset="0"/>
              </a:rPr>
              <a:t>thức</a:t>
            </a:r>
            <a:r>
              <a:rPr lang="en-US" altLang="en-US" sz="3600" b="1" i="1" dirty="0">
                <a:latin typeface="Times New Roman" panose="02020603050405020304" pitchFamily="18" charset="0"/>
              </a:rPr>
              <a:t>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67691" y="1052946"/>
            <a:ext cx="10515600" cy="4736090"/>
          </a:xfrm>
        </p:spPr>
        <p:txBody>
          <a:bodyPr/>
          <a:lstStyle/>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rot="10800000" flipH="1" flipV="1">
            <a:off x="2018608" y="2617428"/>
            <a:ext cx="1445028" cy="160712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dirty="0">
                <a:solidFill>
                  <a:schemeClr val="tx1"/>
                </a:solidFill>
                <a:latin typeface="Times New Roman" panose="02020603050405020304" pitchFamily="18" charset="0"/>
                <a:cs typeface="Times New Roman" panose="02020603050405020304" pitchFamily="18" charset="0"/>
              </a:rPr>
              <a:t>Ý </a:t>
            </a:r>
            <a:r>
              <a:rPr lang="en-US" sz="3200" dirty="0" err="1">
                <a:solidFill>
                  <a:schemeClr val="tx1"/>
                </a:solidFill>
                <a:latin typeface="Times New Roman" panose="02020603050405020304" pitchFamily="18" charset="0"/>
                <a:cs typeface="Times New Roman" panose="02020603050405020304" pitchFamily="18" charset="0"/>
              </a:rPr>
              <a:t>thức</a:t>
            </a:r>
            <a:endParaRPr lang="en-US" sz="3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6012873" y="1787236"/>
            <a:ext cx="2286000" cy="80356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Tự</a:t>
            </a:r>
            <a:r>
              <a:rPr lang="en-US" sz="2400" dirty="0">
                <a:solidFill>
                  <a:schemeClr val="tx1"/>
                </a:solidFill>
                <a:latin typeface="Times New Roman" panose="02020603050405020304" pitchFamily="18" charset="0"/>
                <a:cs typeface="Times New Roman" panose="02020603050405020304" pitchFamily="18" charset="0"/>
              </a:rPr>
              <a:t> ý </a:t>
            </a:r>
            <a:r>
              <a:rPr lang="en-US" sz="2400" dirty="0" err="1">
                <a:solidFill>
                  <a:schemeClr val="tx1"/>
                </a:solidFill>
                <a:latin typeface="Times New Roman" panose="02020603050405020304" pitchFamily="18" charset="0"/>
                <a:cs typeface="Times New Roman" panose="02020603050405020304" pitchFamily="18" charset="0"/>
              </a:rPr>
              <a:t>thức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6012873" y="3020289"/>
            <a:ext cx="2286000" cy="88669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Tiềm</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thức</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a:off x="6012873" y="4336472"/>
            <a:ext cx="2286000" cy="85898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Vô</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thức</a:t>
            </a:r>
            <a:endParaRPr lang="en-US" sz="2400" dirty="0">
              <a:solidFill>
                <a:schemeClr val="tx1"/>
              </a:solidFill>
              <a:latin typeface="Times New Roman" panose="02020603050405020304" pitchFamily="18" charset="0"/>
              <a:cs typeface="Times New Roman" panose="02020603050405020304" pitchFamily="18" charset="0"/>
            </a:endParaRPr>
          </a:p>
        </p:txBody>
      </p:sp>
      <p:cxnSp>
        <p:nvCxnSpPr>
          <p:cNvPr id="9" name="Straight Arrow Connector 8"/>
          <p:cNvCxnSpPr>
            <a:stCxn id="4" idx="3"/>
            <a:endCxn id="5" idx="1"/>
          </p:cNvCxnSpPr>
          <p:nvPr/>
        </p:nvCxnSpPr>
        <p:spPr>
          <a:xfrm flipV="1">
            <a:off x="3463636" y="2189018"/>
            <a:ext cx="2549237" cy="1231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endCxn id="6" idx="1"/>
          </p:cNvCxnSpPr>
          <p:nvPr/>
        </p:nvCxnSpPr>
        <p:spPr>
          <a:xfrm>
            <a:off x="3463636" y="3420991"/>
            <a:ext cx="2549237" cy="426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4" idx="3"/>
            <a:endCxn id="7" idx="1"/>
          </p:cNvCxnSpPr>
          <p:nvPr/>
        </p:nvCxnSpPr>
        <p:spPr>
          <a:xfrm>
            <a:off x="3463636" y="3420991"/>
            <a:ext cx="2549237" cy="13449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1057"/>
          </a:xfrm>
        </p:spPr>
        <p:txBody>
          <a:bodyPr>
            <a:normAutofit/>
          </a:bodyPr>
          <a:lstStyle/>
          <a:p>
            <a:pPr marL="571500" indent="-571500" algn="just">
              <a:buFont typeface="Wingdings" panose="05000000000000000000" pitchFamily="2" charset="2"/>
              <a:buChar char="Ø"/>
            </a:pPr>
            <a:r>
              <a:rPr lang="en-US" sz="3600" b="1" dirty="0" err="1">
                <a:solidFill>
                  <a:srgbClr val="FF0000"/>
                </a:solidFill>
                <a:latin typeface="Times New Roman" panose="02020603050405020304" pitchFamily="18" charset="0"/>
                <a:cs typeface="Times New Roman" panose="02020603050405020304" pitchFamily="18" charset="0"/>
              </a:rPr>
              <a:t>Vấn</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đề</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trí</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tuệ</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nhân</a:t>
            </a:r>
            <a:r>
              <a:rPr lang="en-US" sz="3600" b="1" dirty="0">
                <a:solidFill>
                  <a:srgbClr val="FF0000"/>
                </a:solidFill>
                <a:latin typeface="Times New Roman" panose="02020603050405020304" pitchFamily="18" charset="0"/>
                <a:cs typeface="Times New Roman" panose="02020603050405020304" pitchFamily="18" charset="0"/>
              </a:rPr>
              <a:t> </a:t>
            </a:r>
            <a:r>
              <a:rPr lang="en-US" sz="3600" b="1" dirty="0" err="1">
                <a:solidFill>
                  <a:srgbClr val="FF0000"/>
                </a:solidFill>
                <a:latin typeface="Times New Roman" panose="02020603050405020304" pitchFamily="18" charset="0"/>
                <a:cs typeface="Times New Roman" panose="02020603050405020304" pitchFamily="18" charset="0"/>
              </a:rPr>
              <a:t>tạo</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16182"/>
            <a:ext cx="10515600" cy="4860781"/>
          </a:xfrm>
        </p:spPr>
        <p:txBody>
          <a:bodyPr>
            <a:normAutofit lnSpcReduction="10000"/>
          </a:bodyPr>
          <a:lstStyle/>
          <a:p>
            <a:pPr algn="just">
              <a:buFontTx/>
              <a:buChar char="-"/>
            </a:pPr>
            <a:r>
              <a:rPr lang="en-US" dirty="0">
                <a:latin typeface="Times New Roman" panose="02020603050405020304" pitchFamily="18" charset="0"/>
                <a:cs typeface="Times New Roman" panose="02020603050405020304" pitchFamily="18" charset="0"/>
              </a:rPr>
              <a:t>Ý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về</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a:t>
            </a:r>
            <a:endParaRPr lang="vi-VN" dirty="0">
              <a:latin typeface="Times New Roman" panose="02020603050405020304" pitchFamily="18" charset="0"/>
              <a:cs typeface="Times New Roman" panose="02020603050405020304" pitchFamily="18" charset="0"/>
            </a:endParaRPr>
          </a:p>
          <a:p>
            <a:pPr algn="just">
              <a:buFontTx/>
              <a:buChar char="-"/>
            </a:pP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móc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thuật</a:t>
            </a:r>
            <a:r>
              <a:rPr lang="en-US" dirty="0">
                <a:latin typeface="Times New Roman" panose="02020603050405020304" pitchFamily="18" charset="0"/>
                <a:cs typeface="Times New Roman" panose="02020603050405020304" pitchFamily="18" charset="0"/>
              </a:rPr>
              <a:t> do 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sang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endParaRPr lang="vi-VN" dirty="0">
              <a:latin typeface="Times New Roman" panose="02020603050405020304" pitchFamily="18" charset="0"/>
              <a:cs typeface="Times New Roman" panose="02020603050405020304" pitchFamily="18" charset="0"/>
            </a:endParaRPr>
          </a:p>
          <a:p>
            <a:pPr algn="just">
              <a:buFontTx/>
              <a:buChar char="-"/>
            </a:pPr>
            <a:r>
              <a:rPr lang="en-US" dirty="0" err="1">
                <a:latin typeface="Times New Roman" panose="02020603050405020304" pitchFamily="18" charset="0"/>
                <a:cs typeface="Times New Roman" panose="02020603050405020304" pitchFamily="18" charset="0"/>
              </a:rPr>
              <a:t>Máy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s</a:t>
            </a:r>
            <a:r>
              <a:rPr lang="vi-VN" dirty="0">
                <a:latin typeface="Times New Roman" panose="02020603050405020304" pitchFamily="18" charset="0"/>
                <a:cs typeface="Times New Roman" panose="02020603050405020304" pitchFamily="18" charset="0"/>
              </a:rPr>
              <a:t>á</a:t>
            </a:r>
            <a:r>
              <a:rPr lang="en-US" dirty="0">
                <a:latin typeface="Times New Roman" panose="02020603050405020304" pitchFamily="18" charset="0"/>
                <a:cs typeface="Times New Roman" panose="02020603050405020304" pitchFamily="18" charset="0"/>
              </a:rPr>
              <a:t>ng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dưới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nó</a:t>
            </a:r>
            <a:endParaRPr lang="vi-VN"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b="1" dirty="0">
                <a:solidFill>
                  <a:srgbClr val="0070C0"/>
                </a:solidFill>
                <a:latin typeface="Times New Roman" panose="02020603050405020304" pitchFamily="18" charset="0"/>
                <a:cs typeface="Times New Roman" panose="02020603050405020304" pitchFamily="18" charset="0"/>
              </a:rPr>
              <a:t>Ý </a:t>
            </a:r>
            <a:r>
              <a:rPr lang="en-US" b="1" dirty="0" err="1">
                <a:solidFill>
                  <a:srgbClr val="0070C0"/>
                </a:solidFill>
                <a:latin typeface="Times New Roman" panose="02020603050405020304" pitchFamily="18" charset="0"/>
                <a:cs typeface="Times New Roman" panose="02020603050405020304" pitchFamily="18" charset="0"/>
              </a:rPr>
              <a:t>thức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là</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hình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thức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phản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ánh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cao</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nhất</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riêng</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có</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của</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óc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người</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về</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hiện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thực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khách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quan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trên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cơ</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sở</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thực</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tiễn</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xã</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hội</a:t>
            </a:r>
            <a:r>
              <a:rPr lang="en-US" b="1" dirty="0">
                <a:solidFill>
                  <a:srgbClr val="0070C0"/>
                </a:solidFill>
                <a:latin typeface="Times New Roman" panose="02020603050405020304" pitchFamily="18" charset="0"/>
                <a:cs typeface="Times New Roman" panose="02020603050405020304" pitchFamily="18" charset="0"/>
              </a:rPr>
              <a:t> – </a:t>
            </a:r>
            <a:r>
              <a:rPr lang="en-US" b="1" dirty="0" err="1">
                <a:solidFill>
                  <a:srgbClr val="0070C0"/>
                </a:solidFill>
                <a:latin typeface="Times New Roman" panose="02020603050405020304" pitchFamily="18" charset="0"/>
                <a:cs typeface="Times New Roman" panose="02020603050405020304" pitchFamily="18" charset="0"/>
              </a:rPr>
              <a:t>lịch</a:t>
            </a:r>
            <a:r>
              <a:rPr lang="en-US" b="1" dirty="0">
                <a:solidFill>
                  <a:srgbClr val="0070C0"/>
                </a:solidFill>
                <a:latin typeface="Times New Roman" panose="02020603050405020304" pitchFamily="18" charset="0"/>
                <a:cs typeface="Times New Roman" panose="02020603050405020304" pitchFamily="18" charset="0"/>
              </a:rPr>
              <a:t> </a:t>
            </a:r>
            <a:r>
              <a:rPr lang="en-US" b="1" dirty="0" err="1">
                <a:solidFill>
                  <a:srgbClr val="0070C0"/>
                </a:solidFill>
                <a:latin typeface="Times New Roman" panose="02020603050405020304" pitchFamily="18" charset="0"/>
                <a:cs typeface="Times New Roman" panose="02020603050405020304" pitchFamily="18" charset="0"/>
              </a:rPr>
              <a:t>sử</a:t>
            </a:r>
            <a:r>
              <a:rPr lang="en-US" b="1" dirty="0">
                <a:solidFill>
                  <a:srgbClr val="0070C0"/>
                </a:solidFill>
                <a:latin typeface="Times New Roman" panose="02020603050405020304" pitchFamily="18" charset="0"/>
                <a:cs typeface="Times New Roman" panose="02020603050405020304" pitchFamily="18" charset="0"/>
              </a:rPr>
              <a:t>.</a:t>
            </a:r>
            <a:endParaRPr lang="vi-VN" b="1" dirty="0">
              <a:solidFill>
                <a:srgbClr val="0070C0"/>
              </a:solidFill>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Cấu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trúc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óc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ý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endParaRPr lang="vi-VN"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ánh</a:t>
            </a:r>
            <a:r>
              <a:rPr lang="en-US" dirty="0">
                <a:latin typeface="Times New Roman" panose="02020603050405020304" pitchFamily="18" charset="0"/>
                <a:cs typeface="Times New Roman" panose="02020603050405020304" pitchFamily="18" charset="0"/>
              </a:rPr>
              <a:t> s</a:t>
            </a:r>
            <a:r>
              <a:rPr lang="vi-VN" dirty="0">
                <a:latin typeface="Times New Roman" panose="02020603050405020304" pitchFamily="18" charset="0"/>
                <a:cs typeface="Times New Roman" panose="02020603050405020304" pitchFamily="18" charset="0"/>
              </a:rPr>
              <a:t>á</a:t>
            </a:r>
            <a:r>
              <a:rPr lang="en-US" dirty="0">
                <a:latin typeface="Times New Roman" panose="02020603050405020304" pitchFamily="18" charset="0"/>
                <a:cs typeface="Times New Roman" panose="02020603050405020304" pitchFamily="18" charset="0"/>
              </a:rPr>
              <a:t>ng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ở ý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endParaRPr lang="vi-VN"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Ý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mang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endParaRPr lang="vi-VN"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chỉ</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ở con </a:t>
            </a:r>
            <a:r>
              <a:rPr lang="en-US" dirty="0" err="1">
                <a:latin typeface="Times New Roman" panose="02020603050405020304" pitchFamily="18" charset="0"/>
                <a:cs typeface="Times New Roman" panose="02020603050405020304" pitchFamily="18" charset="0"/>
              </a:rPr>
              <a:t>người</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4" end="4"/>
                                            </p:txEl>
                                          </p:spTgt>
                                        </p:tgtEl>
                                        <p:attrNameLst>
                                          <p:attrName>style.visibility</p:attrName>
                                        </p:attrNameLst>
                                      </p:cBhvr>
                                      <p:to>
                                        <p:strVal val="visible"/>
                                      </p:to>
                                    </p:set>
                                    <p:anim calcmode="lin" valueType="num">
                                      <p:cBhvr additive="base">
                                        <p:cTn id="3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5" end="5"/>
                                            </p:txEl>
                                          </p:spTgt>
                                        </p:tgtEl>
                                        <p:attrNameLst>
                                          <p:attrName>style.visibility</p:attrName>
                                        </p:attrNameLst>
                                      </p:cBhvr>
                                      <p:to>
                                        <p:strVal val="visible"/>
                                      </p:to>
                                    </p:set>
                                    <p:anim calcmode="lin" valueType="num">
                                      <p:cBhvr additive="base">
                                        <p:cTn id="4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 calcmode="lin" valueType="num">
                                      <p:cBhvr additive="base">
                                        <p:cTn id="4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7" end="7"/>
                                            </p:txEl>
                                          </p:spTgt>
                                        </p:tgtEl>
                                        <p:attrNameLst>
                                          <p:attrName>style.visibility</p:attrName>
                                        </p:attrNameLst>
                                      </p:cBhvr>
                                      <p:to>
                                        <p:strVal val="visible"/>
                                      </p:to>
                                    </p:set>
                                    <p:anim calcmode="lin" valueType="num">
                                      <p:cBhvr additive="base">
                                        <p:cTn id="5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43170"/>
          </a:xfrm>
        </p:spPr>
        <p:txBody>
          <a:bodyPr>
            <a:normAutofit fontScale="90000"/>
          </a:bodyPr>
          <a:lstStyle/>
          <a:p>
            <a:r>
              <a:rPr lang="en-US" sz="3200" b="1" dirty="0">
                <a:latin typeface="Times New Roman" panose="02020603050405020304" pitchFamily="18" charset="0"/>
                <a:cs typeface="Times New Roman" panose="02020603050405020304" pitchFamily="18" charset="0"/>
              </a:rPr>
              <a:t>3. </a:t>
            </a:r>
            <a:r>
              <a:rPr lang="en-US" sz="3200" b="1" dirty="0" err="1">
                <a:latin typeface="Times New Roman" panose="02020603050405020304" pitchFamily="18" charset="0"/>
                <a:cs typeface="Times New Roman" panose="02020603050405020304" pitchFamily="18" charset="0"/>
              </a:rPr>
              <a:t>Mối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quan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hệ</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giữa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vật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chất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ý </a:t>
            </a:r>
            <a:r>
              <a:rPr lang="en-US" sz="3200" b="1" dirty="0" err="1">
                <a:latin typeface="Times New Roman" panose="02020603050405020304" pitchFamily="18" charset="0"/>
                <a:cs typeface="Times New Roman" panose="02020603050405020304" pitchFamily="18" charset="0"/>
              </a:rPr>
              <a:t>thức</a:t>
            </a:r>
            <a:br>
              <a:rPr lang="en-US" sz="3200" b="1" dirty="0">
                <a:latin typeface="Times New Roman" panose="02020603050405020304" pitchFamily="18" charset="0"/>
                <a:cs typeface="Times New Roman" panose="02020603050405020304" pitchFamily="18" charset="0"/>
              </a:rPr>
            </a:br>
            <a:r>
              <a:rPr lang="en-US" sz="3200" b="1" dirty="0">
                <a:latin typeface="Times New Roman" panose="02020603050405020304" pitchFamily="18" charset="0"/>
                <a:cs typeface="Times New Roman" panose="02020603050405020304" pitchFamily="18" charset="0"/>
              </a:rPr>
              <a:t>a. Quan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CN </a:t>
            </a:r>
            <a:r>
              <a:rPr lang="en-US" sz="3200" b="1" dirty="0" err="1">
                <a:latin typeface="Times New Roman" panose="02020603050405020304" pitchFamily="18" charset="0"/>
                <a:cs typeface="Times New Roman" panose="02020603050405020304" pitchFamily="18" charset="0"/>
              </a:rPr>
              <a:t>duy</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tâm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CN </a:t>
            </a:r>
            <a:r>
              <a:rPr lang="en-US" sz="3200" b="1" dirty="0" err="1">
                <a:latin typeface="Times New Roman" panose="02020603050405020304" pitchFamily="18" charset="0"/>
                <a:cs typeface="Times New Roman" panose="02020603050405020304" pitchFamily="18" charset="0"/>
              </a:rPr>
              <a:t>duy</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vật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siêu</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hình</a:t>
            </a:r>
            <a:endParaRPr lang="en-US" sz="3200" dirty="0"/>
          </a:p>
        </p:txBody>
      </p:sp>
      <p:sp>
        <p:nvSpPr>
          <p:cNvPr id="3" name="Content Placeholder 2"/>
          <p:cNvSpPr>
            <a:spLocks noGrp="1"/>
          </p:cNvSpPr>
          <p:nvPr>
            <p:ph idx="1"/>
          </p:nvPr>
        </p:nvSpPr>
        <p:spPr>
          <a:xfrm>
            <a:off x="838200" y="1448972"/>
            <a:ext cx="10515600" cy="4727991"/>
          </a:xfrm>
        </p:spPr>
        <p:txBody>
          <a:bodyPr/>
          <a:lstStyle/>
          <a:p>
            <a:pPr marL="0" indent="0">
              <a:buNone/>
            </a:pPr>
            <a:endParaRPr lang="en-US" dirty="0"/>
          </a:p>
        </p:txBody>
      </p:sp>
      <p:sp>
        <p:nvSpPr>
          <p:cNvPr id="4" name="Rectangle 3"/>
          <p:cNvSpPr/>
          <p:nvPr/>
        </p:nvSpPr>
        <p:spPr>
          <a:xfrm flipH="1">
            <a:off x="1969477" y="1603717"/>
            <a:ext cx="3024554" cy="6471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err="1">
                <a:solidFill>
                  <a:schemeClr val="tx1"/>
                </a:solidFill>
                <a:latin typeface="Times New Roman" panose="02020603050405020304" pitchFamily="18" charset="0"/>
                <a:cs typeface="Times New Roman" panose="02020603050405020304" pitchFamily="18" charset="0"/>
              </a:rPr>
              <a:t>Chủ</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nghĩa</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duy</a:t>
            </a:r>
            <a:r>
              <a:rPr lang="en-US" sz="2400" dirty="0">
                <a:solidFill>
                  <a:schemeClr val="tx1"/>
                </a:solidFill>
                <a:latin typeface="Times New Roman" panose="02020603050405020304" pitchFamily="18" charset="0"/>
                <a:cs typeface="Times New Roman" panose="02020603050405020304" pitchFamily="18" charset="0"/>
              </a:rPr>
              <a:t> </a:t>
            </a:r>
            <a:r>
              <a:rPr lang="en-US" sz="2400" dirty="0" err="1">
                <a:solidFill>
                  <a:schemeClr val="tx1"/>
                </a:solidFill>
                <a:latin typeface="Times New Roman" panose="02020603050405020304" pitchFamily="18" charset="0"/>
                <a:cs typeface="Times New Roman" panose="02020603050405020304" pitchFamily="18" charset="0"/>
              </a:rPr>
              <a:t>tâm</a:t>
            </a:r>
            <a:endParaRPr lang="en-US" sz="24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rot="10800000" flipV="1">
            <a:off x="1406769" y="2250831"/>
            <a:ext cx="4107766" cy="315819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2000" dirty="0">
                <a:solidFill>
                  <a:schemeClr val="tx1"/>
                </a:solidFill>
                <a:latin typeface="Times New Roman" panose="02020603050405020304" pitchFamily="18" charset="0"/>
                <a:cs typeface="Times New Roman" panose="02020603050405020304" pitchFamily="18" charset="0"/>
              </a:rPr>
              <a:t>Ý </a:t>
            </a:r>
            <a:r>
              <a:rPr lang="en-US" sz="2000" dirty="0" err="1">
                <a:solidFill>
                  <a:schemeClr val="tx1"/>
                </a:solidFill>
                <a:latin typeface="Times New Roman" panose="02020603050405020304" pitchFamily="18" charset="0"/>
                <a:cs typeface="Times New Roman" panose="02020603050405020304" pitchFamily="18" charset="0"/>
              </a:rPr>
              <a:t>thức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tinh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thần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bị</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trừu</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tượng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hoá</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tách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khỏi</a:t>
            </a:r>
            <a:r>
              <a:rPr lang="en-US" sz="2000" dirty="0">
                <a:solidFill>
                  <a:schemeClr val="tx1"/>
                </a:solidFill>
                <a:latin typeface="Times New Roman" panose="02020603050405020304" pitchFamily="18" charset="0"/>
                <a:cs typeface="Times New Roman" panose="02020603050405020304" pitchFamily="18" charset="0"/>
              </a:rPr>
              <a:t> con </a:t>
            </a:r>
            <a:r>
              <a:rPr lang="en-US" sz="2000" dirty="0" err="1">
                <a:solidFill>
                  <a:schemeClr val="tx1"/>
                </a:solidFill>
                <a:latin typeface="Times New Roman" panose="02020603050405020304" pitchFamily="18" charset="0"/>
                <a:cs typeface="Times New Roman" panose="02020603050405020304" pitchFamily="18" charset="0"/>
              </a:rPr>
              <a:t>người</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hiện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thực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thành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một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lực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lượng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thần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bí</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Họ</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coi</a:t>
            </a:r>
            <a:r>
              <a:rPr lang="en-US" sz="2000" dirty="0">
                <a:solidFill>
                  <a:schemeClr val="tx1"/>
                </a:solidFill>
                <a:latin typeface="Times New Roman" panose="02020603050405020304" pitchFamily="18" charset="0"/>
                <a:cs typeface="Times New Roman" panose="02020603050405020304" pitchFamily="18" charset="0"/>
              </a:rPr>
              <a:t> ý </a:t>
            </a:r>
            <a:r>
              <a:rPr lang="en-US" sz="2000" dirty="0" err="1">
                <a:solidFill>
                  <a:schemeClr val="tx1"/>
                </a:solidFill>
                <a:latin typeface="Times New Roman" panose="02020603050405020304" pitchFamily="18" charset="0"/>
                <a:cs typeface="Times New Roman" panose="02020603050405020304" pitchFamily="18" charset="0"/>
              </a:rPr>
              <a:t>thức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tính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thứ</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nhất</a:t>
            </a: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err="1">
                <a:solidFill>
                  <a:schemeClr val="tx1"/>
                </a:solidFill>
                <a:latin typeface="Times New Roman" panose="02020603050405020304" pitchFamily="18" charset="0"/>
                <a:cs typeface="Times New Roman" panose="02020603050405020304" pitchFamily="18" charset="0"/>
              </a:rPr>
              <a:t>Còn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thế</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giới</a:t>
            </a:r>
            <a:r>
              <a:rPr lang="en-US" sz="2000" dirty="0">
                <a:solidFill>
                  <a:schemeClr val="tx1"/>
                </a:solidFill>
                <a:latin typeface="Times New Roman" panose="02020603050405020304" pitchFamily="18" charset="0"/>
                <a:cs typeface="Times New Roman" panose="02020603050405020304" pitchFamily="18" charset="0"/>
              </a:rPr>
              <a:t> VC </a:t>
            </a:r>
            <a:r>
              <a:rPr lang="en-US" sz="2000" dirty="0" err="1">
                <a:solidFill>
                  <a:schemeClr val="tx1"/>
                </a:solidFill>
                <a:latin typeface="Times New Roman" panose="02020603050405020304" pitchFamily="18" charset="0"/>
                <a:cs typeface="Times New Roman" panose="02020603050405020304" pitchFamily="18" charset="0"/>
              </a:rPr>
              <a:t>chỉ</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bản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sao</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biểu</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hiện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khác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của</a:t>
            </a:r>
            <a:r>
              <a:rPr lang="en-US" sz="2000" dirty="0">
                <a:solidFill>
                  <a:schemeClr val="tx1"/>
                </a:solidFill>
                <a:latin typeface="Times New Roman" panose="02020603050405020304" pitchFamily="18" charset="0"/>
                <a:cs typeface="Times New Roman" panose="02020603050405020304" pitchFamily="18" charset="0"/>
              </a:rPr>
              <a:t> ý </a:t>
            </a:r>
            <a:r>
              <a:rPr lang="en-US" sz="2000" dirty="0" err="1">
                <a:solidFill>
                  <a:schemeClr val="tx1"/>
                </a:solidFill>
                <a:latin typeface="Times New Roman" panose="02020603050405020304" pitchFamily="18" charset="0"/>
                <a:cs typeface="Times New Roman" panose="02020603050405020304" pitchFamily="18" charset="0"/>
              </a:rPr>
              <a:t>thức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tính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thứ</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hai</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7197971" y="1603717"/>
            <a:ext cx="3240257" cy="64711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err="1">
                <a:solidFill>
                  <a:schemeClr val="tx1"/>
                </a:solidFill>
                <a:latin typeface="Times New Roman" panose="02020603050405020304" pitchFamily="18" charset="0"/>
                <a:cs typeface="Times New Roman" panose="02020603050405020304" pitchFamily="18" charset="0"/>
              </a:rPr>
              <a:t>Chủ</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nghĩa</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duy</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vật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siêu</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hình</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flipH="1">
            <a:off x="6977573" y="2250829"/>
            <a:ext cx="3807657" cy="315819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sz="2000" dirty="0" err="1">
                <a:solidFill>
                  <a:schemeClr val="tx1"/>
                </a:solidFill>
                <a:latin typeface="Times New Roman" panose="02020603050405020304" pitchFamily="18" charset="0"/>
                <a:cs typeface="Times New Roman" panose="02020603050405020304" pitchFamily="18" charset="0"/>
              </a:rPr>
              <a:t>Vật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chất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sinh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ra</a:t>
            </a:r>
            <a:r>
              <a:rPr lang="en-US" sz="2000" dirty="0">
                <a:solidFill>
                  <a:schemeClr val="tx1"/>
                </a:solidFill>
                <a:latin typeface="Times New Roman" panose="02020603050405020304" pitchFamily="18" charset="0"/>
                <a:cs typeface="Times New Roman" panose="02020603050405020304" pitchFamily="18" charset="0"/>
              </a:rPr>
              <a:t> ý </a:t>
            </a:r>
            <a:r>
              <a:rPr lang="en-US" sz="2000" dirty="0" err="1">
                <a:solidFill>
                  <a:schemeClr val="tx1"/>
                </a:solidFill>
                <a:latin typeface="Times New Roman" panose="02020603050405020304" pitchFamily="18" charset="0"/>
                <a:cs typeface="Times New Roman" panose="02020603050405020304" pitchFamily="18" charset="0"/>
              </a:rPr>
              <a:t>thức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quyết</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định</a:t>
            </a:r>
            <a:r>
              <a:rPr lang="en-US" sz="2000" dirty="0">
                <a:solidFill>
                  <a:schemeClr val="tx1"/>
                </a:solidFill>
                <a:latin typeface="Times New Roman" panose="02020603050405020304" pitchFamily="18" charset="0"/>
                <a:cs typeface="Times New Roman" panose="02020603050405020304" pitchFamily="18" charset="0"/>
              </a:rPr>
              <a:t> ý </a:t>
            </a:r>
            <a:r>
              <a:rPr lang="en-US" sz="2000" dirty="0" err="1">
                <a:solidFill>
                  <a:schemeClr val="tx1"/>
                </a:solidFill>
                <a:latin typeface="Times New Roman" panose="02020603050405020304" pitchFamily="18" charset="0"/>
                <a:cs typeface="Times New Roman" panose="02020603050405020304" pitchFamily="18" charset="0"/>
              </a:rPr>
              <a:t>thức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phủ</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nhận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tính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độc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lập</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tương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đối</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của</a:t>
            </a:r>
            <a:r>
              <a:rPr lang="en-US" sz="2000" dirty="0">
                <a:solidFill>
                  <a:schemeClr val="tx1"/>
                </a:solidFill>
                <a:latin typeface="Times New Roman" panose="02020603050405020304" pitchFamily="18" charset="0"/>
                <a:cs typeface="Times New Roman" panose="02020603050405020304" pitchFamily="18" charset="0"/>
              </a:rPr>
              <a:t> ý </a:t>
            </a:r>
            <a:r>
              <a:rPr lang="en-US" sz="2000" dirty="0" err="1">
                <a:solidFill>
                  <a:schemeClr val="tx1"/>
                </a:solidFill>
                <a:latin typeface="Times New Roman" panose="02020603050405020304" pitchFamily="18" charset="0"/>
                <a:cs typeface="Times New Roman" panose="02020603050405020304" pitchFamily="18" charset="0"/>
              </a:rPr>
              <a:t>thức</a:t>
            </a:r>
            <a:endParaRPr lang="en-US" sz="20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000" dirty="0" err="1">
                <a:solidFill>
                  <a:schemeClr val="tx1"/>
                </a:solidFill>
                <a:latin typeface="Times New Roman" panose="02020603050405020304" pitchFamily="18" charset="0"/>
                <a:cs typeface="Times New Roman" panose="02020603050405020304" pitchFamily="18" charset="0"/>
              </a:rPr>
              <a:t>Không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nhận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thấy</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tính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năng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động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sáng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tạo</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và</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vai</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trò</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của</a:t>
            </a:r>
            <a:r>
              <a:rPr lang="en-US" sz="2000" dirty="0">
                <a:solidFill>
                  <a:schemeClr val="tx1"/>
                </a:solidFill>
                <a:latin typeface="Times New Roman" panose="02020603050405020304" pitchFamily="18" charset="0"/>
                <a:cs typeface="Times New Roman" panose="02020603050405020304" pitchFamily="18" charset="0"/>
              </a:rPr>
              <a:t> ý </a:t>
            </a:r>
            <a:r>
              <a:rPr lang="en-US" sz="2000" dirty="0" err="1">
                <a:solidFill>
                  <a:schemeClr val="tx1"/>
                </a:solidFill>
                <a:latin typeface="Times New Roman" panose="02020603050405020304" pitchFamily="18" charset="0"/>
                <a:cs typeface="Times New Roman" panose="02020603050405020304" pitchFamily="18" charset="0"/>
              </a:rPr>
              <a:t>thức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trong</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thực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tiễn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cải</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tạo</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hiện</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thực</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khách</a:t>
            </a:r>
            <a:r>
              <a:rPr lang="en-US" sz="2000" dirty="0">
                <a:solidFill>
                  <a:schemeClr val="tx1"/>
                </a:solidFill>
                <a:latin typeface="Times New Roman" panose="02020603050405020304" pitchFamily="18" charset="0"/>
                <a:cs typeface="Times New Roman" panose="02020603050405020304" pitchFamily="18" charset="0"/>
              </a:rPr>
              <a:t> </a:t>
            </a:r>
            <a:r>
              <a:rPr lang="en-US" sz="2000" dirty="0" err="1">
                <a:solidFill>
                  <a:schemeClr val="tx1"/>
                </a:solidFill>
                <a:latin typeface="Times New Roman" panose="02020603050405020304" pitchFamily="18" charset="0"/>
                <a:cs typeface="Times New Roman" panose="02020603050405020304" pitchFamily="18" charset="0"/>
              </a:rPr>
              <a:t>quan</a:t>
            </a:r>
            <a:endParaRPr lang="en-US" sz="20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88426"/>
          </a:xfrm>
        </p:spPr>
        <p:txBody>
          <a:bodyPr>
            <a:normAutofit/>
          </a:bodyPr>
          <a:lstStyle/>
          <a:p>
            <a:r>
              <a:rPr lang="en-US" sz="3200" b="1" dirty="0">
                <a:latin typeface="Times New Roman" panose="02020603050405020304" pitchFamily="18" charset="0"/>
                <a:cs typeface="Times New Roman" panose="02020603050405020304" pitchFamily="18" charset="0"/>
              </a:rPr>
              <a:t>b. Quan </a:t>
            </a:r>
            <a:r>
              <a:rPr lang="en-US" sz="3200" b="1" dirty="0" err="1">
                <a:latin typeface="Times New Roman" panose="02020603050405020304" pitchFamily="18" charset="0"/>
                <a:cs typeface="Times New Roman" panose="02020603050405020304" pitchFamily="18" charset="0"/>
              </a:rPr>
              <a:t>điểm</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của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chủ</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nghĩa</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duy</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vật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biện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chứng</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22363"/>
            <a:ext cx="10515600" cy="5387926"/>
          </a:xfrm>
        </p:spPr>
        <p:txBody>
          <a:bodyPr/>
          <a:lstStyle/>
          <a:p>
            <a:pPr>
              <a:buFont typeface="Wingdings" panose="05000000000000000000" pitchFamily="2" charset="2"/>
              <a:buChar char="Ø"/>
            </a:pPr>
            <a:r>
              <a:rPr lang="en-US" sz="2800" b="1" dirty="0">
                <a:latin typeface="Times New Roman" panose="02020603050405020304" pitchFamily="18" charset="0"/>
                <a:cs typeface="Times New Roman" panose="02020603050405020304" pitchFamily="18" charset="0"/>
              </a:rPr>
              <a:t>Theo </a:t>
            </a:r>
            <a:r>
              <a:rPr lang="en-US" sz="2800" b="1" dirty="0" err="1">
                <a:latin typeface="Times New Roman" panose="02020603050405020304" pitchFamily="18" charset="0"/>
                <a:cs typeface="Times New Roman" panose="02020603050405020304" pitchFamily="18" charset="0"/>
              </a:rPr>
              <a:t>quan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điểm</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triết</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hóc</a:t>
            </a:r>
            <a:r>
              <a:rPr lang="en-US" sz="2800" b="1" dirty="0">
                <a:latin typeface="Times New Roman" panose="02020603050405020304" pitchFamily="18" charset="0"/>
                <a:cs typeface="Times New Roman" panose="02020603050405020304" pitchFamily="18" charset="0"/>
              </a:rPr>
              <a:t> Mac-</a:t>
            </a:r>
            <a:r>
              <a:rPr lang="en-US" sz="2800" b="1" dirty="0" err="1">
                <a:latin typeface="Times New Roman" panose="02020603050405020304" pitchFamily="18" charset="0"/>
                <a:cs typeface="Times New Roman" panose="02020603050405020304" pitchFamily="18" charset="0"/>
              </a:rPr>
              <a:t>Lênin</a:t>
            </a:r>
            <a:r>
              <a:rPr lang="en-US" sz="2800" b="1"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Vật</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chất</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và</a:t>
            </a:r>
            <a:r>
              <a:rPr lang="en-US" sz="2800" i="1" dirty="0">
                <a:latin typeface="Times New Roman" panose="02020603050405020304" pitchFamily="18" charset="0"/>
                <a:cs typeface="Times New Roman" panose="02020603050405020304" pitchFamily="18" charset="0"/>
              </a:rPr>
              <a:t> ý </a:t>
            </a:r>
            <a:r>
              <a:rPr lang="en-US" sz="2800" i="1" dirty="0" err="1">
                <a:latin typeface="Times New Roman" panose="02020603050405020304" pitchFamily="18" charset="0"/>
                <a:cs typeface="Times New Roman" panose="02020603050405020304" pitchFamily="18" charset="0"/>
              </a:rPr>
              <a:t>thức</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có</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mối</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quan</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hệ</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biện</a:t>
            </a:r>
            <a:r>
              <a:rPr lang="en-US" sz="2800" i="1" dirty="0">
                <a:latin typeface="Times New Roman" panose="02020603050405020304" pitchFamily="18" charset="0"/>
                <a:cs typeface="Times New Roman" panose="02020603050405020304" pitchFamily="18" charset="0"/>
              </a:rPr>
              <a:t> </a:t>
            </a:r>
            <a:r>
              <a:rPr lang="en-US" sz="2800" i="1" dirty="0" err="1">
                <a:latin typeface="Times New Roman" panose="02020603050405020304" pitchFamily="18" charset="0"/>
                <a:cs typeface="Times New Roman" panose="02020603050405020304" pitchFamily="18" charset="0"/>
              </a:rPr>
              <a:t>chứng</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trong</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đó</a:t>
            </a:r>
            <a:r>
              <a:rPr lang="en-US" sz="2800" b="1" i="1" dirty="0">
                <a:latin typeface="Times New Roman" panose="02020603050405020304" pitchFamily="18" charset="0"/>
                <a:cs typeface="Times New Roman" panose="02020603050405020304" pitchFamily="18" charset="0"/>
              </a:rPr>
              <a:t> VC </a:t>
            </a:r>
            <a:r>
              <a:rPr lang="en-US" sz="2800" b="1" i="1" dirty="0" err="1">
                <a:latin typeface="Times New Roman" panose="02020603050405020304" pitchFamily="18" charset="0"/>
                <a:cs typeface="Times New Roman" panose="02020603050405020304" pitchFamily="18" charset="0"/>
              </a:rPr>
              <a:t>quyết</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định</a:t>
            </a:r>
            <a:r>
              <a:rPr lang="en-US" sz="2800" b="1" i="1" dirty="0">
                <a:latin typeface="Times New Roman" panose="02020603050405020304" pitchFamily="18" charset="0"/>
                <a:cs typeface="Times New Roman" panose="02020603050405020304" pitchFamily="18" charset="0"/>
              </a:rPr>
              <a:t> ý </a:t>
            </a:r>
            <a:r>
              <a:rPr lang="en-US" sz="2800" b="1" i="1" dirty="0" err="1">
                <a:latin typeface="Times New Roman" panose="02020603050405020304" pitchFamily="18" charset="0"/>
                <a:cs typeface="Times New Roman" panose="02020603050405020304" pitchFamily="18" charset="0"/>
              </a:rPr>
              <a:t>thức</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còn</a:t>
            </a:r>
            <a:r>
              <a:rPr lang="en-US" sz="2800" b="1" i="1" dirty="0">
                <a:latin typeface="Times New Roman" panose="02020603050405020304" pitchFamily="18" charset="0"/>
                <a:cs typeface="Times New Roman" panose="02020603050405020304" pitchFamily="18" charset="0"/>
              </a:rPr>
              <a:t> ý </a:t>
            </a:r>
            <a:r>
              <a:rPr lang="en-US" sz="2800" b="1" i="1" dirty="0" err="1">
                <a:latin typeface="Times New Roman" panose="02020603050405020304" pitchFamily="18" charset="0"/>
                <a:cs typeface="Times New Roman" panose="02020603050405020304" pitchFamily="18" charset="0"/>
              </a:rPr>
              <a:t>thức</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tác</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động</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tích</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cực</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trở</a:t>
            </a:r>
            <a:r>
              <a:rPr lang="en-US" sz="2800" b="1" i="1" dirty="0">
                <a:latin typeface="Times New Roman" panose="02020603050405020304" pitchFamily="18" charset="0"/>
                <a:cs typeface="Times New Roman" panose="02020603050405020304" pitchFamily="18" charset="0"/>
              </a:rPr>
              <a:t> </a:t>
            </a:r>
            <a:r>
              <a:rPr lang="en-US" sz="2800" b="1" i="1" dirty="0" err="1">
                <a:latin typeface="Times New Roman" panose="02020603050405020304" pitchFamily="18" charset="0"/>
                <a:cs typeface="Times New Roman" panose="02020603050405020304" pitchFamily="18" charset="0"/>
              </a:rPr>
              <a:t>lại</a:t>
            </a:r>
            <a:r>
              <a:rPr lang="en-US" sz="2800" b="1" i="1" dirty="0">
                <a:latin typeface="Times New Roman" panose="02020603050405020304" pitchFamily="18" charset="0"/>
                <a:cs typeface="Times New Roman" panose="02020603050405020304" pitchFamily="18" charset="0"/>
              </a:rPr>
              <a:t> VC.</a:t>
            </a:r>
            <a:endParaRPr lang="en-US" sz="2800" b="1" i="1" dirty="0">
              <a:latin typeface="Times New Roman" panose="02020603050405020304" pitchFamily="18" charset="0"/>
              <a:cs typeface="Times New Roman" panose="02020603050405020304" pitchFamily="18" charset="0"/>
            </a:endParaRPr>
          </a:p>
          <a:p>
            <a:pPr marL="0" indent="0">
              <a:buNone/>
            </a:pPr>
            <a:endParaRPr lang="en-US" dirty="0"/>
          </a:p>
        </p:txBody>
      </p:sp>
      <p:sp>
        <p:nvSpPr>
          <p:cNvPr id="4" name="Rectangle 3"/>
          <p:cNvSpPr/>
          <p:nvPr/>
        </p:nvSpPr>
        <p:spPr>
          <a:xfrm>
            <a:off x="942536" y="3263705"/>
            <a:ext cx="1477108" cy="22719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 typeface="Wingdings" panose="05000000000000000000" pitchFamily="2" charset="2"/>
              <a:buChar char="Ø"/>
            </a:pPr>
            <a:r>
              <a:rPr lang="en-US" sz="2200" b="1" dirty="0" err="1">
                <a:solidFill>
                  <a:schemeClr val="tx1"/>
                </a:solidFill>
                <a:latin typeface="Times New Roman" panose="02020603050405020304" pitchFamily="18" charset="0"/>
                <a:cs typeface="Times New Roman" panose="02020603050405020304" pitchFamily="18" charset="0"/>
              </a:rPr>
              <a:t>Vật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chất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quyết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định</a:t>
            </a:r>
            <a:r>
              <a:rPr lang="en-US" sz="2200" b="1" dirty="0">
                <a:solidFill>
                  <a:schemeClr val="tx1"/>
                </a:solidFill>
                <a:latin typeface="Times New Roman" panose="02020603050405020304" pitchFamily="18" charset="0"/>
                <a:cs typeface="Times New Roman" panose="02020603050405020304" pitchFamily="18" charset="0"/>
              </a:rPr>
              <a:t> ý </a:t>
            </a:r>
            <a:r>
              <a:rPr lang="en-US" sz="2200" b="1" dirty="0" err="1">
                <a:solidFill>
                  <a:schemeClr val="tx1"/>
                </a:solidFill>
                <a:latin typeface="Times New Roman" panose="02020603050405020304" pitchFamily="18" charset="0"/>
                <a:cs typeface="Times New Roman" panose="02020603050405020304" pitchFamily="18" charset="0"/>
              </a:rPr>
              <a:t>thức</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3981156" y="2729134"/>
            <a:ext cx="4965895" cy="6998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Tx/>
              <a:buChar char="-"/>
            </a:pPr>
            <a:r>
              <a:rPr lang="en-US" sz="2200" dirty="0" err="1">
                <a:solidFill>
                  <a:schemeClr val="tx1"/>
                </a:solidFill>
                <a:latin typeface="Times New Roman" panose="02020603050405020304" pitchFamily="18" charset="0"/>
                <a:cs typeface="Times New Roman" panose="02020603050405020304" pitchFamily="18" charset="0"/>
              </a:rPr>
              <a:t>Vật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quyết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định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nguồn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gốc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ý </a:t>
            </a:r>
            <a:r>
              <a:rPr lang="en-US" sz="2200" dirty="0" err="1">
                <a:solidFill>
                  <a:schemeClr val="tx1"/>
                </a:solidFill>
                <a:latin typeface="Times New Roman" panose="02020603050405020304" pitchFamily="18" charset="0"/>
                <a:cs typeface="Times New Roman" panose="02020603050405020304" pitchFamily="18" charset="0"/>
              </a:rPr>
              <a:t>thức</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a:off x="3981157" y="3638258"/>
            <a:ext cx="4965894" cy="6998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Tx/>
              <a:buChar char="-"/>
            </a:pPr>
            <a:r>
              <a:rPr lang="en-US" sz="2200" dirty="0" err="1">
                <a:solidFill>
                  <a:schemeClr val="tx1"/>
                </a:solidFill>
                <a:latin typeface="Times New Roman" panose="02020603050405020304" pitchFamily="18" charset="0"/>
                <a:cs typeface="Times New Roman" panose="02020603050405020304" pitchFamily="18" charset="0"/>
              </a:rPr>
              <a:t>Vật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quyết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định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nội</a:t>
            </a:r>
            <a:r>
              <a:rPr lang="en-US" sz="2200" dirty="0">
                <a:solidFill>
                  <a:schemeClr val="tx1"/>
                </a:solidFill>
                <a:latin typeface="Times New Roman" panose="02020603050405020304" pitchFamily="18" charset="0"/>
                <a:cs typeface="Times New Roman" panose="02020603050405020304" pitchFamily="18" charset="0"/>
              </a:rPr>
              <a:t> dung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ý </a:t>
            </a:r>
            <a:r>
              <a:rPr lang="en-US" sz="2200" dirty="0" err="1">
                <a:solidFill>
                  <a:schemeClr val="tx1"/>
                </a:solidFill>
                <a:latin typeface="Times New Roman" panose="02020603050405020304" pitchFamily="18" charset="0"/>
                <a:cs typeface="Times New Roman" panose="02020603050405020304" pitchFamily="18" charset="0"/>
              </a:rPr>
              <a:t>thức</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rot="10800000" flipH="1" flipV="1">
            <a:off x="3981153" y="4608930"/>
            <a:ext cx="4965893" cy="6998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buFontTx/>
              <a:buChar char="-"/>
            </a:pPr>
            <a:endParaRPr lang="en-US" dirty="0">
              <a:latin typeface="Times New Roman" panose="02020603050405020304" pitchFamily="18" charset="0"/>
              <a:cs typeface="Times New Roman" panose="02020603050405020304" pitchFamily="18" charset="0"/>
            </a:endParaRPr>
          </a:p>
          <a:p>
            <a:pPr algn="just">
              <a:buFontTx/>
              <a:buChar char="-"/>
            </a:pPr>
            <a:r>
              <a:rPr lang="en-US" dirty="0">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quyết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định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bản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ý </a:t>
            </a:r>
            <a:r>
              <a:rPr lang="en-US" sz="2200" dirty="0" err="1">
                <a:solidFill>
                  <a:schemeClr val="tx1"/>
                </a:solidFill>
                <a:latin typeface="Times New Roman" panose="02020603050405020304" pitchFamily="18" charset="0"/>
                <a:cs typeface="Times New Roman" panose="02020603050405020304" pitchFamily="18" charset="0"/>
              </a:rPr>
              <a:t>thức</a:t>
            </a:r>
            <a:endParaRPr lang="en-US" sz="2200" dirty="0">
              <a:solidFill>
                <a:schemeClr val="tx1"/>
              </a:solidFill>
              <a:latin typeface="Times New Roman" panose="02020603050405020304" pitchFamily="18" charset="0"/>
              <a:cs typeface="Times New Roman" panose="02020603050405020304" pitchFamily="18" charset="0"/>
            </a:endParaRPr>
          </a:p>
          <a:p>
            <a:pPr algn="just">
              <a:buFontTx/>
              <a:buChar char="-"/>
            </a:pPr>
            <a:endParaRPr lang="en-US" sz="1800" dirty="0">
              <a:latin typeface="Times New Roman" panose="02020603050405020304" pitchFamily="18" charset="0"/>
              <a:cs typeface="Times New Roman" panose="02020603050405020304" pitchFamily="18" charset="0"/>
            </a:endParaRPr>
          </a:p>
        </p:txBody>
      </p:sp>
      <p:cxnSp>
        <p:nvCxnSpPr>
          <p:cNvPr id="9" name="Straight Arrow Connector 8"/>
          <p:cNvCxnSpPr>
            <a:stCxn id="4" idx="3"/>
            <a:endCxn id="5" idx="1"/>
          </p:cNvCxnSpPr>
          <p:nvPr/>
        </p:nvCxnSpPr>
        <p:spPr>
          <a:xfrm flipV="1">
            <a:off x="2419644" y="3079067"/>
            <a:ext cx="1561512" cy="13206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4" idx="3"/>
            <a:endCxn id="6" idx="1"/>
          </p:cNvCxnSpPr>
          <p:nvPr/>
        </p:nvCxnSpPr>
        <p:spPr>
          <a:xfrm flipV="1">
            <a:off x="2419644" y="3988191"/>
            <a:ext cx="1561513" cy="41148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a:stCxn id="4" idx="3"/>
            <a:endCxn id="7" idx="1"/>
          </p:cNvCxnSpPr>
          <p:nvPr/>
        </p:nvCxnSpPr>
        <p:spPr>
          <a:xfrm>
            <a:off x="2419644" y="4399671"/>
            <a:ext cx="1561509" cy="5591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flipH="1">
            <a:off x="3981148" y="5579603"/>
            <a:ext cx="4965891" cy="90912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dirty="0">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Vật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chất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quyết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định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sự</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vận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động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phát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triển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ý </a:t>
            </a:r>
            <a:r>
              <a:rPr lang="en-US" sz="2200" dirty="0" err="1">
                <a:solidFill>
                  <a:schemeClr val="tx1"/>
                </a:solidFill>
                <a:latin typeface="Times New Roman" panose="02020603050405020304" pitchFamily="18" charset="0"/>
                <a:cs typeface="Times New Roman" panose="02020603050405020304" pitchFamily="18" charset="0"/>
              </a:rPr>
              <a:t>thức</a:t>
            </a:r>
            <a:endParaRPr lang="en-US" sz="2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26365"/>
          </a:xfrm>
        </p:spPr>
        <p:txBody>
          <a:bodyPr>
            <a:normAutofit/>
          </a:bodyPr>
          <a:lstStyle/>
          <a:p>
            <a:pPr marL="571500" indent="-571500" algn="just">
              <a:buFont typeface="Wingdings" panose="05000000000000000000" pitchFamily="2" charset="2"/>
              <a:buChar char="Ø"/>
            </a:pPr>
            <a:r>
              <a:rPr lang="en-US" sz="3200" b="1" dirty="0">
                <a:latin typeface="Times New Roman" panose="02020603050405020304" pitchFamily="18" charset="0"/>
                <a:cs typeface="Times New Roman" panose="02020603050405020304" pitchFamily="18" charset="0"/>
              </a:rPr>
              <a:t>Ý </a:t>
            </a:r>
            <a:r>
              <a:rPr lang="en-US" sz="3200" b="1" dirty="0" err="1">
                <a:latin typeface="Times New Roman" panose="02020603050405020304" pitchFamily="18" charset="0"/>
                <a:cs typeface="Times New Roman" panose="02020603050405020304" pitchFamily="18" charset="0"/>
              </a:rPr>
              <a:t>thức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có</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tính</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độc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lập</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tương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đối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và</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tác</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động</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trở</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lại</a:t>
            </a:r>
            <a:r>
              <a:rPr lang="en-US" sz="3200" b="1" dirty="0">
                <a:latin typeface="Times New Roman" panose="02020603050405020304" pitchFamily="18" charset="0"/>
                <a:cs typeface="Times New Roman" panose="02020603050405020304" pitchFamily="18" charset="0"/>
              </a:rPr>
              <a:t> VC</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88473"/>
            <a:ext cx="10515600" cy="4888490"/>
          </a:xfrm>
        </p:spPr>
        <p:txBody>
          <a:bodyPr>
            <a:normAutofit/>
          </a:bodyPr>
          <a:lstStyle/>
          <a:p>
            <a:pPr algn="just"/>
            <a:r>
              <a:rPr lang="en-US" sz="2400" dirty="0">
                <a:latin typeface="Times New Roman" panose="02020603050405020304" pitchFamily="18" charset="0"/>
                <a:cs typeface="Times New Roman" panose="02020603050405020304" pitchFamily="18" charset="0"/>
              </a:rPr>
              <a:t>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phản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ánh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trong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đầu</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óc</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do VC </a:t>
            </a:r>
            <a:r>
              <a:rPr lang="en-US" sz="2400" dirty="0" err="1">
                <a:latin typeface="Times New Roman" panose="02020603050405020304" pitchFamily="18" charset="0"/>
                <a:cs typeface="Times New Roman" panose="02020603050405020304" pitchFamily="18" charset="0"/>
              </a:rPr>
              <a:t>sinh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nhưng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sống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riêng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luật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vận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riêng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không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lệ</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thuộc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máy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móc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vào</a:t>
            </a:r>
            <a:r>
              <a:rPr lang="en-US" sz="2400" dirty="0">
                <a:latin typeface="Times New Roman" panose="02020603050405020304" pitchFamily="18" charset="0"/>
                <a:cs typeface="Times New Roman" panose="02020603050405020304" pitchFamily="18" charset="0"/>
              </a:rPr>
              <a:t> VC. 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ra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tính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lập</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tương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lại</a:t>
            </a:r>
            <a:r>
              <a:rPr lang="en-US" sz="2400" dirty="0">
                <a:latin typeface="Times New Roman" panose="02020603050405020304" pitchFamily="18" charset="0"/>
                <a:cs typeface="Times New Roman" panose="02020603050405020304" pitchFamily="18" charset="0"/>
              </a:rPr>
              <a:t> VC </a:t>
            </a:r>
            <a:r>
              <a:rPr lang="en-US" sz="2400" dirty="0" err="1">
                <a:latin typeface="Times New Roman" panose="02020603050405020304" pitchFamily="18" charset="0"/>
                <a:cs typeface="Times New Roman" panose="02020603050405020304" pitchFamily="18" charset="0"/>
              </a:rPr>
              <a:t>và</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thường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thay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chậm</a:t>
            </a:r>
            <a:r>
              <a:rPr lang="en-US" sz="2400" dirty="0">
                <a:latin typeface="Times New Roman" panose="02020603050405020304" pitchFamily="18" charset="0"/>
                <a:cs typeface="Times New Roman" panose="02020603050405020304" pitchFamily="18" charset="0"/>
              </a:rPr>
              <a:t> so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biến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đổi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thế</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giới</a:t>
            </a:r>
            <a:r>
              <a:rPr lang="en-US" sz="2400" dirty="0">
                <a:latin typeface="Times New Roman" panose="02020603050405020304" pitchFamily="18" charset="0"/>
                <a:cs typeface="Times New Roman" panose="02020603050405020304" pitchFamily="18" charset="0"/>
              </a:rPr>
              <a:t> VC.</a:t>
            </a:r>
            <a:endParaRPr lang="en-US"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Sự</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tác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đối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với</a:t>
            </a:r>
            <a:r>
              <a:rPr lang="en-US" sz="2400" dirty="0">
                <a:latin typeface="Times New Roman" panose="02020603050405020304" pitchFamily="18" charset="0"/>
                <a:cs typeface="Times New Roman" panose="02020603050405020304" pitchFamily="18" charset="0"/>
              </a:rPr>
              <a:t> VC </a:t>
            </a:r>
            <a:r>
              <a:rPr lang="en-US" sz="2400" dirty="0" err="1">
                <a:latin typeface="Times New Roman" panose="02020603050405020304" pitchFamily="18" charset="0"/>
                <a:cs typeface="Times New Roman" panose="02020603050405020304" pitchFamily="18" charset="0"/>
              </a:rPr>
              <a:t>phải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thông</a:t>
            </a:r>
            <a:r>
              <a:rPr lang="en-US" sz="2400" dirty="0">
                <a:latin typeface="Times New Roman" panose="02020603050405020304" pitchFamily="18" charset="0"/>
                <a:cs typeface="Times New Roman" panose="02020603050405020304" pitchFamily="18" charset="0"/>
              </a:rPr>
              <a:t> qua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tiễn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Vai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trò</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hiện</a:t>
            </a:r>
            <a:r>
              <a:rPr lang="en-US" sz="2400" dirty="0">
                <a:latin typeface="Times New Roman" panose="02020603050405020304" pitchFamily="18" charset="0"/>
                <a:cs typeface="Times New Roman" panose="02020603050405020304" pitchFamily="18" charset="0"/>
              </a:rPr>
              <a:t> ở </a:t>
            </a:r>
            <a:r>
              <a:rPr lang="en-US" sz="2400" dirty="0" err="1">
                <a:latin typeface="Times New Roman" panose="02020603050405020304" pitchFamily="18" charset="0"/>
                <a:cs typeface="Times New Roman" panose="02020603050405020304" pitchFamily="18" charset="0"/>
              </a:rPr>
              <a:t>chỗ</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chỉ</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đạo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có</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thể</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quyết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định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làm</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cho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hoạt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động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con </a:t>
            </a:r>
            <a:r>
              <a:rPr lang="en-US" sz="2400" dirty="0" err="1">
                <a:latin typeface="Times New Roman" panose="02020603050405020304" pitchFamily="18" charset="0"/>
                <a:cs typeface="Times New Roman" panose="02020603050405020304" pitchFamily="18" charset="0"/>
              </a:rPr>
              <a:t>người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đúng</a:t>
            </a:r>
            <a:r>
              <a:rPr lang="en-US" sz="2400" dirty="0">
                <a:latin typeface="Times New Roman" panose="02020603050405020304" pitchFamily="18" charset="0"/>
                <a:cs typeface="Times New Roman" panose="02020603050405020304" pitchFamily="18" charset="0"/>
              </a:rPr>
              <a:t> hay </a:t>
            </a:r>
            <a:r>
              <a:rPr lang="en-US" sz="2400" dirty="0" err="1">
                <a:latin typeface="Times New Roman" panose="02020603050405020304" pitchFamily="18" charset="0"/>
                <a:cs typeface="Times New Roman" panose="02020603050405020304" pitchFamily="18" charset="0"/>
              </a:rPr>
              <a:t>sai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công</a:t>
            </a:r>
            <a:r>
              <a:rPr lang="en-US" sz="2400" dirty="0">
                <a:latin typeface="Times New Roman" panose="02020603050405020304" pitchFamily="18" charset="0"/>
                <a:cs typeface="Times New Roman" panose="02020603050405020304" pitchFamily="18" charset="0"/>
              </a:rPr>
              <a:t> hay </a:t>
            </a:r>
            <a:r>
              <a:rPr lang="en-US" sz="2400" dirty="0" err="1">
                <a:latin typeface="Times New Roman" panose="02020603050405020304" pitchFamily="18" charset="0"/>
                <a:cs typeface="Times New Roman" panose="02020603050405020304" pitchFamily="18" charset="0"/>
              </a:rPr>
              <a:t>thất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bại</a:t>
            </a:r>
            <a:endParaRPr lang="en-US" sz="2400" dirty="0">
              <a:latin typeface="Times New Roman" panose="02020603050405020304" pitchFamily="18" charset="0"/>
              <a:cs typeface="Times New Roman" panose="02020603050405020304" pitchFamily="18" charset="0"/>
            </a:endParaRPr>
          </a:p>
          <a:p>
            <a:pPr algn="just"/>
            <a:r>
              <a:rPr lang="en-US" sz="2400" dirty="0" err="1">
                <a:latin typeface="Times New Roman" panose="02020603050405020304" pitchFamily="18" charset="0"/>
                <a:cs typeface="Times New Roman" panose="02020603050405020304" pitchFamily="18" charset="0"/>
              </a:rPr>
              <a:t>Xã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hội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càng</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phát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triển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thì</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vai</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trò</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của</a:t>
            </a:r>
            <a:r>
              <a:rPr lang="en-US" sz="2400" dirty="0">
                <a:latin typeface="Times New Roman" panose="02020603050405020304" pitchFamily="18" charset="0"/>
                <a:cs typeface="Times New Roman" panose="02020603050405020304" pitchFamily="18" charset="0"/>
              </a:rPr>
              <a:t> ý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càng</a:t>
            </a:r>
            <a:r>
              <a:rPr lang="en-US" sz="2400" dirty="0">
                <a:latin typeface="Times New Roman" panose="02020603050405020304" pitchFamily="18" charset="0"/>
                <a:cs typeface="Times New Roman" panose="02020603050405020304" pitchFamily="18" charset="0"/>
              </a:rPr>
              <a:t> to </a:t>
            </a:r>
            <a:r>
              <a:rPr lang="en-US" sz="2400" dirty="0" err="1">
                <a:latin typeface="Times New Roman" panose="02020603050405020304" pitchFamily="18" charset="0"/>
                <a:cs typeface="Times New Roman" panose="02020603050405020304" pitchFamily="18" charset="0"/>
              </a:rPr>
              <a:t>lớn</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nhất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là</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ngày</a:t>
            </a:r>
            <a:r>
              <a:rPr lang="en-US" sz="2400" dirty="0">
                <a:latin typeface="Times New Roman" panose="02020603050405020304" pitchFamily="18" charset="0"/>
                <a:cs typeface="Times New Roman" panose="02020603050405020304" pitchFamily="18" charset="0"/>
              </a:rPr>
              <a:t> nay </a:t>
            </a:r>
            <a:r>
              <a:rPr lang="en-US" sz="2400" dirty="0" err="1">
                <a:latin typeface="Times New Roman" panose="02020603050405020304" pitchFamily="18" charset="0"/>
                <a:cs typeface="Times New Roman" panose="02020603050405020304" pitchFamily="18" charset="0"/>
              </a:rPr>
              <a:t>khi</a:t>
            </a:r>
            <a:r>
              <a:rPr lang="en-US" sz="2400" dirty="0">
                <a:latin typeface="Times New Roman" panose="02020603050405020304" pitchFamily="18" charset="0"/>
                <a:cs typeface="Times New Roman" panose="02020603050405020304" pitchFamily="18" charset="0"/>
              </a:rPr>
              <a:t> tri </a:t>
            </a:r>
            <a:r>
              <a:rPr lang="en-US" sz="2400" dirty="0" err="1">
                <a:latin typeface="Times New Roman" panose="02020603050405020304" pitchFamily="18" charset="0"/>
                <a:cs typeface="Times New Roman" panose="02020603050405020304" pitchFamily="18" charset="0"/>
              </a:rPr>
              <a:t>thức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khoa</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học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đã</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trở</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thành</a:t>
            </a:r>
            <a:r>
              <a:rPr lang="en-US" sz="2400" dirty="0">
                <a:latin typeface="Times New Roman" panose="02020603050405020304" pitchFamily="18" charset="0"/>
                <a:cs typeface="Times New Roman" panose="02020603050405020304" pitchFamily="18" charset="0"/>
              </a:rPr>
              <a:t> LLSX </a:t>
            </a:r>
            <a:r>
              <a:rPr lang="en-US" sz="2400" dirty="0" err="1">
                <a:latin typeface="Times New Roman" panose="02020603050405020304" pitchFamily="18" charset="0"/>
                <a:cs typeface="Times New Roman" panose="02020603050405020304" pitchFamily="18" charset="0"/>
              </a:rPr>
              <a:t>trực</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tiếp</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anim calcmode="lin" valueType="num">
                                      <p:cBhvr additive="base">
                                        <p:cTn id="3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5639"/>
          </a:xfrm>
        </p:spPr>
        <p:txBody>
          <a:bodyPr>
            <a:normAutofit/>
          </a:bodyPr>
          <a:lstStyle/>
          <a:p>
            <a:pPr marL="571500" indent="-571500" algn="just">
              <a:buFont typeface="Wingdings" panose="05000000000000000000" pitchFamily="2" charset="2"/>
              <a:buChar char="v"/>
            </a:pPr>
            <a:r>
              <a:rPr lang="en-US" sz="3600" dirty="0">
                <a:latin typeface="Times New Roman" panose="02020603050405020304" pitchFamily="18" charset="0"/>
                <a:cs typeface="Times New Roman" panose="02020603050405020304" pitchFamily="18" charset="0"/>
              </a:rPr>
              <a:t>Ý </a:t>
            </a:r>
            <a:r>
              <a:rPr lang="en-US" sz="3600" dirty="0" err="1">
                <a:latin typeface="Times New Roman" panose="02020603050405020304" pitchFamily="18" charset="0"/>
                <a:cs typeface="Times New Roman" panose="02020603050405020304" pitchFamily="18" charset="0"/>
              </a:rPr>
              <a:t>nghĩa</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phương</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pháp</a:t>
            </a:r>
            <a:r>
              <a:rPr lang="en-US" sz="3600" dirty="0">
                <a:latin typeface="Times New Roman" panose="02020603050405020304" pitchFamily="18" charset="0"/>
                <a:cs typeface="Times New Roman" panose="02020603050405020304" pitchFamily="18" charset="0"/>
              </a:rPr>
              <a:t> </a:t>
            </a:r>
            <a:r>
              <a:rPr lang="en-US" sz="3600" dirty="0" err="1">
                <a:latin typeface="Times New Roman" panose="02020603050405020304" pitchFamily="18" charset="0"/>
                <a:cs typeface="Times New Roman" panose="02020603050405020304" pitchFamily="18" charset="0"/>
              </a:rPr>
              <a:t>luận</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60764"/>
            <a:ext cx="10515600" cy="4916199"/>
          </a:xfrm>
        </p:spPr>
        <p:txBody>
          <a:bodyPr>
            <a:normAutofit lnSpcReduction="10000"/>
          </a:bodyPr>
          <a:lstStyle/>
          <a:p>
            <a:pPr algn="just"/>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hoạt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thực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tiễn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mọi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chủ</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trương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đường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lối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kế</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hoạch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mục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tiêu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xuất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từ</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thực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tế</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từ</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những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điều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tiền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đề</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hiện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có</a:t>
            </a:r>
            <a:r>
              <a:rPr lang="en-US" sz="2600"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Tôn</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trọng</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tính</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khách</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quan</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kết</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hợp</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phát</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huy</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tính</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năng</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động</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chủ</a:t>
            </a:r>
            <a:r>
              <a:rPr lang="en-US" sz="2600" i="1" dirty="0">
                <a:latin typeface="Times New Roman" panose="02020603050405020304" pitchFamily="18" charset="0"/>
                <a:cs typeface="Times New Roman" panose="02020603050405020304" pitchFamily="18" charset="0"/>
              </a:rPr>
              <a:t> </a:t>
            </a:r>
            <a:r>
              <a:rPr lang="en-US" sz="2600" i="1" dirty="0" err="1">
                <a:latin typeface="Times New Roman" panose="02020603050405020304" pitchFamily="18" charset="0"/>
                <a:cs typeface="Times New Roman" panose="02020603050405020304" pitchFamily="18" charset="0"/>
              </a:rPr>
              <a:t>quan</a:t>
            </a:r>
            <a:r>
              <a:rPr lang="en-US" sz="2600" i="1" dirty="0">
                <a:latin typeface="Times New Roman" panose="02020603050405020304" pitchFamily="18" charset="0"/>
                <a:cs typeface="Times New Roman" panose="02020603050405020304" pitchFamily="18" charset="0"/>
              </a:rPr>
              <a:t>.</a:t>
            </a:r>
            <a:endParaRPr lang="en-US" sz="2600" i="1" dirty="0">
              <a:latin typeface="Times New Roman" panose="02020603050405020304" pitchFamily="18" charset="0"/>
              <a:cs typeface="Times New Roman" panose="02020603050405020304" pitchFamily="18" charset="0"/>
            </a:endParaRPr>
          </a:p>
          <a:p>
            <a:pPr algn="just"/>
            <a:r>
              <a:rPr lang="en-US" sz="2600" dirty="0" err="1">
                <a:latin typeface="Times New Roman" panose="02020603050405020304" pitchFamily="18" charset="0"/>
                <a:cs typeface="Times New Roman" panose="02020603050405020304" pitchFamily="18" charset="0"/>
              </a:rPr>
              <a:t>Phát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năng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sáng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ý </a:t>
            </a:r>
            <a:r>
              <a:rPr lang="en-US" sz="2600" dirty="0" err="1">
                <a:latin typeface="Times New Roman" panose="02020603050405020304" pitchFamily="18" charset="0"/>
                <a:cs typeface="Times New Roman" panose="02020603050405020304" pitchFamily="18" charset="0"/>
              </a:rPr>
              <a:t>thức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phát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huy</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vai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trò</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tố</a:t>
            </a:r>
            <a:r>
              <a:rPr lang="en-US" sz="2600" dirty="0">
                <a:latin typeface="Times New Roman" panose="02020603050405020304" pitchFamily="18" charset="0"/>
                <a:cs typeface="Times New Roman" panose="02020603050405020304" pitchFamily="18" charset="0"/>
              </a:rPr>
              <a:t> con </a:t>
            </a:r>
            <a:r>
              <a:rPr lang="en-US" sz="2600" dirty="0" err="1">
                <a:latin typeface="Times New Roman" panose="02020603050405020304" pitchFamily="18" charset="0"/>
                <a:cs typeface="Times New Roman" panose="02020603050405020304" pitchFamily="18" charset="0"/>
              </a:rPr>
              <a:t>người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chống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tưởng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thụ</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r>
              <a:rPr lang="en-US" sz="2600" dirty="0">
                <a:latin typeface="Times New Roman" panose="02020603050405020304" pitchFamily="18" charset="0"/>
                <a:cs typeface="Times New Roman" panose="02020603050405020304" pitchFamily="18" charset="0"/>
              </a:rPr>
              <a:t>, ỷ </a:t>
            </a:r>
            <a:r>
              <a:rPr lang="en-US" sz="2600" dirty="0" err="1">
                <a:latin typeface="Times New Roman" panose="02020603050405020304" pitchFamily="18" charset="0"/>
                <a:cs typeface="Times New Roman" panose="02020603050405020304" pitchFamily="18" charset="0"/>
              </a:rPr>
              <a:t>lại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ngồi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chờ</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bảo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thủ</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trì</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thiếu</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tính</a:t>
            </a:r>
            <a:r>
              <a:rPr lang="en-US" sz="2600" dirty="0">
                <a:latin typeface="Times New Roman" panose="02020603050405020304" pitchFamily="18" charset="0"/>
                <a:cs typeface="Times New Roman" panose="02020603050405020304" pitchFamily="18" charset="0"/>
              </a:rPr>
              <a:t> sang </a:t>
            </a:r>
            <a:r>
              <a:rPr lang="en-US" sz="2600" dirty="0" err="1">
                <a:latin typeface="Times New Roman" panose="02020603050405020304" pitchFamily="18" charset="0"/>
                <a:cs typeface="Times New Roman" panose="02020603050405020304" pitchFamily="18" charset="0"/>
              </a:rPr>
              <a:t>tạo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coi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trọng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vai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trò</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của</a:t>
            </a:r>
            <a:r>
              <a:rPr lang="en-US" sz="2600" dirty="0">
                <a:latin typeface="Times New Roman" panose="02020603050405020304" pitchFamily="18" charset="0"/>
                <a:cs typeface="Times New Roman" panose="02020603050405020304" pitchFamily="18" charset="0"/>
              </a:rPr>
              <a:t> ý </a:t>
            </a:r>
            <a:r>
              <a:rPr lang="en-US" sz="2600" dirty="0" err="1">
                <a:latin typeface="Times New Roman" panose="02020603050405020304" pitchFamily="18" charset="0"/>
                <a:cs typeface="Times New Roman" panose="02020603050405020304" pitchFamily="18" charset="0"/>
              </a:rPr>
              <a:t>thức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coi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trọng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công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tưởng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giáo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tưởng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coi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trọng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giáo</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dục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lý</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luận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chủ</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nghĩa</a:t>
            </a:r>
            <a:r>
              <a:rPr lang="en-US" sz="2600" dirty="0">
                <a:latin typeface="Times New Roman" panose="02020603050405020304" pitchFamily="18" charset="0"/>
                <a:cs typeface="Times New Roman" panose="02020603050405020304" pitchFamily="18" charset="0"/>
              </a:rPr>
              <a:t> Mac – </a:t>
            </a:r>
            <a:r>
              <a:rPr lang="en-US" sz="2600" dirty="0" err="1">
                <a:latin typeface="Times New Roman" panose="02020603050405020304" pitchFamily="18" charset="0"/>
                <a:cs typeface="Times New Roman" panose="02020603050405020304" pitchFamily="18" charset="0"/>
              </a:rPr>
              <a:t>Lênin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tưởng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Hồ</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Chí</a:t>
            </a:r>
            <a:r>
              <a:rPr lang="en-US" sz="2600" dirty="0">
                <a:latin typeface="Times New Roman" panose="02020603050405020304" pitchFamily="18" charset="0"/>
                <a:cs typeface="Times New Roman" panose="02020603050405020304" pitchFamily="18" charset="0"/>
              </a:rPr>
              <a:t> Minh.</a:t>
            </a:r>
            <a:endParaRPr lang="en-US" sz="2600" dirty="0">
              <a:latin typeface="Times New Roman" panose="02020603050405020304" pitchFamily="18" charset="0"/>
              <a:cs typeface="Times New Roman" panose="02020603050405020304" pitchFamily="18" charset="0"/>
            </a:endParaRPr>
          </a:p>
          <a:p>
            <a:pPr algn="just"/>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giải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quyết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đúng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đắn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các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hệ</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ích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biết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kết</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hợp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hòa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ích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cá</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nhân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ích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tập</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thể</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ích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xã</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hội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phải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có</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cơ</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sang, </a:t>
            </a:r>
            <a:r>
              <a:rPr lang="en-US" sz="2600" dirty="0" err="1">
                <a:latin typeface="Times New Roman" panose="02020603050405020304" pitchFamily="18" charset="0"/>
                <a:cs typeface="Times New Roman" panose="02020603050405020304" pitchFamily="18" charset="0"/>
              </a:rPr>
              <a:t>thái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khách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quan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khoa</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học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không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vụ</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lợi</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trong</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nhận</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thức</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và</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hành</a:t>
            </a:r>
            <a:r>
              <a:rPr lang="en-US" sz="2600" dirty="0">
                <a:latin typeface="Times New Roman" panose="02020603050405020304" pitchFamily="18" charset="0"/>
                <a:cs typeface="Times New Roman" panose="02020603050405020304" pitchFamily="18" charset="0"/>
              </a:rPr>
              <a:t> </a:t>
            </a:r>
            <a:r>
              <a:rPr lang="en-US" sz="2600" dirty="0" err="1">
                <a:latin typeface="Times New Roman" panose="02020603050405020304" pitchFamily="18" charset="0"/>
                <a:cs typeface="Times New Roman" panose="02020603050405020304" pitchFamily="18" charset="0"/>
              </a:rPr>
              <a:t>động</a:t>
            </a:r>
            <a:endParaRPr lang="en-US" sz="26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7"/>
            <a:ext cx="10515600" cy="812511"/>
          </a:xfrm>
        </p:spPr>
        <p:txBody>
          <a:bodyPr>
            <a:normAutofit/>
          </a:bodyPr>
          <a:lstStyle/>
          <a:p>
            <a:pPr algn="just"/>
            <a:r>
              <a:rPr lang="vi-VN" sz="4000" b="1" dirty="0"/>
              <a:t>II. PHÉP BIỆN CHỨNG DUY VẬT</a:t>
            </a:r>
            <a:endParaRPr lang="en-US" sz="4000" b="1" dirty="0"/>
          </a:p>
        </p:txBody>
      </p:sp>
      <p:sp>
        <p:nvSpPr>
          <p:cNvPr id="3" name="Content Placeholder 2"/>
          <p:cNvSpPr>
            <a:spLocks noGrp="1"/>
          </p:cNvSpPr>
          <p:nvPr>
            <p:ph idx="1"/>
          </p:nvPr>
        </p:nvSpPr>
        <p:spPr>
          <a:xfrm>
            <a:off x="838200" y="1371600"/>
            <a:ext cx="10515600" cy="4860781"/>
          </a:xfrm>
        </p:spPr>
        <p:txBody>
          <a:bodyPr/>
          <a:lstStyle/>
          <a:p>
            <a:pPr marL="514350" indent="-514350" algn="just">
              <a:buFont typeface="+mj-lt"/>
              <a:buAutoNum type="arabicPeriod"/>
            </a:pPr>
            <a:r>
              <a:rPr lang="vi-VN" sz="3200" b="1" dirty="0">
                <a:latin typeface="Times New Roman" panose="02020603050405020304" pitchFamily="18" charset="0"/>
                <a:cs typeface="Times New Roman" panose="02020603050405020304" pitchFamily="18" charset="0"/>
              </a:rPr>
              <a:t>Hai loại hình biện chứng và phép biện chứng duy vật</a:t>
            </a:r>
            <a:endParaRPr lang="vi-VN" sz="3200" b="1" dirty="0">
              <a:latin typeface="Times New Roman" panose="02020603050405020304" pitchFamily="18" charset="0"/>
              <a:cs typeface="Times New Roman" panose="02020603050405020304" pitchFamily="18" charset="0"/>
            </a:endParaRPr>
          </a:p>
          <a:p>
            <a:pPr marL="0" indent="0" algn="just">
              <a:buNone/>
            </a:pPr>
            <a:endParaRPr lang="vi-VN" sz="3200" b="1"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vi-VN" i="1" dirty="0">
                <a:latin typeface="Times New Roman" panose="02020603050405020304" pitchFamily="18" charset="0"/>
                <a:cs typeface="Times New Roman" panose="02020603050405020304" pitchFamily="18" charset="0"/>
              </a:rPr>
              <a:t>Biện chứng</a:t>
            </a:r>
            <a:r>
              <a:rPr lang="vi-VN" dirty="0">
                <a:latin typeface="Times New Roman" panose="02020603050405020304" pitchFamily="18" charset="0"/>
                <a:cs typeface="Times New Roman" panose="02020603050405020304" pitchFamily="18" charset="0"/>
              </a:rPr>
              <a:t> là quan điểm, phương pháp “xem xét những sự vật và những phản ánh 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chúng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tưởng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lẫn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nhau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rang </a:t>
            </a:r>
            <a:r>
              <a:rPr lang="en-US" dirty="0" err="1">
                <a:latin typeface="Times New Roman" panose="02020603050405020304" pitchFamily="18" charset="0"/>
                <a:cs typeface="Times New Roman" panose="02020603050405020304" pitchFamily="18" charset="0"/>
              </a:rPr>
              <a:t>buộc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tiêu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chúng</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endParaRPr lang="vi-VN"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00967"/>
          </a:xfrm>
        </p:spPr>
        <p:txBody>
          <a:bodyPr>
            <a:normAutofit fontScale="90000"/>
          </a:bodyPr>
          <a:lstStyle/>
          <a:p>
            <a:br>
              <a:rPr lang="en-US" sz="1800" b="1" dirty="0">
                <a:latin typeface="Times New Roman" panose="02020603050405020304" pitchFamily="18" charset="0"/>
                <a:cs typeface="Times New Roman" panose="02020603050405020304" pitchFamily="18" charset="0"/>
              </a:rPr>
            </a:br>
            <a:br>
              <a:rPr lang="en-US" sz="18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a. </a:t>
            </a:r>
            <a:r>
              <a:rPr lang="vi-VN" sz="3600" b="1" dirty="0">
                <a:latin typeface="Times New Roman" panose="02020603050405020304" pitchFamily="18" charset="0"/>
                <a:cs typeface="Times New Roman" panose="02020603050405020304" pitchFamily="18" charset="0"/>
              </a:rPr>
              <a:t>Biện chứng khách quan và biện chứng chủ quan</a:t>
            </a:r>
            <a:br>
              <a:rPr lang="en-US" sz="3600" b="1" dirty="0">
                <a:latin typeface="Times New Roman" panose="02020603050405020304" pitchFamily="18" charset="0"/>
                <a:cs typeface="Times New Roman" panose="02020603050405020304" pitchFamily="18" charset="0"/>
              </a:rPr>
            </a:br>
            <a:endParaRPr lang="en-US" sz="3600" dirty="0"/>
          </a:p>
        </p:txBody>
      </p:sp>
      <p:sp>
        <p:nvSpPr>
          <p:cNvPr id="3" name="Content Placeholder 2"/>
          <p:cNvSpPr>
            <a:spLocks noGrp="1"/>
          </p:cNvSpPr>
          <p:nvPr>
            <p:ph idx="1"/>
          </p:nvPr>
        </p:nvSpPr>
        <p:spPr>
          <a:xfrm>
            <a:off x="838200" y="1378634"/>
            <a:ext cx="10515600" cy="5479366"/>
          </a:xfrm>
        </p:spPr>
        <p:txBody>
          <a:bodyPr/>
          <a:lstStyle/>
          <a:p>
            <a:pPr marL="0" indent="0">
              <a:buNone/>
            </a:pPr>
            <a:endParaRPr lang="en-US" dirty="0"/>
          </a:p>
        </p:txBody>
      </p:sp>
      <p:sp>
        <p:nvSpPr>
          <p:cNvPr id="5" name="Rectangle 4"/>
          <p:cNvSpPr/>
          <p:nvPr/>
        </p:nvSpPr>
        <p:spPr>
          <a:xfrm>
            <a:off x="4738255" y="1378635"/>
            <a:ext cx="2923309" cy="63304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3600" b="1" dirty="0" err="1">
                <a:solidFill>
                  <a:schemeClr val="tx1"/>
                </a:solidFill>
                <a:latin typeface="Times New Roman" panose="02020603050405020304" pitchFamily="18" charset="0"/>
                <a:cs typeface="Times New Roman" panose="02020603050405020304" pitchFamily="18" charset="0"/>
              </a:rPr>
              <a:t>Biện</a:t>
            </a:r>
            <a:r>
              <a:rPr lang="en-US" sz="3600" b="1" dirty="0">
                <a:solidFill>
                  <a:schemeClr val="tx1"/>
                </a:solidFill>
                <a:latin typeface="Times New Roman" panose="02020603050405020304" pitchFamily="18" charset="0"/>
                <a:cs typeface="Times New Roman" panose="02020603050405020304" pitchFamily="18" charset="0"/>
              </a:rPr>
              <a:t>  </a:t>
            </a:r>
            <a:r>
              <a:rPr lang="en-US" sz="3600" b="1" dirty="0" err="1">
                <a:solidFill>
                  <a:schemeClr val="tx1"/>
                </a:solidFill>
                <a:latin typeface="Times New Roman" panose="02020603050405020304" pitchFamily="18" charset="0"/>
                <a:cs typeface="Times New Roman" panose="02020603050405020304" pitchFamily="18" charset="0"/>
              </a:rPr>
              <a:t>chứng</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6" name="Rectangle: Rounded Corners 5"/>
          <p:cNvSpPr/>
          <p:nvPr/>
        </p:nvSpPr>
        <p:spPr>
          <a:xfrm flipH="1">
            <a:off x="2827606" y="2475914"/>
            <a:ext cx="2527496" cy="50643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solidFill>
                  <a:schemeClr val="tx1"/>
                </a:solidFill>
                <a:latin typeface="Times New Roman" panose="02020603050405020304" pitchFamily="18" charset="0"/>
                <a:cs typeface="Times New Roman" panose="02020603050405020304" pitchFamily="18" charset="0"/>
              </a:rPr>
              <a:t>BC </a:t>
            </a:r>
            <a:r>
              <a:rPr lang="en-US" sz="2200" b="1" dirty="0" err="1">
                <a:solidFill>
                  <a:schemeClr val="tx1"/>
                </a:solidFill>
                <a:latin typeface="Times New Roman" panose="02020603050405020304" pitchFamily="18" charset="0"/>
                <a:cs typeface="Times New Roman" panose="02020603050405020304" pitchFamily="18" charset="0"/>
              </a:rPr>
              <a:t>khách</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quan</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6836900" y="2475914"/>
            <a:ext cx="2377438" cy="50643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a:solidFill>
                  <a:schemeClr val="tx1"/>
                </a:solidFill>
                <a:latin typeface="Times New Roman" panose="02020603050405020304" pitchFamily="18" charset="0"/>
                <a:cs typeface="Times New Roman" panose="02020603050405020304" pitchFamily="18" charset="0"/>
              </a:rPr>
              <a:t>BC </a:t>
            </a:r>
            <a:r>
              <a:rPr lang="en-US" sz="2200" b="1" dirty="0" err="1">
                <a:solidFill>
                  <a:schemeClr val="tx1"/>
                </a:solidFill>
                <a:latin typeface="Times New Roman" panose="02020603050405020304" pitchFamily="18" charset="0"/>
                <a:cs typeface="Times New Roman" panose="02020603050405020304" pitchFamily="18" charset="0"/>
              </a:rPr>
              <a:t>chủ</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quan</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rot="10800000" flipH="1" flipV="1">
            <a:off x="2518117" y="2982350"/>
            <a:ext cx="3263705" cy="33621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Chỉ</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biện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chứng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của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bản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thân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thế</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giới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tồn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khách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quan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độc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lập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với</a:t>
            </a:r>
            <a:r>
              <a:rPr lang="en-US" sz="2200" dirty="0">
                <a:solidFill>
                  <a:schemeClr val="tx1"/>
                </a:solidFill>
                <a:latin typeface="Times New Roman" panose="02020603050405020304" pitchFamily="18" charset="0"/>
                <a:cs typeface="Times New Roman" panose="02020603050405020304" pitchFamily="18" charset="0"/>
              </a:rPr>
              <a:t> ý </a:t>
            </a:r>
            <a:r>
              <a:rPr lang="en-US" sz="2200" dirty="0" err="1">
                <a:solidFill>
                  <a:schemeClr val="tx1"/>
                </a:solidFill>
                <a:latin typeface="Times New Roman" panose="02020603050405020304" pitchFamily="18" charset="0"/>
                <a:cs typeface="Times New Roman" panose="02020603050405020304" pitchFamily="18" charset="0"/>
              </a:rPr>
              <a:t>thức</a:t>
            </a:r>
            <a:r>
              <a:rPr lang="en-US" sz="2200" dirty="0">
                <a:solidFill>
                  <a:schemeClr val="tx1"/>
                </a:solidFill>
                <a:latin typeface="Times New Roman" panose="02020603050405020304" pitchFamily="18" charset="0"/>
                <a:cs typeface="Times New Roman" panose="02020603050405020304" pitchFamily="18" charset="0"/>
              </a:rPr>
              <a:t> con </a:t>
            </a:r>
            <a:r>
              <a:rPr lang="en-US" sz="2200" dirty="0" err="1">
                <a:solidFill>
                  <a:schemeClr val="tx1"/>
                </a:solidFill>
                <a:latin typeface="Times New Roman" panose="02020603050405020304" pitchFamily="18" charset="0"/>
                <a:cs typeface="Times New Roman" panose="02020603050405020304" pitchFamily="18" charset="0"/>
              </a:rPr>
              <a:t>người</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11" name="Rectangle 10"/>
          <p:cNvSpPr/>
          <p:nvPr/>
        </p:nvSpPr>
        <p:spPr>
          <a:xfrm flipH="1">
            <a:off x="6455899" y="2982351"/>
            <a:ext cx="3588431" cy="33621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Chính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trình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nhận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thức</a:t>
            </a:r>
            <a:r>
              <a:rPr lang="en-US" sz="2200" dirty="0">
                <a:solidFill>
                  <a:schemeClr val="tx1"/>
                </a:solidFill>
                <a:latin typeface="Times New Roman" panose="02020603050405020304" pitchFamily="18" charset="0"/>
                <a:cs typeface="Times New Roman" panose="02020603050405020304" pitchFamily="18" charset="0"/>
              </a:rPr>
              <a:t>.</a:t>
            </a:r>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phản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ánh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hiện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thực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khách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quan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trong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bộ</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óc</a:t>
            </a:r>
            <a:r>
              <a:rPr lang="en-US" sz="2200" dirty="0">
                <a:solidFill>
                  <a:schemeClr val="tx1"/>
                </a:solidFill>
                <a:latin typeface="Times New Roman" panose="02020603050405020304" pitchFamily="18" charset="0"/>
                <a:cs typeface="Times New Roman" panose="02020603050405020304" pitchFamily="18" charset="0"/>
              </a:rPr>
              <a:t> con </a:t>
            </a:r>
            <a:r>
              <a:rPr lang="en-US" sz="2200" dirty="0" err="1">
                <a:solidFill>
                  <a:schemeClr val="tx1"/>
                </a:solidFill>
                <a:latin typeface="Times New Roman" panose="02020603050405020304" pitchFamily="18" charset="0"/>
                <a:cs typeface="Times New Roman" panose="02020603050405020304" pitchFamily="18" charset="0"/>
              </a:rPr>
              <a:t>người</a:t>
            </a:r>
            <a:endParaRPr lang="en-US" sz="2200" dirty="0">
              <a:solidFill>
                <a:schemeClr val="tx1"/>
              </a:solidFill>
              <a:latin typeface="Times New Roman" panose="02020603050405020304" pitchFamily="18" charset="0"/>
              <a:cs typeface="Times New Roman" panose="02020603050405020304" pitchFamily="18" charset="0"/>
            </a:endParaRPr>
          </a:p>
        </p:txBody>
      </p:sp>
      <p:cxnSp>
        <p:nvCxnSpPr>
          <p:cNvPr id="13" name="Straight Arrow Connector 12"/>
          <p:cNvCxnSpPr/>
          <p:nvPr/>
        </p:nvCxnSpPr>
        <p:spPr>
          <a:xfrm flipH="1">
            <a:off x="4979963" y="2039815"/>
            <a:ext cx="1116037" cy="43609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6096000" y="2011681"/>
            <a:ext cx="1411459" cy="4642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90945"/>
            <a:ext cx="10515600" cy="817419"/>
          </a:xfrm>
        </p:spPr>
        <p:txBody>
          <a:bodyPr>
            <a:normAutofit/>
          </a:bodyPr>
          <a:lstStyle/>
          <a:p>
            <a:pPr algn="just"/>
            <a:r>
              <a:rPr lang="en-US" sz="4000" b="1" dirty="0">
                <a:latin typeface="Times New Roman" panose="02020603050405020304" pitchFamily="18" charset="0"/>
                <a:cs typeface="Times New Roman" panose="02020603050405020304" pitchFamily="18" charset="0"/>
              </a:rPr>
              <a:t>b. </a:t>
            </a:r>
            <a:r>
              <a:rPr lang="en-US" sz="4000" b="1" dirty="0" err="1">
                <a:latin typeface="Times New Roman" panose="02020603050405020304" pitchFamily="18" charset="0"/>
                <a:cs typeface="Times New Roman" panose="02020603050405020304" pitchFamily="18" charset="0"/>
              </a:rPr>
              <a:t>Khái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niệm</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phép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biện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chứng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duy</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vật</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08364"/>
            <a:ext cx="10515600" cy="5068599"/>
          </a:xfrm>
        </p:spPr>
        <p:txBody>
          <a:bodyPr/>
          <a:lstStyle/>
          <a:p>
            <a:pPr algn="just"/>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Ăngghen</a:t>
            </a:r>
            <a:r>
              <a:rPr lang="en-US" dirty="0">
                <a:latin typeface="Times New Roman" panose="02020603050405020304" pitchFamily="18" charset="0"/>
                <a:cs typeface="Times New Roman" panose="02020603050405020304" pitchFamily="18" charset="0"/>
              </a:rPr>
              <a:t>: </a:t>
            </a:r>
            <a:r>
              <a:rPr lang="en-US" i="1"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phép</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chứng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chẳng</a:t>
            </a:r>
            <a:r>
              <a:rPr lang="en-US" i="1" dirty="0">
                <a:latin typeface="Times New Roman" panose="02020603050405020304" pitchFamily="18" charset="0"/>
                <a:cs typeface="Times New Roman" panose="02020603050405020304" pitchFamily="18" charset="0"/>
              </a:rPr>
              <a:t> qua </a:t>
            </a:r>
            <a:r>
              <a:rPr lang="en-US" i="1" dirty="0" err="1">
                <a:latin typeface="Times New Roman" panose="02020603050405020304" pitchFamily="18" charset="0"/>
                <a:cs typeface="Times New Roman" panose="02020603050405020304" pitchFamily="18" charset="0"/>
              </a:rPr>
              <a:t>chỉ</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môn</a:t>
            </a:r>
            <a:r>
              <a:rPr lang="en-US" i="1" dirty="0">
                <a:latin typeface="Times New Roman" panose="02020603050405020304" pitchFamily="18" charset="0"/>
                <a:cs typeface="Times New Roman" panose="02020603050405020304" pitchFamily="18" charset="0"/>
              </a:rPr>
              <a:t> khoa </a:t>
            </a:r>
            <a:r>
              <a:rPr lang="en-US" i="1" dirty="0" err="1">
                <a:latin typeface="Times New Roman" panose="02020603050405020304" pitchFamily="18" charset="0"/>
                <a:cs typeface="Times New Roman" panose="02020603050405020304" pitchFamily="18" charset="0"/>
              </a:rPr>
              <a:t>học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về</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những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quy</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luật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phổ</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biến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sự</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vận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động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phát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triển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tự</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nhiên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xã</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hội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loài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người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duy</a:t>
            </a:r>
            <a:r>
              <a:rPr lang="en-US" i="1" dirty="0">
                <a:latin typeface="Times New Roman" panose="02020603050405020304" pitchFamily="18" charset="0"/>
                <a:cs typeface="Times New Roman" panose="02020603050405020304" pitchFamily="18" charset="0"/>
              </a:rPr>
              <a:t>”</a:t>
            </a:r>
            <a:endParaRPr lang="en-US" i="1"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V. I. </a:t>
            </a:r>
            <a:r>
              <a:rPr lang="en-US" dirty="0" err="1">
                <a:latin typeface="Times New Roman" panose="02020603050405020304" pitchFamily="18" charset="0"/>
                <a:cs typeface="Times New Roman" panose="02020603050405020304" pitchFamily="18" charset="0"/>
              </a:rPr>
              <a:t>Lênin</a:t>
            </a:r>
            <a:r>
              <a:rPr lang="en-US"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Phép</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chứng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học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thuyết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về</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sự</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phát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triển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dưới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hình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hoàn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bị</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nhất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sâu</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sắc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nhất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không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phiến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học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thuyết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về</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tính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tương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đối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nhận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của</a:t>
            </a:r>
            <a:r>
              <a:rPr lang="en-US" i="1" dirty="0">
                <a:latin typeface="Times New Roman" panose="02020603050405020304" pitchFamily="18" charset="0"/>
                <a:cs typeface="Times New Roman" panose="02020603050405020304" pitchFamily="18" charset="0"/>
              </a:rPr>
              <a:t> con </a:t>
            </a:r>
            <a:r>
              <a:rPr lang="en-US" i="1" dirty="0" err="1">
                <a:latin typeface="Times New Roman" panose="02020603050405020304" pitchFamily="18" charset="0"/>
                <a:cs typeface="Times New Roman" panose="02020603050405020304" pitchFamily="18" charset="0"/>
              </a:rPr>
              <a:t>người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nhận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thức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này</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phản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ánh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vật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chất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luôn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phát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triển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không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ngừng</a:t>
            </a:r>
            <a:endParaRPr lang="en-US" i="1"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90420"/>
          </a:xfrm>
        </p:spPr>
        <p:txBody>
          <a:bodyPr/>
          <a:lstStyle/>
          <a:p>
            <a:endParaRPr lang="en-US" dirty="0"/>
          </a:p>
        </p:txBody>
      </p:sp>
      <p:sp>
        <p:nvSpPr>
          <p:cNvPr id="3" name="Rectangle 2"/>
          <p:cNvSpPr/>
          <p:nvPr/>
        </p:nvSpPr>
        <p:spPr>
          <a:xfrm flipH="1">
            <a:off x="838197" y="1055077"/>
            <a:ext cx="1905002" cy="128016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v"/>
            </a:pPr>
            <a:r>
              <a:rPr lang="en-US" sz="2200" dirty="0" err="1">
                <a:latin typeface="Times New Roman" panose="02020603050405020304" pitchFamily="18" charset="0"/>
                <a:cs typeface="Times New Roman" panose="02020603050405020304" pitchFamily="18" charset="0"/>
              </a:rPr>
              <a:t>Đặc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điểm</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phép</a:t>
            </a:r>
            <a:r>
              <a:rPr lang="en-US" sz="2200" dirty="0">
                <a:latin typeface="Times New Roman" panose="02020603050405020304" pitchFamily="18" charset="0"/>
                <a:cs typeface="Times New Roman" panose="02020603050405020304" pitchFamily="18" charset="0"/>
              </a:rPr>
              <a:t> BCDV</a:t>
            </a:r>
            <a:endParaRPr lang="en-US" sz="2200" dirty="0">
              <a:latin typeface="Times New Roman" panose="02020603050405020304" pitchFamily="18" charset="0"/>
              <a:cs typeface="Times New Roman" panose="02020603050405020304" pitchFamily="18" charset="0"/>
            </a:endParaRPr>
          </a:p>
        </p:txBody>
      </p:sp>
      <p:sp>
        <p:nvSpPr>
          <p:cNvPr id="4" name="Rectangle 3"/>
          <p:cNvSpPr/>
          <p:nvPr/>
        </p:nvSpPr>
        <p:spPr>
          <a:xfrm>
            <a:off x="3699803" y="393895"/>
            <a:ext cx="6203851" cy="95660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Hình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thành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từ</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thống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giữa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giới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duy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luận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chứng</a:t>
            </a:r>
            <a:endParaRPr lang="en-US" sz="2200" dirty="0">
              <a:latin typeface="Times New Roman" panose="02020603050405020304" pitchFamily="18" charset="0"/>
              <a:cs typeface="Times New Roman" panose="02020603050405020304" pitchFamily="18" charset="0"/>
            </a:endParaRPr>
          </a:p>
        </p:txBody>
      </p:sp>
      <p:sp>
        <p:nvSpPr>
          <p:cNvPr id="5" name="Rectangle 4"/>
          <p:cNvSpPr/>
          <p:nvPr/>
        </p:nvSpPr>
        <p:spPr>
          <a:xfrm flipH="1">
            <a:off x="3699800" y="1716259"/>
            <a:ext cx="6203850" cy="6189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Giữa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lý</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luận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thức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logic </a:t>
            </a:r>
            <a:r>
              <a:rPr lang="en-US" sz="2200" dirty="0" err="1">
                <a:latin typeface="Times New Roman" panose="02020603050405020304" pitchFamily="18" charset="0"/>
                <a:cs typeface="Times New Roman" panose="02020603050405020304" pitchFamily="18" charset="0"/>
              </a:rPr>
              <a:t>biện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chứng</a:t>
            </a:r>
            <a:endParaRPr lang="en-US" sz="2200" dirty="0">
              <a:latin typeface="Times New Roman" panose="02020603050405020304" pitchFamily="18" charset="0"/>
              <a:cs typeface="Times New Roman" panose="02020603050405020304" pitchFamily="18" charset="0"/>
            </a:endParaRPr>
          </a:p>
        </p:txBody>
      </p:sp>
      <p:sp>
        <p:nvSpPr>
          <p:cNvPr id="25" name="Rectangle 24"/>
          <p:cNvSpPr/>
          <p:nvPr/>
        </p:nvSpPr>
        <p:spPr>
          <a:xfrm>
            <a:off x="838196" y="3400226"/>
            <a:ext cx="1905001" cy="14636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v"/>
            </a:pPr>
            <a:r>
              <a:rPr lang="en-US" sz="2200" dirty="0" err="1">
                <a:latin typeface="Times New Roman" panose="02020603050405020304" pitchFamily="18" charset="0"/>
                <a:cs typeface="Times New Roman" panose="02020603050405020304" pitchFamily="18" charset="0"/>
              </a:rPr>
              <a:t>Vai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trò</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phép</a:t>
            </a:r>
            <a:r>
              <a:rPr lang="en-US" sz="2200" dirty="0">
                <a:latin typeface="Times New Roman" panose="02020603050405020304" pitchFamily="18" charset="0"/>
                <a:cs typeface="Times New Roman" panose="02020603050405020304" pitchFamily="18" charset="0"/>
              </a:rPr>
              <a:t> BCDV</a:t>
            </a:r>
            <a:endParaRPr lang="en-US" sz="2200" dirty="0">
              <a:latin typeface="Times New Roman" panose="02020603050405020304" pitchFamily="18" charset="0"/>
              <a:cs typeface="Times New Roman" panose="02020603050405020304" pitchFamily="18" charset="0"/>
            </a:endParaRPr>
          </a:p>
        </p:txBody>
      </p:sp>
      <p:sp>
        <p:nvSpPr>
          <p:cNvPr id="26" name="Rectangle 25"/>
          <p:cNvSpPr/>
          <p:nvPr/>
        </p:nvSpPr>
        <p:spPr>
          <a:xfrm flipH="1">
            <a:off x="3788897" y="2883876"/>
            <a:ext cx="6203848" cy="61897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Giúp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định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hướng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nhận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thức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tiễn</a:t>
            </a:r>
            <a:endParaRPr lang="en-US" sz="2200" dirty="0"/>
          </a:p>
        </p:txBody>
      </p:sp>
      <p:sp>
        <p:nvSpPr>
          <p:cNvPr id="27" name="Rectangle 26"/>
          <p:cNvSpPr/>
          <p:nvPr/>
        </p:nvSpPr>
        <p:spPr>
          <a:xfrm flipH="1">
            <a:off x="3788888" y="3686371"/>
            <a:ext cx="6944757" cy="146367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buFontTx/>
              <a:buChar char="-"/>
            </a:pPr>
            <a:r>
              <a:rPr lang="en-US" sz="2200" dirty="0" err="1">
                <a:latin typeface="Times New Roman" panose="02020603050405020304" pitchFamily="18" charset="0"/>
                <a:cs typeface="Times New Roman" panose="02020603050405020304" pitchFamily="18" charset="0"/>
              </a:rPr>
              <a:t>Phương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pháp</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giải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thích</a:t>
            </a:r>
            <a:r>
              <a:rPr lang="en-US" sz="2200" dirty="0">
                <a:latin typeface="Times New Roman" panose="02020603050405020304" pitchFamily="18" charset="0"/>
                <a:cs typeface="Times New Roman" panose="02020603050405020304" pitchFamily="18" charset="0"/>
              </a:rPr>
              <a:t>:</a:t>
            </a: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các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trình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phát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triển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diễn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ra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giới</a:t>
            </a: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Giải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thích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nững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mối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quan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hệ</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chung</a:t>
            </a:r>
            <a:endParaRPr lang="en-US" sz="22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r>
              <a:rPr lang="en-US" sz="2200" dirty="0" err="1">
                <a:latin typeface="Times New Roman" panose="02020603050405020304" pitchFamily="18" charset="0"/>
                <a:cs typeface="Times New Roman" panose="02020603050405020304" pitchFamily="18" charset="0"/>
              </a:rPr>
              <a:t>Những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bước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quá</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độ</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từ</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lĩnh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này</a:t>
            </a:r>
            <a:r>
              <a:rPr lang="en-US" sz="2200" dirty="0">
                <a:latin typeface="Times New Roman" panose="02020603050405020304" pitchFamily="18" charset="0"/>
                <a:cs typeface="Times New Roman" panose="02020603050405020304" pitchFamily="18" charset="0"/>
              </a:rPr>
              <a:t> sang </a:t>
            </a:r>
            <a:r>
              <a:rPr lang="en-US" sz="2200" dirty="0" err="1">
                <a:latin typeface="Times New Roman" panose="02020603050405020304" pitchFamily="18" charset="0"/>
                <a:cs typeface="Times New Roman" panose="02020603050405020304" pitchFamily="18" charset="0"/>
              </a:rPr>
              <a:t>lĩnh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vực</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khác</a:t>
            </a:r>
            <a:endParaRPr lang="en-US" sz="2200" dirty="0">
              <a:latin typeface="Times New Roman" panose="02020603050405020304" pitchFamily="18" charset="0"/>
              <a:cs typeface="Times New Roman" panose="02020603050405020304" pitchFamily="18" charset="0"/>
            </a:endParaRPr>
          </a:p>
        </p:txBody>
      </p:sp>
      <p:sp>
        <p:nvSpPr>
          <p:cNvPr id="29" name="Rectangle: Rounded Corners 28"/>
          <p:cNvSpPr/>
          <p:nvPr/>
        </p:nvSpPr>
        <p:spPr>
          <a:xfrm flipH="1">
            <a:off x="929633" y="5598942"/>
            <a:ext cx="10424163" cy="86516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v"/>
            </a:pPr>
            <a:r>
              <a:rPr lang="en-US" sz="2200" dirty="0" err="1">
                <a:latin typeface="Times New Roman" panose="02020603050405020304" pitchFamily="18" charset="0"/>
                <a:cs typeface="Times New Roman" panose="02020603050405020304" pitchFamily="18" charset="0"/>
              </a:rPr>
              <a:t>Đối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tượng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nghiên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cứu</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PBCDV: </a:t>
            </a:r>
            <a:r>
              <a:rPr lang="en-US" sz="2200" dirty="0" err="1">
                <a:latin typeface="Times New Roman" panose="02020603050405020304" pitchFamily="18" charset="0"/>
                <a:cs typeface="Times New Roman" panose="02020603050405020304" pitchFamily="18" charset="0"/>
              </a:rPr>
              <a:t>là</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trạng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tồn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tại</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có</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tính</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quy</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luật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phổ</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biến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nhất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của</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sự</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vật</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hiện</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tượng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trong</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thế</a:t>
            </a:r>
            <a:r>
              <a:rPr lang="en-US" sz="2200" dirty="0">
                <a:latin typeface="Times New Roman" panose="02020603050405020304" pitchFamily="18" charset="0"/>
                <a:cs typeface="Times New Roman" panose="02020603050405020304" pitchFamily="18" charset="0"/>
              </a:rPr>
              <a:t> </a:t>
            </a:r>
            <a:r>
              <a:rPr lang="en-US" sz="2200" dirty="0" err="1">
                <a:latin typeface="Times New Roman" panose="02020603050405020304" pitchFamily="18" charset="0"/>
                <a:cs typeface="Times New Roman" panose="02020603050405020304" pitchFamily="18" charset="0"/>
              </a:rPr>
              <a:t>giới</a:t>
            </a:r>
            <a:endParaRPr lang="en-US" sz="2200" dirty="0">
              <a:latin typeface="Times New Roman" panose="02020603050405020304" pitchFamily="18" charset="0"/>
              <a:cs typeface="Times New Roman" panose="02020603050405020304" pitchFamily="18" charset="0"/>
            </a:endParaRPr>
          </a:p>
        </p:txBody>
      </p:sp>
      <p:cxnSp>
        <p:nvCxnSpPr>
          <p:cNvPr id="31" name="Straight Arrow Connector 30"/>
          <p:cNvCxnSpPr>
            <a:stCxn id="3" idx="1"/>
            <a:endCxn id="4" idx="1"/>
          </p:cNvCxnSpPr>
          <p:nvPr/>
        </p:nvCxnSpPr>
        <p:spPr>
          <a:xfrm flipV="1">
            <a:off x="2743199" y="872197"/>
            <a:ext cx="956604" cy="8229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a:stCxn id="3" idx="1"/>
            <a:endCxn id="5" idx="3"/>
          </p:cNvCxnSpPr>
          <p:nvPr/>
        </p:nvCxnSpPr>
        <p:spPr>
          <a:xfrm>
            <a:off x="2743199" y="1695157"/>
            <a:ext cx="956601" cy="33059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p:cNvCxnSpPr>
            <a:stCxn id="25" idx="3"/>
            <a:endCxn id="26" idx="3"/>
          </p:cNvCxnSpPr>
          <p:nvPr/>
        </p:nvCxnSpPr>
        <p:spPr>
          <a:xfrm flipV="1">
            <a:off x="2743197" y="3158835"/>
            <a:ext cx="1045691" cy="97323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p:nvPr/>
        </p:nvCxnSpPr>
        <p:spPr>
          <a:xfrm>
            <a:off x="2743197" y="4121835"/>
            <a:ext cx="1167621" cy="30948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36361"/>
          </a:xfrm>
        </p:spPr>
        <p:txBody>
          <a:bodyPr>
            <a:normAutofit/>
          </a:bodyPr>
          <a:lstStyle/>
          <a:p>
            <a:pPr algn="just"/>
            <a:r>
              <a:rPr lang="en-US" sz="2800" b="1" dirty="0">
                <a:latin typeface="Times New Roman" panose="02020603050405020304" pitchFamily="18" charset="0"/>
                <a:cs typeface="Times New Roman" panose="02020603050405020304" pitchFamily="18" charset="0"/>
              </a:rPr>
              <a:t>2. </a:t>
            </a:r>
            <a:r>
              <a:rPr lang="en-US" sz="2800" b="1" dirty="0" err="1">
                <a:latin typeface="Times New Roman" panose="02020603050405020304" pitchFamily="18" charset="0"/>
                <a:cs typeface="Times New Roman" panose="02020603050405020304" pitchFamily="18" charset="0"/>
              </a:rPr>
              <a:t>Nội</a:t>
            </a:r>
            <a:r>
              <a:rPr lang="en-US" sz="2800" b="1" dirty="0">
                <a:latin typeface="Times New Roman" panose="02020603050405020304" pitchFamily="18" charset="0"/>
                <a:cs typeface="Times New Roman" panose="02020603050405020304" pitchFamily="18" charset="0"/>
              </a:rPr>
              <a:t> dung </a:t>
            </a:r>
            <a:r>
              <a:rPr lang="en-US" sz="2800" b="1" dirty="0" err="1">
                <a:latin typeface="Times New Roman" panose="02020603050405020304" pitchFamily="18" charset="0"/>
                <a:cs typeface="Times New Roman" panose="02020603050405020304" pitchFamily="18" charset="0"/>
              </a:rPr>
              <a:t>của</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phép</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biện</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chứng</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duy</a:t>
            </a:r>
            <a:r>
              <a:rPr lang="en-US" sz="2800" b="1" dirty="0">
                <a:latin typeface="Times New Roman" panose="02020603050405020304" pitchFamily="18" charset="0"/>
                <a:cs typeface="Times New Roman" panose="02020603050405020304" pitchFamily="18" charset="0"/>
              </a:rPr>
              <a:t> </a:t>
            </a:r>
            <a:r>
              <a:rPr lang="en-US" sz="2800" b="1" dirty="0" err="1">
                <a:latin typeface="Times New Roman" panose="02020603050405020304" pitchFamily="18" charset="0"/>
                <a:cs typeface="Times New Roman" panose="02020603050405020304" pitchFamily="18" charset="0"/>
              </a:rPr>
              <a:t>vật</a:t>
            </a: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96686" y="1164771"/>
            <a:ext cx="10972800" cy="5328104"/>
          </a:xfrm>
        </p:spPr>
        <p:txBody>
          <a:bodyPr/>
          <a:lstStyle/>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402772" y="1349829"/>
            <a:ext cx="1785258" cy="7728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a</a:t>
            </a:r>
            <a:r>
              <a:rPr lang="vi-VN" b="1" dirty="0">
                <a:latin typeface="Times New Roman" panose="02020603050405020304" pitchFamily="18" charset="0"/>
                <a:cs typeface="Times New Roman" panose="02020603050405020304" pitchFamily="18" charset="0"/>
              </a:rPr>
              <a:t>. Hai nguyên lý của phép BCDV</a:t>
            </a:r>
            <a:endParaRPr lang="en-US" b="1" dirty="0">
              <a:latin typeface="Times New Roman" panose="02020603050405020304" pitchFamily="18" charset="0"/>
              <a:cs typeface="Times New Roman" panose="02020603050405020304" pitchFamily="18" charset="0"/>
            </a:endParaRPr>
          </a:p>
        </p:txBody>
      </p:sp>
      <p:sp>
        <p:nvSpPr>
          <p:cNvPr id="5" name="Rectangle 4"/>
          <p:cNvSpPr/>
          <p:nvPr/>
        </p:nvSpPr>
        <p:spPr>
          <a:xfrm>
            <a:off x="4103914" y="1349829"/>
            <a:ext cx="3352799" cy="7728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b. Các cặp phạm trù của PBCDV</a:t>
            </a:r>
            <a:endParaRPr lang="en-US" b="1" dirty="0">
              <a:latin typeface="Times New Roman" panose="02020603050405020304" pitchFamily="18" charset="0"/>
              <a:cs typeface="Times New Roman" panose="02020603050405020304" pitchFamily="18" charset="0"/>
            </a:endParaRPr>
          </a:p>
        </p:txBody>
      </p:sp>
      <p:sp>
        <p:nvSpPr>
          <p:cNvPr id="6" name="Rectangle 5"/>
          <p:cNvSpPr/>
          <p:nvPr/>
        </p:nvSpPr>
        <p:spPr>
          <a:xfrm>
            <a:off x="9470570" y="1349829"/>
            <a:ext cx="2198916" cy="7728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b="1" dirty="0">
                <a:latin typeface="Times New Roman" panose="02020603050405020304" pitchFamily="18" charset="0"/>
                <a:cs typeface="Times New Roman" panose="02020603050405020304" pitchFamily="18" charset="0"/>
              </a:rPr>
              <a:t>c. Các quy luật cơ bản của PBCDV</a:t>
            </a:r>
            <a:endParaRPr lang="en-US" b="1" dirty="0">
              <a:latin typeface="Times New Roman" panose="02020603050405020304" pitchFamily="18" charset="0"/>
              <a:cs typeface="Times New Roman" panose="02020603050405020304" pitchFamily="18" charset="0"/>
            </a:endParaRPr>
          </a:p>
        </p:txBody>
      </p:sp>
      <p:sp>
        <p:nvSpPr>
          <p:cNvPr id="7" name="Rectangle 6"/>
          <p:cNvSpPr/>
          <p:nvPr/>
        </p:nvSpPr>
        <p:spPr>
          <a:xfrm>
            <a:off x="228600" y="2732314"/>
            <a:ext cx="990602" cy="13062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Mối liên hệ phổ biến</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1317169" y="2732313"/>
            <a:ext cx="914379" cy="13062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Sự phát tiển</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2492827" y="2732313"/>
            <a:ext cx="1099457"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Cái riêng – cái chung</a:t>
            </a:r>
            <a:endParaRPr lang="en-US" dirty="0">
              <a:latin typeface="Times New Roman" panose="02020603050405020304" pitchFamily="18" charset="0"/>
              <a:cs typeface="Times New Roman" panose="02020603050405020304" pitchFamily="18" charset="0"/>
            </a:endParaRPr>
          </a:p>
        </p:txBody>
      </p:sp>
      <p:sp>
        <p:nvSpPr>
          <p:cNvPr id="10" name="Rectangle 9"/>
          <p:cNvSpPr/>
          <p:nvPr/>
        </p:nvSpPr>
        <p:spPr>
          <a:xfrm>
            <a:off x="3646691" y="2732311"/>
            <a:ext cx="1034161"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Nguyên nhân – kết quả</a:t>
            </a:r>
            <a:endParaRPr lang="en-US" dirty="0">
              <a:latin typeface="Times New Roman" panose="02020603050405020304" pitchFamily="18" charset="0"/>
              <a:cs typeface="Times New Roman" panose="02020603050405020304" pitchFamily="18" charset="0"/>
            </a:endParaRPr>
          </a:p>
        </p:txBody>
      </p:sp>
      <p:sp>
        <p:nvSpPr>
          <p:cNvPr id="11" name="Rectangle 10"/>
          <p:cNvSpPr/>
          <p:nvPr/>
        </p:nvSpPr>
        <p:spPr>
          <a:xfrm>
            <a:off x="4865908" y="2732311"/>
            <a:ext cx="903513"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Tất nhiên – ngẫu nhiên</a:t>
            </a:r>
            <a:endParaRPr lang="en-US" dirty="0">
              <a:latin typeface="Times New Roman" panose="02020603050405020304" pitchFamily="18" charset="0"/>
              <a:cs typeface="Times New Roman" panose="02020603050405020304" pitchFamily="18" charset="0"/>
            </a:endParaRPr>
          </a:p>
        </p:txBody>
      </p:sp>
      <p:sp>
        <p:nvSpPr>
          <p:cNvPr id="12" name="Rectangle 11"/>
          <p:cNvSpPr/>
          <p:nvPr/>
        </p:nvSpPr>
        <p:spPr>
          <a:xfrm>
            <a:off x="5954477" y="2732311"/>
            <a:ext cx="903512"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Nội dung – hình thức</a:t>
            </a:r>
            <a:endParaRPr lang="en-US" dirty="0">
              <a:latin typeface="Times New Roman" panose="02020603050405020304" pitchFamily="18" charset="0"/>
              <a:cs typeface="Times New Roman" panose="02020603050405020304" pitchFamily="18" charset="0"/>
            </a:endParaRPr>
          </a:p>
        </p:txBody>
      </p:sp>
      <p:sp>
        <p:nvSpPr>
          <p:cNvPr id="13" name="Rectangle 12"/>
          <p:cNvSpPr/>
          <p:nvPr/>
        </p:nvSpPr>
        <p:spPr>
          <a:xfrm>
            <a:off x="7043045" y="2732311"/>
            <a:ext cx="903512"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Bản chất – hiện tượng</a:t>
            </a:r>
            <a:endParaRPr lang="en-US" dirty="0">
              <a:latin typeface="Times New Roman" panose="02020603050405020304" pitchFamily="18" charset="0"/>
              <a:cs typeface="Times New Roman" panose="02020603050405020304" pitchFamily="18" charset="0"/>
            </a:endParaRPr>
          </a:p>
        </p:txBody>
      </p:sp>
      <p:sp>
        <p:nvSpPr>
          <p:cNvPr id="14" name="Rectangle 13"/>
          <p:cNvSpPr/>
          <p:nvPr/>
        </p:nvSpPr>
        <p:spPr>
          <a:xfrm>
            <a:off x="8131614" y="2732310"/>
            <a:ext cx="903512"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Khả năng – hiện thực</a:t>
            </a:r>
            <a:endParaRPr lang="en-US" dirty="0">
              <a:latin typeface="Times New Roman" panose="02020603050405020304" pitchFamily="18" charset="0"/>
              <a:cs typeface="Times New Roman" panose="02020603050405020304" pitchFamily="18" charset="0"/>
            </a:endParaRPr>
          </a:p>
        </p:txBody>
      </p:sp>
      <p:sp>
        <p:nvSpPr>
          <p:cNvPr id="15" name="Rectangle 14"/>
          <p:cNvSpPr/>
          <p:nvPr/>
        </p:nvSpPr>
        <p:spPr>
          <a:xfrm>
            <a:off x="9220183" y="2732310"/>
            <a:ext cx="870838"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Lượng – chất</a:t>
            </a:r>
            <a:endParaRPr lang="en-US" dirty="0">
              <a:latin typeface="Times New Roman" panose="02020603050405020304" pitchFamily="18" charset="0"/>
              <a:cs typeface="Times New Roman" panose="02020603050405020304" pitchFamily="18" charset="0"/>
            </a:endParaRPr>
          </a:p>
        </p:txBody>
      </p:sp>
      <p:sp>
        <p:nvSpPr>
          <p:cNvPr id="16" name="Rectangle 15"/>
          <p:cNvSpPr/>
          <p:nvPr/>
        </p:nvSpPr>
        <p:spPr>
          <a:xfrm>
            <a:off x="10189048" y="2732310"/>
            <a:ext cx="838165"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a:t>
            </a:r>
            <a:endParaRPr lang="en-US" dirty="0">
              <a:latin typeface="Times New Roman" panose="02020603050405020304" pitchFamily="18" charset="0"/>
              <a:cs typeface="Times New Roman" panose="02020603050405020304" pitchFamily="18" charset="0"/>
            </a:endParaRPr>
          </a:p>
        </p:txBody>
      </p:sp>
      <p:sp>
        <p:nvSpPr>
          <p:cNvPr id="17" name="Rectangle 16"/>
          <p:cNvSpPr/>
          <p:nvPr/>
        </p:nvSpPr>
        <p:spPr>
          <a:xfrm>
            <a:off x="11125235" y="2732310"/>
            <a:ext cx="838165" cy="16219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Phủ định của phủ định</a:t>
            </a:r>
            <a:endParaRPr lang="en-US" dirty="0">
              <a:latin typeface="Times New Roman" panose="02020603050405020304" pitchFamily="18" charset="0"/>
              <a:cs typeface="Times New Roman" panose="02020603050405020304" pitchFamily="18" charset="0"/>
            </a:endParaRPr>
          </a:p>
        </p:txBody>
      </p:sp>
      <p:cxnSp>
        <p:nvCxnSpPr>
          <p:cNvPr id="19" name="Straight Arrow Connector 18"/>
          <p:cNvCxnSpPr>
            <a:stCxn id="4" idx="2"/>
          </p:cNvCxnSpPr>
          <p:nvPr/>
        </p:nvCxnSpPr>
        <p:spPr>
          <a:xfrm flipH="1">
            <a:off x="598714" y="2122714"/>
            <a:ext cx="696687" cy="609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endCxn id="8" idx="0"/>
          </p:cNvCxnSpPr>
          <p:nvPr/>
        </p:nvCxnSpPr>
        <p:spPr>
          <a:xfrm>
            <a:off x="1273609" y="2122714"/>
            <a:ext cx="500750" cy="609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3" name="Straight Arrow Connector 22"/>
          <p:cNvCxnSpPr/>
          <p:nvPr/>
        </p:nvCxnSpPr>
        <p:spPr>
          <a:xfrm flipH="1">
            <a:off x="2852031" y="2122714"/>
            <a:ext cx="2917388" cy="609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5" name="Straight Arrow Connector 24"/>
          <p:cNvCxnSpPr>
            <a:stCxn id="5" idx="2"/>
          </p:cNvCxnSpPr>
          <p:nvPr/>
        </p:nvCxnSpPr>
        <p:spPr>
          <a:xfrm flipH="1">
            <a:off x="4027689" y="2122714"/>
            <a:ext cx="1752625" cy="609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7" name="Straight Arrow Connector 26"/>
          <p:cNvCxnSpPr>
            <a:stCxn id="5" idx="2"/>
          </p:cNvCxnSpPr>
          <p:nvPr/>
        </p:nvCxnSpPr>
        <p:spPr>
          <a:xfrm flipH="1">
            <a:off x="5279564" y="2122714"/>
            <a:ext cx="500750" cy="60959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9" name="Straight Arrow Connector 28"/>
          <p:cNvCxnSpPr>
            <a:endCxn id="12" idx="0"/>
          </p:cNvCxnSpPr>
          <p:nvPr/>
        </p:nvCxnSpPr>
        <p:spPr>
          <a:xfrm>
            <a:off x="5780314" y="2122711"/>
            <a:ext cx="625919" cy="6096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1" name="Straight Arrow Connector 30"/>
          <p:cNvCxnSpPr>
            <a:endCxn id="13" idx="0"/>
          </p:cNvCxnSpPr>
          <p:nvPr/>
        </p:nvCxnSpPr>
        <p:spPr>
          <a:xfrm>
            <a:off x="5769419" y="2122712"/>
            <a:ext cx="1763519" cy="6095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3" name="Straight Arrow Connector 32"/>
          <p:cNvCxnSpPr>
            <a:stCxn id="5" idx="2"/>
          </p:cNvCxnSpPr>
          <p:nvPr/>
        </p:nvCxnSpPr>
        <p:spPr>
          <a:xfrm>
            <a:off x="5780314" y="2122714"/>
            <a:ext cx="2852049" cy="60959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6" idx="2"/>
            <a:endCxn id="15" idx="0"/>
          </p:cNvCxnSpPr>
          <p:nvPr/>
        </p:nvCxnSpPr>
        <p:spPr>
          <a:xfrm flipH="1">
            <a:off x="9655602" y="2122715"/>
            <a:ext cx="914426" cy="60959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9" name="Straight Arrow Connector 38"/>
          <p:cNvCxnSpPr>
            <a:endCxn id="16" idx="0"/>
          </p:cNvCxnSpPr>
          <p:nvPr/>
        </p:nvCxnSpPr>
        <p:spPr>
          <a:xfrm>
            <a:off x="10570028" y="2122711"/>
            <a:ext cx="38103" cy="609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1" name="Straight Arrow Connector 40"/>
          <p:cNvCxnSpPr>
            <a:endCxn id="17" idx="0"/>
          </p:cNvCxnSpPr>
          <p:nvPr/>
        </p:nvCxnSpPr>
        <p:spPr>
          <a:xfrm>
            <a:off x="10580918" y="2122711"/>
            <a:ext cx="963400" cy="60959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7"/>
            <a:ext cx="10515600" cy="854075"/>
          </a:xfrm>
        </p:spPr>
        <p:txBody>
          <a:bodyPr>
            <a:normAutofit fontScale="90000"/>
          </a:bodyPr>
          <a:lstStyle/>
          <a:p>
            <a:pPr algn="just"/>
            <a:br>
              <a:rPr lang="vi-VN" b="1" dirty="0">
                <a:latin typeface="Times New Roman" panose="02020603050405020304" pitchFamily="18" charset="0"/>
                <a:cs typeface="Times New Roman" panose="02020603050405020304" pitchFamily="18" charset="0"/>
              </a:rPr>
            </a:br>
            <a:r>
              <a:rPr lang="vi-VN" b="1" dirty="0">
                <a:latin typeface="Times New Roman" panose="02020603050405020304" pitchFamily="18" charset="0"/>
                <a:cs typeface="Times New Roman" panose="02020603050405020304" pitchFamily="18" charset="0"/>
              </a:rPr>
              <a:t>a. </a:t>
            </a:r>
            <a:r>
              <a:rPr lang="en-US" b="1" dirty="0">
                <a:latin typeface="Times New Roman" panose="02020603050405020304" pitchFamily="18" charset="0"/>
                <a:cs typeface="Times New Roman" panose="02020603050405020304" pitchFamily="18" charset="0"/>
              </a:rPr>
              <a:t>Hai </a:t>
            </a:r>
            <a:r>
              <a:rPr lang="en-US" b="1" dirty="0" err="1">
                <a:latin typeface="Times New Roman" panose="02020603050405020304" pitchFamily="18" charset="0"/>
                <a:cs typeface="Times New Roman" panose="02020603050405020304" pitchFamily="18" charset="0"/>
              </a:rPr>
              <a:t>nguyên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lý</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của</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phép</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biện</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chứng</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duy</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vật</a:t>
            </a:r>
            <a:br>
              <a:rPr lang="en-US" b="1" dirty="0">
                <a:latin typeface="Times New Roman" panose="02020603050405020304" pitchFamily="18" charset="0"/>
                <a:cs typeface="Times New Roman" panose="02020603050405020304" pitchFamily="18" charset="0"/>
              </a:rPr>
            </a:b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60764"/>
            <a:ext cx="10515600" cy="5098471"/>
          </a:xfrm>
        </p:spPr>
        <p:txBody>
          <a:bodyPr/>
          <a:lstStyle/>
          <a:p>
            <a:pPr algn="just">
              <a:buFont typeface="Wingdings" panose="05000000000000000000" pitchFamily="2" charset="2"/>
              <a:buChar char="v"/>
            </a:pPr>
            <a:r>
              <a:rPr lang="en-US" sz="3200" b="1" dirty="0" err="1">
                <a:latin typeface="Times New Roman" panose="02020603050405020304" pitchFamily="18" charset="0"/>
                <a:cs typeface="Times New Roman" panose="02020603050405020304" pitchFamily="18" charset="0"/>
              </a:rPr>
              <a:t>Nguyên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về</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mối</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liên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hệ</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phổ</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biến</a:t>
            </a:r>
            <a:endParaRPr lang="vi-VN" sz="3200" b="1" dirty="0">
              <a:latin typeface="Times New Roman" panose="02020603050405020304" pitchFamily="18" charset="0"/>
              <a:cs typeface="Times New Roman" panose="02020603050405020304" pitchFamily="18" charset="0"/>
            </a:endParaRPr>
          </a:p>
          <a:p>
            <a:pPr algn="just"/>
            <a:r>
              <a:rPr lang="vi-VN" sz="2400" dirty="0">
                <a:latin typeface="Times New Roman" panose="02020603050405020304" pitchFamily="18" charset="0"/>
                <a:cs typeface="Times New Roman" panose="02020603050405020304" pitchFamily="18" charset="0"/>
              </a:rPr>
              <a:t>Khái niệm </a:t>
            </a:r>
            <a:r>
              <a:rPr lang="vi-VN" sz="2400" b="1" dirty="0">
                <a:latin typeface="Times New Roman" panose="02020603050405020304" pitchFamily="18" charset="0"/>
                <a:cs typeface="Times New Roman" panose="02020603050405020304" pitchFamily="18" charset="0"/>
              </a:rPr>
              <a:t>Nguyên lý </a:t>
            </a:r>
            <a:r>
              <a:rPr lang="vi-VN" sz="2400" dirty="0">
                <a:latin typeface="Times New Roman" panose="02020603050405020304" pitchFamily="18" charset="0"/>
                <a:cs typeface="Times New Roman" panose="02020603050405020304" pitchFamily="18" charset="0"/>
              </a:rPr>
              <a:t>được hiểu như các tiền đề trong các khoa học cụ thể, nó là tri thức không dễ chứng minh nhưng đã được xác nhận bởi thực tiễn của nhiều thế hệ con người, người ta chỉ còn phải tuân thủ nghiêm ngặt, nếu không thì sẽ mắc sai lầm cả trong nhận thức lẫn hành động</a:t>
            </a:r>
            <a:endParaRPr lang="en-US" sz="2400" dirty="0">
              <a:latin typeface="Times New Roman" panose="02020603050405020304" pitchFamily="18" charset="0"/>
              <a:cs typeface="Times New Roman" panose="02020603050405020304" pitchFamily="18" charset="0"/>
            </a:endParaRPr>
          </a:p>
          <a:p>
            <a:pPr algn="just">
              <a:defRPr/>
            </a:pPr>
            <a:r>
              <a:rPr lang="en-US" altLang="en-US" sz="2400" b="1" dirty="0" err="1">
                <a:latin typeface="Times New Roman" panose="02020603050405020304" pitchFamily="18" charset="0"/>
                <a:cs typeface="Times New Roman" panose="02020603050405020304" pitchFamily="18" charset="0"/>
              </a:rPr>
              <a:t>Mối</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liên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hệ</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Dùng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để</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chỉ</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quy</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định</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động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và</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chuyển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hóa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lẫn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nhau</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giữa</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các</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sự</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vật</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hiện</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tượng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trong</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thế</a:t>
            </a:r>
            <a:r>
              <a:rPr lang="en-US" altLang="en-US" sz="2400" dirty="0">
                <a:latin typeface="Times New Roman" panose="02020603050405020304" pitchFamily="18" charset="0"/>
                <a:cs typeface="Times New Roman" panose="02020603050405020304" pitchFamily="18" charset="0"/>
              </a:rPr>
              <a:t> </a:t>
            </a:r>
            <a:r>
              <a:rPr lang="en-US" altLang="en-US" sz="2400" dirty="0" err="1">
                <a:latin typeface="Times New Roman" panose="02020603050405020304" pitchFamily="18" charset="0"/>
                <a:cs typeface="Times New Roman" panose="02020603050405020304" pitchFamily="18" charset="0"/>
              </a:rPr>
              <a:t>giới</a:t>
            </a:r>
            <a:endParaRPr lang="en-US" altLang="en-US" sz="2400"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55418"/>
          </a:xfrm>
        </p:spPr>
        <p:txBody>
          <a:bodyPr/>
          <a:lstStyle/>
          <a:p>
            <a:endParaRPr lang="en-US" dirty="0"/>
          </a:p>
        </p:txBody>
      </p:sp>
      <p:sp>
        <p:nvSpPr>
          <p:cNvPr id="4" name="Oval 3"/>
          <p:cNvSpPr/>
          <p:nvPr/>
        </p:nvSpPr>
        <p:spPr>
          <a:xfrm>
            <a:off x="1926771" y="2220686"/>
            <a:ext cx="2536372" cy="91440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b="1" dirty="0">
                <a:solidFill>
                  <a:schemeClr val="accent2"/>
                </a:solidFill>
                <a:latin typeface="Times New Roman" panose="02020603050405020304" pitchFamily="18" charset="0"/>
                <a:cs typeface="Times New Roman" panose="02020603050405020304" pitchFamily="18" charset="0"/>
              </a:rPr>
              <a:t>Sự tác động</a:t>
            </a:r>
            <a:endParaRPr lang="en-US" sz="2400" b="1" dirty="0">
              <a:solidFill>
                <a:schemeClr val="accent2"/>
              </a:solidFill>
              <a:latin typeface="Times New Roman" panose="02020603050405020304" pitchFamily="18" charset="0"/>
              <a:cs typeface="Times New Roman" panose="02020603050405020304" pitchFamily="18" charset="0"/>
            </a:endParaRPr>
          </a:p>
        </p:txBody>
      </p:sp>
      <p:sp>
        <p:nvSpPr>
          <p:cNvPr id="5" name="Oval 4"/>
          <p:cNvSpPr/>
          <p:nvPr/>
        </p:nvSpPr>
        <p:spPr>
          <a:xfrm>
            <a:off x="7728859" y="2220686"/>
            <a:ext cx="3037112" cy="81642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b="1" dirty="0">
                <a:solidFill>
                  <a:schemeClr val="accent2"/>
                </a:solidFill>
                <a:latin typeface="Times New Roman" panose="02020603050405020304" pitchFamily="18" charset="0"/>
                <a:cs typeface="Times New Roman" panose="02020603050405020304" pitchFamily="18" charset="0"/>
              </a:rPr>
              <a:t>Sự chuyển hóa</a:t>
            </a:r>
            <a:endParaRPr lang="en-US" sz="2400" b="1" dirty="0">
              <a:solidFill>
                <a:schemeClr val="accent2"/>
              </a:solidFill>
              <a:latin typeface="Times New Roman" panose="02020603050405020304" pitchFamily="18" charset="0"/>
              <a:cs typeface="Times New Roman" panose="02020603050405020304" pitchFamily="18" charset="0"/>
            </a:endParaRPr>
          </a:p>
        </p:txBody>
      </p:sp>
      <p:sp>
        <p:nvSpPr>
          <p:cNvPr id="6" name="Oval 5"/>
          <p:cNvSpPr/>
          <p:nvPr/>
        </p:nvSpPr>
        <p:spPr>
          <a:xfrm>
            <a:off x="4659087" y="4942115"/>
            <a:ext cx="2960914" cy="947056"/>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b="1" dirty="0">
                <a:solidFill>
                  <a:schemeClr val="accent2"/>
                </a:solidFill>
                <a:latin typeface="Times New Roman" panose="02020603050405020304" pitchFamily="18" charset="0"/>
                <a:cs typeface="Times New Roman" panose="02020603050405020304" pitchFamily="18" charset="0"/>
              </a:rPr>
              <a:t>Sự quy định</a:t>
            </a:r>
            <a:endParaRPr lang="en-US" sz="2400" b="1" dirty="0">
              <a:solidFill>
                <a:schemeClr val="accent2"/>
              </a:solidFill>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5050971" y="3526970"/>
            <a:ext cx="2411403" cy="10341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400" b="1" dirty="0">
                <a:solidFill>
                  <a:schemeClr val="accent2"/>
                </a:solidFill>
                <a:latin typeface="Times New Roman" panose="02020603050405020304" pitchFamily="18" charset="0"/>
                <a:cs typeface="Times New Roman" panose="02020603050405020304" pitchFamily="18" charset="0"/>
              </a:rPr>
              <a:t>Sự thống nhất</a:t>
            </a:r>
            <a:endParaRPr lang="en-US" sz="2400" b="1" dirty="0">
              <a:solidFill>
                <a:schemeClr val="accent2"/>
              </a:solidFill>
              <a:latin typeface="Times New Roman" panose="02020603050405020304" pitchFamily="18" charset="0"/>
              <a:cs typeface="Times New Roman" panose="02020603050405020304" pitchFamily="18" charset="0"/>
            </a:endParaRPr>
          </a:p>
        </p:txBody>
      </p:sp>
      <p:sp>
        <p:nvSpPr>
          <p:cNvPr id="8" name="Rectangle 7"/>
          <p:cNvSpPr/>
          <p:nvPr/>
        </p:nvSpPr>
        <p:spPr>
          <a:xfrm>
            <a:off x="3777342" y="805544"/>
            <a:ext cx="4680857" cy="664028"/>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3600" b="1" dirty="0">
                <a:solidFill>
                  <a:srgbClr val="FF0000"/>
                </a:solidFill>
                <a:latin typeface="Times New Roman" panose="02020603050405020304" pitchFamily="18" charset="0"/>
                <a:cs typeface="Times New Roman" panose="02020603050405020304" pitchFamily="18" charset="0"/>
              </a:rPr>
              <a:t>Mối liên hệ là gì?</a:t>
            </a:r>
            <a:endParaRPr lang="en-US" sz="3600" b="1" dirty="0">
              <a:solidFill>
                <a:srgbClr val="FF0000"/>
              </a:solidFill>
              <a:latin typeface="Times New Roman" panose="02020603050405020304" pitchFamily="18" charset="0"/>
              <a:cs typeface="Times New Roman" panose="02020603050405020304" pitchFamily="18" charset="0"/>
            </a:endParaRPr>
          </a:p>
        </p:txBody>
      </p:sp>
      <p:sp>
        <p:nvSpPr>
          <p:cNvPr id="9" name="Arrow: Right 8"/>
          <p:cNvSpPr/>
          <p:nvPr/>
        </p:nvSpPr>
        <p:spPr>
          <a:xfrm>
            <a:off x="5388429" y="2764971"/>
            <a:ext cx="1523999"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Arrow: Down 9"/>
          <p:cNvSpPr/>
          <p:nvPr/>
        </p:nvSpPr>
        <p:spPr>
          <a:xfrm>
            <a:off x="8001001" y="3526970"/>
            <a:ext cx="484632" cy="1121230"/>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Up 11"/>
          <p:cNvSpPr/>
          <p:nvPr/>
        </p:nvSpPr>
        <p:spPr>
          <a:xfrm>
            <a:off x="3907971" y="3526970"/>
            <a:ext cx="484632" cy="1121230"/>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35675"/>
          </a:xfrm>
        </p:spPr>
        <p:txBody>
          <a:bodyPr/>
          <a:lstStyle/>
          <a:p>
            <a:endParaRPr lang="en-US" dirty="0"/>
          </a:p>
        </p:txBody>
      </p:sp>
      <p:sp>
        <p:nvSpPr>
          <p:cNvPr id="3" name="Oval 2"/>
          <p:cNvSpPr/>
          <p:nvPr/>
        </p:nvSpPr>
        <p:spPr>
          <a:xfrm>
            <a:off x="1208314" y="1066800"/>
            <a:ext cx="2645230" cy="827314"/>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Quan điểm của CN siêu hình</a:t>
            </a: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990600" y="1894115"/>
            <a:ext cx="3233057" cy="2438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000" dirty="0">
                <a:latin typeface="Times New Roman" panose="02020603050405020304" pitchFamily="18" charset="0"/>
                <a:cs typeface="Times New Roman" panose="02020603050405020304" pitchFamily="18" charset="0"/>
              </a:rPr>
              <a:t>Mọi sự vật hiện tượng trên thế giới khách quanđều tồn tại biệt lập, tách rời nhau, không quy định ràng buộc lẫn nhau, nếu có thì chỉ là nhừn quan hệ bề ngoài ngẫu nhiên</a:t>
            </a:r>
            <a:endParaRPr lang="en-US" sz="2000" dirty="0">
              <a:latin typeface="Times New Roman" panose="02020603050405020304" pitchFamily="18" charset="0"/>
              <a:cs typeface="Times New Roman" panose="02020603050405020304" pitchFamily="18" charset="0"/>
            </a:endParaRPr>
          </a:p>
        </p:txBody>
      </p:sp>
      <p:sp>
        <p:nvSpPr>
          <p:cNvPr id="5" name="Oval 4"/>
          <p:cNvSpPr/>
          <p:nvPr/>
        </p:nvSpPr>
        <p:spPr>
          <a:xfrm>
            <a:off x="5834743" y="1066801"/>
            <a:ext cx="2645230" cy="827313"/>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Quan điểm của CN DVBC</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5497287" y="1894115"/>
            <a:ext cx="3603170" cy="2438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000" dirty="0">
                <a:latin typeface="Times New Roman" panose="02020603050405020304" pitchFamily="18" charset="0"/>
                <a:cs typeface="Times New Roman" panose="02020603050405020304" pitchFamily="18" charset="0"/>
              </a:rPr>
              <a:t>Các sự vật, hiện tượng, quá trình khác nhau vừa tồn tại độc lập, vừa liên hệ, quy định và chuyển hóa lẫn nhau</a:t>
            </a: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2530" name="Title 1"/>
          <p:cNvSpPr>
            <a:spLocks noGrp="1"/>
          </p:cNvSpPr>
          <p:nvPr>
            <p:ph type="title"/>
          </p:nvPr>
        </p:nvSpPr>
        <p:spPr>
          <a:xfrm>
            <a:off x="1524000" y="228600"/>
            <a:ext cx="8991600" cy="6629400"/>
          </a:xfrm>
        </p:spPr>
        <p:txBody>
          <a:bodyPr/>
          <a:lstStyle/>
          <a:p>
            <a:pPr eaLnBrk="1" hangingPunct="1"/>
            <a:r>
              <a:rPr lang="en-US" altLang="en-US" sz="3200">
                <a:latin typeface="Times New Roman" panose="02020603050405020304" pitchFamily="18" charset="0"/>
                <a:cs typeface="Times New Roman" panose="02020603050405020304" pitchFamily="18" charset="0"/>
              </a:rPr>
              <a:t>Mối liên hệ phổ biến trong tự nhiên</a:t>
            </a: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br>
              <a:rPr lang="en-US" altLang="en-US" sz="3200">
                <a:latin typeface="Times New Roman" panose="02020603050405020304" pitchFamily="18" charset="0"/>
                <a:cs typeface="Times New Roman" panose="02020603050405020304" pitchFamily="18" charset="0"/>
              </a:rPr>
            </a:br>
            <a:endParaRPr lang="en-US" altLang="en-US" sz="3200">
              <a:latin typeface="Times New Roman" panose="02020603050405020304" pitchFamily="18" charset="0"/>
              <a:cs typeface="Times New Roman" panose="02020603050405020304" pitchFamily="18" charset="0"/>
            </a:endParaRPr>
          </a:p>
        </p:txBody>
      </p:sp>
      <p:pic>
        <p:nvPicPr>
          <p:cNvPr id="3" name="Picture 7" descr="猫0010"/>
          <p:cNvPicPr>
            <a:picLocks noChangeAspect="1" noChangeArrowheads="1"/>
          </p:cNvPicPr>
          <p:nvPr/>
        </p:nvPicPr>
        <p:blipFill>
          <a:blip r:embed="rId1">
            <a:extLst>
              <a:ext uri="{28A0092B-C50C-407E-A947-70E740481C1C}">
                <a14:useLocalDpi xmlns:a14="http://schemas.microsoft.com/office/drawing/2010/main" val="0"/>
              </a:ext>
            </a:extLst>
          </a:blip>
          <a:srcRect l="22501" t="14999" r="5000" b="5000"/>
          <a:stretch>
            <a:fillRect/>
          </a:stretch>
        </p:blipFill>
        <p:spPr bwMode="auto">
          <a:xfrm>
            <a:off x="2281238" y="2493964"/>
            <a:ext cx="1981200" cy="1449387"/>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4" name="Picture 11" descr="胡蝶花"/>
          <p:cNvPicPr>
            <a:picLocks noChangeAspect="1" noChangeArrowheads="1"/>
          </p:cNvPicPr>
          <p:nvPr/>
        </p:nvPicPr>
        <p:blipFill>
          <a:blip r:embed="rId2">
            <a:extLst>
              <a:ext uri="{28A0092B-C50C-407E-A947-70E740481C1C}">
                <a14:useLocalDpi xmlns:a14="http://schemas.microsoft.com/office/drawing/2010/main" val="0"/>
              </a:ext>
            </a:extLst>
          </a:blip>
          <a:srcRect l="25658" t="25914" r="25659" b="22473"/>
          <a:stretch>
            <a:fillRect/>
          </a:stretch>
        </p:blipFill>
        <p:spPr bwMode="auto">
          <a:xfrm>
            <a:off x="2495550" y="4941888"/>
            <a:ext cx="1828800" cy="14478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5" descr="家鼠"/>
          <p:cNvPicPr>
            <a:picLocks noChangeAspect="1" noChangeArrowheads="1"/>
          </p:cNvPicPr>
          <p:nvPr/>
        </p:nvPicPr>
        <p:blipFill>
          <a:blip r:embed="rId3">
            <a:extLst>
              <a:ext uri="{28A0092B-C50C-407E-A947-70E740481C1C}">
                <a14:useLocalDpi xmlns:a14="http://schemas.microsoft.com/office/drawing/2010/main" val="0"/>
              </a:ext>
            </a:extLst>
          </a:blip>
          <a:srcRect l="9044" t="26144" b="5882"/>
          <a:stretch>
            <a:fillRect/>
          </a:stretch>
        </p:blipFill>
        <p:spPr bwMode="auto">
          <a:xfrm>
            <a:off x="7967663" y="5084764"/>
            <a:ext cx="2057400" cy="136842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6" descr="蜜蜂"/>
          <p:cNvPicPr>
            <a:picLocks noChangeAspect="1" noChangeArrowheads="1"/>
          </p:cNvPicPr>
          <p:nvPr/>
        </p:nvPicPr>
        <p:blipFill>
          <a:blip r:embed="rId4">
            <a:extLst>
              <a:ext uri="{28A0092B-C50C-407E-A947-70E740481C1C}">
                <a14:useLocalDpi xmlns:a14="http://schemas.microsoft.com/office/drawing/2010/main" val="0"/>
              </a:ext>
            </a:extLst>
          </a:blip>
          <a:srcRect l="5965" t="3847" r="3346"/>
          <a:stretch>
            <a:fillRect/>
          </a:stretch>
        </p:blipFill>
        <p:spPr bwMode="auto">
          <a:xfrm>
            <a:off x="7824788" y="2276475"/>
            <a:ext cx="2209800" cy="1435100"/>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8" name="Line 9"/>
          <p:cNvSpPr>
            <a:spLocks noChangeShapeType="1"/>
          </p:cNvSpPr>
          <p:nvPr/>
        </p:nvSpPr>
        <p:spPr bwMode="auto">
          <a:xfrm flipV="1">
            <a:off x="4492626" y="4149725"/>
            <a:ext cx="2898775" cy="1773238"/>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9" name="Line 10"/>
          <p:cNvSpPr>
            <a:spLocks noChangeShapeType="1"/>
          </p:cNvSpPr>
          <p:nvPr/>
        </p:nvSpPr>
        <p:spPr bwMode="auto">
          <a:xfrm flipH="1">
            <a:off x="4872038" y="3716338"/>
            <a:ext cx="2736850" cy="1657350"/>
          </a:xfrm>
          <a:prstGeom prst="line">
            <a:avLst/>
          </a:prstGeom>
          <a:noFill/>
          <a:ln w="38100">
            <a:solidFill>
              <a:srgbClr val="FF0000"/>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0" name="Line 14"/>
          <p:cNvSpPr>
            <a:spLocks noChangeShapeType="1"/>
          </p:cNvSpPr>
          <p:nvPr/>
        </p:nvSpPr>
        <p:spPr bwMode="auto">
          <a:xfrm flipH="1" flipV="1">
            <a:off x="4511675" y="4221164"/>
            <a:ext cx="3024188" cy="1125537"/>
          </a:xfrm>
          <a:prstGeom prst="line">
            <a:avLst/>
          </a:prstGeom>
          <a:noFill/>
          <a:ln w="38100">
            <a:solidFill>
              <a:srgbClr val="FF0000"/>
            </a:solidFill>
            <a:prstDash val="lgDashDot"/>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11" name="Line 8"/>
          <p:cNvSpPr>
            <a:spLocks noChangeShapeType="1"/>
          </p:cNvSpPr>
          <p:nvPr/>
        </p:nvSpPr>
        <p:spPr bwMode="auto">
          <a:xfrm>
            <a:off x="4727576" y="4005264"/>
            <a:ext cx="2881313" cy="1152525"/>
          </a:xfrm>
          <a:prstGeom prst="line">
            <a:avLst/>
          </a:prstGeom>
          <a:noFill/>
          <a:ln w="38100">
            <a:solidFill>
              <a:srgbClr val="FF0000"/>
            </a:solidFill>
            <a:prstDash val="lgDashDot"/>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 presetClass="entr" presetSubtype="16"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ox(in)">
                                      <p:cBhvr>
                                        <p:cTn id="7" dur="500"/>
                                        <p:tgtEl>
                                          <p:spTgt spid="3"/>
                                        </p:tgtEl>
                                      </p:cBhvr>
                                    </p:animEffect>
                                  </p:childTnLst>
                                </p:cTn>
                              </p:par>
                            </p:childTnLst>
                          </p:cTn>
                        </p:par>
                        <p:par>
                          <p:cTn id="8" fill="hold">
                            <p:stCondLst>
                              <p:cond delay="500"/>
                            </p:stCondLst>
                            <p:childTnLst>
                              <p:par>
                                <p:cTn id="9" presetID="4" presetClass="entr" presetSubtype="16" fill="hold" nodeType="afterEffect">
                                  <p:stCondLst>
                                    <p:cond delay="0"/>
                                  </p:stCondLst>
                                  <p:childTnLst>
                                    <p:set>
                                      <p:cBhvr>
                                        <p:cTn id="10" dur="1" fill="hold">
                                          <p:stCondLst>
                                            <p:cond delay="0"/>
                                          </p:stCondLst>
                                        </p:cTn>
                                        <p:tgtEl>
                                          <p:spTgt spid="4"/>
                                        </p:tgtEl>
                                        <p:attrNameLst>
                                          <p:attrName>style.visibility</p:attrName>
                                        </p:attrNameLst>
                                      </p:cBhvr>
                                      <p:to>
                                        <p:strVal val="visible"/>
                                      </p:to>
                                    </p:set>
                                    <p:animEffect transition="in" filter="box(in)">
                                      <p:cBhvr>
                                        <p:cTn id="11" dur="500"/>
                                        <p:tgtEl>
                                          <p:spTgt spid="4"/>
                                        </p:tgtEl>
                                      </p:cBhvr>
                                    </p:animEffect>
                                  </p:childTnLst>
                                </p:cTn>
                              </p:par>
                            </p:childTnLst>
                          </p:cTn>
                        </p:par>
                        <p:par>
                          <p:cTn id="12" fill="hold">
                            <p:stCondLst>
                              <p:cond delay="1000"/>
                            </p:stCondLst>
                            <p:childTnLst>
                              <p:par>
                                <p:cTn id="13" presetID="4" presetClass="entr" presetSubtype="16" fill="hold"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childTnLst>
                          </p:cTn>
                        </p:par>
                        <p:par>
                          <p:cTn id="16" fill="hold">
                            <p:stCondLst>
                              <p:cond delay="1500"/>
                            </p:stCondLst>
                            <p:childTnLst>
                              <p:par>
                                <p:cTn id="17" presetID="4" presetClass="entr" presetSubtype="16" fill="hold" nodeType="after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ox(in)">
                                      <p:cBhvr>
                                        <p:cTn id="19" dur="500"/>
                                        <p:tgtEl>
                                          <p:spTgt spid="6"/>
                                        </p:tgtEl>
                                      </p:cBhvr>
                                    </p:animEffect>
                                  </p:childTnLst>
                                </p:cTn>
                              </p:par>
                            </p:childTnLst>
                          </p:cTn>
                        </p:par>
                        <p:par>
                          <p:cTn id="20" fill="hold">
                            <p:stCondLst>
                              <p:cond delay="2000"/>
                            </p:stCondLst>
                            <p:childTnLst>
                              <p:par>
                                <p:cTn id="21" presetID="17" presetClass="entr" presetSubtype="8" fill="hold" nodeType="after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p:cTn id="23" dur="500" fill="hold"/>
                                        <p:tgtEl>
                                          <p:spTgt spid="8"/>
                                        </p:tgtEl>
                                        <p:attrNameLst>
                                          <p:attrName>ppt_x</p:attrName>
                                        </p:attrNameLst>
                                      </p:cBhvr>
                                      <p:tavLst>
                                        <p:tav tm="0">
                                          <p:val>
                                            <p:strVal val="#ppt_x-#ppt_w/2"/>
                                          </p:val>
                                        </p:tav>
                                        <p:tav tm="100000">
                                          <p:val>
                                            <p:strVal val="#ppt_x"/>
                                          </p:val>
                                        </p:tav>
                                      </p:tavLst>
                                    </p:anim>
                                    <p:anim calcmode="lin" valueType="num">
                                      <p:cBhvr>
                                        <p:cTn id="24" dur="500" fill="hold"/>
                                        <p:tgtEl>
                                          <p:spTgt spid="8"/>
                                        </p:tgtEl>
                                        <p:attrNameLst>
                                          <p:attrName>ppt_y</p:attrName>
                                        </p:attrNameLst>
                                      </p:cBhvr>
                                      <p:tavLst>
                                        <p:tav tm="0">
                                          <p:val>
                                            <p:strVal val="#ppt_y"/>
                                          </p:val>
                                        </p:tav>
                                        <p:tav tm="100000">
                                          <p:val>
                                            <p:strVal val="#ppt_y"/>
                                          </p:val>
                                        </p:tav>
                                      </p:tavLst>
                                    </p:anim>
                                    <p:anim calcmode="lin" valueType="num">
                                      <p:cBhvr>
                                        <p:cTn id="25" dur="500" fill="hold"/>
                                        <p:tgtEl>
                                          <p:spTgt spid="8"/>
                                        </p:tgtEl>
                                        <p:attrNameLst>
                                          <p:attrName>ppt_w</p:attrName>
                                        </p:attrNameLst>
                                      </p:cBhvr>
                                      <p:tavLst>
                                        <p:tav tm="0">
                                          <p:val>
                                            <p:fltVal val="0"/>
                                          </p:val>
                                        </p:tav>
                                        <p:tav tm="100000">
                                          <p:val>
                                            <p:strVal val="#ppt_w"/>
                                          </p:val>
                                        </p:tav>
                                      </p:tavLst>
                                    </p:anim>
                                    <p:anim calcmode="lin" valueType="num">
                                      <p:cBhvr>
                                        <p:cTn id="26" dur="500" fill="hold"/>
                                        <p:tgtEl>
                                          <p:spTgt spid="8"/>
                                        </p:tgtEl>
                                        <p:attrNameLst>
                                          <p:attrName>ppt_h</p:attrName>
                                        </p:attrNameLst>
                                      </p:cBhvr>
                                      <p:tavLst>
                                        <p:tav tm="0">
                                          <p:val>
                                            <p:strVal val="#ppt_h"/>
                                          </p:val>
                                        </p:tav>
                                        <p:tav tm="100000">
                                          <p:val>
                                            <p:strVal val="#ppt_h"/>
                                          </p:val>
                                        </p:tav>
                                      </p:tavLst>
                                    </p:anim>
                                  </p:childTnLst>
                                </p:cTn>
                              </p:par>
                            </p:childTnLst>
                          </p:cTn>
                        </p:par>
                        <p:par>
                          <p:cTn id="27" fill="hold">
                            <p:stCondLst>
                              <p:cond delay="2500"/>
                            </p:stCondLst>
                            <p:childTnLst>
                              <p:par>
                                <p:cTn id="28" presetID="17" presetClass="entr" presetSubtype="8" fill="hold" nodeType="after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p:cTn id="30" dur="500" fill="hold"/>
                                        <p:tgtEl>
                                          <p:spTgt spid="9"/>
                                        </p:tgtEl>
                                        <p:attrNameLst>
                                          <p:attrName>ppt_x</p:attrName>
                                        </p:attrNameLst>
                                      </p:cBhvr>
                                      <p:tavLst>
                                        <p:tav tm="0">
                                          <p:val>
                                            <p:strVal val="#ppt_x-#ppt_w/2"/>
                                          </p:val>
                                        </p:tav>
                                        <p:tav tm="100000">
                                          <p:val>
                                            <p:strVal val="#ppt_x"/>
                                          </p:val>
                                        </p:tav>
                                      </p:tavLst>
                                    </p:anim>
                                    <p:anim calcmode="lin" valueType="num">
                                      <p:cBhvr>
                                        <p:cTn id="31" dur="500" fill="hold"/>
                                        <p:tgtEl>
                                          <p:spTgt spid="9"/>
                                        </p:tgtEl>
                                        <p:attrNameLst>
                                          <p:attrName>ppt_y</p:attrName>
                                        </p:attrNameLst>
                                      </p:cBhvr>
                                      <p:tavLst>
                                        <p:tav tm="0">
                                          <p:val>
                                            <p:strVal val="#ppt_y"/>
                                          </p:val>
                                        </p:tav>
                                        <p:tav tm="100000">
                                          <p:val>
                                            <p:strVal val="#ppt_y"/>
                                          </p:val>
                                        </p:tav>
                                      </p:tavLst>
                                    </p:anim>
                                    <p:anim calcmode="lin" valueType="num">
                                      <p:cBhvr>
                                        <p:cTn id="32" dur="500" fill="hold"/>
                                        <p:tgtEl>
                                          <p:spTgt spid="9"/>
                                        </p:tgtEl>
                                        <p:attrNameLst>
                                          <p:attrName>ppt_w</p:attrName>
                                        </p:attrNameLst>
                                      </p:cBhvr>
                                      <p:tavLst>
                                        <p:tav tm="0">
                                          <p:val>
                                            <p:fltVal val="0"/>
                                          </p:val>
                                        </p:tav>
                                        <p:tav tm="100000">
                                          <p:val>
                                            <p:strVal val="#ppt_w"/>
                                          </p:val>
                                        </p:tav>
                                      </p:tavLst>
                                    </p:anim>
                                    <p:anim calcmode="lin" valueType="num">
                                      <p:cBhvr>
                                        <p:cTn id="33" dur="500" fill="hold"/>
                                        <p:tgtEl>
                                          <p:spTgt spid="9"/>
                                        </p:tgtEl>
                                        <p:attrNameLst>
                                          <p:attrName>ppt_h</p:attrName>
                                        </p:attrNameLst>
                                      </p:cBhvr>
                                      <p:tavLst>
                                        <p:tav tm="0">
                                          <p:val>
                                            <p:strVal val="#ppt_h"/>
                                          </p:val>
                                        </p:tav>
                                        <p:tav tm="100000">
                                          <p:val>
                                            <p:strVal val="#ppt_h"/>
                                          </p:val>
                                        </p:tav>
                                      </p:tavLst>
                                    </p:anim>
                                  </p:childTnLst>
                                </p:cTn>
                              </p:par>
                            </p:childTnLst>
                          </p:cTn>
                        </p:par>
                        <p:par>
                          <p:cTn id="34" fill="hold">
                            <p:stCondLst>
                              <p:cond delay="3000"/>
                            </p:stCondLst>
                            <p:childTnLst>
                              <p:par>
                                <p:cTn id="35" presetID="17"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ppt_x</p:attrName>
                                        </p:attrNameLst>
                                      </p:cBhvr>
                                      <p:tavLst>
                                        <p:tav tm="0">
                                          <p:val>
                                            <p:strVal val="#ppt_x-#ppt_w/2"/>
                                          </p:val>
                                        </p:tav>
                                        <p:tav tm="100000">
                                          <p:val>
                                            <p:strVal val="#ppt_x"/>
                                          </p:val>
                                        </p:tav>
                                      </p:tavLst>
                                    </p:anim>
                                    <p:anim calcmode="lin" valueType="num">
                                      <p:cBhvr>
                                        <p:cTn id="38" dur="500" fill="hold"/>
                                        <p:tgtEl>
                                          <p:spTgt spid="10"/>
                                        </p:tgtEl>
                                        <p:attrNameLst>
                                          <p:attrName>ppt_y</p:attrName>
                                        </p:attrNameLst>
                                      </p:cBhvr>
                                      <p:tavLst>
                                        <p:tav tm="0">
                                          <p:val>
                                            <p:strVal val="#ppt_y"/>
                                          </p:val>
                                        </p:tav>
                                        <p:tav tm="100000">
                                          <p:val>
                                            <p:strVal val="#ppt_y"/>
                                          </p:val>
                                        </p:tav>
                                      </p:tavLst>
                                    </p:anim>
                                    <p:anim calcmode="lin" valueType="num">
                                      <p:cBhvr>
                                        <p:cTn id="39" dur="500" fill="hold"/>
                                        <p:tgtEl>
                                          <p:spTgt spid="10"/>
                                        </p:tgtEl>
                                        <p:attrNameLst>
                                          <p:attrName>ppt_w</p:attrName>
                                        </p:attrNameLst>
                                      </p:cBhvr>
                                      <p:tavLst>
                                        <p:tav tm="0">
                                          <p:val>
                                            <p:fltVal val="0"/>
                                          </p:val>
                                        </p:tav>
                                        <p:tav tm="100000">
                                          <p:val>
                                            <p:strVal val="#ppt_w"/>
                                          </p:val>
                                        </p:tav>
                                      </p:tavLst>
                                    </p:anim>
                                    <p:anim calcmode="lin" valueType="num">
                                      <p:cBhvr>
                                        <p:cTn id="40" dur="500" fill="hold"/>
                                        <p:tgtEl>
                                          <p:spTgt spid="10"/>
                                        </p:tgtEl>
                                        <p:attrNameLst>
                                          <p:attrName>ppt_h</p:attrName>
                                        </p:attrNameLst>
                                      </p:cBhvr>
                                      <p:tavLst>
                                        <p:tav tm="0">
                                          <p:val>
                                            <p:strVal val="#ppt_h"/>
                                          </p:val>
                                        </p:tav>
                                        <p:tav tm="100000">
                                          <p:val>
                                            <p:strVal val="#ppt_h"/>
                                          </p:val>
                                        </p:tav>
                                      </p:tavLst>
                                    </p:anim>
                                  </p:childTnLst>
                                </p:cTn>
                              </p:par>
                            </p:childTnLst>
                          </p:cTn>
                        </p:par>
                        <p:par>
                          <p:cTn id="41" fill="hold">
                            <p:stCondLst>
                              <p:cond delay="3500"/>
                            </p:stCondLst>
                            <p:childTnLst>
                              <p:par>
                                <p:cTn id="42" presetID="17" presetClass="entr" presetSubtype="1" fill="hold" nodeType="afterEffect">
                                  <p:stCondLst>
                                    <p:cond delay="0"/>
                                  </p:stCondLst>
                                  <p:childTnLst>
                                    <p:set>
                                      <p:cBhvr>
                                        <p:cTn id="43" dur="1" fill="hold">
                                          <p:stCondLst>
                                            <p:cond delay="0"/>
                                          </p:stCondLst>
                                        </p:cTn>
                                        <p:tgtEl>
                                          <p:spTgt spid="11"/>
                                        </p:tgtEl>
                                        <p:attrNameLst>
                                          <p:attrName>style.visibility</p:attrName>
                                        </p:attrNameLst>
                                      </p:cBhvr>
                                      <p:to>
                                        <p:strVal val="visible"/>
                                      </p:to>
                                    </p:set>
                                    <p:anim calcmode="lin" valueType="num">
                                      <p:cBhvr>
                                        <p:cTn id="44" dur="500" fill="hold"/>
                                        <p:tgtEl>
                                          <p:spTgt spid="11"/>
                                        </p:tgtEl>
                                        <p:attrNameLst>
                                          <p:attrName>ppt_x</p:attrName>
                                        </p:attrNameLst>
                                      </p:cBhvr>
                                      <p:tavLst>
                                        <p:tav tm="0">
                                          <p:val>
                                            <p:strVal val="#ppt_x"/>
                                          </p:val>
                                        </p:tav>
                                        <p:tav tm="100000">
                                          <p:val>
                                            <p:strVal val="#ppt_x"/>
                                          </p:val>
                                        </p:tav>
                                      </p:tavLst>
                                    </p:anim>
                                    <p:anim calcmode="lin" valueType="num">
                                      <p:cBhvr>
                                        <p:cTn id="45" dur="500" fill="hold"/>
                                        <p:tgtEl>
                                          <p:spTgt spid="11"/>
                                        </p:tgtEl>
                                        <p:attrNameLst>
                                          <p:attrName>ppt_y</p:attrName>
                                        </p:attrNameLst>
                                      </p:cBhvr>
                                      <p:tavLst>
                                        <p:tav tm="0">
                                          <p:val>
                                            <p:strVal val="#ppt_y-#ppt_h/2"/>
                                          </p:val>
                                        </p:tav>
                                        <p:tav tm="100000">
                                          <p:val>
                                            <p:strVal val="#ppt_y"/>
                                          </p:val>
                                        </p:tav>
                                      </p:tavLst>
                                    </p:anim>
                                    <p:anim calcmode="lin" valueType="num">
                                      <p:cBhvr>
                                        <p:cTn id="46" dur="500" fill="hold"/>
                                        <p:tgtEl>
                                          <p:spTgt spid="11"/>
                                        </p:tgtEl>
                                        <p:attrNameLst>
                                          <p:attrName>ppt_w</p:attrName>
                                        </p:attrNameLst>
                                      </p:cBhvr>
                                      <p:tavLst>
                                        <p:tav tm="0">
                                          <p:val>
                                            <p:strVal val="#ppt_w"/>
                                          </p:val>
                                        </p:tav>
                                        <p:tav tm="100000">
                                          <p:val>
                                            <p:strVal val="#ppt_w"/>
                                          </p:val>
                                        </p:tav>
                                      </p:tavLst>
                                    </p:anim>
                                    <p:anim calcmode="lin" valueType="num">
                                      <p:cBhvr>
                                        <p:cTn id="47" dur="500" fill="hold"/>
                                        <p:tgtEl>
                                          <p:spTgt spid="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pic>
        <p:nvPicPr>
          <p:cNvPr id="1026" name="Picture 2" descr="5 câu nói để đời nhà toán học vĩ đại nhất thời cổ đại Archimedes thành Syracuse 0"/>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06435" y="1505244"/>
            <a:ext cx="4543867" cy="229303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flipH="1">
            <a:off x="506434" y="379828"/>
            <a:ext cx="4543868" cy="97067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200" b="1" i="0" dirty="0">
                <a:solidFill>
                  <a:schemeClr val="tx1"/>
                </a:solidFill>
                <a:effectLst/>
                <a:latin typeface="Times New Roman" panose="02020603050405020304" pitchFamily="18" charset="0"/>
                <a:cs typeface="Times New Roman" panose="02020603050405020304" pitchFamily="18" charset="0"/>
              </a:rPr>
              <a:t>Archimedes </a:t>
            </a:r>
            <a:r>
              <a:rPr lang="en-US" sz="2200" b="1" i="0" dirty="0" err="1">
                <a:solidFill>
                  <a:schemeClr val="tx1"/>
                </a:solidFill>
                <a:effectLst/>
                <a:latin typeface="Times New Roman" panose="02020603050405020304" pitchFamily="18" charset="0"/>
                <a:cs typeface="Times New Roman" panose="02020603050405020304" pitchFamily="18" charset="0"/>
              </a:rPr>
              <a:t>nhà</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toán</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học</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vĩ</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đại</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Hãy</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cho</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tôi</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một</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điểm</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tựa</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tôi</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sẽ</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nhấc</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bổng</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quả</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đất</a:t>
            </a:r>
            <a:r>
              <a:rPr lang="en-US" sz="2200" b="1" i="0" dirty="0">
                <a:solidFill>
                  <a:schemeClr val="tx1"/>
                </a:solidFill>
                <a:effectLst/>
                <a:latin typeface="Times New Roman" panose="02020603050405020304" pitchFamily="18" charset="0"/>
                <a:cs typeface="Times New Roman" panose="02020603050405020304" pitchFamily="18" charset="0"/>
              </a:rPr>
              <a:t> </a:t>
            </a:r>
            <a:r>
              <a:rPr lang="en-US" sz="2200" b="1" i="0" dirty="0" err="1">
                <a:solidFill>
                  <a:schemeClr val="tx1"/>
                </a:solidFill>
                <a:effectLst/>
                <a:latin typeface="Times New Roman" panose="02020603050405020304" pitchFamily="18" charset="0"/>
                <a:cs typeface="Times New Roman" panose="02020603050405020304" pitchFamily="18" charset="0"/>
              </a:rPr>
              <a:t>lên</a:t>
            </a:r>
            <a:r>
              <a:rPr lang="en-US" sz="2200" b="1" i="0" dirty="0">
                <a:solidFill>
                  <a:schemeClr val="tx1"/>
                </a:solidFill>
                <a:effectLst/>
                <a:latin typeface="Times New Roman" panose="02020603050405020304" pitchFamily="18" charset="0"/>
                <a:cs typeface="Times New Roman" panose="02020603050405020304" pitchFamily="18" charset="0"/>
              </a:rPr>
              <a:t>"</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rot="10800000" flipH="1" flipV="1">
            <a:off x="5486400" y="379828"/>
            <a:ext cx="6621195" cy="627419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200" b="1" dirty="0" err="1">
                <a:solidFill>
                  <a:schemeClr val="tx1"/>
                </a:solidFill>
                <a:latin typeface="Times New Roman" panose="02020603050405020304" pitchFamily="18" charset="0"/>
                <a:cs typeface="Times New Roman" panose="02020603050405020304" pitchFamily="18" charset="0"/>
              </a:rPr>
              <a:t>JackMa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đã</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nói</a:t>
            </a:r>
            <a:r>
              <a:rPr lang="en-US" sz="2200" b="1" dirty="0">
                <a:solidFill>
                  <a:schemeClr val="tx1"/>
                </a:solidFill>
                <a:latin typeface="Times New Roman" panose="02020603050405020304" pitchFamily="18" charset="0"/>
                <a:cs typeface="Times New Roman" panose="02020603050405020304" pitchFamily="18" charset="0"/>
              </a:rPr>
              <a:t>:</a:t>
            </a: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a:solidFill>
                  <a:schemeClr val="tx1"/>
                </a:solidFill>
                <a:latin typeface="Times New Roman" panose="02020603050405020304" pitchFamily="18" charset="0"/>
                <a:cs typeface="Times New Roman" panose="02020603050405020304" pitchFamily="18" charset="0"/>
              </a:rPr>
              <a:t>“</a:t>
            </a:r>
            <a:r>
              <a:rPr lang="en-US" sz="2200" b="1" dirty="0" err="1">
                <a:solidFill>
                  <a:schemeClr val="tx1"/>
                </a:solidFill>
                <a:latin typeface="Times New Roman" panose="02020603050405020304" pitchFamily="18" charset="0"/>
                <a:cs typeface="Times New Roman" panose="02020603050405020304" pitchFamily="18" charset="0"/>
              </a:rPr>
              <a:t>người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nghèo</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chỉ</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biết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dạy</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cách</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để</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nghèo</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hơn</a:t>
            </a:r>
            <a:r>
              <a:rPr lang="en-US" sz="2200" b="1" dirty="0">
                <a:solidFill>
                  <a:schemeClr val="tx1"/>
                </a:solidFill>
                <a:latin typeface="Times New Roman" panose="02020603050405020304" pitchFamily="18" charset="0"/>
                <a:cs typeface="Times New Roman" panose="02020603050405020304" pitchFamily="18" charset="0"/>
              </a:rPr>
              <a:t>.</a:t>
            </a: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bài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chỉ</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biết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thúc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chơi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bài</a:t>
            </a:r>
            <a:r>
              <a:rPr lang="en-US" sz="2200" b="1" dirty="0">
                <a:solidFill>
                  <a:schemeClr val="tx1"/>
                </a:solidFill>
                <a:latin typeface="Times New Roman" panose="02020603050405020304" pitchFamily="18" charset="0"/>
                <a:cs typeface="Times New Roman" panose="02020603050405020304" pitchFamily="18" charset="0"/>
              </a:rPr>
              <a:t>.</a:t>
            </a: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nhậu</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chỉ</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biết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thúc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ly</a:t>
            </a:r>
            <a:endParaRPr lang="en-US" sz="2200" b="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200" b="1" dirty="0" err="1">
                <a:solidFill>
                  <a:schemeClr val="tx1"/>
                </a:solidFill>
                <a:latin typeface="Times New Roman" panose="02020603050405020304" pitchFamily="18" charset="0"/>
                <a:cs typeface="Times New Roman" panose="02020603050405020304" pitchFamily="18" charset="0"/>
              </a:rPr>
              <a:t>Còn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người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thành</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công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chỉ</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biết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dạy</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làm</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sao</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để</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thành</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công</a:t>
            </a:r>
            <a:endParaRPr lang="en-US" sz="2200" b="1" dirty="0">
              <a:solidFill>
                <a:schemeClr val="tx1"/>
              </a:solidFill>
              <a:latin typeface="Times New Roman" panose="02020603050405020304" pitchFamily="18" charset="0"/>
              <a:cs typeface="Times New Roman" panose="02020603050405020304" pitchFamily="18" charset="0"/>
            </a:endParaRPr>
          </a:p>
          <a:p>
            <a:pPr algn="just"/>
            <a:r>
              <a:rPr lang="en-US" sz="2200" b="1" dirty="0">
                <a:solidFill>
                  <a:schemeClr val="tx1"/>
                </a:solidFill>
                <a:latin typeface="Times New Roman" panose="02020603050405020304" pitchFamily="18" charset="0"/>
                <a:cs typeface="Times New Roman" panose="02020603050405020304" pitchFamily="18" charset="0"/>
              </a:rPr>
              <a:t>May </a:t>
            </a:r>
            <a:r>
              <a:rPr lang="en-US" sz="2200" b="1" dirty="0" err="1">
                <a:solidFill>
                  <a:schemeClr val="tx1"/>
                </a:solidFill>
                <a:latin typeface="Times New Roman" panose="02020603050405020304" pitchFamily="18" charset="0"/>
                <a:cs typeface="Times New Roman" panose="02020603050405020304" pitchFamily="18" charset="0"/>
              </a:rPr>
              <a:t>mắn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lớn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nhất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của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cuộc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đời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không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phải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nhặt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được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tiền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cũng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không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phải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trúng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số</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có</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ngườicó</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thể</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dẫn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đến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một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nền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tảng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cao</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hơn</a:t>
            </a:r>
            <a:endParaRPr lang="en-US" sz="2200" b="1" dirty="0">
              <a:solidFill>
                <a:schemeClr val="tx1"/>
              </a:solidFill>
              <a:latin typeface="Times New Roman" panose="02020603050405020304" pitchFamily="18" charset="0"/>
              <a:cs typeface="Times New Roman" panose="02020603050405020304" pitchFamily="18" charset="0"/>
            </a:endParaRPr>
          </a:p>
          <a:p>
            <a:pPr algn="just"/>
            <a:r>
              <a:rPr lang="en-US" sz="2200" b="1" dirty="0" err="1">
                <a:solidFill>
                  <a:schemeClr val="tx1"/>
                </a:solidFill>
                <a:latin typeface="Times New Roman" panose="02020603050405020304" pitchFamily="18" charset="0"/>
                <a:cs typeface="Times New Roman" panose="02020603050405020304" pitchFamily="18" charset="0"/>
              </a:rPr>
              <a:t>Thật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ra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chế</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sự</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phát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triển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của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không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phải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trí</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thông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minh</a:t>
            </a:r>
            <a:r>
              <a:rPr lang="en-US" sz="2200" b="1" dirty="0">
                <a:solidFill>
                  <a:schemeClr val="tx1"/>
                </a:solidFill>
                <a:latin typeface="Times New Roman" panose="02020603050405020304" pitchFamily="18" charset="0"/>
                <a:cs typeface="Times New Roman" panose="02020603050405020304" pitchFamily="18" charset="0"/>
              </a:rPr>
              <a:t> hay </a:t>
            </a:r>
            <a:r>
              <a:rPr lang="en-US" sz="2200" b="1" dirty="0" err="1">
                <a:solidFill>
                  <a:schemeClr val="tx1"/>
                </a:solidFill>
                <a:latin typeface="Times New Roman" panose="02020603050405020304" pitchFamily="18" charset="0"/>
                <a:cs typeface="Times New Roman" panose="02020603050405020304" pitchFamily="18" charset="0"/>
              </a:rPr>
              <a:t>học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lực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nhóm</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quan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hệ</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trong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cuộc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sống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nhóm</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quan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hệ</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trong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công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việc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của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endParaRPr lang="en-US" sz="2200" b="1" dirty="0">
              <a:solidFill>
                <a:schemeClr val="tx1"/>
              </a:solidFill>
              <a:latin typeface="Times New Roman" panose="02020603050405020304" pitchFamily="18" charset="0"/>
              <a:cs typeface="Times New Roman" panose="02020603050405020304" pitchFamily="18" charset="0"/>
            </a:endParaRPr>
          </a:p>
          <a:p>
            <a:pPr algn="just"/>
            <a:r>
              <a:rPr lang="en-US" sz="2200" b="1" dirty="0" err="1">
                <a:solidFill>
                  <a:schemeClr val="tx1"/>
                </a:solidFill>
                <a:latin typeface="Times New Roman" panose="02020603050405020304" pitchFamily="18" charset="0"/>
                <a:cs typeface="Times New Roman" panose="02020603050405020304" pitchFamily="18" charset="0"/>
              </a:rPr>
              <a:t>Người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được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gọi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Quý</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nhân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người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mở</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mang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tầm</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nhìn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của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đưa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đến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một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thế</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giới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mới</a:t>
            </a:r>
            <a:r>
              <a:rPr lang="en-US" sz="2200" b="1" dirty="0">
                <a:solidFill>
                  <a:schemeClr val="tx1"/>
                </a:solidFill>
                <a:latin typeface="Times New Roman" panose="02020603050405020304" pitchFamily="18" charset="0"/>
                <a:cs typeface="Times New Roman" panose="02020603050405020304" pitchFamily="18" charset="0"/>
              </a:rPr>
              <a:t>.</a:t>
            </a:r>
            <a:endParaRPr lang="en-US" sz="2200" b="1" dirty="0">
              <a:solidFill>
                <a:schemeClr val="tx1"/>
              </a:solidFill>
              <a:latin typeface="Times New Roman" panose="02020603050405020304" pitchFamily="18" charset="0"/>
              <a:cs typeface="Times New Roman" panose="02020603050405020304" pitchFamily="18" charset="0"/>
            </a:endParaRPr>
          </a:p>
          <a:p>
            <a:pPr algn="just"/>
            <a:r>
              <a:rPr lang="en-US" sz="2200" b="1" dirty="0" err="1">
                <a:solidFill>
                  <a:schemeClr val="tx1"/>
                </a:solidFill>
                <a:latin typeface="Times New Roman" panose="02020603050405020304" pitchFamily="18" charset="0"/>
                <a:cs typeface="Times New Roman" panose="02020603050405020304" pitchFamily="18" charset="0"/>
              </a:rPr>
              <a:t>Ngày</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mai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có</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thật</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sự</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huy</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hoàng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tuỳ</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thuộc</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vào</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sự</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lựa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chọn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và</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hành</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động</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của</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bạn</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hôm</a:t>
            </a:r>
            <a:r>
              <a:rPr lang="en-US" sz="2200" b="1" dirty="0">
                <a:solidFill>
                  <a:schemeClr val="tx1"/>
                </a:solidFill>
                <a:latin typeface="Times New Roman" panose="02020603050405020304" pitchFamily="18" charset="0"/>
                <a:cs typeface="Times New Roman" panose="02020603050405020304" pitchFamily="18" charset="0"/>
              </a:rPr>
              <a:t> nay”</a:t>
            </a:r>
            <a:endParaRPr lang="en-US" sz="2200" b="1" dirty="0">
              <a:solidFill>
                <a:schemeClr val="tx1"/>
              </a:solidFill>
              <a:latin typeface="Times New Roman" panose="02020603050405020304" pitchFamily="18" charset="0"/>
              <a:cs typeface="Times New Roman" panose="02020603050405020304" pitchFamily="18" charset="0"/>
            </a:endParaRPr>
          </a:p>
        </p:txBody>
      </p:sp>
      <p:pic>
        <p:nvPicPr>
          <p:cNvPr id="2" name="Picture 2" descr="Lesson Alibaba's Jack Ma learned after being rejected for a ..."/>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06434" y="4009292"/>
            <a:ext cx="4754883" cy="26447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2832"/>
          </a:xfrm>
        </p:spPr>
        <p:txBody>
          <a:bodyPr>
            <a:normAutofit fontScale="90000"/>
          </a:bodyPr>
          <a:lstStyle/>
          <a:p>
            <a:br>
              <a:rPr lang="en-US" altLang="en-US" sz="3200" b="1" dirty="0">
                <a:latin typeface="Times New Roman" panose="02020603050405020304" pitchFamily="18" charset="0"/>
                <a:cs typeface="Times New Roman" panose="02020603050405020304" pitchFamily="18" charset="0"/>
              </a:rPr>
            </a:br>
            <a:br>
              <a:rPr lang="en-US" altLang="en-US" sz="3200" b="1" dirty="0">
                <a:latin typeface="Times New Roman" panose="02020603050405020304" pitchFamily="18" charset="0"/>
                <a:cs typeface="Times New Roman" panose="02020603050405020304" pitchFamily="18" charset="0"/>
              </a:rPr>
            </a:br>
            <a:r>
              <a:rPr lang="vi-VN" altLang="en-US" sz="3200" b="1" dirty="0">
                <a:latin typeface="Times New Roman" panose="02020603050405020304" pitchFamily="18" charset="0"/>
                <a:cs typeface="Times New Roman" panose="02020603050405020304" pitchFamily="18" charset="0"/>
              </a:rPr>
              <a:t>Mối liên hệ phổ biến trong xã hội</a:t>
            </a:r>
            <a:r>
              <a:rPr lang="vi-VN" altLang="en-US" sz="3200" dirty="0">
                <a:latin typeface="Times New Roman" panose="02020603050405020304" pitchFamily="18" charset="0"/>
                <a:cs typeface="Times New Roman" panose="02020603050405020304" pitchFamily="18" charset="0"/>
              </a:rPr>
              <a:t>.</a:t>
            </a:r>
            <a:br>
              <a:rPr lang="vi-VN" altLang="en-US" sz="3200" dirty="0">
                <a:latin typeface="Times New Roman" panose="02020603050405020304" pitchFamily="18" charset="0"/>
                <a:cs typeface="Times New Roman" panose="02020603050405020304" pitchFamily="18" charset="0"/>
              </a:rPr>
            </a:br>
            <a:br>
              <a:rPr lang="vi-VN" altLang="en-US" sz="3200" dirty="0">
                <a:latin typeface="Times New Roman" panose="02020603050405020304" pitchFamily="18" charset="0"/>
                <a:cs typeface="Times New Roman" panose="02020603050405020304" pitchFamily="18" charset="0"/>
              </a:rPr>
            </a:br>
            <a:endParaRPr lang="en-US" sz="3200" dirty="0"/>
          </a:p>
        </p:txBody>
      </p:sp>
      <p:sp>
        <p:nvSpPr>
          <p:cNvPr id="3" name="Content Placeholder 2"/>
          <p:cNvSpPr>
            <a:spLocks noGrp="1"/>
          </p:cNvSpPr>
          <p:nvPr>
            <p:ph idx="1"/>
          </p:nvPr>
        </p:nvSpPr>
        <p:spPr>
          <a:xfrm>
            <a:off x="838200" y="1237958"/>
            <a:ext cx="10515600" cy="4939005"/>
          </a:xfrm>
        </p:spPr>
        <p:txBody>
          <a:bodyPr>
            <a:normAutofit lnSpcReduction="10000"/>
          </a:bodyPr>
          <a:lstStyle/>
          <a:p>
            <a:pPr marL="0" indent="0" algn="just">
              <a:buNone/>
            </a:pPr>
            <a:r>
              <a:rPr lang="en-US" dirty="0" err="1">
                <a:latin typeface="Times New Roman" panose="02020603050405020304" pitchFamily="18" charset="0"/>
                <a:cs typeface="Times New Roman" panose="02020603050405020304" pitchFamily="18" charset="0"/>
              </a:rPr>
              <a:t>Ví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buFontTx/>
              <a:buChar char="-"/>
            </a:pPr>
            <a:r>
              <a:rPr lang="en-US" dirty="0">
                <a:solidFill>
                  <a:srgbClr val="000000"/>
                </a:solidFill>
                <a:latin typeface="Times New Roman" panose="02020603050405020304" pitchFamily="18" charset="0"/>
                <a:cs typeface="Times New Roman" panose="02020603050405020304" pitchFamily="18" charset="0"/>
              </a:rPr>
              <a:t>M</a:t>
            </a:r>
            <a:r>
              <a:rPr lang="vi-VN" b="0" i="0" dirty="0">
                <a:solidFill>
                  <a:srgbClr val="000000"/>
                </a:solidFill>
                <a:effectLst/>
                <a:latin typeface="Times New Roman" panose="02020603050405020304" pitchFamily="18" charset="0"/>
                <a:cs typeface="Times New Roman" panose="02020603050405020304" pitchFamily="18" charset="0"/>
              </a:rPr>
              <a:t>ỗi </a:t>
            </a:r>
            <a:r>
              <a:rPr lang="vi-VN" b="0" i="0" dirty="0">
                <a:solidFill>
                  <a:srgbClr val="000000"/>
                </a:solidFill>
                <a:effectLst/>
                <a:latin typeface="+mj-lt"/>
              </a:rPr>
              <a:t>người khác nhau sẽ có mối liên hệ với cha mẹ, anh em, bạn bè khác nhau. Hay cũng là mối liên hệ giữa cha mẹ với con cái nhưng trong mỗi giai đoạn lại khác nhau, có tính chất và biểu hiện khác nhau</a:t>
            </a:r>
            <a:r>
              <a:rPr lang="en-US" b="0" i="0" dirty="0">
                <a:solidFill>
                  <a:srgbClr val="000000"/>
                </a:solidFill>
                <a:effectLst/>
                <a:latin typeface="+mj-lt"/>
              </a:rPr>
              <a:t>.</a:t>
            </a:r>
            <a:endParaRPr lang="en-US" b="0" i="0" dirty="0">
              <a:solidFill>
                <a:srgbClr val="000000"/>
              </a:solidFill>
              <a:effectLst/>
              <a:latin typeface="+mj-lt"/>
            </a:endParaRPr>
          </a:p>
          <a:p>
            <a:pPr algn="just">
              <a:buFontTx/>
              <a:buChar char="-"/>
            </a:pPr>
            <a:r>
              <a:rPr lang="en-US" altLang="en-US" dirty="0">
                <a:latin typeface="Times New Roman" panose="02020603050405020304" pitchFamily="18" charset="0"/>
                <a:cs typeface="Times New Roman" panose="02020603050405020304" pitchFamily="18" charset="0"/>
              </a:rPr>
              <a:t>G</a:t>
            </a:r>
            <a:r>
              <a:rPr lang="vi-VN" altLang="en-US" sz="2800" dirty="0">
                <a:latin typeface="Times New Roman" panose="02020603050405020304" pitchFamily="18" charset="0"/>
                <a:cs typeface="Times New Roman" panose="02020603050405020304" pitchFamily="18" charset="0"/>
              </a:rPr>
              <a:t>iữa cung và cầu (hàng hoá, dịch vụ) trên thị trường luôn luôn diễn ra quá trình: cung và cầu quy định lẫn nhau; cung và cầu tác động, ảnh hưởng lẫn nhau, chuyển hoá lẫn nhau, từ đó tạo nên quá trình vận động, phát triển không ngừng của cả cung và cầu. Đó chính là những nội dung cơ bản khi phân tích về mối quan hệ biện chứng giữa cung và cầu.</a:t>
            </a:r>
            <a:br>
              <a:rPr lang="vi-VN" altLang="en-US" sz="2800" dirty="0">
                <a:latin typeface="Times New Roman" panose="02020603050405020304" pitchFamily="18" charset="0"/>
                <a:cs typeface="Times New Roman" panose="02020603050405020304" pitchFamily="18" charset="0"/>
              </a:rPr>
            </a:br>
            <a:br>
              <a:rPr lang="vi-VN" altLang="en-US" sz="2800" dirty="0">
                <a:latin typeface="Times New Roman" panose="02020603050405020304" pitchFamily="18" charset="0"/>
                <a:cs typeface="Times New Roman" panose="02020603050405020304" pitchFamily="18" charset="0"/>
              </a:rPr>
            </a:br>
            <a:endParaRPr lang="en-US" dirty="0">
              <a:latin typeface="+mj-lt"/>
              <a:cs typeface="Times New Roman" panose="02020603050405020304" pitchFamily="18" charset="0"/>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98961"/>
          </a:xfrm>
        </p:spPr>
        <p:txBody>
          <a:bodyPr/>
          <a:lstStyle/>
          <a:p>
            <a:endParaRPr lang="en-US" dirty="0"/>
          </a:p>
        </p:txBody>
      </p:sp>
      <p:sp>
        <p:nvSpPr>
          <p:cNvPr id="3" name="Rectangle 2"/>
          <p:cNvSpPr/>
          <p:nvPr/>
        </p:nvSpPr>
        <p:spPr>
          <a:xfrm>
            <a:off x="979714" y="522514"/>
            <a:ext cx="10080172" cy="13824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vi-VN" altLang="en-US" sz="1800" b="1" dirty="0">
              <a:latin typeface="Times New Roman" panose="02020603050405020304" pitchFamily="18" charset="0"/>
              <a:cs typeface="Times New Roman" panose="02020603050405020304" pitchFamily="18" charset="0"/>
            </a:endParaRPr>
          </a:p>
          <a:p>
            <a:pPr algn="just"/>
            <a:r>
              <a:rPr lang="en-US" altLang="en-US" sz="1800" b="1" dirty="0" err="1">
                <a:latin typeface="Times New Roman" panose="02020603050405020304" pitchFamily="18" charset="0"/>
                <a:cs typeface="Times New Roman" panose="02020603050405020304" pitchFamily="18" charset="0"/>
              </a:rPr>
              <a:t>Mối</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liên</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hệ</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phổ</a:t>
            </a:r>
            <a:r>
              <a:rPr lang="en-US" altLang="en-US" sz="1800" b="1" dirty="0">
                <a:latin typeface="Times New Roman" panose="02020603050405020304" pitchFamily="18" charset="0"/>
                <a:cs typeface="Times New Roman" panose="02020603050405020304" pitchFamily="18" charset="0"/>
              </a:rPr>
              <a:t> </a:t>
            </a:r>
            <a:r>
              <a:rPr lang="en-US" altLang="en-US" sz="1800" b="1" dirty="0" err="1">
                <a:latin typeface="Times New Roman" panose="02020603050405020304" pitchFamily="18" charset="0"/>
                <a:cs typeface="Times New Roman" panose="02020603050405020304" pitchFamily="18" charset="0"/>
              </a:rPr>
              <a:t>biến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dùng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để</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chỉ</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tính</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phổ</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biến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của</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các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mối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kiên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hệ</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của</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các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sự</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vật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hiện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tượng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của</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thế</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giới</a:t>
            </a:r>
            <a:r>
              <a:rPr lang="vi-VN" altLang="en-US" sz="1800" dirty="0">
                <a:latin typeface="Times New Roman" panose="02020603050405020304" pitchFamily="18" charset="0"/>
                <a:cs typeface="Times New Roman" panose="02020603050405020304" pitchFamily="18" charset="0"/>
              </a:rPr>
              <a: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đồng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thời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cũng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dùng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để</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chỉ</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các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mối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liên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hệ</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tồn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tại</a:t>
            </a:r>
            <a:r>
              <a:rPr lang="en-US" altLang="en-US" sz="1800" dirty="0">
                <a:latin typeface="Times New Roman" panose="02020603050405020304" pitchFamily="18" charset="0"/>
                <a:cs typeface="Times New Roman" panose="02020603050405020304" pitchFamily="18" charset="0"/>
              </a:rPr>
              <a:t> ở </a:t>
            </a:r>
            <a:r>
              <a:rPr lang="en-US" altLang="en-US" sz="1800" dirty="0" err="1">
                <a:latin typeface="Times New Roman" panose="02020603050405020304" pitchFamily="18" charset="0"/>
                <a:cs typeface="Times New Roman" panose="02020603050405020304" pitchFamily="18" charset="0"/>
              </a:rPr>
              <a:t>nhiều</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sự</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vật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hiện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tượng</a:t>
            </a:r>
            <a:r>
              <a:rPr lang="en-US" altLang="en-US" sz="1800" dirty="0">
                <a:latin typeface="Times New Roman" panose="02020603050405020304" pitchFamily="18" charset="0"/>
                <a:cs typeface="Times New Roman" panose="02020603050405020304" pitchFamily="18" charset="0"/>
              </a:rPr>
              <a:t> c</a:t>
            </a:r>
            <a:r>
              <a:rPr lang="vi-VN" altLang="en-US" dirty="0">
                <a:latin typeface="Times New Roman" panose="02020603050405020304" pitchFamily="18" charset="0"/>
                <a:cs typeface="Times New Roman" panose="02020603050405020304" pitchFamily="18" charset="0"/>
              </a:rPr>
              <a:t>ủa</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thế</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giới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trong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đó</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NMLHPBNlà</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NMLhệ</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tồn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tại</a:t>
            </a:r>
            <a:r>
              <a:rPr lang="en-US" altLang="en-US" sz="1800" dirty="0">
                <a:latin typeface="Times New Roman" panose="02020603050405020304" pitchFamily="18" charset="0"/>
                <a:cs typeface="Times New Roman" panose="02020603050405020304" pitchFamily="18" charset="0"/>
              </a:rPr>
              <a:t> ở </a:t>
            </a:r>
            <a:r>
              <a:rPr lang="en-US" altLang="en-US" sz="1800" dirty="0" err="1">
                <a:latin typeface="Times New Roman" panose="02020603050405020304" pitchFamily="18" charset="0"/>
                <a:cs typeface="Times New Roman" panose="02020603050405020304" pitchFamily="18" charset="0"/>
              </a:rPr>
              <a:t>mọi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sự</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vật</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hiện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tượng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của</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thế</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giới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nó</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thuộc</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đối</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tượng</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nghiên</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cứu</a:t>
            </a:r>
            <a:r>
              <a:rPr lang="en-US" altLang="en-US" sz="1800" dirty="0">
                <a:latin typeface="Times New Roman" panose="02020603050405020304" pitchFamily="18" charset="0"/>
                <a:cs typeface="Times New Roman" panose="02020603050405020304" pitchFamily="18" charset="0"/>
              </a:rPr>
              <a:t> </a:t>
            </a:r>
            <a:r>
              <a:rPr lang="en-US" altLang="en-US" sz="1800" dirty="0" err="1">
                <a:latin typeface="Times New Roman" panose="02020603050405020304" pitchFamily="18" charset="0"/>
                <a:cs typeface="Times New Roman" panose="02020603050405020304" pitchFamily="18" charset="0"/>
              </a:rPr>
              <a:t>của</a:t>
            </a:r>
            <a:r>
              <a:rPr lang="en-US" altLang="en-US" sz="1800" dirty="0">
                <a:latin typeface="Times New Roman" panose="02020603050405020304" pitchFamily="18" charset="0"/>
                <a:cs typeface="Times New Roman" panose="02020603050405020304" pitchFamily="18" charset="0"/>
              </a:rPr>
              <a:t> PBC </a:t>
            </a:r>
            <a:endParaRPr lang="en-US" altLang="en-US" sz="18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1360714" y="3320143"/>
            <a:ext cx="1273629" cy="138248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Mối liên hệ</a:t>
            </a:r>
            <a:endParaRPr lang="en-US" sz="2000" dirty="0">
              <a:latin typeface="Times New Roman" panose="02020603050405020304" pitchFamily="18" charset="0"/>
              <a:cs typeface="Times New Roman" panose="02020603050405020304" pitchFamily="18" charset="0"/>
            </a:endParaRPr>
          </a:p>
        </p:txBody>
      </p:sp>
      <p:sp>
        <p:nvSpPr>
          <p:cNvPr id="5" name="Rectangle: Rounded Corners 4"/>
          <p:cNvSpPr/>
          <p:nvPr/>
        </p:nvSpPr>
        <p:spPr>
          <a:xfrm>
            <a:off x="3679371" y="2514599"/>
            <a:ext cx="351608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Làm điều kiện, tiền đề quy định lẫn nhau</a:t>
            </a:r>
            <a:endParaRPr lang="en-US" sz="2000"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3679371" y="3842657"/>
            <a:ext cx="3516086" cy="914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Tác động qua lại</a:t>
            </a:r>
            <a:endParaRPr lang="en-US" sz="2000"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3679370" y="5061857"/>
            <a:ext cx="3516085" cy="9144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Chuyển hóa lẫn nhau</a:t>
            </a:r>
            <a:endParaRPr lang="en-US" sz="2000" dirty="0">
              <a:latin typeface="Times New Roman" panose="02020603050405020304" pitchFamily="18" charset="0"/>
              <a:cs typeface="Times New Roman" panose="02020603050405020304" pitchFamily="18" charset="0"/>
            </a:endParaRPr>
          </a:p>
        </p:txBody>
      </p:sp>
      <p:sp>
        <p:nvSpPr>
          <p:cNvPr id="8" name="Rectangle 7"/>
          <p:cNvSpPr/>
          <p:nvPr/>
        </p:nvSpPr>
        <p:spPr>
          <a:xfrm>
            <a:off x="7990115" y="2514599"/>
            <a:ext cx="1654628"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Giữa các sự vật, hiện tượng</a:t>
            </a:r>
            <a:endParaRPr lang="en-US" dirty="0">
              <a:latin typeface="Times New Roman" panose="02020603050405020304" pitchFamily="18" charset="0"/>
              <a:cs typeface="Times New Roman" panose="02020603050405020304" pitchFamily="18" charset="0"/>
            </a:endParaRPr>
          </a:p>
        </p:txBody>
      </p:sp>
      <p:sp>
        <p:nvSpPr>
          <p:cNvPr id="9" name="Rectangle 8"/>
          <p:cNvSpPr/>
          <p:nvPr/>
        </p:nvSpPr>
        <p:spPr>
          <a:xfrm>
            <a:off x="8240483" y="4430485"/>
            <a:ext cx="2166260" cy="9144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Giữa các mặt của sự vật, hiện tượng</a:t>
            </a:r>
            <a:endParaRPr lang="en-US" dirty="0">
              <a:latin typeface="Times New Roman" panose="02020603050405020304" pitchFamily="18" charset="0"/>
              <a:cs typeface="Times New Roman" panose="02020603050405020304" pitchFamily="18" charset="0"/>
            </a:endParaRPr>
          </a:p>
        </p:txBody>
      </p:sp>
      <p:cxnSp>
        <p:nvCxnSpPr>
          <p:cNvPr id="11" name="Straight Arrow Connector 10"/>
          <p:cNvCxnSpPr>
            <a:stCxn id="4" idx="3"/>
            <a:endCxn id="5" idx="1"/>
          </p:cNvCxnSpPr>
          <p:nvPr/>
        </p:nvCxnSpPr>
        <p:spPr>
          <a:xfrm flipV="1">
            <a:off x="2634343" y="2971799"/>
            <a:ext cx="1045028" cy="10395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p:cNvCxnSpPr>
            <a:stCxn id="4" idx="3"/>
            <a:endCxn id="6" idx="1"/>
          </p:cNvCxnSpPr>
          <p:nvPr/>
        </p:nvCxnSpPr>
        <p:spPr>
          <a:xfrm>
            <a:off x="2634343" y="4011386"/>
            <a:ext cx="1045028" cy="288471"/>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5" name="Straight Arrow Connector 14"/>
          <p:cNvCxnSpPr>
            <a:stCxn id="4" idx="3"/>
          </p:cNvCxnSpPr>
          <p:nvPr/>
        </p:nvCxnSpPr>
        <p:spPr>
          <a:xfrm>
            <a:off x="2634343" y="4011386"/>
            <a:ext cx="1045027" cy="15294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5" idx="3"/>
            <a:endCxn id="8" idx="1"/>
          </p:cNvCxnSpPr>
          <p:nvPr/>
        </p:nvCxnSpPr>
        <p:spPr>
          <a:xfrm>
            <a:off x="7195457" y="2971799"/>
            <a:ext cx="794658"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p:cNvCxnSpPr>
            <a:stCxn id="6" idx="3"/>
            <a:endCxn id="9" idx="1"/>
          </p:cNvCxnSpPr>
          <p:nvPr/>
        </p:nvCxnSpPr>
        <p:spPr>
          <a:xfrm>
            <a:off x="7195457" y="4299857"/>
            <a:ext cx="1045026" cy="58782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p:cNvCxnSpPr>
            <a:stCxn id="7" idx="3"/>
            <a:endCxn id="9" idx="1"/>
          </p:cNvCxnSpPr>
          <p:nvPr/>
        </p:nvCxnSpPr>
        <p:spPr>
          <a:xfrm flipV="1">
            <a:off x="7195455" y="4887686"/>
            <a:ext cx="1045028" cy="63137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b="1" dirty="0" err="1">
                <a:latin typeface="Times New Roman" panose="02020603050405020304" pitchFamily="18" charset="0"/>
                <a:cs typeface="Times New Roman" panose="02020603050405020304" pitchFamily="18" charset="0"/>
              </a:rPr>
              <a:t>Tính</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chất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của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các</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mối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liên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199" y="1825625"/>
            <a:ext cx="10700657" cy="4351338"/>
          </a:xfrm>
        </p:spPr>
        <p:txBody>
          <a:bodyPr>
            <a:normAutofit/>
          </a:bodyPr>
          <a:lstStyle/>
          <a:p>
            <a:pPr algn="just">
              <a:buClr>
                <a:schemeClr val="tx1"/>
              </a:buClr>
            </a:pPr>
            <a:r>
              <a:rPr lang="en-US" altLang="en-US" b="1" dirty="0" err="1">
                <a:latin typeface="Times New Roman" panose="02020603050405020304" pitchFamily="18" charset="0"/>
                <a:cs typeface="Times New Roman" panose="02020603050405020304" pitchFamily="18" charset="0"/>
              </a:rPr>
              <a:t>Tính</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khách</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quan</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MLHPB là cái vốn có, tồn tại độc lập với con người, con người chỉ nhận thức sự vật thông qua các MLH vốn có của nó.</a:t>
            </a:r>
            <a:endParaRPr lang="vi-VN" altLang="en-US" i="1" dirty="0">
              <a:latin typeface="Times New Roman" panose="02020603050405020304" pitchFamily="18" charset="0"/>
              <a:cs typeface="Times New Roman" panose="02020603050405020304" pitchFamily="18" charset="0"/>
            </a:endParaRPr>
          </a:p>
          <a:p>
            <a:pPr algn="just">
              <a:buClr>
                <a:schemeClr val="tx1"/>
              </a:buClr>
            </a:pPr>
            <a:r>
              <a:rPr lang="en-US" altLang="en-US" b="1" dirty="0" err="1">
                <a:latin typeface="Times New Roman" panose="02020603050405020304" pitchFamily="18" charset="0"/>
                <a:cs typeface="Times New Roman" panose="02020603050405020304" pitchFamily="18" charset="0"/>
              </a:rPr>
              <a:t>Tính</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phổ</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biến</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bất kỳ sự vật, hiện tượng nào, ở bất kỳ không gian, thời gian nào đều có MLH với những sự vật, hiện tượng khác.</a:t>
            </a:r>
            <a:endParaRPr lang="vi-VN" altLang="en-US" i="1" dirty="0">
              <a:latin typeface="Times New Roman" panose="02020603050405020304" pitchFamily="18" charset="0"/>
              <a:cs typeface="Times New Roman" panose="02020603050405020304" pitchFamily="18" charset="0"/>
            </a:endParaRPr>
          </a:p>
          <a:p>
            <a:pPr algn="just">
              <a:buClr>
                <a:schemeClr val="tx1"/>
              </a:buClr>
            </a:pPr>
            <a:r>
              <a:rPr lang="en-US" altLang="en-US" b="1" dirty="0" err="1">
                <a:latin typeface="Times New Roman" panose="02020603050405020304" pitchFamily="18" charset="0"/>
                <a:cs typeface="Times New Roman" panose="02020603050405020304" pitchFamily="18" charset="0"/>
              </a:rPr>
              <a:t>Tính</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đa</a:t>
            </a:r>
            <a:r>
              <a:rPr lang="en-US" altLang="en-US" b="1" dirty="0">
                <a:latin typeface="Times New Roman" panose="02020603050405020304" pitchFamily="18" charset="0"/>
                <a:cs typeface="Times New Roman" panose="02020603050405020304" pitchFamily="18" charset="0"/>
              </a:rPr>
              <a:t> </a:t>
            </a:r>
            <a:r>
              <a:rPr lang="en-US" altLang="en-US" b="1" dirty="0" err="1">
                <a:latin typeface="Times New Roman" panose="02020603050405020304" pitchFamily="18" charset="0"/>
                <a:cs typeface="Times New Roman" panose="02020603050405020304" pitchFamily="18" charset="0"/>
              </a:rPr>
              <a:t>dạng</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các sự vật khác nhau, hiện tượng, không gian khác nhau, thời gian khác nhau thì MLH biểu hiện khác nhau</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87820"/>
          </a:xfrm>
        </p:spPr>
        <p:txBody>
          <a:bodyPr>
            <a:normAutofit/>
          </a:bodyPr>
          <a:lstStyle/>
          <a:p>
            <a:pPr algn="just"/>
            <a:r>
              <a:rPr lang="en-US" sz="4000" b="1" dirty="0">
                <a:latin typeface="Times New Roman" panose="02020603050405020304" pitchFamily="18" charset="0"/>
                <a:cs typeface="Times New Roman" panose="02020603050405020304" pitchFamily="18" charset="0"/>
              </a:rPr>
              <a:t>Ý </a:t>
            </a:r>
            <a:r>
              <a:rPr lang="en-US" sz="4000" b="1" dirty="0" err="1">
                <a:latin typeface="Times New Roman" panose="02020603050405020304" pitchFamily="18" charset="0"/>
                <a:cs typeface="Times New Roman" panose="02020603050405020304" pitchFamily="18" charset="0"/>
              </a:rPr>
              <a:t>nghĩa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phương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luận</a:t>
            </a:r>
            <a:r>
              <a:rPr lang="en-US" sz="4000" b="1" dirty="0">
                <a:latin typeface="Times New Roman" panose="02020603050405020304" pitchFamily="18" charset="0"/>
                <a:cs typeface="Times New Roman" panose="02020603050405020304" pitchFamily="18" charset="0"/>
              </a:rPr>
              <a:t> </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43891"/>
            <a:ext cx="10515600" cy="4833072"/>
          </a:xfrm>
        </p:spPr>
        <p:txBody>
          <a:bodyPr/>
          <a:lstStyle/>
          <a:p>
            <a:pPr algn="just">
              <a:defRPr/>
            </a:pPr>
            <a:endParaRPr lang="en-US" dirty="0">
              <a:latin typeface="Times New Roman" panose="02020603050405020304" pitchFamily="18" charset="0"/>
              <a:cs typeface="Times New Roman" panose="02020603050405020304" pitchFamily="18" charset="0"/>
            </a:endParaRPr>
          </a:p>
          <a:p>
            <a:pPr algn="just">
              <a:defRPr/>
            </a:pPr>
            <a:r>
              <a:rPr lang="en-US" dirty="0" err="1">
                <a:latin typeface="Times New Roman" panose="02020603050405020304" pitchFamily="18" charset="0"/>
                <a:cs typeface="Times New Roman" panose="02020603050405020304" pitchFamily="18" charset="0"/>
              </a:rPr>
              <a:t>Từ</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phổ</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MLH </a:t>
            </a:r>
            <a:r>
              <a:rPr lang="en-US" dirty="0" err="1">
                <a:latin typeface="Times New Roman" panose="02020603050405020304" pitchFamily="18" charset="0"/>
                <a:cs typeface="Times New Roman" panose="02020603050405020304" pitchFamily="18" charset="0"/>
              </a:rPr>
              <a:t>đã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tiễn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phải</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có</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quan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điểm</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toàn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diện</a:t>
            </a:r>
            <a:r>
              <a:rPr lang="vi-VN" b="1" i="1" dirty="0">
                <a:latin typeface="Times New Roman" panose="02020603050405020304" pitchFamily="18" charset="0"/>
                <a:cs typeface="Times New Roman" panose="02020603050405020304" pitchFamily="18" charset="0"/>
              </a:rPr>
              <a:t>, phải trách cách xem xét phiến diện</a:t>
            </a:r>
            <a:endParaRPr lang="en-US" b="1" i="1" dirty="0">
              <a:latin typeface="Times New Roman" panose="02020603050405020304" pitchFamily="18" charset="0"/>
              <a:cs typeface="Times New Roman" panose="02020603050405020304" pitchFamily="18" charset="0"/>
            </a:endParaRPr>
          </a:p>
          <a:p>
            <a:pPr marL="0" indent="0" algn="just">
              <a:buNone/>
              <a:defRPr/>
            </a:pPr>
            <a:endParaRPr lang="en-US" dirty="0">
              <a:latin typeface="Times New Roman" panose="02020603050405020304" pitchFamily="18" charset="0"/>
              <a:cs typeface="Times New Roman" panose="02020603050405020304" pitchFamily="18" charset="0"/>
            </a:endParaRPr>
          </a:p>
          <a:p>
            <a:pPr algn="just">
              <a:defRPr/>
            </a:pP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tính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dạng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phú</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MLH</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hoạt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tiễn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toàn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phải</a:t>
            </a:r>
            <a:r>
              <a:rPr lang="en-US" b="1" i="1" dirty="0">
                <a:latin typeface="Times New Roman" panose="02020603050405020304" pitchFamily="18" charset="0"/>
                <a:cs typeface="Times New Roman" panose="02020603050405020304" pitchFamily="18" charset="0"/>
              </a:rPr>
              <a:t> </a:t>
            </a:r>
            <a:r>
              <a:rPr lang="vi-VN" b="1" i="1" dirty="0">
                <a:latin typeface="Times New Roman" panose="02020603050405020304" pitchFamily="18" charset="0"/>
                <a:cs typeface="Times New Roman" panose="02020603050405020304" pitchFamily="18" charset="0"/>
              </a:rPr>
              <a:t>tôn trọng </a:t>
            </a:r>
            <a:r>
              <a:rPr lang="en-US" b="1" i="1" dirty="0" err="1">
                <a:latin typeface="Times New Roman" panose="02020603050405020304" pitchFamily="18" charset="0"/>
                <a:cs typeface="Times New Roman" panose="02020603050405020304" pitchFamily="18" charset="0"/>
              </a:rPr>
              <a:t>quan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điểm</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lịch</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sử</a:t>
            </a:r>
            <a:r>
              <a:rPr lang="en-US" b="1" i="1" dirty="0">
                <a:latin typeface="Times New Roman" panose="02020603050405020304" pitchFamily="18" charset="0"/>
                <a:cs typeface="Times New Roman" panose="02020603050405020304" pitchFamily="18" charset="0"/>
              </a:rPr>
              <a:t> - </a:t>
            </a:r>
            <a:r>
              <a:rPr lang="en-US" b="1" i="1" dirty="0" err="1">
                <a:latin typeface="Times New Roman" panose="02020603050405020304" pitchFamily="18" charset="0"/>
                <a:cs typeface="Times New Roman" panose="02020603050405020304" pitchFamily="18" charset="0"/>
              </a:rPr>
              <a:t>cụ</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64961"/>
          </a:xfrm>
        </p:spPr>
        <p:txBody>
          <a:bodyPr>
            <a:normAutofit/>
          </a:bodyPr>
          <a:lstStyle/>
          <a:p>
            <a:pPr marL="457200" indent="-457200">
              <a:buFont typeface="Wingdings" panose="05000000000000000000" pitchFamily="2" charset="2"/>
              <a:buChar char="v"/>
            </a:pPr>
            <a:r>
              <a:rPr lang="en-US" sz="3200" b="1" dirty="0" err="1">
                <a:latin typeface="Times New Roman" panose="02020603050405020304" pitchFamily="18" charset="0"/>
                <a:cs typeface="Times New Roman" panose="02020603050405020304" pitchFamily="18" charset="0"/>
              </a:rPr>
              <a:t>Nguyên</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lý</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về</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sự</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phát</a:t>
            </a:r>
            <a:r>
              <a:rPr lang="en-US" sz="3200" b="1" dirty="0">
                <a:latin typeface="Times New Roman" panose="02020603050405020304" pitchFamily="18" charset="0"/>
                <a:cs typeface="Times New Roman" panose="02020603050405020304" pitchFamily="18" charset="0"/>
              </a:rPr>
              <a:t> </a:t>
            </a:r>
            <a:r>
              <a:rPr lang="en-US" sz="3200" b="1" dirty="0" err="1">
                <a:latin typeface="Times New Roman" panose="02020603050405020304" pitchFamily="18" charset="0"/>
                <a:cs typeface="Times New Roman" panose="02020603050405020304" pitchFamily="18" charset="0"/>
              </a:rPr>
              <a:t>triển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06286"/>
            <a:ext cx="10515600" cy="4870677"/>
          </a:xfrm>
        </p:spPr>
        <p:txBody>
          <a:bodyPr/>
          <a:lstStyle/>
          <a:p>
            <a:endParaRPr lang="en-US" dirty="0"/>
          </a:p>
        </p:txBody>
      </p:sp>
      <p:sp>
        <p:nvSpPr>
          <p:cNvPr id="4" name="Rectangle 3"/>
          <p:cNvSpPr/>
          <p:nvPr/>
        </p:nvSpPr>
        <p:spPr>
          <a:xfrm>
            <a:off x="2220686" y="1709057"/>
            <a:ext cx="20574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Quan điểm của CN siêu hình</a:t>
            </a:r>
            <a:endParaRPr lang="en-US"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6901543" y="1709057"/>
            <a:ext cx="2220686"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Quan điểm của CN DVBC</a:t>
            </a:r>
            <a:endParaRPr lang="en-US" sz="2000"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1545771" y="2623457"/>
            <a:ext cx="3145971" cy="21009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Xem sự phát triển chỉ là sự tăng lên hay giảm đi về lượng, không có sự thay đổi về chất</a:t>
            </a:r>
            <a:endParaRPr lang="en-US" sz="2000"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6270171" y="2623457"/>
            <a:ext cx="3505200" cy="21009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Xem sự phát triển là một quá trình tiến lên từ thấp đến cao</a:t>
            </a:r>
            <a:endParaRPr lang="vi-VN" sz="20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vi-VN" sz="2000" dirty="0">
                <a:latin typeface="Times New Roman" panose="02020603050405020304" pitchFamily="18" charset="0"/>
                <a:cs typeface="Times New Roman" panose="02020603050405020304" pitchFamily="18" charset="0"/>
              </a:rPr>
              <a:t>Quá trình đó diễn ra vừa dần dần, vừa nhảy vọt, cái mới thay thế cái cũ</a:t>
            </a:r>
            <a:endParaRPr lang="en-US" sz="2000" dirty="0">
              <a:latin typeface="Times New Roman" panose="02020603050405020304" pitchFamily="18" charset="0"/>
              <a:cs typeface="Times New Roman" panose="02020603050405020304" pitchFamily="18" charset="0"/>
            </a:endParaRPr>
          </a:p>
        </p:txBody>
      </p:sp>
      <p:sp>
        <p:nvSpPr>
          <p:cNvPr id="8" name="Arrow: Right 7"/>
          <p:cNvSpPr/>
          <p:nvPr/>
        </p:nvSpPr>
        <p:spPr>
          <a:xfrm>
            <a:off x="1545772" y="4931229"/>
            <a:ext cx="9035142" cy="1245734"/>
          </a:xfrm>
          <a:prstGeom prst="rightArrow">
            <a:avLst>
              <a:gd name="adj1" fmla="val 100000"/>
              <a:gd name="adj2" fmla="val 50000"/>
            </a:avLst>
          </a:prstGeom>
        </p:spPr>
        <p:style>
          <a:lnRef idx="2">
            <a:schemeClr val="accent6"/>
          </a:lnRef>
          <a:fillRef idx="1">
            <a:schemeClr val="lt1"/>
          </a:fillRef>
          <a:effectRef idx="0">
            <a:schemeClr val="accent6"/>
          </a:effectRef>
          <a:fontRef idx="minor">
            <a:schemeClr val="dk1"/>
          </a:fontRef>
        </p:style>
        <p:txBody>
          <a:bodyPr rtlCol="0" anchor="ctr"/>
          <a:lstStyle/>
          <a:p>
            <a:pPr marL="0" indent="0" algn="just">
              <a:buNone/>
            </a:pPr>
            <a:r>
              <a:rPr lang="vi-VN" b="1" dirty="0">
                <a:latin typeface="Times New Roman" panose="02020603050405020304" pitchFamily="18" charset="0"/>
                <a:cs typeface="Times New Roman" panose="02020603050405020304" pitchFamily="18" charset="0"/>
              </a:rPr>
              <a:t>CN DVBC Khẳn định: </a:t>
            </a:r>
            <a:r>
              <a:rPr lang="en-US" b="1" dirty="0">
                <a:latin typeface="Times New Roman" panose="02020603050405020304" pitchFamily="18" charset="0"/>
                <a:cs typeface="Times New Roman" panose="02020603050405020304" pitchFamily="18" charset="0"/>
              </a:rPr>
              <a:t>“</a:t>
            </a:r>
            <a:r>
              <a:rPr lang="en-US" b="1" dirty="0" err="1">
                <a:latin typeface="Times New Roman" panose="02020603050405020304" pitchFamily="18" charset="0"/>
                <a:cs typeface="Times New Roman" panose="02020603050405020304" pitchFamily="18" charset="0"/>
              </a:rPr>
              <a:t>Sự</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Phát</a:t>
            </a:r>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triển</a:t>
            </a:r>
            <a:r>
              <a:rPr lang="en-US" b="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dùng</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để</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chỉ</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quá</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vận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động</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của</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sự</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vật</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theo</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khuynh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hướng</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đi</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lên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từ</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trình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độ</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thấp</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đến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trình</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độ</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cao</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từ</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kém</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hoàn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thiện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đến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hòa</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thiện</a:t>
            </a:r>
            <a:r>
              <a:rPr lang="en-US" sz="2400" i="1" dirty="0">
                <a:latin typeface="Times New Roman" panose="02020603050405020304" pitchFamily="18" charset="0"/>
                <a:cs typeface="Times New Roman" panose="02020603050405020304" pitchFamily="18" charset="0"/>
              </a:rPr>
              <a:t> </a:t>
            </a:r>
            <a:r>
              <a:rPr lang="en-US" sz="2400" i="1" dirty="0" err="1">
                <a:latin typeface="Times New Roman" panose="02020603050405020304" pitchFamily="18" charset="0"/>
                <a:cs typeface="Times New Roman" panose="02020603050405020304" pitchFamily="18" charset="0"/>
              </a:rPr>
              <a:t>hơn</a:t>
            </a:r>
            <a:r>
              <a:rPr lang="en-US" sz="2400" i="1" dirty="0">
                <a:latin typeface="Times New Roman" panose="02020603050405020304" pitchFamily="18" charset="0"/>
                <a:cs typeface="Times New Roman" panose="02020603050405020304" pitchFamily="18" charset="0"/>
              </a:rPr>
              <a:t>.</a:t>
            </a:r>
            <a:endParaRPr lang="en-US" sz="24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959475"/>
          </a:xfrm>
        </p:spPr>
        <p:txBody>
          <a:bodyPr/>
          <a:lstStyle/>
          <a:p>
            <a:endParaRPr lang="en-US" dirty="0"/>
          </a:p>
        </p:txBody>
      </p:sp>
      <p:sp>
        <p:nvSpPr>
          <p:cNvPr id="3" name="Rectangle 2"/>
          <p:cNvSpPr/>
          <p:nvPr/>
        </p:nvSpPr>
        <p:spPr>
          <a:xfrm>
            <a:off x="4463143" y="1164771"/>
            <a:ext cx="35052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Phân biệt Tiến hóa, Tiến bộ</a:t>
            </a:r>
            <a:endParaRPr lang="en-US" sz="2000" b="1"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2558143" y="2895599"/>
            <a:ext cx="2667000" cy="25908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000" dirty="0">
                <a:latin typeface="Times New Roman" panose="02020603050405020304" pitchFamily="18" charset="0"/>
                <a:cs typeface="Times New Roman" panose="02020603050405020304" pitchFamily="18" charset="0"/>
              </a:rPr>
              <a:t>Tiến hóa là một dạng phát triển, diễn ra từ từ; là sự biến đổi hình thức của tồn tại từ đơn giản đến phức tạp</a:t>
            </a:r>
            <a:endParaRPr lang="en-US" sz="2000"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6966859" y="2895599"/>
            <a:ext cx="2666998" cy="259080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000" dirty="0">
                <a:latin typeface="Times New Roman" panose="02020603050405020304" pitchFamily="18" charset="0"/>
                <a:cs typeface="Times New Roman" panose="02020603050405020304" pitchFamily="18" charset="0"/>
              </a:rPr>
              <a:t>Tiến bộ là một quá trình biến đổi hướng tới cải thiện thực trạng xã hội từ chỗ chưa hoàn thiện đến hoàn thiện hơn</a:t>
            </a:r>
            <a:endParaRPr lang="en-US" sz="2000" dirty="0">
              <a:latin typeface="Times New Roman" panose="02020603050405020304" pitchFamily="18" charset="0"/>
              <a:cs typeface="Times New Roman" panose="02020603050405020304" pitchFamily="18" charset="0"/>
            </a:endParaRPr>
          </a:p>
        </p:txBody>
      </p:sp>
      <p:cxnSp>
        <p:nvCxnSpPr>
          <p:cNvPr id="8" name="Straight Arrow Connector 7"/>
          <p:cNvCxnSpPr/>
          <p:nvPr/>
        </p:nvCxnSpPr>
        <p:spPr>
          <a:xfrm flipH="1">
            <a:off x="3842657" y="2079171"/>
            <a:ext cx="2362200" cy="8164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endCxn id="6" idx="0"/>
          </p:cNvCxnSpPr>
          <p:nvPr/>
        </p:nvCxnSpPr>
        <p:spPr>
          <a:xfrm>
            <a:off x="6226629" y="2079171"/>
            <a:ext cx="2073729" cy="81642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46364"/>
            <a:ext cx="10515600" cy="1011381"/>
          </a:xfrm>
        </p:spPr>
        <p:txBody>
          <a:bodyPr>
            <a:normAutofit/>
          </a:bodyPr>
          <a:lstStyle/>
          <a:p>
            <a:pPr algn="just"/>
            <a:r>
              <a:rPr lang="en-US" altLang="en-US" sz="3200" b="1" dirty="0" err="1">
                <a:latin typeface="Times New Roman" panose="02020603050405020304" pitchFamily="18" charset="0"/>
                <a:cs typeface="Times New Roman" panose="02020603050405020304" pitchFamily="18" charset="0"/>
              </a:rPr>
              <a:t>Phát</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triển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là</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quá</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trình</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biến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đổi</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về</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chất</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theo</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hướng</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ngày</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càng</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hoàn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thiện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phát</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triển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khác</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với</a:t>
            </a:r>
            <a:r>
              <a:rPr lang="en-US" altLang="en-US" sz="3200" b="1" dirty="0">
                <a:latin typeface="Times New Roman" panose="02020603050405020304" pitchFamily="18" charset="0"/>
                <a:cs typeface="Times New Roman" panose="02020603050405020304" pitchFamily="18" charset="0"/>
              </a:rPr>
              <a:t> tang </a:t>
            </a:r>
            <a:r>
              <a:rPr lang="en-US" altLang="en-US" sz="3200" b="1" dirty="0" err="1">
                <a:latin typeface="Times New Roman" panose="02020603050405020304" pitchFamily="18" charset="0"/>
                <a:cs typeface="Times New Roman" panose="02020603050405020304" pitchFamily="18" charset="0"/>
              </a:rPr>
              <a:t>trưởng</a:t>
            </a:r>
            <a:r>
              <a:rPr lang="en-US" altLang="en-US" sz="3200" b="1" dirty="0">
                <a:cs typeface="Arial" panose="020B0604020202020204" pitchFamily="34" charset="0"/>
              </a:rPr>
              <a:t>)</a:t>
            </a:r>
            <a:endParaRPr lang="vi-VN" altLang="en-US" sz="3200" b="1" dirty="0">
              <a:cs typeface="Arial" panose="020B0604020202020204" pitchFamily="34" charset="0"/>
            </a:endParaRPr>
          </a:p>
        </p:txBody>
      </p:sp>
      <p:pic>
        <p:nvPicPr>
          <p:cNvPr id="4" name="Picture 7" descr="人类的进化01"/>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692728" y="1689101"/>
            <a:ext cx="5832764" cy="370031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8" descr="孩子与车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2690" y="1689100"/>
            <a:ext cx="4502728" cy="3700319"/>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7" name="Rectangle 6"/>
          <p:cNvSpPr/>
          <p:nvPr/>
        </p:nvSpPr>
        <p:spPr>
          <a:xfrm rot="10800000" flipH="1" flipV="1">
            <a:off x="1219198" y="5583381"/>
            <a:ext cx="4627420" cy="87283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solidFill>
                  <a:schemeClr val="tx1"/>
                </a:solidFill>
                <a:latin typeface="Times New Roman" panose="02020603050405020304" pitchFamily="18" charset="0"/>
                <a:cs typeface="Times New Roman" panose="02020603050405020304" pitchFamily="18" charset="0"/>
              </a:rPr>
              <a:t>Phát</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triển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từ</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vượn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thành</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người</a:t>
            </a:r>
            <a:endParaRPr lang="en-US" sz="2800" dirty="0">
              <a:solidFill>
                <a:schemeClr val="tx1"/>
              </a:solidFill>
              <a:latin typeface="Times New Roman" panose="02020603050405020304" pitchFamily="18" charset="0"/>
              <a:cs typeface="Times New Roman" panose="02020603050405020304" pitchFamily="18" charset="0"/>
            </a:endParaRPr>
          </a:p>
        </p:txBody>
      </p:sp>
      <p:sp>
        <p:nvSpPr>
          <p:cNvPr id="8" name="Rectangle 7"/>
          <p:cNvSpPr/>
          <p:nvPr/>
        </p:nvSpPr>
        <p:spPr>
          <a:xfrm flipH="1">
            <a:off x="7536872" y="5720774"/>
            <a:ext cx="3546763" cy="73544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800" dirty="0" err="1">
                <a:solidFill>
                  <a:schemeClr val="tx1"/>
                </a:solidFill>
                <a:latin typeface="Times New Roman" panose="02020603050405020304" pitchFamily="18" charset="0"/>
                <a:cs typeface="Times New Roman" panose="02020603050405020304" pitchFamily="18" charset="0"/>
              </a:rPr>
              <a:t>Tăng</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dân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số</a:t>
            </a:r>
            <a:endParaRPr lang="en-US" sz="2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500"/>
                                        <p:tgtEl>
                                          <p:spTgt spid="4"/>
                                        </p:tgtEl>
                                      </p:cBhvr>
                                    </p:animEffect>
                                  </p:childTnLst>
                                </p:cTn>
                              </p:par>
                            </p:childTnLst>
                          </p:cTn>
                        </p:par>
                        <p:par>
                          <p:cTn id="8" fill="hold">
                            <p:stCondLst>
                              <p:cond delay="500"/>
                            </p:stCondLst>
                            <p:childTnLst>
                              <p:par>
                                <p:cTn id="9" presetID="12" presetClass="entr" presetSubtype="8" fill="hold"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slide(fromLeft)">
                                      <p:cBhvr>
                                        <p:cTn id="11"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pic>
        <p:nvPicPr>
          <p:cNvPr id="3" name="Picture 7" descr="原始社会"/>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27239" y="5475288"/>
            <a:ext cx="1773237" cy="1077912"/>
          </a:xfrm>
          <a:prstGeom prst="rect">
            <a:avLst/>
          </a:prstGeom>
          <a:noFill/>
          <a:ln w="9525">
            <a:solidFill>
              <a:srgbClr val="FFFF66"/>
            </a:solidFill>
            <a:miter lim="800000"/>
            <a:headEnd/>
            <a:tailEnd/>
          </a:ln>
          <a:extLst>
            <a:ext uri="{909E8E84-426E-40DD-AFC4-6F175D3DCCD1}">
              <a14:hiddenFill xmlns:a14="http://schemas.microsoft.com/office/drawing/2010/main">
                <a:solidFill>
                  <a:srgbClr val="FFFFFF"/>
                </a:solidFill>
              </a14:hiddenFill>
            </a:ext>
          </a:extLst>
        </p:spPr>
      </p:pic>
      <p:pic>
        <p:nvPicPr>
          <p:cNvPr id="24579" name="Picture 11" descr="人的能力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56025" y="4868863"/>
            <a:ext cx="1778000" cy="1212850"/>
          </a:xfrm>
          <a:prstGeom prst="rect">
            <a:avLst/>
          </a:prstGeom>
          <a:noFill/>
          <a:ln w="19050">
            <a:solidFill>
              <a:srgbClr val="800080"/>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8" descr="资本主义"/>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4451" y="3860800"/>
            <a:ext cx="1844675" cy="1320800"/>
          </a:xfrm>
          <a:prstGeom prst="rect">
            <a:avLst/>
          </a:prstGeom>
          <a:noFill/>
          <a:ln w="9525">
            <a:solidFill>
              <a:srgbClr val="FFFF66"/>
            </a:solidFill>
            <a:miter lim="800000"/>
            <a:headEnd/>
            <a:tailEnd/>
          </a:ln>
          <a:extLst>
            <a:ext uri="{909E8E84-426E-40DD-AFC4-6F175D3DCCD1}">
              <a14:hiddenFill xmlns:a14="http://schemas.microsoft.com/office/drawing/2010/main">
                <a:solidFill>
                  <a:srgbClr val="FFFFFF"/>
                </a:solidFill>
              </a14:hiddenFill>
            </a:ext>
          </a:extLst>
        </p:spPr>
      </p:pic>
      <p:pic>
        <p:nvPicPr>
          <p:cNvPr id="6" name="Picture 9" descr="zz02913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1651" y="2852738"/>
            <a:ext cx="2016125" cy="1535112"/>
          </a:xfrm>
          <a:prstGeom prst="rect">
            <a:avLst/>
          </a:prstGeom>
          <a:noFill/>
          <a:ln w="19050">
            <a:solidFill>
              <a:srgbClr val="0000FF"/>
            </a:solidFill>
            <a:miter lim="800000"/>
            <a:headEnd/>
            <a:tailEnd/>
          </a:ln>
          <a:extLst>
            <a:ext uri="{909E8E84-426E-40DD-AFC4-6F175D3DCCD1}">
              <a14:hiddenFill xmlns:a14="http://schemas.microsoft.com/office/drawing/2010/main">
                <a:solidFill>
                  <a:srgbClr val="FFFFFF"/>
                </a:solidFill>
              </a14:hiddenFill>
            </a:ext>
          </a:extLst>
        </p:spPr>
      </p:pic>
      <p:sp>
        <p:nvSpPr>
          <p:cNvPr id="24582" name="Line 14"/>
          <p:cNvSpPr>
            <a:spLocks noChangeShapeType="1"/>
          </p:cNvSpPr>
          <p:nvPr/>
        </p:nvSpPr>
        <p:spPr bwMode="auto">
          <a:xfrm>
            <a:off x="1774825" y="6597650"/>
            <a:ext cx="8281988" cy="0"/>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3" name="Line 13"/>
          <p:cNvSpPr>
            <a:spLocks noChangeShapeType="1"/>
          </p:cNvSpPr>
          <p:nvPr/>
        </p:nvSpPr>
        <p:spPr bwMode="auto">
          <a:xfrm flipV="1">
            <a:off x="1774825" y="1844676"/>
            <a:ext cx="0" cy="4752975"/>
          </a:xfrm>
          <a:prstGeom prst="line">
            <a:avLst/>
          </a:prstGeom>
          <a:noFill/>
          <a:ln w="57150">
            <a:solidFill>
              <a:schemeClr val="tx1"/>
            </a:solidFill>
            <a:rou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24584" name="Line 15"/>
          <p:cNvSpPr>
            <a:spLocks noChangeShapeType="1"/>
          </p:cNvSpPr>
          <p:nvPr/>
        </p:nvSpPr>
        <p:spPr bwMode="auto">
          <a:xfrm flipV="1">
            <a:off x="2495551" y="2276475"/>
            <a:ext cx="3743325" cy="2305050"/>
          </a:xfrm>
          <a:prstGeom prst="line">
            <a:avLst/>
          </a:prstGeom>
          <a:noFill/>
          <a:ln w="9525">
            <a:solidFill>
              <a:schemeClr val="tx1"/>
            </a:solidFill>
            <a:prstDash val="dash"/>
            <a:round/>
          </a:ln>
          <a:extLst>
            <a:ext uri="{909E8E84-426E-40DD-AFC4-6F175D3DCCD1}">
              <a14:hiddenFill xmlns:a14="http://schemas.microsoft.com/office/drawing/2010/main">
                <a:noFill/>
              </a14:hiddenFill>
            </a:ext>
          </a:extLst>
        </p:spPr>
        <p:txBody>
          <a:bodyPr/>
          <a:lstStyle/>
          <a:p>
            <a:endParaRPr lang="en-US"/>
          </a:p>
        </p:txBody>
      </p:sp>
      <p:sp>
        <p:nvSpPr>
          <p:cNvPr id="24585" name="Rectangle 12"/>
          <p:cNvSpPr>
            <a:spLocks noChangeArrowheads="1"/>
          </p:cNvSpPr>
          <p:nvPr/>
        </p:nvSpPr>
        <p:spPr bwMode="auto">
          <a:xfrm>
            <a:off x="1676400" y="381001"/>
            <a:ext cx="9171709" cy="8802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eaLnBrk="1" hangingPunct="1">
              <a:lnSpc>
                <a:spcPct val="80000"/>
              </a:lnSpc>
              <a:spcBef>
                <a:spcPct val="0"/>
              </a:spcBef>
              <a:buFontTx/>
              <a:buNone/>
            </a:pPr>
            <a:r>
              <a:rPr lang="vi-VN" altLang="en-US" dirty="0" err="1">
                <a:latin typeface="Times New Roman" panose="02020603050405020304" pitchFamily="18" charset="0"/>
                <a:cs typeface="Times New Roman" panose="02020603050405020304" pitchFamily="18" charset="0"/>
              </a:rPr>
              <a:t>Những</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nấc</a:t>
            </a:r>
            <a:r>
              <a:rPr lang="vi-VN" altLang="en-US" dirty="0">
                <a:latin typeface="Times New Roman" panose="02020603050405020304" pitchFamily="18" charset="0"/>
                <a:cs typeface="Times New Roman" panose="02020603050405020304" pitchFamily="18" charset="0"/>
              </a:rPr>
              <a:t> thang trên con </a:t>
            </a:r>
            <a:r>
              <a:rPr lang="vi-VN" altLang="en-US" dirty="0" err="1">
                <a:latin typeface="Times New Roman" panose="02020603050405020304" pitchFamily="18" charset="0"/>
                <a:cs typeface="Times New Roman" panose="02020603050405020304" pitchFamily="18" charset="0"/>
              </a:rPr>
              <a:t>đường</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phát</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triển</a:t>
            </a:r>
            <a:r>
              <a:rPr lang="vi-VN" altLang="en-US" dirty="0">
                <a:latin typeface="Times New Roman" panose="02020603050405020304" pitchFamily="18" charset="0"/>
                <a:cs typeface="Times New Roman" panose="02020603050405020304" pitchFamily="18" charset="0"/>
              </a:rPr>
              <a:t> </a:t>
            </a:r>
            <a:endParaRPr lang="vi-VN" altLang="en-US" dirty="0">
              <a:latin typeface="Times New Roman" panose="02020603050405020304" pitchFamily="18" charset="0"/>
              <a:cs typeface="Times New Roman" panose="02020603050405020304" pitchFamily="18" charset="0"/>
            </a:endParaRPr>
          </a:p>
          <a:p>
            <a:pPr algn="ctr" eaLnBrk="1" hangingPunct="1">
              <a:lnSpc>
                <a:spcPct val="80000"/>
              </a:lnSpc>
              <a:spcBef>
                <a:spcPct val="0"/>
              </a:spcBef>
              <a:buFontTx/>
              <a:buNone/>
            </a:pPr>
            <a:r>
              <a:rPr lang="vi-VN" altLang="en-US" dirty="0" err="1">
                <a:latin typeface="Times New Roman" panose="02020603050405020304" pitchFamily="18" charset="0"/>
                <a:cs typeface="Times New Roman" panose="02020603050405020304" pitchFamily="18" charset="0"/>
              </a:rPr>
              <a:t>của</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tổ</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chức</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xã</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hội</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loài</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người</a:t>
            </a:r>
            <a:r>
              <a:rPr lang="vi-VN" altLang="en-US" dirty="0">
                <a:latin typeface="Times New Roman" panose="02020603050405020304" pitchFamily="18" charset="0"/>
                <a:cs typeface="Times New Roman" panose="02020603050405020304" pitchFamily="18" charset="0"/>
              </a:rPr>
              <a:t> theo quy </a:t>
            </a:r>
            <a:r>
              <a:rPr lang="vi-VN" altLang="en-US" dirty="0" err="1">
                <a:latin typeface="Times New Roman" panose="02020603050405020304" pitchFamily="18" charset="0"/>
                <a:cs typeface="Times New Roman" panose="02020603050405020304" pitchFamily="18" charset="0"/>
              </a:rPr>
              <a:t>luật</a:t>
            </a:r>
            <a:r>
              <a:rPr lang="vi-VN" altLang="en-US" dirty="0">
                <a:latin typeface="Times New Roman" panose="02020603050405020304" pitchFamily="18" charset="0"/>
                <a:cs typeface="Times New Roman" panose="02020603050405020304" pitchFamily="18" charset="0"/>
              </a:rPr>
              <a:t> </a:t>
            </a:r>
            <a:r>
              <a:rPr lang="vi-VN" altLang="en-US" dirty="0" err="1">
                <a:latin typeface="Times New Roman" panose="02020603050405020304" pitchFamily="18" charset="0"/>
                <a:cs typeface="Times New Roman" panose="02020603050405020304" pitchFamily="18" charset="0"/>
              </a:rPr>
              <a:t>khách</a:t>
            </a:r>
            <a:r>
              <a:rPr lang="vi-VN" altLang="en-US" dirty="0">
                <a:latin typeface="Times New Roman" panose="02020603050405020304" pitchFamily="18" charset="0"/>
                <a:cs typeface="Times New Roman" panose="02020603050405020304" pitchFamily="18" charset="0"/>
              </a:rPr>
              <a:t> quan</a:t>
            </a:r>
            <a:endParaRPr lang="vi-VN" altLang="en-US" dirty="0">
              <a:latin typeface="Times New Roman" panose="02020603050405020304" pitchFamily="18" charset="0"/>
              <a:cs typeface="Times New Roman" panose="02020603050405020304" pitchFamily="18"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Click="0"/>
    </mc:Choice>
    <mc:Fallback>
      <p:transition spd="slow"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0-#ppt_w/2"/>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12"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0-#ppt_w/2"/>
                                          </p:val>
                                        </p:tav>
                                        <p:tav tm="100000">
                                          <p:val>
                                            <p:strVal val="#ppt_x"/>
                                          </p:val>
                                        </p:tav>
                                      </p:tavLst>
                                    </p:anim>
                                    <p:anim calcmode="lin" valueType="num">
                                      <p:cBhvr additive="base">
                                        <p:cTn id="13" dur="500" fill="hold"/>
                                        <p:tgtEl>
                                          <p:spTgt spid="5"/>
                                        </p:tgtEl>
                                        <p:attrNameLst>
                                          <p:attrName>ppt_y</p:attrName>
                                        </p:attrNameLst>
                                      </p:cBhvr>
                                      <p:tavLst>
                                        <p:tav tm="0">
                                          <p:val>
                                            <p:strVal val="1+#ppt_h/2"/>
                                          </p:val>
                                        </p:tav>
                                        <p:tav tm="100000">
                                          <p:val>
                                            <p:strVal val="#ppt_y"/>
                                          </p:val>
                                        </p:tav>
                                      </p:tavLst>
                                    </p:anim>
                                  </p:childTnLst>
                                </p:cTn>
                              </p:par>
                            </p:childTnLst>
                          </p:cTn>
                        </p:par>
                        <p:par>
                          <p:cTn id="14" fill="hold">
                            <p:stCondLst>
                              <p:cond delay="1000"/>
                            </p:stCondLst>
                            <p:childTnLst>
                              <p:par>
                                <p:cTn id="15" presetID="9" presetClass="entr" presetSubtype="0"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dissolv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20330"/>
          </a:xfrm>
        </p:spPr>
        <p:txBody>
          <a:bodyPr>
            <a:normAutofit/>
          </a:bodyPr>
          <a:lstStyle/>
          <a:p>
            <a:pPr algn="just"/>
            <a:r>
              <a:rPr lang="en-US" sz="4000" b="1" dirty="0" err="1">
                <a:latin typeface="Times New Roman" panose="02020603050405020304" pitchFamily="18" charset="0"/>
                <a:cs typeface="Times New Roman" panose="02020603050405020304" pitchFamily="18" charset="0"/>
              </a:rPr>
              <a:t>Tính</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chất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của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sự</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triển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Clr>
                <a:schemeClr val="tx1"/>
              </a:buClr>
            </a:pP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khách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Phát triển là tiến trình khách quan, không phụ thuộc vào ý thức của con người.</a:t>
            </a:r>
            <a:endParaRPr lang="en-US" altLang="en-US" i="1" dirty="0">
              <a:latin typeface="Times New Roman" panose="02020603050405020304" pitchFamily="18" charset="0"/>
              <a:cs typeface="Times New Roman" panose="02020603050405020304" pitchFamily="18" charset="0"/>
            </a:endParaRPr>
          </a:p>
          <a:p>
            <a:pPr algn="just">
              <a:buClr>
                <a:schemeClr val="tx1"/>
              </a:buClr>
            </a:pP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phổ</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biến</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diễn ra ở mọi lĩnh vực: tự nhiên, xã hội, tư duy.</a:t>
            </a:r>
            <a:endParaRPr lang="vi-VN" altLang="en-US" i="1" dirty="0">
              <a:latin typeface="Times New Roman" panose="02020603050405020304" pitchFamily="18" charset="0"/>
              <a:cs typeface="Times New Roman" panose="02020603050405020304" pitchFamily="18" charset="0"/>
            </a:endParaRPr>
          </a:p>
          <a:p>
            <a:pPr algn="just">
              <a:buClr>
                <a:schemeClr val="tx1"/>
              </a:buClr>
            </a:pP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dạng</a:t>
            </a:r>
            <a:r>
              <a:rPr lang="vi-VN" altLang="en-US" dirty="0">
                <a:latin typeface="Times New Roman" panose="02020603050405020304" pitchFamily="18" charset="0"/>
                <a:cs typeface="Times New Roman" panose="02020603050405020304" pitchFamily="18" charset="0"/>
              </a:rPr>
              <a:t>: </a:t>
            </a:r>
            <a:r>
              <a:rPr lang="vi-VN" altLang="en-US" i="1" dirty="0">
                <a:latin typeface="Times New Roman" panose="02020603050405020304" pitchFamily="18" charset="0"/>
                <a:cs typeface="Times New Roman" panose="02020603050405020304" pitchFamily="18" charset="0"/>
              </a:rPr>
              <a:t>Phát triển là khuynh hướng chung của mọi sự vaati hiện tượng; song mỗi sự vật. Hiện tượng lài có quá trình phát triển ko giống nhau.</a:t>
            </a:r>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1" end="1"/>
                                            </p:txEl>
                                          </p:spTgt>
                                        </p:tgtEl>
                                        <p:attrNameLst>
                                          <p:attrName>style.visibility</p:attrName>
                                        </p:attrNameLst>
                                      </p:cBhvr>
                                      <p:to>
                                        <p:strVal val="visible"/>
                                      </p:to>
                                    </p:set>
                                    <p:anim calcmode="lin" valueType="num">
                                      <p:cBhvr additive="base">
                                        <p:cTn id="19"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 calcmode="lin" valueType="num">
                                      <p:cBhvr additive="base">
                                        <p:cTn id="25"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Ý </a:t>
            </a:r>
            <a:r>
              <a:rPr lang="en-US" sz="4000" b="1" dirty="0" err="1">
                <a:latin typeface="Times New Roman" panose="02020603050405020304" pitchFamily="18" charset="0"/>
                <a:cs typeface="Times New Roman" panose="02020603050405020304" pitchFamily="18" charset="0"/>
              </a:rPr>
              <a:t>nghĩa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phương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Tx/>
              <a:buChar char="-"/>
            </a:pPr>
            <a:endParaRPr lang="en-US" altLang="en-US" b="1" i="1" dirty="0">
              <a:latin typeface="Times New Roman" panose="02020603050405020304" pitchFamily="18" charset="0"/>
              <a:cs typeface="Times New Roman" panose="02020603050405020304" pitchFamily="18" charset="0"/>
            </a:endParaRPr>
          </a:p>
          <a:p>
            <a:pPr algn="just">
              <a:buFontTx/>
              <a:buChar char="-"/>
            </a:pPr>
            <a:r>
              <a:rPr lang="en-US" altLang="en-US" b="1" i="1" dirty="0" err="1">
                <a:latin typeface="Times New Roman" panose="02020603050405020304" pitchFamily="18" charset="0"/>
                <a:cs typeface="Times New Roman" panose="02020603050405020304" pitchFamily="18" charset="0"/>
              </a:rPr>
              <a:t>Trong</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mọi</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nhận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thức</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và</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thực</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tiễn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cần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phải</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có</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quan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điểm</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phát</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triển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Tránh</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bảo</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thủ</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định</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kiến</a:t>
            </a:r>
            <a:r>
              <a:rPr lang="en-US" altLang="en-US" b="1" i="1" dirty="0">
                <a:latin typeface="Times New Roman" panose="02020603050405020304" pitchFamily="18" charset="0"/>
                <a:cs typeface="Times New Roman" panose="02020603050405020304" pitchFamily="18" charset="0"/>
              </a:rPr>
              <a:t>.</a:t>
            </a:r>
            <a:endParaRPr lang="en-US" altLang="en-US" b="1" i="1" dirty="0">
              <a:latin typeface="Times New Roman" panose="02020603050405020304" pitchFamily="18" charset="0"/>
              <a:cs typeface="Times New Roman" panose="02020603050405020304" pitchFamily="18" charset="0"/>
            </a:endParaRPr>
          </a:p>
          <a:p>
            <a:pPr algn="just">
              <a:buFontTx/>
              <a:buChar char="-"/>
            </a:pPr>
            <a:r>
              <a:rPr lang="en-US" altLang="en-US" b="1" i="1" dirty="0" err="1">
                <a:latin typeface="Times New Roman" panose="02020603050405020304" pitchFamily="18" charset="0"/>
                <a:cs typeface="Times New Roman" panose="02020603050405020304" pitchFamily="18" charset="0"/>
              </a:rPr>
              <a:t>Phải</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có</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quan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điểm</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lịch</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sử</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cụ</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thể</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trong</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nhận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thức</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và</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giải</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quyết</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các</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vấn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đề</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thực</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tiễn</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đa</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dạng</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phức</a:t>
            </a:r>
            <a:r>
              <a:rPr lang="en-US" altLang="en-US" b="1" i="1" dirty="0">
                <a:latin typeface="Times New Roman" panose="02020603050405020304" pitchFamily="18" charset="0"/>
                <a:cs typeface="Times New Roman" panose="02020603050405020304" pitchFamily="18" charset="0"/>
              </a:rPr>
              <a:t> </a:t>
            </a:r>
            <a:r>
              <a:rPr lang="en-US" altLang="en-US" b="1" i="1" dirty="0" err="1">
                <a:latin typeface="Times New Roman" panose="02020603050405020304" pitchFamily="18" charset="0"/>
                <a:cs typeface="Times New Roman" panose="02020603050405020304" pitchFamily="18" charset="0"/>
              </a:rPr>
              <a:t>tạp</a:t>
            </a:r>
            <a:r>
              <a:rPr lang="en-US" altLang="en-US" b="1" i="1" dirty="0">
                <a:latin typeface="Times New Roman" panose="02020603050405020304" pitchFamily="18" charset="0"/>
                <a:cs typeface="Times New Roman" panose="02020603050405020304" pitchFamily="18" charset="0"/>
              </a:rPr>
              <a:t>.</a:t>
            </a:r>
            <a:endParaRPr lang="en-US" altLang="en-US" b="1" i="1"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66652"/>
            <a:ext cx="10515600" cy="760290"/>
          </a:xfrm>
        </p:spPr>
        <p:txBody>
          <a:bodyPr>
            <a:normAutofit/>
          </a:bodyPr>
          <a:lstStyle/>
          <a:p>
            <a:pPr algn="just"/>
            <a:r>
              <a:rPr lang="en-US" sz="4000" b="1" dirty="0">
                <a:latin typeface="Times New Roman" panose="02020603050405020304" pitchFamily="18" charset="0"/>
                <a:cs typeface="Times New Roman" panose="02020603050405020304" pitchFamily="18" charset="0"/>
              </a:rPr>
              <a:t>b. </a:t>
            </a:r>
            <a:r>
              <a:rPr lang="en-US" sz="4000" b="1" dirty="0" err="1">
                <a:latin typeface="Times New Roman" panose="02020603050405020304" pitchFamily="18" charset="0"/>
                <a:cs typeface="Times New Roman" panose="02020603050405020304" pitchFamily="18" charset="0"/>
              </a:rPr>
              <a:t>Các</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cặp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phạm</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trù</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cơ</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bản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của</a:t>
            </a:r>
            <a:r>
              <a:rPr lang="en-US" sz="4000" b="1" dirty="0">
                <a:latin typeface="Times New Roman" panose="02020603050405020304" pitchFamily="18" charset="0"/>
                <a:cs typeface="Times New Roman" panose="02020603050405020304" pitchFamily="18" charset="0"/>
              </a:rPr>
              <a:t> PBCDV</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37957"/>
            <a:ext cx="10515600" cy="4939006"/>
          </a:xfrm>
        </p:spPr>
        <p:txBody>
          <a:bodyPr/>
          <a:lstStyle/>
          <a:p>
            <a:pPr marL="514350" indent="-514350" algn="just">
              <a:buFont typeface="+mj-lt"/>
              <a:buAutoNum type="arabicPeriod"/>
              <a:defRPr/>
            </a:pPr>
            <a:r>
              <a:rPr lang="en-US" dirty="0">
                <a:latin typeface="Times New Roman" panose="02020603050405020304" pitchFamily="18" charset="0"/>
                <a:cs typeface="Times New Roman" panose="02020603050405020304" pitchFamily="18" charset="0"/>
              </a:rPr>
              <a:t>CÁI RIÊNG VÀ CÁI CHUNG</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defRPr/>
            </a:pPr>
            <a:r>
              <a:rPr lang="en-US" dirty="0">
                <a:latin typeface="Times New Roman" panose="02020603050405020304" pitchFamily="18" charset="0"/>
                <a:cs typeface="Times New Roman" panose="02020603050405020304" pitchFamily="18" charset="0"/>
              </a:rPr>
              <a:t>NGUYÊN NHÂN VÀ KẾT QUẢ</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defRPr/>
            </a:pPr>
            <a:r>
              <a:rPr lang="en-US" dirty="0">
                <a:latin typeface="Times New Roman" panose="02020603050405020304" pitchFamily="18" charset="0"/>
                <a:cs typeface="Times New Roman" panose="02020603050405020304" pitchFamily="18" charset="0"/>
              </a:rPr>
              <a:t>TẤT NHIÊN VÀ NGẪU NHIÊN</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defRPr/>
            </a:pPr>
            <a:r>
              <a:rPr lang="en-US" dirty="0">
                <a:latin typeface="Times New Roman" panose="02020603050405020304" pitchFamily="18" charset="0"/>
                <a:cs typeface="Times New Roman" panose="02020603050405020304" pitchFamily="18" charset="0"/>
              </a:rPr>
              <a:t>NỘI DUNG VÀ HÌNH THỨC</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defRPr/>
            </a:pPr>
            <a:r>
              <a:rPr lang="en-US" dirty="0">
                <a:latin typeface="Times New Roman" panose="02020603050405020304" pitchFamily="18" charset="0"/>
                <a:cs typeface="Times New Roman" panose="02020603050405020304" pitchFamily="18" charset="0"/>
              </a:rPr>
              <a:t>BẢN CHẤT VÀ HIỆN TƯỢNG</a:t>
            </a:r>
            <a:endParaRPr lang="en-US" dirty="0">
              <a:latin typeface="Times New Roman" panose="02020603050405020304" pitchFamily="18" charset="0"/>
              <a:cs typeface="Times New Roman" panose="02020603050405020304" pitchFamily="18" charset="0"/>
            </a:endParaRPr>
          </a:p>
          <a:p>
            <a:pPr marL="514350" indent="-514350" algn="just">
              <a:buFont typeface="+mj-lt"/>
              <a:buAutoNum type="arabicPeriod"/>
              <a:defRPr/>
            </a:pPr>
            <a:r>
              <a:rPr lang="en-US">
                <a:latin typeface="Times New Roman" panose="02020603050405020304" pitchFamily="18" charset="0"/>
                <a:cs typeface="Times New Roman" panose="02020603050405020304" pitchFamily="18" charset="0"/>
              </a:rPr>
              <a:t>KHẢ </a:t>
            </a:r>
            <a:r>
              <a:rPr lang="en-US" dirty="0">
                <a:latin typeface="Times New Roman" panose="02020603050405020304" pitchFamily="18" charset="0"/>
                <a:cs typeface="Times New Roman" panose="02020603050405020304" pitchFamily="18" charset="0"/>
              </a:rPr>
              <a:t>NĂNG VÀ HIỆN THỰC</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7030A0">
            <a:alpha val="14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31520" y="121920"/>
            <a:ext cx="7711440" cy="1036320"/>
          </a:xfrm>
        </p:spPr>
        <p:txBody>
          <a:bodyPr>
            <a:normAutofit/>
          </a:bodyPr>
          <a:lstStyle/>
          <a:p>
            <a:r>
              <a:rPr lang="en-US" sz="2800" b="1" dirty="0">
                <a:latin typeface="Times New Roman" panose="02020603050405020304" pitchFamily="18" charset="0"/>
                <a:cs typeface="Times New Roman" panose="02020603050405020304" pitchFamily="18" charset="0"/>
              </a:rPr>
              <a:t>1. CÁI RIÊNG VÀ CÁI CHUNG</a:t>
            </a:r>
            <a:endParaRPr lang="en-US" sz="28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13840"/>
            <a:ext cx="10515600" cy="4663123"/>
          </a:xfrm>
        </p:spPr>
        <p:txBody>
          <a:bodyPr/>
          <a:lstStyle/>
          <a:p>
            <a:pPr marL="0" indent="0">
              <a:buNone/>
            </a:pPr>
            <a:endParaRPr lang="vi-VN" dirty="0"/>
          </a:p>
          <a:p>
            <a:pPr marL="0" indent="0">
              <a:buNone/>
            </a:pPr>
            <a:endParaRPr lang="en-US" dirty="0"/>
          </a:p>
        </p:txBody>
      </p:sp>
      <p:sp>
        <p:nvSpPr>
          <p:cNvPr id="4" name="Rectangle: Diagonal Corners Snipped 3"/>
          <p:cNvSpPr/>
          <p:nvPr/>
        </p:nvSpPr>
        <p:spPr>
          <a:xfrm>
            <a:off x="838200" y="1300480"/>
            <a:ext cx="7218680" cy="1229360"/>
          </a:xfrm>
          <a:prstGeom prst="snip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endParaRPr lang="vi-VN" altLang="en-US" i="1" dirty="0">
              <a:solidFill>
                <a:srgbClr val="002060"/>
              </a:solidFill>
              <a:latin typeface="Times New Roman" panose="02020603050405020304" pitchFamily="18" charset="0"/>
            </a:endParaRPr>
          </a:p>
          <a:p>
            <a:pPr algn="just"/>
            <a:r>
              <a:rPr lang="en-US" altLang="en-US" sz="2400" i="1" dirty="0" err="1">
                <a:solidFill>
                  <a:srgbClr val="002060"/>
                </a:solidFill>
                <a:latin typeface="Times New Roman" panose="02020603050405020304" pitchFamily="18" charset="0"/>
              </a:rPr>
              <a:t>Cái</a:t>
            </a:r>
            <a:r>
              <a:rPr lang="en-US" altLang="en-US" sz="2400" i="1"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riêng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dùng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để</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chỉ</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sự</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vật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hiện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tượng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quá</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trình</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nhất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định</a:t>
            </a:r>
            <a:r>
              <a:rPr lang="en-US" altLang="en-US" sz="2400" dirty="0">
                <a:solidFill>
                  <a:srgbClr val="002060"/>
                </a:solidFill>
                <a:latin typeface="Times New Roman" panose="02020603050405020304" pitchFamily="18" charset="0"/>
              </a:rPr>
              <a:t>.</a:t>
            </a:r>
            <a:r>
              <a:rPr lang="en-US" altLang="en-US" sz="2400" i="1"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Cái</a:t>
            </a:r>
            <a:r>
              <a:rPr lang="en-US" altLang="en-US" sz="2400" i="1"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riêng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dùng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để</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chỉ</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sự</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vật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hiện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tượng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quá</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trình</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nhất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định</a:t>
            </a:r>
            <a:r>
              <a:rPr lang="en-US" altLang="en-US" sz="2400" dirty="0">
                <a:solidFill>
                  <a:srgbClr val="002060"/>
                </a:solidFill>
                <a:latin typeface="Times New Roman" panose="02020603050405020304" pitchFamily="18" charset="0"/>
              </a:rPr>
              <a:t>.</a:t>
            </a:r>
            <a:endParaRPr lang="en-US" altLang="en-US" sz="2400" dirty="0">
              <a:solidFill>
                <a:srgbClr val="002060"/>
              </a:solidFill>
              <a:latin typeface="Times New Roman" panose="02020603050405020304" pitchFamily="18" charset="0"/>
            </a:endParaRPr>
          </a:p>
          <a:p>
            <a:pPr algn="just"/>
            <a:endParaRPr lang="en-US" altLang="en-US" dirty="0">
              <a:latin typeface="Times New Roman" panose="02020603050405020304" pitchFamily="18" charset="0"/>
            </a:endParaRPr>
          </a:p>
        </p:txBody>
      </p:sp>
      <p:sp>
        <p:nvSpPr>
          <p:cNvPr id="5" name="Rectangle: Diagonal Corners Snipped 4"/>
          <p:cNvSpPr/>
          <p:nvPr/>
        </p:nvSpPr>
        <p:spPr>
          <a:xfrm>
            <a:off x="2113280" y="2743200"/>
            <a:ext cx="7833360" cy="1229360"/>
          </a:xfrm>
          <a:prstGeom prst="snip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en-US" sz="2400" i="1" dirty="0" err="1">
                <a:solidFill>
                  <a:srgbClr val="002060"/>
                </a:solidFill>
                <a:latin typeface="Times New Roman" panose="02020603050405020304" pitchFamily="18" charset="0"/>
              </a:rPr>
              <a:t>Cái</a:t>
            </a:r>
            <a:r>
              <a:rPr lang="en-US" altLang="en-US" sz="2400" i="1"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chung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dùng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để</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chỉ</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mặt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thuộc</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tính</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yếu</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tố</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quan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hệ</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tồn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tại</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phổ</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biến</a:t>
            </a:r>
            <a:r>
              <a:rPr lang="en-US" altLang="en-US" sz="2400" dirty="0">
                <a:solidFill>
                  <a:srgbClr val="002060"/>
                </a:solidFill>
                <a:latin typeface="Times New Roman" panose="02020603050405020304" pitchFamily="18" charset="0"/>
              </a:rPr>
              <a:t> ở </a:t>
            </a:r>
            <a:r>
              <a:rPr lang="en-US" altLang="en-US" sz="2400" dirty="0" err="1">
                <a:solidFill>
                  <a:srgbClr val="002060"/>
                </a:solidFill>
                <a:latin typeface="Times New Roman" panose="02020603050405020304" pitchFamily="18" charset="0"/>
              </a:rPr>
              <a:t>nhiều</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s.vật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h.tượng</a:t>
            </a:r>
            <a:r>
              <a:rPr lang="en-US" altLang="en-US" sz="2400" dirty="0">
                <a:solidFill>
                  <a:srgbClr val="002060"/>
                </a:solidFill>
                <a:latin typeface="Times New Roman" panose="02020603050405020304" pitchFamily="18" charset="0"/>
              </a:rPr>
              <a:t>.</a:t>
            </a:r>
            <a:endParaRPr lang="en-US" altLang="en-US" sz="2400" dirty="0">
              <a:solidFill>
                <a:srgbClr val="002060"/>
              </a:solidFill>
              <a:latin typeface="Times New Roman" panose="02020603050405020304" pitchFamily="18" charset="0"/>
            </a:endParaRPr>
          </a:p>
        </p:txBody>
      </p:sp>
      <p:sp>
        <p:nvSpPr>
          <p:cNvPr id="6" name="Rectangle: Diagonal Corners Snipped 5"/>
          <p:cNvSpPr/>
          <p:nvPr/>
        </p:nvSpPr>
        <p:spPr>
          <a:xfrm>
            <a:off x="3810000" y="4185919"/>
            <a:ext cx="8107680" cy="2346643"/>
          </a:xfrm>
          <a:prstGeom prst="snip2Diag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altLang="en-US" sz="2400" dirty="0">
                <a:solidFill>
                  <a:srgbClr val="002060"/>
                </a:solidFill>
                <a:latin typeface="Times New Roman" panose="02020603050405020304" pitchFamily="18" charset="0"/>
              </a:rPr>
              <a:t>Trong </a:t>
            </a:r>
            <a:r>
              <a:rPr lang="en-US" altLang="en-US" sz="2400" dirty="0" err="1">
                <a:solidFill>
                  <a:srgbClr val="002060"/>
                </a:solidFill>
                <a:latin typeface="Times New Roman" panose="02020603050405020304" pitchFamily="18" charset="0"/>
              </a:rPr>
              <a:t>mỗi</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sự</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vật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ngoài</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cái</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chung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còn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tồn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tại</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cái</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đơn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nhất</a:t>
            </a:r>
            <a:r>
              <a:rPr lang="en-US" altLang="en-US" sz="2400"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Cái</a:t>
            </a:r>
            <a:r>
              <a:rPr lang="en-US" altLang="en-US" sz="2400" i="1"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đơn</a:t>
            </a:r>
            <a:r>
              <a:rPr lang="en-US" altLang="en-US" sz="2400" i="1" dirty="0">
                <a:solidFill>
                  <a:srgbClr val="002060"/>
                </a:solidFill>
                <a:latin typeface="Times New Roman" panose="02020603050405020304" pitchFamily="18" charset="0"/>
              </a:rPr>
              <a:t> </a:t>
            </a:r>
            <a:r>
              <a:rPr lang="en-US" altLang="en-US" sz="2400" i="1" dirty="0" err="1">
                <a:solidFill>
                  <a:srgbClr val="002060"/>
                </a:solidFill>
                <a:latin typeface="Times New Roman" panose="02020603050405020304" pitchFamily="18" charset="0"/>
              </a:rPr>
              <a:t>nhất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là</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phạm</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trù</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dùng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để</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chỉ</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nét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mặt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thuộc</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tính</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những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tính</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chất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chỉ</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có</a:t>
            </a:r>
            <a:r>
              <a:rPr lang="en-US" altLang="en-US" sz="2400" dirty="0">
                <a:solidFill>
                  <a:srgbClr val="002060"/>
                </a:solidFill>
                <a:latin typeface="Times New Roman" panose="02020603050405020304" pitchFamily="18" charset="0"/>
              </a:rPr>
              <a:t> ở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sự</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vật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một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hiện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tượng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nào</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đó</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mà</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không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lặp</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lại</a:t>
            </a:r>
            <a:r>
              <a:rPr lang="en-US" altLang="en-US" sz="2400" dirty="0">
                <a:solidFill>
                  <a:srgbClr val="002060"/>
                </a:solidFill>
                <a:latin typeface="Times New Roman" panose="02020603050405020304" pitchFamily="18" charset="0"/>
              </a:rPr>
              <a:t> ở </a:t>
            </a:r>
            <a:r>
              <a:rPr lang="en-US" altLang="en-US" sz="2400" dirty="0" err="1">
                <a:solidFill>
                  <a:srgbClr val="002060"/>
                </a:solidFill>
                <a:latin typeface="Times New Roman" panose="02020603050405020304" pitchFamily="18" charset="0"/>
              </a:rPr>
              <a:t>các</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sự</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vật</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hiện</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tượng</a:t>
            </a:r>
            <a:r>
              <a:rPr lang="en-US" altLang="en-US" sz="2400" dirty="0">
                <a:solidFill>
                  <a:srgbClr val="002060"/>
                </a:solidFill>
                <a:latin typeface="Times New Roman" panose="02020603050405020304" pitchFamily="18" charset="0"/>
              </a:rPr>
              <a:t> </a:t>
            </a:r>
            <a:r>
              <a:rPr lang="en-US" altLang="en-US" sz="2400" dirty="0" err="1">
                <a:solidFill>
                  <a:srgbClr val="002060"/>
                </a:solidFill>
                <a:latin typeface="Times New Roman" panose="02020603050405020304" pitchFamily="18" charset="0"/>
              </a:rPr>
              <a:t>khác</a:t>
            </a:r>
            <a:r>
              <a:rPr lang="en-US" altLang="en-US" sz="2400" dirty="0">
                <a:solidFill>
                  <a:srgbClr val="002060"/>
                </a:solidFill>
                <a:latin typeface="Times New Roman" panose="02020603050405020304" pitchFamily="18" charset="0"/>
              </a:rPr>
              <a:t>.</a:t>
            </a:r>
            <a:endParaRPr lang="en-US" sz="2400"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8855"/>
            <a:ext cx="10515600" cy="5937201"/>
          </a:xfrm>
        </p:spPr>
        <p:txBody>
          <a:bodyPr/>
          <a:lstStyle/>
          <a:p>
            <a:br>
              <a:rPr lang="en-US" dirty="0"/>
            </a:br>
            <a:br>
              <a:rPr lang="en-US" dirty="0"/>
            </a:br>
            <a:br>
              <a:rPr lang="en-US" dirty="0"/>
            </a:br>
            <a:br>
              <a:rPr lang="en-US" dirty="0"/>
            </a:br>
            <a:br>
              <a:rPr lang="en-US" dirty="0"/>
            </a:br>
            <a:endParaRPr lang="en-US" dirty="0"/>
          </a:p>
        </p:txBody>
      </p:sp>
      <p:sp>
        <p:nvSpPr>
          <p:cNvPr id="4" name="Rectangle: Rounded Corners 3"/>
          <p:cNvSpPr/>
          <p:nvPr/>
        </p:nvSpPr>
        <p:spPr>
          <a:xfrm flipH="1">
            <a:off x="1976510" y="1561513"/>
            <a:ext cx="2841674" cy="604911"/>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err="1">
                <a:solidFill>
                  <a:schemeClr val="tx1"/>
                </a:solidFill>
                <a:latin typeface="Times New Roman" panose="02020603050405020304" pitchFamily="18" charset="0"/>
                <a:cs typeface="Times New Roman" panose="02020603050405020304" pitchFamily="18" charset="0"/>
              </a:rPr>
              <a:t>Cái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chung</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a:off x="1336429" y="2166424"/>
            <a:ext cx="4121836" cy="37560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en-US" sz="2200" b="1"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algn="just"/>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Cái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bàn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nào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cũng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có</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mặt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bàn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chân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bàn</a:t>
            </a:r>
            <a:r>
              <a:rPr lang="en-US" sz="2200" dirty="0">
                <a:solidFill>
                  <a:schemeClr val="tx1"/>
                </a:solidFill>
                <a:latin typeface="Times New Roman" panose="02020603050405020304" pitchFamily="18" charset="0"/>
                <a:cs typeface="Times New Roman" panose="02020603050405020304" pitchFamily="18" charset="0"/>
              </a:rPr>
              <a:t>.</a:t>
            </a:r>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Loài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sống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dưới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nước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thở</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bằng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mang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chung</a:t>
            </a:r>
            <a:r>
              <a:rPr lang="en-US" sz="2200" dirty="0">
                <a:solidFill>
                  <a:schemeClr val="tx1"/>
                </a:solidFill>
                <a:latin typeface="Times New Roman" panose="02020603050405020304" pitchFamily="18" charset="0"/>
                <a:cs typeface="Times New Roman" panose="02020603050405020304" pitchFamily="18" charset="0"/>
              </a:rPr>
              <a:t>.</a:t>
            </a:r>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Nhưng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có</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chung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một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thuộc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tính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dẫn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điện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bền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có</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thể</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làm</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biến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dạng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chung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kim</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loại</a:t>
            </a:r>
            <a:r>
              <a:rPr lang="en-US" sz="2200" dirty="0">
                <a:solidFill>
                  <a:schemeClr val="tx1"/>
                </a:solidFill>
                <a:latin typeface="Times New Roman" panose="02020603050405020304" pitchFamily="18" charset="0"/>
                <a:cs typeface="Times New Roman" panose="02020603050405020304" pitchFamily="18" charset="0"/>
              </a:rPr>
              <a:t>)</a:t>
            </a:r>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22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p>
        </p:txBody>
      </p:sp>
      <p:sp>
        <p:nvSpPr>
          <p:cNvPr id="6" name="Rectangle: Rounded Corners 5"/>
          <p:cNvSpPr/>
          <p:nvPr/>
        </p:nvSpPr>
        <p:spPr>
          <a:xfrm>
            <a:off x="7624690" y="1561512"/>
            <a:ext cx="2841674" cy="60491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200" b="1" dirty="0" err="1">
                <a:solidFill>
                  <a:schemeClr val="tx1"/>
                </a:solidFill>
                <a:latin typeface="Times New Roman" panose="02020603050405020304" pitchFamily="18" charset="0"/>
                <a:cs typeface="Times New Roman" panose="02020603050405020304" pitchFamily="18" charset="0"/>
              </a:rPr>
              <a:t>Cái</a:t>
            </a:r>
            <a:r>
              <a:rPr lang="en-US" sz="2200" b="1" dirty="0">
                <a:solidFill>
                  <a:schemeClr val="tx1"/>
                </a:solidFill>
                <a:latin typeface="Times New Roman" panose="02020603050405020304" pitchFamily="18" charset="0"/>
                <a:cs typeface="Times New Roman" panose="02020603050405020304" pitchFamily="18" charset="0"/>
              </a:rPr>
              <a:t> </a:t>
            </a:r>
            <a:r>
              <a:rPr lang="en-US" sz="2200" b="1" dirty="0" err="1">
                <a:solidFill>
                  <a:schemeClr val="tx1"/>
                </a:solidFill>
                <a:latin typeface="Times New Roman" panose="02020603050405020304" pitchFamily="18" charset="0"/>
                <a:cs typeface="Times New Roman" panose="02020603050405020304" pitchFamily="18" charset="0"/>
              </a:rPr>
              <a:t>riêng</a:t>
            </a:r>
            <a:endParaRPr lang="en-US" sz="2200" b="1" dirty="0">
              <a:solidFill>
                <a:schemeClr val="tx1"/>
              </a:solidFill>
              <a:latin typeface="Times New Roman" panose="02020603050405020304" pitchFamily="18" charset="0"/>
              <a:cs typeface="Times New Roman" panose="02020603050405020304" pitchFamily="18" charset="0"/>
            </a:endParaRPr>
          </a:p>
        </p:txBody>
      </p:sp>
      <p:sp>
        <p:nvSpPr>
          <p:cNvPr id="7" name="Rectangle 6"/>
          <p:cNvSpPr/>
          <p:nvPr/>
        </p:nvSpPr>
        <p:spPr>
          <a:xfrm rot="10800000" flipH="1" flipV="1">
            <a:off x="7061981" y="2166425"/>
            <a:ext cx="4121836" cy="37560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Bàn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làm</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việc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bàn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học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sinh</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bàn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ăn</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những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riêng</a:t>
            </a:r>
            <a:r>
              <a:rPr lang="en-US" sz="2200" dirty="0">
                <a:solidFill>
                  <a:schemeClr val="tx1"/>
                </a:solidFill>
                <a:latin typeface="Times New Roman" panose="02020603050405020304" pitchFamily="18" charset="0"/>
                <a:cs typeface="Times New Roman" panose="02020603050405020304" pitchFamily="18" charset="0"/>
              </a:rPr>
              <a:t>.</a:t>
            </a:r>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Cá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chép</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rô</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cá</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mé</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là</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những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loài</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riêng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biệt</a:t>
            </a:r>
            <a:endParaRPr lang="en-US" sz="2200" dirty="0">
              <a:solidFill>
                <a:schemeClr val="tx1"/>
              </a:solidFill>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sz="2200" dirty="0" err="1">
                <a:solidFill>
                  <a:schemeClr val="tx1"/>
                </a:solidFill>
                <a:latin typeface="Times New Roman" panose="02020603050405020304" pitchFamily="18" charset="0"/>
                <a:cs typeface="Times New Roman" panose="02020603050405020304" pitchFamily="18" charset="0"/>
              </a:rPr>
              <a:t>Đồng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sắt</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nhôm</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vàng</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bạc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cấu</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tạo</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hóa</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lý</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khác</a:t>
            </a:r>
            <a:r>
              <a:rPr lang="en-US" sz="2200" dirty="0">
                <a:solidFill>
                  <a:schemeClr val="tx1"/>
                </a:solidFill>
                <a:latin typeface="Times New Roman" panose="02020603050405020304" pitchFamily="18" charset="0"/>
                <a:cs typeface="Times New Roman" panose="02020603050405020304" pitchFamily="18" charset="0"/>
              </a:rPr>
              <a:t> </a:t>
            </a:r>
            <a:r>
              <a:rPr lang="en-US" sz="2200" dirty="0" err="1">
                <a:solidFill>
                  <a:schemeClr val="tx1"/>
                </a:solidFill>
                <a:latin typeface="Times New Roman" panose="02020603050405020304" pitchFamily="18" charset="0"/>
                <a:cs typeface="Times New Roman" panose="02020603050405020304" pitchFamily="18" charset="0"/>
              </a:rPr>
              <a:t>nhau</a:t>
            </a:r>
            <a:br>
              <a:rPr lang="en-US" sz="2200" dirty="0">
                <a:solidFill>
                  <a:schemeClr val="tx1"/>
                </a:solidFill>
                <a:latin typeface="Times New Roman" panose="02020603050405020304" pitchFamily="18" charset="0"/>
                <a:cs typeface="Times New Roman" panose="02020603050405020304" pitchFamily="18" charset="0"/>
              </a:rPr>
            </a:br>
            <a:endParaRPr lang="en-US" sz="2200" dirty="0">
              <a:solidFill>
                <a:schemeClr val="tx1"/>
              </a:solidFill>
            </a:endParaRPr>
          </a:p>
        </p:txBody>
      </p:sp>
      <p:sp>
        <p:nvSpPr>
          <p:cNvPr id="3" name="Oval 2"/>
          <p:cNvSpPr/>
          <p:nvPr/>
        </p:nvSpPr>
        <p:spPr>
          <a:xfrm>
            <a:off x="1473199" y="436880"/>
            <a:ext cx="1788161" cy="1124632"/>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indent="-342900" algn="ctr">
              <a:buFont typeface="Wingdings" panose="05000000000000000000" pitchFamily="2" charset="2"/>
              <a:buChar char="v"/>
            </a:pPr>
            <a:r>
              <a:rPr lang="vi-VN" sz="2400" dirty="0">
                <a:solidFill>
                  <a:srgbClr val="FF0000"/>
                </a:solidFill>
                <a:latin typeface="Times New Roman" panose="02020603050405020304" pitchFamily="18" charset="0"/>
                <a:cs typeface="Times New Roman" panose="02020603050405020304" pitchFamily="18" charset="0"/>
              </a:rPr>
              <a:t>Ví dụ</a:t>
            </a:r>
            <a:endParaRPr lang="en-US" sz="24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9103"/>
          </a:xfrm>
        </p:spPr>
        <p:txBody>
          <a:bodyPr>
            <a:normAutofit fontScale="90000"/>
          </a:bodyPr>
          <a:lstStyle/>
          <a:p>
            <a:r>
              <a:rPr lang="en-US" sz="4000" b="1" dirty="0" err="1">
                <a:latin typeface="Times New Roman" panose="02020603050405020304" pitchFamily="18" charset="0"/>
                <a:cs typeface="Times New Roman" panose="02020603050405020304" pitchFamily="18" charset="0"/>
              </a:rPr>
              <a:t>Mối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biện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chứng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giữa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cái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chung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và</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cái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riêng</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94228"/>
            <a:ext cx="10515600" cy="4882735"/>
          </a:xfrm>
        </p:spPr>
        <p:txBody>
          <a:bodyPr/>
          <a:lstStyle/>
          <a:p>
            <a:pPr algn="just"/>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đều</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khách</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 </a:t>
            </a:r>
            <a:r>
              <a:rPr lang="en-US" altLang="en-US" dirty="0" err="1">
                <a:latin typeface="Times New Roman" panose="02020603050405020304" pitchFamily="18" charset="0"/>
              </a:rPr>
              <a:t>thông</a:t>
            </a:r>
            <a:r>
              <a:rPr lang="en-US" altLang="en-US" dirty="0">
                <a:latin typeface="Times New Roman" panose="02020603050405020304" pitchFamily="18" charset="0"/>
              </a:rPr>
              <a:t> qua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 </a:t>
            </a:r>
            <a:r>
              <a:rPr lang="en-US" altLang="en-US" dirty="0" err="1">
                <a:latin typeface="Times New Roman" panose="02020603050405020304" pitchFamily="18" charset="0"/>
              </a:rPr>
              <a:t>mà</a:t>
            </a:r>
            <a:r>
              <a:rPr lang="en-US" altLang="en-US" dirty="0">
                <a:latin typeface="Times New Roman" panose="02020603050405020304" pitchFamily="18" charset="0"/>
              </a:rPr>
              <a:t> </a:t>
            </a:r>
            <a:r>
              <a:rPr lang="en-US" altLang="en-US" dirty="0" err="1">
                <a:latin typeface="Times New Roman" panose="02020603050405020304" pitchFamily="18" charset="0"/>
              </a:rPr>
              <a:t>biểu</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nó</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thuần</a:t>
            </a:r>
            <a:r>
              <a:rPr lang="en-US" altLang="en-US" dirty="0">
                <a:latin typeface="Times New Roman" panose="02020603050405020304" pitchFamily="18" charset="0"/>
              </a:rPr>
              <a:t> </a:t>
            </a:r>
            <a:r>
              <a:rPr lang="en-US" altLang="en-US" dirty="0" err="1">
                <a:latin typeface="Times New Roman" panose="02020603050405020304" pitchFamily="18" charset="0"/>
              </a:rPr>
              <a:t>tuý</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biệt</a:t>
            </a:r>
            <a:r>
              <a:rPr lang="en-US" altLang="en-US" dirty="0">
                <a:latin typeface="Times New Roman" panose="02020603050405020304" pitchFamily="18" charset="0"/>
              </a:rPr>
              <a:t> </a:t>
            </a:r>
            <a:r>
              <a:rPr lang="en-US" altLang="en-US" dirty="0" err="1">
                <a:latin typeface="Times New Roman" panose="02020603050405020304" pitchFamily="18" charset="0"/>
              </a:rPr>
              <a:t>lập</a:t>
            </a:r>
            <a:r>
              <a:rPr lang="en-US" altLang="en-US" dirty="0">
                <a:latin typeface="Times New Roman" panose="02020603050405020304" pitchFamily="18" charset="0"/>
              </a:rPr>
              <a:t>, </a:t>
            </a:r>
            <a:r>
              <a:rPr lang="en-US" altLang="en-US" dirty="0" err="1">
                <a:latin typeface="Times New Roman" panose="02020603050405020304" pitchFamily="18" charset="0"/>
              </a:rPr>
              <a:t>tách</a:t>
            </a:r>
            <a:r>
              <a:rPr lang="en-US" altLang="en-US" dirty="0">
                <a:latin typeface="Times New Roman" panose="02020603050405020304" pitchFamily="18" charset="0"/>
              </a:rPr>
              <a:t> </a:t>
            </a:r>
            <a:r>
              <a:rPr lang="en-US" altLang="en-US" dirty="0" err="1">
                <a:latin typeface="Times New Roman" panose="02020603050405020304" pitchFamily="18" charset="0"/>
              </a:rPr>
              <a:t>rời</a:t>
            </a:r>
            <a:r>
              <a:rPr lang="en-US" altLang="en-US" dirty="0">
                <a:latin typeface="Times New Roman" panose="02020603050405020304" pitchFamily="18" charset="0"/>
              </a:rPr>
              <a:t> </a:t>
            </a:r>
            <a:r>
              <a:rPr lang="en-US" altLang="en-US" dirty="0" err="1">
                <a:latin typeface="Times New Roman" panose="02020603050405020304" pitchFamily="18" charset="0"/>
              </a:rPr>
              <a:t>bên</a:t>
            </a:r>
            <a:r>
              <a:rPr lang="en-US" altLang="en-US" dirty="0">
                <a:latin typeface="Times New Roman" panose="02020603050405020304" pitchFamily="18" charset="0"/>
              </a:rPr>
              <a:t> </a:t>
            </a:r>
            <a:r>
              <a:rPr lang="en-US" altLang="en-US" dirty="0" err="1">
                <a:latin typeface="Times New Roman" panose="02020603050405020304" pitchFamily="18" charset="0"/>
              </a:rPr>
              <a:t>ngoài</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r>
              <a:rPr lang="en-US" b="1" i="1" u="sng" dirty="0" err="1">
                <a:latin typeface="Times New Roman" panose="02020603050405020304" pitchFamily="18" charset="0"/>
                <a:cs typeface="Times New Roman" panose="02020603050405020304" pitchFamily="18" charset="0"/>
              </a:rPr>
              <a:t>Ví</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dụ</a:t>
            </a:r>
            <a:r>
              <a:rPr lang="en-US" b="1" i="1" u="sng"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nói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cây</a:t>
            </a:r>
            <a:r>
              <a:rPr lang="en-US" dirty="0">
                <a:latin typeface="Times New Roman" panose="02020603050405020304" pitchFamily="18" charset="0"/>
                <a:cs typeface="Times New Roman" panose="02020603050405020304" pitchFamily="18" charset="0"/>
              </a:rPr>
              <a:t> cam, </a:t>
            </a:r>
            <a:r>
              <a:rPr lang="en-US" dirty="0" err="1">
                <a:latin typeface="Times New Roman" panose="02020603050405020304" pitchFamily="18" charset="0"/>
                <a:cs typeface="Times New Roman" panose="02020603050405020304" pitchFamily="18" charset="0"/>
              </a:rPr>
              <a:t>cây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cây</a:t>
            </a:r>
            <a:r>
              <a:rPr lang="en-US" dirty="0">
                <a:latin typeface="Times New Roman" panose="02020603050405020304" pitchFamily="18" charset="0"/>
                <a:cs typeface="Times New Roman" panose="02020603050405020304" pitchFamily="18" charset="0"/>
              </a:rPr>
              <a:t> cam, </a:t>
            </a:r>
            <a:r>
              <a:rPr lang="en-US" dirty="0" err="1">
                <a:latin typeface="Times New Roman" panose="02020603050405020304" pitchFamily="18" charset="0"/>
                <a:cs typeface="Times New Roman" panose="02020603050405020304" pitchFamily="18" charset="0"/>
              </a:rPr>
              <a:t>cây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rễ</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cây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Rõ</a:t>
            </a:r>
            <a:r>
              <a:rPr lang="en-US" dirty="0">
                <a:latin typeface="Times New Roman" panose="02020603050405020304" pitchFamily="18" charset="0"/>
                <a:cs typeface="Times New Roman" panose="02020603050405020304" pitchFamily="18" charset="0"/>
              </a:rPr>
              <a:t> r</a:t>
            </a:r>
            <a:r>
              <a:rPr lang="vi-VN" dirty="0">
                <a:latin typeface="Times New Roman" panose="02020603050405020304" pitchFamily="18" charset="0"/>
                <a:cs typeface="Times New Roman" panose="02020603050405020304" pitchFamily="18" charset="0"/>
              </a:rPr>
              <a:t>à</a:t>
            </a:r>
            <a:r>
              <a:rPr lang="en-US" dirty="0">
                <a:latin typeface="Times New Roman" panose="02020603050405020304" pitchFamily="18" charset="0"/>
                <a:cs typeface="Times New Roman" panose="02020603050405020304" pitchFamily="18" charset="0"/>
              </a:rPr>
              <a:t>ng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ngoài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riêng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thông</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riêng</a:t>
            </a:r>
            <a:r>
              <a:rPr lang="vi-VN"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marL="0" indent="0" algn="just">
              <a:buNone/>
            </a:pPr>
            <a:endParaRPr lang="en-US" altLang="en-US" dirty="0">
              <a:latin typeface="Times New Roman" panose="02020603050405020304" pitchFamily="18" charset="0"/>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457200" indent="-457200">
              <a:buFont typeface="Arial" panose="020B0604020202020204" pitchFamily="34" charset="0"/>
              <a:buChar char="•"/>
            </a:pPr>
            <a:r>
              <a:rPr lang="en-US" altLang="en-US" sz="3200" dirty="0" err="1">
                <a:latin typeface="Times New Roman" panose="02020603050405020304" pitchFamily="18" charset="0"/>
              </a:rPr>
              <a:t>Cái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riêng</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chỉ</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tồn</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tại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trong</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mối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quan</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hệ</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với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cái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chung</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không</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có</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cái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riêng</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nào</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tồn</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tại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độc</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lập</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tách</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rời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tuyệt</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đối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với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cái</a:t>
            </a:r>
            <a:r>
              <a:rPr lang="en-US" altLang="en-US" sz="3200" dirty="0">
                <a:latin typeface="Times New Roman" panose="02020603050405020304" pitchFamily="18" charset="0"/>
              </a:rPr>
              <a:t> </a:t>
            </a:r>
            <a:r>
              <a:rPr lang="en-US" altLang="en-US" sz="3200" dirty="0" err="1">
                <a:latin typeface="Times New Roman" panose="02020603050405020304" pitchFamily="18" charset="0"/>
              </a:rPr>
              <a:t>chung</a:t>
            </a:r>
            <a:r>
              <a:rPr lang="en-US" altLang="en-US" sz="3200" dirty="0">
                <a:latin typeface="Times New Roman" panose="02020603050405020304" pitchFamily="18" charset="0"/>
              </a:rPr>
              <a:t>.</a:t>
            </a:r>
            <a:endParaRPr lang="en-US" altLang="en-US" sz="3200" dirty="0">
              <a:latin typeface="Times New Roman" panose="02020603050405020304" pitchFamily="18" charset="0"/>
            </a:endParaRPr>
          </a:p>
        </p:txBody>
      </p:sp>
      <p:sp>
        <p:nvSpPr>
          <p:cNvPr id="3" name="Content Placeholder 2"/>
          <p:cNvSpPr>
            <a:spLocks noGrp="1"/>
          </p:cNvSpPr>
          <p:nvPr>
            <p:ph idx="1"/>
          </p:nvPr>
        </p:nvSpPr>
        <p:spPr/>
        <p:txBody>
          <a:bodyPr/>
          <a:lstStyle/>
          <a:p>
            <a:pPr algn="just"/>
            <a:endParaRPr lang="en-US" b="1" i="1" u="sng" dirty="0">
              <a:latin typeface="Times New Roman" panose="02020603050405020304" pitchFamily="18" charset="0"/>
              <a:cs typeface="Times New Roman" panose="02020603050405020304" pitchFamily="18" charset="0"/>
            </a:endParaRPr>
          </a:p>
          <a:p>
            <a:pPr algn="just"/>
            <a:r>
              <a:rPr lang="en-US" b="1" i="1" u="sng" dirty="0" err="1">
                <a:latin typeface="Times New Roman" panose="02020603050405020304" pitchFamily="18" charset="0"/>
                <a:cs typeface="Times New Roman" panose="02020603050405020304" pitchFamily="18" charset="0"/>
              </a:rPr>
              <a:t>Ví</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dụ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mỗi</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một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riêng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mỗi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tồn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ngoài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vi-VN"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chịu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mỗi</a:t>
            </a:r>
            <a:r>
              <a:rPr lang="en-US" dirty="0">
                <a:latin typeface="Times New Roman" panose="02020603050405020304" pitchFamily="18" charset="0"/>
                <a:cs typeface="Times New Roman" panose="02020603050405020304" pitchFamily="18" charset="0"/>
              </a:rPr>
              <a:t> con </a:t>
            </a:r>
            <a:r>
              <a:rPr lang="en-US" dirty="0" err="1">
                <a:latin typeface="Times New Roman" panose="02020603050405020304" pitchFamily="18" charset="0"/>
                <a:cs typeface="Times New Roman" panose="02020603050405020304" pitchFamily="18" charset="0"/>
              </a:rPr>
              <a:t>người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Arial" panose="020B0604020202020204" pitchFamily="34" charset="0"/>
              <a:buChar char="•"/>
            </a:pPr>
            <a:r>
              <a:rPr lang="en-US" altLang="en-US" sz="2800" dirty="0" err="1">
                <a:latin typeface="Times New Roman" panose="02020603050405020304" pitchFamily="18" charset="0"/>
              </a:rPr>
              <a:t>Cái</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riêng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là</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cái</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toàn</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bộ</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phong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phú</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đa</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dạng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hơn</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cái</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chung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vì</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ngoài</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những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điểm</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chung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cái</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riêng</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còn</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có</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cái</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đơn</a:t>
            </a:r>
            <a:r>
              <a:rPr lang="en-US" altLang="en-US" sz="2800" dirty="0">
                <a:latin typeface="Times New Roman" panose="02020603050405020304" pitchFamily="18" charset="0"/>
              </a:rPr>
              <a:t> </a:t>
            </a:r>
            <a:r>
              <a:rPr lang="en-US" altLang="en-US" sz="2800" dirty="0" err="1">
                <a:latin typeface="Times New Roman" panose="02020603050405020304" pitchFamily="18" charset="0"/>
              </a:rPr>
              <a:t>nhất</a:t>
            </a:r>
            <a:r>
              <a:rPr lang="en-US" altLang="en-US" sz="2800" dirty="0">
                <a:latin typeface="Times New Roman" panose="02020603050405020304" pitchFamily="18" charset="0"/>
              </a:rPr>
              <a:t>.</a:t>
            </a:r>
            <a:endParaRPr lang="en-US" altLang="en-US" sz="2800" dirty="0">
              <a:latin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b="1" i="1" u="sng" dirty="0" err="1">
                <a:latin typeface="Times New Roman" panose="02020603050405020304" pitchFamily="18" charset="0"/>
                <a:cs typeface="Times New Roman" panose="02020603050405020304" pitchFamily="18" charset="0"/>
              </a:rPr>
              <a:t>Ví</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dụ</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Việt</a:t>
            </a:r>
            <a:r>
              <a:rPr lang="en-US" dirty="0">
                <a:latin typeface="Times New Roman" panose="02020603050405020304" pitchFamily="18" charset="0"/>
                <a:cs typeface="Times New Roman" panose="02020603050405020304" pitchFamily="18" charset="0"/>
              </a:rPr>
              <a:t> Nam </a:t>
            </a:r>
            <a:r>
              <a:rPr lang="en-US" dirty="0" err="1">
                <a:latin typeface="Times New Roman" panose="02020603050405020304" pitchFamily="18" charset="0"/>
                <a:cs typeface="Times New Roman" panose="02020603050405020304" pitchFamily="18" charset="0"/>
              </a:rPr>
              <a:t>bên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cạnh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chung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nước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hữu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nhỏ</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sống</a:t>
            </a:r>
            <a:r>
              <a:rPr lang="en-US" dirty="0">
                <a:latin typeface="Times New Roman" panose="02020603050405020304" pitchFamily="18" charset="0"/>
                <a:cs typeface="Times New Roman" panose="02020603050405020304" pitchFamily="18" charset="0"/>
              </a:rPr>
              <a:t> ở </a:t>
            </a:r>
            <a:r>
              <a:rPr lang="en-US" dirty="0" err="1">
                <a:latin typeface="Times New Roman" panose="02020603050405020304" pitchFamily="18" charset="0"/>
                <a:cs typeface="Times New Roman" panose="02020603050405020304" pitchFamily="18" charset="0"/>
              </a:rPr>
              <a:t>nông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thôn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còn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đặc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riêng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chịu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ảnh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hưởng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tập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nước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chịu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đựng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khó</a:t>
            </a:r>
            <a:r>
              <a:rPr lang="en-US" dirty="0">
                <a:latin typeface="Times New Roman" panose="02020603050405020304" pitchFamily="18" charset="0"/>
                <a:cs typeface="Times New Roman" panose="02020603050405020304" pitchFamily="18" charset="0"/>
              </a:rPr>
              <a:t> khan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cuộc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sống</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2779857"/>
          </a:xfrm>
        </p:spPr>
        <p:txBody>
          <a:bodyPr>
            <a:normAutofit fontScale="90000"/>
          </a:bodyPr>
          <a:lstStyle/>
          <a:p>
            <a:br>
              <a:rPr lang="en-US" altLang="en-US" sz="3600" dirty="0">
                <a:latin typeface="Times New Roman" panose="02020603050405020304" pitchFamily="18" charset="0"/>
              </a:rPr>
            </a:br>
            <a:r>
              <a:rPr lang="en-US" altLang="en-US" sz="36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chung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là</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bộ</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phận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nhưng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sâu</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sắc</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bản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chất</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hơn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riêng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vì</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chung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biểu</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hiện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tính</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phổ</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biến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tính</a:t>
            </a:r>
            <a:r>
              <a:rPr lang="en-US" altLang="en-US" sz="3300" dirty="0">
                <a:latin typeface="Times New Roman" panose="02020603050405020304" pitchFamily="18" charset="0"/>
              </a:rPr>
              <a:t> qui </a:t>
            </a:r>
            <a:r>
              <a:rPr lang="en-US" altLang="en-US" sz="3300" dirty="0" err="1">
                <a:latin typeface="Times New Roman" panose="02020603050405020304" pitchFamily="18" charset="0"/>
              </a:rPr>
              <a:t>luật</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của</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nhiều</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riêng</a:t>
            </a:r>
            <a:r>
              <a:rPr lang="en-US" altLang="en-US" sz="3300" dirty="0">
                <a:latin typeface="Times New Roman" panose="02020603050405020304" pitchFamily="18" charset="0"/>
              </a:rPr>
              <a:t>.</a:t>
            </a:r>
            <a:br>
              <a:rPr lang="en-US" altLang="en-US" sz="3300" dirty="0">
                <a:latin typeface="Times New Roman" panose="02020603050405020304" pitchFamily="18" charset="0"/>
              </a:rPr>
            </a:br>
            <a:r>
              <a:rPr lang="en-US" altLang="en-US" sz="33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chung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và</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cái</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đơn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nhất</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có</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thể</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chuyển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hoá</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cho</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nhau</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trong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những</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điều</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kiện</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xác</a:t>
            </a:r>
            <a:r>
              <a:rPr lang="en-US" altLang="en-US" sz="3300" dirty="0">
                <a:latin typeface="Times New Roman" panose="02020603050405020304" pitchFamily="18" charset="0"/>
              </a:rPr>
              <a:t> </a:t>
            </a:r>
            <a:r>
              <a:rPr lang="en-US" altLang="en-US" sz="3300" dirty="0" err="1">
                <a:latin typeface="Times New Roman" panose="02020603050405020304" pitchFamily="18" charset="0"/>
              </a:rPr>
              <a:t>định</a:t>
            </a:r>
            <a:r>
              <a:rPr lang="en-US" altLang="en-US" sz="3300" dirty="0">
                <a:latin typeface="Times New Roman" panose="02020603050405020304" pitchFamily="18" charset="0"/>
              </a:rPr>
              <a:t>. </a:t>
            </a:r>
            <a:br>
              <a:rPr lang="en-US" altLang="en-US" sz="3300" dirty="0">
                <a:latin typeface="Times New Roman" panose="02020603050405020304" pitchFamily="18" charset="0"/>
              </a:rPr>
            </a:br>
            <a:endParaRPr lang="en-US" sz="33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3144982"/>
            <a:ext cx="10515600" cy="3031980"/>
          </a:xfrm>
        </p:spPr>
        <p:txBody>
          <a:bodyPr/>
          <a:lstStyle/>
          <a:p>
            <a:pPr algn="just"/>
            <a:r>
              <a:rPr lang="en-US" altLang="en-US" sz="3000" dirty="0" err="1">
                <a:latin typeface="Times New Roman" panose="02020603050405020304" pitchFamily="18" charset="0"/>
              </a:rPr>
              <a:t>Sự</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chuyển</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hoá</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từ</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đơn</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nhất</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thành</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chung</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biểu</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hiện</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của</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quá</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trình</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mới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ra</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đời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thay</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thế</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cũ</a:t>
            </a:r>
            <a:r>
              <a:rPr lang="en-US" altLang="en-US" sz="3000" dirty="0">
                <a:latin typeface="Times New Roman" panose="02020603050405020304" pitchFamily="18" charset="0"/>
              </a:rPr>
              <a:t>.</a:t>
            </a:r>
            <a:endParaRPr lang="en-US" altLang="en-US" sz="3000" dirty="0">
              <a:latin typeface="Times New Roman" panose="02020603050405020304" pitchFamily="18" charset="0"/>
            </a:endParaRPr>
          </a:p>
          <a:p>
            <a:pPr algn="just"/>
            <a:endParaRPr lang="en-US" altLang="en-US" sz="3000" dirty="0">
              <a:latin typeface="Times New Roman" panose="02020603050405020304" pitchFamily="18" charset="0"/>
            </a:endParaRPr>
          </a:p>
          <a:p>
            <a:pPr algn="just"/>
            <a:r>
              <a:rPr lang="en-US" altLang="en-US" sz="3000" dirty="0" err="1">
                <a:latin typeface="Times New Roman" panose="02020603050405020304" pitchFamily="18" charset="0"/>
              </a:rPr>
              <a:t>Sự</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chuyển</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hoá</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của</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chung</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thành</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đơn</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nhất</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là</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biểu</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hiện</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của</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quá</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trình</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cũ</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cái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lỗi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thời</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bị</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phủ</a:t>
            </a:r>
            <a:r>
              <a:rPr lang="en-US" altLang="en-US" sz="3000" dirty="0">
                <a:latin typeface="Times New Roman" panose="02020603050405020304" pitchFamily="18" charset="0"/>
              </a:rPr>
              <a:t> </a:t>
            </a:r>
            <a:r>
              <a:rPr lang="en-US" altLang="en-US" sz="3000" dirty="0" err="1">
                <a:latin typeface="Times New Roman" panose="02020603050405020304" pitchFamily="18" charset="0"/>
              </a:rPr>
              <a:t>định</a:t>
            </a:r>
            <a:r>
              <a:rPr lang="en-US" altLang="en-US" sz="3000" dirty="0">
                <a:latin typeface="Times New Roman" panose="02020603050405020304" pitchFamily="18" charset="0"/>
              </a:rPr>
              <a:t>.</a:t>
            </a:r>
            <a:endParaRPr lang="vi-VN" altLang="en-US" sz="3000" dirty="0">
              <a:latin typeface="Times New Roman" panose="02020603050405020304" pitchFamily="18" charset="0"/>
            </a:endParaRPr>
          </a:p>
          <a:p>
            <a:pPr algn="just">
              <a:buFont typeface="Wingdings" panose="05000000000000000000" pitchFamily="2" charset="2"/>
              <a:buChar char="v"/>
            </a:pPr>
            <a:r>
              <a:rPr lang="vi-VN" altLang="en-US" sz="3000" dirty="0">
                <a:latin typeface="Times New Roman" panose="02020603050405020304" pitchFamily="18" charset="0"/>
              </a:rPr>
              <a:t>Giống lúa ST25, ra đời và đạt được những giải thưởng lớn</a:t>
            </a:r>
            <a:endParaRPr lang="en-US" altLang="en-US" sz="3000" dirty="0">
              <a:latin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69780"/>
          </a:xfrm>
        </p:spPr>
        <p:txBody>
          <a:bodyPr>
            <a:normAutofit/>
          </a:bodyPr>
          <a:lstStyle/>
          <a:p>
            <a:pPr algn="just"/>
            <a:r>
              <a:rPr lang="en-US" sz="4000" b="1" dirty="0">
                <a:latin typeface="Times New Roman" panose="02020603050405020304" pitchFamily="18" charset="0"/>
                <a:cs typeface="Times New Roman" panose="02020603050405020304" pitchFamily="18" charset="0"/>
              </a:rPr>
              <a:t>Ý </a:t>
            </a:r>
            <a:r>
              <a:rPr lang="en-US" sz="4000" b="1" dirty="0" err="1">
                <a:latin typeface="Times New Roman" panose="02020603050405020304" pitchFamily="18" charset="0"/>
                <a:cs typeface="Times New Roman" panose="02020603050405020304" pitchFamily="18" charset="0"/>
              </a:rPr>
              <a:t>nghĩa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phương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Tx/>
              <a:buChar char="-"/>
            </a:pPr>
            <a:r>
              <a:rPr lang="en-US" altLang="en-US" dirty="0" err="1">
                <a:latin typeface="Times New Roman" panose="02020603050405020304" pitchFamily="18" charset="0"/>
              </a:rPr>
              <a:t>Muốn</a:t>
            </a:r>
            <a:r>
              <a:rPr lang="en-US" altLang="en-US" dirty="0">
                <a:latin typeface="Times New Roman" panose="02020603050405020304" pitchFamily="18" charset="0"/>
              </a:rPr>
              <a:t> </a:t>
            </a:r>
            <a:r>
              <a:rPr lang="en-US" altLang="en-US" dirty="0" err="1">
                <a:latin typeface="Times New Roman" panose="02020603050405020304" pitchFamily="18" charset="0"/>
              </a:rPr>
              <a:t>biết</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thì</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Nhiệm</a:t>
            </a:r>
            <a:r>
              <a:rPr lang="en-US" altLang="en-US" dirty="0">
                <a:latin typeface="Times New Roman" panose="02020603050405020304" pitchFamily="18" charset="0"/>
              </a:rPr>
              <a:t> </a:t>
            </a:r>
            <a:r>
              <a:rPr lang="en-US" altLang="en-US" dirty="0" err="1">
                <a:latin typeface="Times New Roman" panose="02020603050405020304" pitchFamily="18" charset="0"/>
              </a:rPr>
              <a:t>vụ</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tìm</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cụ</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hóa</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mỗi</a:t>
            </a:r>
            <a:r>
              <a:rPr lang="en-US" altLang="en-US" dirty="0">
                <a:latin typeface="Times New Roman" panose="02020603050405020304" pitchFamily="18" charset="0"/>
              </a:rPr>
              <a:t> </a:t>
            </a:r>
            <a:r>
              <a:rPr lang="en-US" altLang="en-US" dirty="0" err="1">
                <a:latin typeface="Times New Roman" panose="02020603050405020304" pitchFamily="18" charset="0"/>
              </a:rPr>
              <a:t>hoàn</a:t>
            </a:r>
            <a:r>
              <a:rPr lang="en-US" altLang="en-US" dirty="0">
                <a:latin typeface="Times New Roman" panose="02020603050405020304" pitchFamily="18" charset="0"/>
              </a:rPr>
              <a:t> </a:t>
            </a:r>
            <a:r>
              <a:rPr lang="en-US" altLang="en-US" dirty="0" err="1">
                <a:latin typeface="Times New Roman" panose="02020603050405020304" pitchFamily="18" charset="0"/>
              </a:rPr>
              <a:t>cảnh</a:t>
            </a:r>
            <a:r>
              <a:rPr lang="en-US" altLang="en-US" dirty="0">
                <a:latin typeface="Times New Roman" panose="02020603050405020304" pitchFamily="18" charset="0"/>
              </a:rPr>
              <a:t>, </a:t>
            </a:r>
            <a:r>
              <a:rPr lang="en-US" altLang="en-US" dirty="0" err="1">
                <a:latin typeface="Times New Roman" panose="02020603050405020304" pitchFamily="18" charset="0"/>
              </a:rPr>
              <a:t>điều</a:t>
            </a:r>
            <a:r>
              <a:rPr lang="en-US" altLang="en-US" dirty="0">
                <a:latin typeface="Times New Roman" panose="02020603050405020304" pitchFamily="18" charset="0"/>
              </a:rPr>
              <a:t>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tránh</a:t>
            </a:r>
            <a:r>
              <a:rPr lang="en-US" altLang="en-US" dirty="0">
                <a:latin typeface="Times New Roman" panose="02020603050405020304" pitchFamily="18" charset="0"/>
              </a:rPr>
              <a:t> </a:t>
            </a:r>
            <a:r>
              <a:rPr lang="en-US" altLang="en-US" dirty="0" err="1">
                <a:latin typeface="Times New Roman" panose="02020603050405020304" pitchFamily="18" charset="0"/>
              </a:rPr>
              <a:t>siêu</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máy</a:t>
            </a:r>
            <a:r>
              <a:rPr lang="en-US" altLang="en-US" dirty="0">
                <a:latin typeface="Times New Roman" panose="02020603050405020304" pitchFamily="18" charset="0"/>
              </a:rPr>
              <a:t> </a:t>
            </a:r>
            <a:r>
              <a:rPr lang="en-US" altLang="en-US" dirty="0" err="1">
                <a:latin typeface="Times New Roman" panose="02020603050405020304" pitchFamily="18" charset="0"/>
              </a:rPr>
              <a:t>móc</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dựa</a:t>
            </a:r>
            <a:r>
              <a:rPr lang="en-US" altLang="en-US" dirty="0">
                <a:latin typeface="Times New Roman" panose="02020603050405020304" pitchFamily="18" charset="0"/>
              </a:rPr>
              <a:t> </a:t>
            </a:r>
            <a:r>
              <a:rPr lang="en-US" altLang="en-US" dirty="0" err="1">
                <a:latin typeface="Times New Roman" panose="02020603050405020304" pitchFamily="18" charset="0"/>
              </a:rPr>
              <a:t>vào</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cải</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cần</a:t>
            </a:r>
            <a:r>
              <a:rPr lang="en-US" altLang="en-US" dirty="0">
                <a:latin typeface="Times New Roman" panose="02020603050405020304" pitchFamily="18" charset="0"/>
              </a:rPr>
              <a:t> </a:t>
            </a:r>
            <a:r>
              <a:rPr lang="en-US" altLang="en-US" dirty="0" err="1">
                <a:latin typeface="Times New Roman" panose="02020603050405020304" pitchFamily="18" charset="0"/>
              </a:rPr>
              <a:t>biết</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điều</a:t>
            </a:r>
            <a:r>
              <a:rPr lang="en-US" altLang="en-US" dirty="0">
                <a:latin typeface="Times New Roman" panose="02020603050405020304" pitchFamily="18" charset="0"/>
              </a:rPr>
              <a:t>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thích</a:t>
            </a:r>
            <a:r>
              <a:rPr lang="en-US" altLang="en-US" dirty="0">
                <a:latin typeface="Times New Roman" panose="02020603050405020304" pitchFamily="18" charset="0"/>
              </a:rPr>
              <a:t> </a:t>
            </a:r>
            <a:r>
              <a:rPr lang="en-US" altLang="en-US" dirty="0" err="1">
                <a:latin typeface="Times New Roman" panose="02020603050405020304" pitchFamily="18" charset="0"/>
              </a:rPr>
              <a:t>hợp</a:t>
            </a:r>
            <a:r>
              <a:rPr lang="en-US" altLang="en-US" dirty="0">
                <a:latin typeface="Times New Roman" panose="02020603050405020304" pitchFamily="18" charset="0"/>
              </a:rPr>
              <a:t> </a:t>
            </a:r>
            <a:r>
              <a:rPr lang="en-US" altLang="en-US" dirty="0" err="1">
                <a:latin typeface="Times New Roman" panose="02020603050405020304" pitchFamily="18" charset="0"/>
              </a:rPr>
              <a:t>cho</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chuyển</a:t>
            </a:r>
            <a:r>
              <a:rPr lang="en-US" altLang="en-US" dirty="0">
                <a:latin typeface="Times New Roman" panose="02020603050405020304" pitchFamily="18" charset="0"/>
              </a:rPr>
              <a:t> </a:t>
            </a:r>
            <a:r>
              <a:rPr lang="en-US" altLang="en-US" dirty="0" err="1">
                <a:latin typeface="Times New Roman" panose="02020603050405020304" pitchFamily="18" charset="0"/>
              </a:rPr>
              <a:t>hoá</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đơn</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chung</a:t>
            </a:r>
            <a:r>
              <a:rPr lang="en-US" altLang="en-US" dirty="0">
                <a:latin typeface="Times New Roman" panose="02020603050405020304" pitchFamily="18" charset="0"/>
              </a:rPr>
              <a:t> </a:t>
            </a:r>
            <a:r>
              <a:rPr lang="en-US" altLang="en-US" dirty="0" err="1">
                <a:latin typeface="Times New Roman" panose="02020603050405020304" pitchFamily="18" charset="0"/>
              </a:rPr>
              <a:t>theo</a:t>
            </a:r>
            <a:r>
              <a:rPr lang="en-US" altLang="en-US" dirty="0">
                <a:latin typeface="Times New Roman" panose="02020603050405020304" pitchFamily="18" charset="0"/>
              </a:rPr>
              <a:t> </a:t>
            </a:r>
            <a:r>
              <a:rPr lang="en-US" altLang="en-US" dirty="0" err="1">
                <a:latin typeface="Times New Roman" panose="02020603050405020304" pitchFamily="18" charset="0"/>
              </a:rPr>
              <a:t>mục</a:t>
            </a:r>
            <a:r>
              <a:rPr lang="en-US" altLang="en-US" dirty="0">
                <a:latin typeface="Times New Roman" panose="02020603050405020304" pitchFamily="18" charset="0"/>
              </a:rPr>
              <a:t> </a:t>
            </a:r>
            <a:r>
              <a:rPr lang="en-US" altLang="en-US" dirty="0" err="1">
                <a:latin typeface="Times New Roman" panose="02020603050405020304" pitchFamily="18" charset="0"/>
              </a:rPr>
              <a:t>đích</a:t>
            </a:r>
            <a:r>
              <a:rPr lang="en-US" altLang="en-US" dirty="0">
                <a:latin typeface="Times New Roman" panose="02020603050405020304" pitchFamily="18" charset="0"/>
              </a:rPr>
              <a:t> </a:t>
            </a:r>
            <a:r>
              <a:rPr lang="en-US" altLang="en-US" dirty="0" err="1">
                <a:latin typeface="Times New Roman" panose="02020603050405020304" pitchFamily="18" charset="0"/>
              </a:rPr>
              <a:t>xác</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71306"/>
          </a:xfrm>
        </p:spPr>
        <p:txBody>
          <a:bodyPr>
            <a:normAutofit fontScale="90000"/>
          </a:bodyPr>
          <a:lstStyle/>
          <a:p>
            <a:br>
              <a:rPr lang="en-US" sz="4000"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2. </a:t>
            </a:r>
            <a:r>
              <a:rPr lang="en-US" sz="4000" b="1" dirty="0" err="1">
                <a:latin typeface="Times New Roman" panose="02020603050405020304" pitchFamily="18" charset="0"/>
                <a:cs typeface="Times New Roman" panose="02020603050405020304" pitchFamily="18" charset="0"/>
              </a:rPr>
              <a:t>Nguyên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nhân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và</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kết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quả</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181686"/>
            <a:ext cx="10515600" cy="4995277"/>
          </a:xfrm>
        </p:spPr>
        <p:txBody>
          <a:bodyPr/>
          <a:lstStyle/>
          <a:p>
            <a:pPr algn="just"/>
            <a:endParaRPr lang="en-US" altLang="en-US" i="1" dirty="0">
              <a:latin typeface="Times New Roman" panose="02020603050405020304" pitchFamily="18" charset="0"/>
            </a:endParaRPr>
          </a:p>
          <a:p>
            <a:pPr algn="just"/>
            <a:endParaRPr lang="en-US" altLang="en-US" i="1" dirty="0">
              <a:latin typeface="Times New Roman" panose="02020603050405020304" pitchFamily="18" charset="0"/>
            </a:endParaRPr>
          </a:p>
          <a:p>
            <a:pPr algn="just"/>
            <a:r>
              <a:rPr lang="en-US" altLang="en-US" i="1" dirty="0" err="1">
                <a:latin typeface="Times New Roman" panose="02020603050405020304" pitchFamily="18" charset="0"/>
              </a:rPr>
              <a:t>Nguyên</a:t>
            </a:r>
            <a:r>
              <a:rPr lang="en-US" altLang="en-US" i="1" dirty="0">
                <a:latin typeface="Times New Roman" panose="02020603050405020304" pitchFamily="18" charset="0"/>
              </a:rPr>
              <a:t> </a:t>
            </a:r>
            <a:r>
              <a:rPr lang="en-US" altLang="en-US" i="1"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tác</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lẫn</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mặt</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marL="0" indent="0" algn="just">
              <a:buNone/>
            </a:pPr>
            <a:endParaRPr lang="en-US" altLang="en-US" dirty="0">
              <a:latin typeface="Times New Roman" panose="02020603050405020304" pitchFamily="18" charset="0"/>
            </a:endParaRPr>
          </a:p>
          <a:p>
            <a:pPr algn="just"/>
            <a:r>
              <a:rPr lang="en-US" altLang="en-US" i="1" dirty="0" err="1">
                <a:latin typeface="Times New Roman" panose="02020603050405020304" pitchFamily="18" charset="0"/>
              </a:rPr>
              <a:t>Kết</a:t>
            </a:r>
            <a:r>
              <a:rPr lang="en-US" altLang="en-US" i="1" dirty="0">
                <a:latin typeface="Times New Roman" panose="02020603050405020304" pitchFamily="18" charset="0"/>
              </a:rPr>
              <a:t> </a:t>
            </a:r>
            <a:r>
              <a:rPr lang="en-US" altLang="en-US" i="1"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do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tác</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mặt</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yếu</a:t>
            </a:r>
            <a:r>
              <a:rPr lang="en-US" altLang="en-US" dirty="0">
                <a:latin typeface="Times New Roman" panose="02020603050405020304" pitchFamily="18" charset="0"/>
              </a:rPr>
              <a:t> </a:t>
            </a:r>
            <a:r>
              <a:rPr lang="en-US" altLang="en-US" dirty="0" err="1">
                <a:latin typeface="Times New Roman" panose="02020603050405020304" pitchFamily="18" charset="0"/>
              </a:rPr>
              <a:t>tố</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448252"/>
            <a:ext cx="10515600" cy="2862984"/>
          </a:xfrm>
        </p:spPr>
        <p:txBody>
          <a:bodyPr>
            <a:normAutofit/>
          </a:bodyPr>
          <a:lstStyle/>
          <a:p>
            <a:r>
              <a:rPr lang="en-US" sz="2800" b="1" i="1" u="sng" dirty="0" err="1">
                <a:latin typeface="Times New Roman" panose="02020603050405020304" pitchFamily="18" charset="0"/>
                <a:cs typeface="Times New Roman" panose="02020603050405020304" pitchFamily="18" charset="0"/>
              </a:rPr>
              <a:t>Ví</a:t>
            </a:r>
            <a:r>
              <a:rPr lang="en-US" sz="2800" b="1" i="1" u="sng" dirty="0">
                <a:latin typeface="Times New Roman" panose="02020603050405020304" pitchFamily="18" charset="0"/>
                <a:cs typeface="Times New Roman" panose="02020603050405020304" pitchFamily="18" charset="0"/>
              </a:rPr>
              <a:t> d</a:t>
            </a:r>
            <a:r>
              <a:rPr lang="en-US" sz="2800" u="sng" dirty="0">
                <a:latin typeface="Times New Roman" panose="02020603050405020304" pitchFamily="18" charset="0"/>
                <a:cs typeface="Times New Roman" panose="02020603050405020304" pitchFamily="18" charset="0"/>
              </a:rPr>
              <a:t>u:</a:t>
            </a:r>
            <a:br>
              <a:rPr lang="en-US" sz="2800" u="sng"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đấu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tranh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giữa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giai</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cấp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tư</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đưa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kết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quả</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cuộc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vô</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sản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nổ</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ra.</a:t>
            </a:r>
            <a:br>
              <a:rPr lang="en-US" sz="2800" dirty="0">
                <a:latin typeface="Times New Roman" panose="02020603050405020304" pitchFamily="18" charset="0"/>
                <a:cs typeface="Times New Roman" panose="02020603050405020304" pitchFamily="18" charset="0"/>
              </a:rPr>
            </a:br>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Hạt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đậu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gieo</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xuống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nảy</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mầm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Nguyên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nhân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là</a:t>
            </a:r>
            <a:r>
              <a:rPr lang="en-US" sz="2800" dirty="0">
                <a:latin typeface="Times New Roman" panose="02020603050405020304" pitchFamily="18" charset="0"/>
                <a:cs typeface="Times New Roman" panose="02020603050405020304" pitchFamily="18" charset="0"/>
              </a:rPr>
              <a:t> do </a:t>
            </a:r>
            <a:r>
              <a:rPr lang="en-US" sz="2800" dirty="0" err="1">
                <a:latin typeface="Times New Roman" panose="02020603050405020304" pitchFamily="18" charset="0"/>
                <a:cs typeface="Times New Roman" panose="02020603050405020304" pitchFamily="18" charset="0"/>
              </a:rPr>
              <a:t>nhiệt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ánh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sáng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ẩm</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của</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đất</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thích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hợp</a:t>
            </a:r>
            <a:br>
              <a:rPr lang="en-US" sz="2800" dirty="0">
                <a:latin typeface="Times New Roman" panose="02020603050405020304" pitchFamily="18" charset="0"/>
                <a:cs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3311236"/>
            <a:ext cx="10515600" cy="2865726"/>
          </a:xfrm>
        </p:spPr>
        <p:txBody>
          <a:bodyPr/>
          <a:lstStyle/>
          <a:p>
            <a:pPr algn="just"/>
            <a:endParaRPr lang="en-US"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r>
              <a:rPr lang="en-US" i="1" dirty="0" err="1">
                <a:latin typeface="Times New Roman" panose="02020603050405020304" pitchFamily="18" charset="0"/>
                <a:cs typeface="Times New Roman" panose="02020603050405020304" pitchFamily="18" charset="0"/>
              </a:rPr>
              <a:t>Cần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phân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biệt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nguyên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nhân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với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nguyên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cớ</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nguyên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nhân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với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điều</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Nguyên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cớ</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và</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điều</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không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sinh</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ra</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kết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quả</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mặc</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dù</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nó</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xuất</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hiện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cùng</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với</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nguyên</a:t>
            </a:r>
            <a:r>
              <a:rPr lang="en-US" i="1" dirty="0">
                <a:latin typeface="Times New Roman" panose="02020603050405020304" pitchFamily="18" charset="0"/>
                <a:cs typeface="Times New Roman" panose="02020603050405020304" pitchFamily="18" charset="0"/>
              </a:rPr>
              <a:t> </a:t>
            </a:r>
            <a:r>
              <a:rPr lang="en-US" i="1" dirty="0" err="1">
                <a:latin typeface="Times New Roman" panose="02020603050405020304" pitchFamily="18" charset="0"/>
                <a:cs typeface="Times New Roman" panose="02020603050405020304" pitchFamily="18" charset="0"/>
              </a:rPr>
              <a:t>nhân</a:t>
            </a:r>
            <a:endParaRPr lang="en-US" i="1"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b="1" dirty="0" err="1">
                <a:latin typeface="Times New Roman" panose="02020603050405020304" pitchFamily="18" charset="0"/>
                <a:cs typeface="Times New Roman" panose="02020603050405020304" pitchFamily="18" charset="0"/>
              </a:rPr>
              <a:t>Mối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biện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chứng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giữa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nguyên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nhân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và</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kết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quả</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mối</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hệ</a:t>
            </a:r>
            <a:r>
              <a:rPr lang="en-US" altLang="en-US" dirty="0">
                <a:latin typeface="Times New Roman" panose="02020603050405020304" pitchFamily="18" charset="0"/>
              </a:rPr>
              <a:t> </a:t>
            </a:r>
            <a:r>
              <a:rPr lang="en-US" altLang="en-US" dirty="0" err="1">
                <a:latin typeface="Times New Roman" panose="02020603050405020304" pitchFamily="18" charset="0"/>
              </a:rPr>
              <a:t>khách</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nào</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dẫn</a:t>
            </a:r>
            <a:r>
              <a:rPr lang="en-US" altLang="en-US" dirty="0">
                <a:latin typeface="Times New Roman" panose="02020603050405020304" pitchFamily="18" charset="0"/>
              </a:rPr>
              <a:t> </a:t>
            </a:r>
            <a:r>
              <a:rPr lang="en-US" altLang="en-US" dirty="0" err="1">
                <a:latin typeface="Times New Roman" panose="02020603050405020304" pitchFamily="18" charset="0"/>
              </a:rPr>
              <a:t>tới</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ngược</a:t>
            </a:r>
            <a:r>
              <a:rPr lang="en-US" altLang="en-US" dirty="0">
                <a:latin typeface="Times New Roman" panose="02020603050405020304" pitchFamily="18" charset="0"/>
              </a:rPr>
              <a:t> </a:t>
            </a:r>
            <a:r>
              <a:rPr lang="en-US" altLang="en-US" dirty="0" err="1">
                <a:latin typeface="Times New Roman" panose="02020603050405020304" pitchFamily="18" charset="0"/>
              </a:rPr>
              <a:t>lại</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sinh</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qủa</a:t>
            </a:r>
            <a:r>
              <a:rPr lang="en-US" altLang="en-US" dirty="0">
                <a:latin typeface="Times New Roman" panose="02020603050405020304" pitchFamily="18" charset="0"/>
              </a:rPr>
              <a:t>, do </a:t>
            </a:r>
            <a:r>
              <a:rPr lang="en-US" altLang="en-US" dirty="0" err="1">
                <a:latin typeface="Times New Roman" panose="02020603050405020304" pitchFamily="18" charset="0"/>
              </a:rPr>
              <a:t>vậy</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bao</a:t>
            </a:r>
            <a:r>
              <a:rPr lang="en-US" altLang="en-US" dirty="0">
                <a:latin typeface="Times New Roman" panose="02020603050405020304" pitchFamily="18" charset="0"/>
              </a:rPr>
              <a:t> </a:t>
            </a:r>
            <a:r>
              <a:rPr lang="en-US" altLang="en-US" dirty="0" err="1">
                <a:latin typeface="Times New Roman" panose="02020603050405020304" pitchFamily="18" charset="0"/>
              </a:rPr>
              <a:t>giờ</a:t>
            </a:r>
            <a:r>
              <a:rPr lang="en-US" altLang="en-US" dirty="0">
                <a:latin typeface="Times New Roman" panose="02020603050405020304" pitchFamily="18" charset="0"/>
              </a:rPr>
              <a:t> </a:t>
            </a:r>
            <a:r>
              <a:rPr lang="en-US" altLang="en-US" dirty="0" err="1">
                <a:latin typeface="Times New Roman" panose="02020603050405020304" pitchFamily="18" charset="0"/>
              </a:rPr>
              <a:t>cũng</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trước</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còn</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bao</a:t>
            </a:r>
            <a:r>
              <a:rPr lang="en-US" altLang="en-US" dirty="0">
                <a:latin typeface="Times New Roman" panose="02020603050405020304" pitchFamily="18" charset="0"/>
              </a:rPr>
              <a:t> </a:t>
            </a:r>
            <a:r>
              <a:rPr lang="en-US" altLang="en-US" dirty="0" err="1">
                <a:latin typeface="Times New Roman" panose="02020603050405020304" pitchFamily="18" charset="0"/>
              </a:rPr>
              <a:t>giờ</a:t>
            </a:r>
            <a:r>
              <a:rPr lang="en-US" altLang="en-US" dirty="0">
                <a:latin typeface="Times New Roman" panose="02020603050405020304" pitchFamily="18" charset="0"/>
              </a:rPr>
              <a:t> </a:t>
            </a:r>
            <a:r>
              <a:rPr lang="en-US" altLang="en-US" dirty="0" err="1">
                <a:latin typeface="Times New Roman" panose="02020603050405020304" pitchFamily="18" charset="0"/>
              </a:rPr>
              <a:t>cũng</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sau</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sinh</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do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nên</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altLang="en-US" sz="3600" i="1" dirty="0" err="1">
                <a:latin typeface="Times New Roman" panose="02020603050405020304" pitchFamily="18" charset="0"/>
              </a:rPr>
              <a:t>Sự</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tác</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động</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trở</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lại</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của</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kết</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quả</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đối</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với</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nguyên</a:t>
            </a:r>
            <a:r>
              <a:rPr lang="en-US" altLang="en-US" sz="3600" i="1" dirty="0">
                <a:latin typeface="Times New Roman" panose="02020603050405020304" pitchFamily="18" charset="0"/>
              </a:rPr>
              <a:t> </a:t>
            </a:r>
            <a:r>
              <a:rPr lang="en-US" altLang="en-US" sz="3600" i="1" dirty="0" err="1">
                <a:latin typeface="Times New Roman" panose="02020603050405020304" pitchFamily="18" charset="0"/>
              </a:rPr>
              <a:t>nhân</a:t>
            </a:r>
            <a:r>
              <a:rPr lang="en-US" altLang="en-US" sz="3600" i="1" dirty="0">
                <a:latin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diễn</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theo</a:t>
            </a:r>
            <a:r>
              <a:rPr lang="en-US" altLang="en-US" dirty="0">
                <a:latin typeface="Times New Roman" panose="02020603050405020304" pitchFamily="18" charset="0"/>
              </a:rPr>
              <a:t> </a:t>
            </a:r>
            <a:r>
              <a:rPr lang="en-US" altLang="en-US" dirty="0" err="1">
                <a:latin typeface="Times New Roman" panose="02020603050405020304" pitchFamily="18" charset="0"/>
              </a:rPr>
              <a:t>hai</a:t>
            </a:r>
            <a:r>
              <a:rPr lang="en-US" altLang="en-US" dirty="0">
                <a:latin typeface="Times New Roman" panose="02020603050405020304" pitchFamily="18" charset="0"/>
              </a:rPr>
              <a:t> </a:t>
            </a:r>
            <a:r>
              <a:rPr lang="en-US" altLang="en-US" dirty="0" err="1">
                <a:latin typeface="Times New Roman" panose="02020603050405020304" pitchFamily="18" charset="0"/>
              </a:rPr>
              <a:t>hướng</a:t>
            </a:r>
            <a:r>
              <a:rPr lang="en-US" altLang="en-US" dirty="0">
                <a:latin typeface="Times New Roman" panose="02020603050405020304" pitchFamily="18" charset="0"/>
              </a:rPr>
              <a:t>: </a:t>
            </a:r>
            <a:r>
              <a:rPr lang="en-US" altLang="en-US" i="1" dirty="0" err="1">
                <a:latin typeface="Times New Roman" panose="02020603050405020304" pitchFamily="18" charset="0"/>
              </a:rPr>
              <a:t>tích</a:t>
            </a:r>
            <a:r>
              <a:rPr lang="en-US" altLang="en-US" i="1" dirty="0">
                <a:latin typeface="Times New Roman" panose="02020603050405020304" pitchFamily="18" charset="0"/>
              </a:rPr>
              <a:t> </a:t>
            </a:r>
            <a:r>
              <a:rPr lang="en-US" altLang="en-US" i="1" dirty="0" err="1">
                <a:latin typeface="Times New Roman" panose="02020603050405020304" pitchFamily="18" charset="0"/>
              </a:rPr>
              <a:t>cực</a:t>
            </a:r>
            <a:r>
              <a:rPr lang="en-US" altLang="en-US" dirty="0">
                <a:latin typeface="Times New Roman" panose="02020603050405020304" pitchFamily="18" charset="0"/>
              </a:rPr>
              <a:t> hay </a:t>
            </a:r>
            <a:r>
              <a:rPr lang="en-US" altLang="en-US" i="1" dirty="0" err="1">
                <a:latin typeface="Times New Roman" panose="02020603050405020304" pitchFamily="18" charset="0"/>
              </a:rPr>
              <a:t>tiêu</a:t>
            </a:r>
            <a:r>
              <a:rPr lang="en-US" altLang="en-US" i="1" dirty="0">
                <a:latin typeface="Times New Roman" panose="02020603050405020304" pitchFamily="18" charset="0"/>
              </a:rPr>
              <a:t> </a:t>
            </a:r>
            <a:r>
              <a:rPr lang="en-US" altLang="en-US" i="1" dirty="0" err="1">
                <a:latin typeface="Times New Roman" panose="02020603050405020304" pitchFamily="18" charset="0"/>
              </a:rPr>
              <a:t>cực</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nào</a:t>
            </a:r>
            <a:r>
              <a:rPr lang="en-US" altLang="en-US" dirty="0">
                <a:latin typeface="Times New Roman" panose="02020603050405020304" pitchFamily="18" charset="0"/>
              </a:rPr>
              <a:t>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mối</a:t>
            </a:r>
            <a:r>
              <a:rPr lang="en-US" altLang="en-US" dirty="0">
                <a:latin typeface="Times New Roman" panose="02020603050405020304" pitchFamily="18" charset="0"/>
              </a:rPr>
              <a:t> </a:t>
            </a:r>
            <a:r>
              <a:rPr lang="en-US" altLang="en-US" dirty="0" err="1">
                <a:latin typeface="Times New Roman" panose="02020603050405020304" pitchFamily="18" charset="0"/>
              </a:rPr>
              <a:t>liên</a:t>
            </a:r>
            <a:r>
              <a:rPr lang="en-US" altLang="en-US" dirty="0">
                <a:latin typeface="Times New Roman" panose="02020603050405020304" pitchFamily="18" charset="0"/>
              </a:rPr>
              <a:t> </a:t>
            </a:r>
            <a:r>
              <a:rPr lang="en-US" altLang="en-US" dirty="0" err="1">
                <a:latin typeface="Times New Roman" panose="02020603050405020304" pitchFamily="18" charset="0"/>
              </a:rPr>
              <a:t>hệ</a:t>
            </a:r>
            <a:r>
              <a:rPr lang="en-US" altLang="en-US" dirty="0">
                <a:latin typeface="Times New Roman" panose="02020603050405020304" pitchFamily="18" charset="0"/>
              </a:rPr>
              <a:t> </a:t>
            </a:r>
            <a:r>
              <a:rPr lang="en-US" altLang="en-US" dirty="0" err="1">
                <a:latin typeface="Times New Roman" panose="02020603050405020304" pitchFamily="18" charset="0"/>
              </a:rPr>
              <a:t>này</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nhưng</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mối</a:t>
            </a:r>
            <a:r>
              <a:rPr lang="en-US" altLang="en-US" dirty="0">
                <a:latin typeface="Times New Roman" panose="02020603050405020304" pitchFamily="18" charset="0"/>
              </a:rPr>
              <a:t> </a:t>
            </a:r>
            <a:r>
              <a:rPr lang="en-US" altLang="en-US" dirty="0" err="1">
                <a:latin typeface="Times New Roman" panose="02020603050405020304" pitchFamily="18" charset="0"/>
              </a:rPr>
              <a:t>liên</a:t>
            </a:r>
            <a:r>
              <a:rPr lang="en-US" altLang="en-US" dirty="0">
                <a:latin typeface="Times New Roman" panose="02020603050405020304" pitchFamily="18" charset="0"/>
              </a:rPr>
              <a:t> </a:t>
            </a:r>
            <a:r>
              <a:rPr lang="en-US" altLang="en-US" dirty="0" err="1">
                <a:latin typeface="Times New Roman" panose="02020603050405020304" pitchFamily="18" charset="0"/>
              </a:rPr>
              <a:t>hệ</a:t>
            </a:r>
            <a:r>
              <a:rPr lang="en-US" altLang="en-US" dirty="0">
                <a:latin typeface="Times New Roman" panose="02020603050405020304" pitchFamily="18" charset="0"/>
              </a:rPr>
              <a:t> </a:t>
            </a:r>
            <a:r>
              <a:rPr lang="en-US" altLang="en-US" dirty="0" err="1">
                <a:latin typeface="Times New Roman" panose="02020603050405020304" pitchFamily="18" charset="0"/>
              </a:rPr>
              <a:t>khác</a:t>
            </a:r>
            <a:r>
              <a:rPr lang="en-US" altLang="en-US" dirty="0">
                <a:latin typeface="Times New Roman" panose="02020603050405020304" pitchFamily="18" charset="0"/>
              </a:rPr>
              <a:t> </a:t>
            </a:r>
            <a:r>
              <a:rPr lang="en-US" altLang="en-US" dirty="0" err="1">
                <a:latin typeface="Times New Roman" panose="02020603050405020304" pitchFamily="18" charset="0"/>
              </a:rPr>
              <a:t>lại</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ngược</a:t>
            </a:r>
            <a:r>
              <a:rPr lang="en-US" altLang="en-US" dirty="0">
                <a:latin typeface="Times New Roman" panose="02020603050405020304" pitchFamily="18" charset="0"/>
              </a:rPr>
              <a:t> </a:t>
            </a:r>
            <a:r>
              <a:rPr lang="en-US" altLang="en-US" dirty="0" err="1">
                <a:latin typeface="Times New Roman" panose="02020603050405020304" pitchFamily="18" charset="0"/>
              </a:rPr>
              <a:t>lại</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b="1" dirty="0">
                <a:latin typeface="Times New Roman" panose="02020603050405020304" pitchFamily="18" charset="0"/>
                <a:cs typeface="Times New Roman" panose="02020603050405020304" pitchFamily="18" charset="0"/>
              </a:rPr>
              <a:t>Ý </a:t>
            </a:r>
            <a:r>
              <a:rPr lang="en-US" sz="4000" b="1" dirty="0" err="1">
                <a:latin typeface="Times New Roman" panose="02020603050405020304" pitchFamily="18" charset="0"/>
                <a:cs typeface="Times New Roman" panose="02020603050405020304" pitchFamily="18" charset="0"/>
              </a:rPr>
              <a:t>nghĩa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phương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90688"/>
            <a:ext cx="10515600" cy="4486275"/>
          </a:xfrm>
        </p:spPr>
        <p:txBody>
          <a:bodyPr/>
          <a:lstStyle/>
          <a:p>
            <a:pPr algn="just">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bắt</a:t>
            </a:r>
            <a:r>
              <a:rPr lang="en-US" altLang="en-US" dirty="0">
                <a:latin typeface="Times New Roman" panose="02020603050405020304" pitchFamily="18" charset="0"/>
              </a:rPr>
              <a:t> </a:t>
            </a:r>
            <a:r>
              <a:rPr lang="en-US" altLang="en-US" dirty="0" err="1">
                <a:latin typeface="Times New Roman" panose="02020603050405020304" pitchFamily="18" charset="0"/>
              </a:rPr>
              <a:t>đầu</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việc</a:t>
            </a:r>
            <a:r>
              <a:rPr lang="en-US" altLang="en-US" dirty="0">
                <a:latin typeface="Times New Roman" panose="02020603050405020304" pitchFamily="18" charset="0"/>
              </a:rPr>
              <a:t> </a:t>
            </a:r>
            <a:r>
              <a:rPr lang="en-US" altLang="en-US" dirty="0" err="1">
                <a:latin typeface="Times New Roman" panose="02020603050405020304" pitchFamily="18" charset="0"/>
              </a:rPr>
              <a:t>đi</a:t>
            </a:r>
            <a:r>
              <a:rPr lang="en-US" altLang="en-US" dirty="0">
                <a:latin typeface="Times New Roman" panose="02020603050405020304" pitchFamily="18" charset="0"/>
              </a:rPr>
              <a:t> </a:t>
            </a:r>
            <a:r>
              <a:rPr lang="en-US" altLang="en-US" dirty="0" err="1">
                <a:latin typeface="Times New Roman" panose="02020603050405020304" pitchFamily="18" charset="0"/>
              </a:rPr>
              <a:t>tìm</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Cần</a:t>
            </a:r>
            <a:r>
              <a:rPr lang="en-US" altLang="en-US" dirty="0">
                <a:latin typeface="Times New Roman" panose="02020603050405020304" pitchFamily="18" charset="0"/>
              </a:rPr>
              <a:t> </a:t>
            </a:r>
            <a:r>
              <a:rPr lang="en-US" altLang="en-US" dirty="0" err="1">
                <a:latin typeface="Times New Roman" panose="02020603050405020304" pitchFamily="18" charset="0"/>
              </a:rPr>
              <a:t>phân</a:t>
            </a:r>
            <a:r>
              <a:rPr lang="en-US" altLang="en-US" dirty="0">
                <a:latin typeface="Times New Roman" panose="02020603050405020304" pitchFamily="18" charset="0"/>
              </a:rPr>
              <a:t> </a:t>
            </a:r>
            <a:r>
              <a:rPr lang="en-US" altLang="en-US" dirty="0" err="1">
                <a:latin typeface="Times New Roman" panose="02020603050405020304" pitchFamily="18" charset="0"/>
              </a:rPr>
              <a:t>loại</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loại</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biện</a:t>
            </a:r>
            <a:r>
              <a:rPr lang="en-US" altLang="en-US" dirty="0">
                <a:latin typeface="Times New Roman" panose="02020603050405020304" pitchFamily="18" charset="0"/>
              </a:rPr>
              <a:t> </a:t>
            </a:r>
            <a:r>
              <a:rPr lang="en-US" altLang="en-US" dirty="0" err="1">
                <a:latin typeface="Times New Roman" panose="02020603050405020304" pitchFamily="18" charset="0"/>
              </a:rPr>
              <a:t>pháp</a:t>
            </a:r>
            <a:r>
              <a:rPr lang="en-US" altLang="en-US" dirty="0">
                <a:latin typeface="Times New Roman" panose="02020603050405020304" pitchFamily="18" charset="0"/>
              </a:rPr>
              <a:t> </a:t>
            </a:r>
            <a:r>
              <a:rPr lang="en-US" altLang="en-US" dirty="0" err="1">
                <a:latin typeface="Times New Roman" panose="02020603050405020304" pitchFamily="18" charset="0"/>
              </a:rPr>
              <a:t>giải</a:t>
            </a:r>
            <a:r>
              <a:rPr lang="en-US" altLang="en-US" dirty="0">
                <a:latin typeface="Times New Roman" panose="02020603050405020304" pitchFamily="18" charset="0"/>
              </a:rPr>
              <a:t> </a:t>
            </a:r>
            <a:r>
              <a:rPr lang="en-US" altLang="en-US" dirty="0" err="1">
                <a:latin typeface="Times New Roman" panose="02020603050405020304" pitchFamily="18" charset="0"/>
              </a:rPr>
              <a:t>quyết</a:t>
            </a:r>
            <a:r>
              <a:rPr lang="en-US" altLang="en-US" dirty="0">
                <a:latin typeface="Times New Roman" panose="02020603050405020304" pitchFamily="18" charset="0"/>
              </a:rPr>
              <a:t> </a:t>
            </a:r>
            <a:r>
              <a:rPr lang="en-US" altLang="en-US" dirty="0" err="1">
                <a:latin typeface="Times New Roman" panose="02020603050405020304" pitchFamily="18" charset="0"/>
              </a:rPr>
              <a:t>đúng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tận</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đã</a:t>
            </a:r>
            <a:r>
              <a:rPr lang="en-US" altLang="en-US" dirty="0">
                <a:latin typeface="Times New Roman" panose="02020603050405020304" pitchFamily="18" charset="0"/>
              </a:rPr>
              <a:t> </a:t>
            </a:r>
            <a:r>
              <a:rPr lang="en-US" altLang="en-US" dirty="0" err="1">
                <a:latin typeface="Times New Roman" panose="02020603050405020304" pitchFamily="18" charset="0"/>
              </a:rPr>
              <a:t>đạt</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điều</a:t>
            </a:r>
            <a:r>
              <a:rPr lang="en-US" altLang="en-US" dirty="0">
                <a:latin typeface="Times New Roman" panose="02020603050405020304" pitchFamily="18" charset="0"/>
              </a:rPr>
              <a:t>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thúc</a:t>
            </a:r>
            <a:r>
              <a:rPr lang="en-US" altLang="en-US" dirty="0">
                <a:latin typeface="Times New Roman" panose="02020603050405020304" pitchFamily="18" charset="0"/>
              </a:rPr>
              <a:t> </a:t>
            </a:r>
            <a:r>
              <a:rPr lang="en-US" altLang="en-US" dirty="0" err="1">
                <a:latin typeface="Times New Roman" panose="02020603050405020304" pitchFamily="18" charset="0"/>
              </a:rPr>
              <a:t>đẩy</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huy</a:t>
            </a:r>
            <a:r>
              <a:rPr lang="en-US" altLang="en-US" dirty="0">
                <a:latin typeface="Times New Roman" panose="02020603050405020304" pitchFamily="18" charset="0"/>
              </a:rPr>
              <a:t> </a:t>
            </a:r>
            <a:r>
              <a:rPr lang="en-US" altLang="en-US" dirty="0" err="1">
                <a:latin typeface="Times New Roman" panose="02020603050405020304" pitchFamily="18" charset="0"/>
              </a:rPr>
              <a:t>tác</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a:t>
            </a:r>
            <a:r>
              <a:rPr lang="en-US" altLang="en-US" dirty="0" err="1">
                <a:latin typeface="Times New Roman" panose="02020603050405020304" pitchFamily="18" charset="0"/>
              </a:rPr>
              <a:t>nhằm</a:t>
            </a:r>
            <a:r>
              <a:rPr lang="en-US" altLang="en-US" dirty="0">
                <a:latin typeface="Times New Roman" panose="02020603050405020304" pitchFamily="18" charset="0"/>
              </a:rPr>
              <a:t> </a:t>
            </a:r>
            <a:r>
              <a:rPr lang="en-US" altLang="en-US" dirty="0" err="1">
                <a:latin typeface="Times New Roman" panose="02020603050405020304" pitchFamily="18" charset="0"/>
              </a:rPr>
              <a:t>đạt</a:t>
            </a:r>
            <a:r>
              <a:rPr lang="en-US" altLang="en-US" dirty="0">
                <a:latin typeface="Times New Roman" panose="02020603050405020304" pitchFamily="18" charset="0"/>
              </a:rPr>
              <a:t> </a:t>
            </a:r>
            <a:r>
              <a:rPr lang="en-US" altLang="en-US" dirty="0" err="1">
                <a:latin typeface="Times New Roman" panose="02020603050405020304" pitchFamily="18" charset="0"/>
              </a:rPr>
              <a:t>mục</a:t>
            </a:r>
            <a:r>
              <a:rPr lang="en-US" altLang="en-US" dirty="0">
                <a:latin typeface="Times New Roman" panose="02020603050405020304" pitchFamily="18" charset="0"/>
              </a:rPr>
              <a:t> </a:t>
            </a:r>
            <a:r>
              <a:rPr lang="en-US" altLang="en-US" dirty="0" err="1">
                <a:latin typeface="Times New Roman" panose="02020603050405020304" pitchFamily="18" charset="0"/>
              </a:rPr>
              <a:t>đích</a:t>
            </a:r>
            <a:r>
              <a:rPr lang="en-US" altLang="en-US" dirty="0">
                <a:latin typeface="Times New Roman" panose="02020603050405020304" pitchFamily="18" charset="0"/>
              </a:rPr>
              <a:t> </a:t>
            </a:r>
            <a:r>
              <a:rPr lang="en-US" altLang="en-US" dirty="0" err="1">
                <a:latin typeface="Times New Roman" panose="02020603050405020304" pitchFamily="18" charset="0"/>
              </a:rPr>
              <a:t>đã</a:t>
            </a:r>
            <a:r>
              <a:rPr lang="en-US" altLang="en-US" dirty="0">
                <a:latin typeface="Times New Roman" panose="02020603050405020304" pitchFamily="18" charset="0"/>
              </a:rPr>
              <a:t> </a:t>
            </a:r>
            <a:r>
              <a:rPr lang="en-US" altLang="en-US" dirty="0" err="1">
                <a:latin typeface="Times New Roman" panose="02020603050405020304" pitchFamily="18" charset="0"/>
              </a:rPr>
              <a:t>đề</a:t>
            </a:r>
            <a:r>
              <a:rPr lang="en-US" altLang="en-US" dirty="0">
                <a:latin typeface="Times New Roman" panose="02020603050405020304" pitchFamily="18" charset="0"/>
              </a:rPr>
              <a:t> </a:t>
            </a:r>
            <a:r>
              <a:rPr lang="en-US" altLang="en-US" dirty="0" err="1">
                <a:latin typeface="Times New Roman" panose="02020603050405020304" pitchFamily="18" charset="0"/>
              </a:rPr>
              <a:t>ra.</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72832"/>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3. TẤT NHIÊN VÀ NGẪU NHIÊN</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7108"/>
            <a:ext cx="10515600" cy="4699855"/>
          </a:xfrm>
        </p:spPr>
        <p:txBody>
          <a:bodyPr/>
          <a:lstStyle/>
          <a:p>
            <a:pPr algn="just"/>
            <a:r>
              <a:rPr lang="en-US" altLang="en-US" i="1" dirty="0" err="1">
                <a:latin typeface="Times New Roman" panose="02020603050405020304" pitchFamily="18" charset="0"/>
              </a:rPr>
              <a:t>Tất</a:t>
            </a:r>
            <a:r>
              <a:rPr lang="en-US" altLang="en-US" i="1" dirty="0">
                <a:latin typeface="Times New Roman" panose="02020603050405020304" pitchFamily="18" charset="0"/>
              </a:rPr>
              <a:t> </a:t>
            </a:r>
            <a:r>
              <a:rPr lang="en-US" altLang="en-US" i="1"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yếu</a:t>
            </a:r>
            <a:r>
              <a:rPr lang="en-US" altLang="en-US" dirty="0">
                <a:latin typeface="Times New Roman" panose="02020603050405020304" pitchFamily="18" charset="0"/>
              </a:rPr>
              <a:t>) </a:t>
            </a:r>
            <a:r>
              <a:rPr lang="en-US" altLang="en-US" dirty="0" err="1">
                <a:latin typeface="Times New Roman" panose="02020603050405020304" pitchFamily="18" charset="0"/>
              </a:rPr>
              <a:t>dùng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do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cơ</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bên</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kết</a:t>
            </a:r>
            <a:r>
              <a:rPr lang="en-US" altLang="en-US" dirty="0">
                <a:latin typeface="Times New Roman" panose="02020603050405020304" pitchFamily="18" charset="0"/>
              </a:rPr>
              <a:t> </a:t>
            </a:r>
            <a:r>
              <a:rPr lang="en-US" altLang="en-US" dirty="0" err="1">
                <a:latin typeface="Times New Roman" panose="02020603050405020304" pitchFamily="18" charset="0"/>
              </a:rPr>
              <a:t>cấu</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quyết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điều</a:t>
            </a:r>
            <a:r>
              <a:rPr lang="en-US" altLang="en-US" dirty="0">
                <a:latin typeface="Times New Roman" panose="02020603050405020304" pitchFamily="18" charset="0"/>
              </a:rPr>
              <a:t>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nó</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xảy</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như</a:t>
            </a:r>
            <a:r>
              <a:rPr lang="en-US" altLang="en-US" dirty="0">
                <a:latin typeface="Times New Roman" panose="02020603050405020304" pitchFamily="18" charset="0"/>
              </a:rPr>
              <a:t> </a:t>
            </a:r>
            <a:r>
              <a:rPr lang="en-US" altLang="en-US" dirty="0" err="1">
                <a:latin typeface="Times New Roman" panose="02020603050405020304" pitchFamily="18" charset="0"/>
              </a:rPr>
              <a:t>thế</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khác</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r>
              <a:rPr lang="en-US" altLang="en-US" i="1" dirty="0" err="1">
                <a:latin typeface="Times New Roman" panose="02020603050405020304" pitchFamily="18" charset="0"/>
              </a:rPr>
              <a:t>Ngẫu</a:t>
            </a:r>
            <a:r>
              <a:rPr lang="en-US" altLang="en-US" i="1" dirty="0">
                <a:latin typeface="Times New Roman" panose="02020603050405020304" pitchFamily="18" charset="0"/>
              </a:rPr>
              <a:t> </a:t>
            </a:r>
            <a:r>
              <a:rPr lang="en-US" altLang="en-US" i="1"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dùng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do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bên</a:t>
            </a:r>
            <a:r>
              <a:rPr lang="en-US" altLang="en-US" dirty="0">
                <a:latin typeface="Times New Roman" panose="02020603050405020304" pitchFamily="18" charset="0"/>
              </a:rPr>
              <a:t> </a:t>
            </a:r>
            <a:r>
              <a:rPr lang="en-US" altLang="en-US" dirty="0" err="1">
                <a:latin typeface="Times New Roman" panose="02020603050405020304" pitchFamily="18" charset="0"/>
              </a:rPr>
              <a:t>ngoài</a:t>
            </a:r>
            <a:r>
              <a:rPr lang="en-US" altLang="en-US" dirty="0">
                <a:latin typeface="Times New Roman" panose="02020603050405020304" pitchFamily="18" charset="0"/>
              </a:rPr>
              <a:t>, do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hợp</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hoàn</a:t>
            </a:r>
            <a:r>
              <a:rPr lang="en-US" altLang="en-US" dirty="0">
                <a:latin typeface="Times New Roman" panose="02020603050405020304" pitchFamily="18" charset="0"/>
              </a:rPr>
              <a:t> </a:t>
            </a:r>
            <a:r>
              <a:rPr lang="en-US" altLang="en-US" dirty="0" err="1">
                <a:latin typeface="Times New Roman" panose="02020603050405020304" pitchFamily="18" charset="0"/>
              </a:rPr>
              <a:t>cảnh</a:t>
            </a:r>
            <a:r>
              <a:rPr lang="en-US" altLang="en-US" dirty="0">
                <a:latin typeface="Times New Roman" panose="02020603050405020304" pitchFamily="18" charset="0"/>
              </a:rPr>
              <a:t> </a:t>
            </a:r>
            <a:r>
              <a:rPr lang="en-US" altLang="en-US" dirty="0" err="1">
                <a:latin typeface="Times New Roman" panose="02020603050405020304" pitchFamily="18" charset="0"/>
              </a:rPr>
              <a:t>bên</a:t>
            </a:r>
            <a:r>
              <a:rPr lang="en-US" altLang="en-US" dirty="0">
                <a:latin typeface="Times New Roman" panose="02020603050405020304" pitchFamily="18" charset="0"/>
              </a:rPr>
              <a:t> </a:t>
            </a:r>
            <a:r>
              <a:rPr lang="en-US" altLang="en-US" dirty="0" err="1">
                <a:latin typeface="Times New Roman" panose="02020603050405020304" pitchFamily="18" charset="0"/>
              </a:rPr>
              <a:t>ngoài</a:t>
            </a:r>
            <a:r>
              <a:rPr lang="en-US" altLang="en-US" dirty="0">
                <a:latin typeface="Times New Roman" panose="02020603050405020304" pitchFamily="18" charset="0"/>
              </a:rPr>
              <a:t> </a:t>
            </a:r>
            <a:r>
              <a:rPr lang="en-US" altLang="en-US" dirty="0" err="1">
                <a:latin typeface="Times New Roman" panose="02020603050405020304" pitchFamily="18" charset="0"/>
              </a:rPr>
              <a:t>quyết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Do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nó</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như</a:t>
            </a:r>
            <a:r>
              <a:rPr lang="en-US" altLang="en-US" dirty="0">
                <a:latin typeface="Times New Roman" panose="02020603050405020304" pitchFamily="18" charset="0"/>
              </a:rPr>
              <a:t> </a:t>
            </a:r>
            <a:r>
              <a:rPr lang="en-US" altLang="en-US" dirty="0" err="1">
                <a:latin typeface="Times New Roman" panose="02020603050405020304" pitchFamily="18" charset="0"/>
              </a:rPr>
              <a:t>thế</a:t>
            </a:r>
            <a:r>
              <a:rPr lang="en-US" altLang="en-US" dirty="0">
                <a:latin typeface="Times New Roman" panose="02020603050405020304" pitchFamily="18" charset="0"/>
              </a:rPr>
              <a:t> </a:t>
            </a:r>
            <a:r>
              <a:rPr lang="en-US" altLang="en-US" dirty="0" err="1">
                <a:latin typeface="Times New Roman" panose="02020603050405020304" pitchFamily="18" charset="0"/>
              </a:rPr>
              <a:t>này</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như</a:t>
            </a:r>
            <a:r>
              <a:rPr lang="en-US" altLang="en-US" dirty="0">
                <a:latin typeface="Times New Roman" panose="02020603050405020304" pitchFamily="18" charset="0"/>
              </a:rPr>
              <a:t> </a:t>
            </a:r>
            <a:r>
              <a:rPr lang="en-US" altLang="en-US" dirty="0" err="1">
                <a:latin typeface="Times New Roman" panose="02020603050405020304" pitchFamily="18" charset="0"/>
              </a:rPr>
              <a:t>thế</a:t>
            </a:r>
            <a:r>
              <a:rPr lang="en-US" altLang="en-US" dirty="0">
                <a:latin typeface="Times New Roman" panose="02020603050405020304" pitchFamily="18" charset="0"/>
              </a:rPr>
              <a:t> </a:t>
            </a:r>
            <a:r>
              <a:rPr lang="en-US" altLang="en-US" dirty="0" err="1">
                <a:latin typeface="Times New Roman" panose="02020603050405020304" pitchFamily="18" charset="0"/>
              </a:rPr>
              <a:t>khác</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89602"/>
          </a:xfrm>
        </p:spPr>
        <p:txBody>
          <a:bodyPr>
            <a:normAutofit/>
          </a:bodyPr>
          <a:lstStyle/>
          <a:p>
            <a:r>
              <a:rPr lang="en-US" sz="3600" b="1" i="1" u="sng" dirty="0" err="1">
                <a:latin typeface="Times New Roman" panose="02020603050405020304" pitchFamily="18" charset="0"/>
                <a:cs typeface="Times New Roman" panose="02020603050405020304" pitchFamily="18" charset="0"/>
              </a:rPr>
              <a:t>Ví</a:t>
            </a:r>
            <a:r>
              <a:rPr lang="en-US" sz="3600" b="1" i="1" u="sng" dirty="0">
                <a:latin typeface="Times New Roman" panose="02020603050405020304" pitchFamily="18" charset="0"/>
                <a:cs typeface="Times New Roman" panose="02020603050405020304" pitchFamily="18" charset="0"/>
              </a:rPr>
              <a:t> </a:t>
            </a:r>
            <a:r>
              <a:rPr lang="en-US" sz="3600" b="1" i="1" u="sng" dirty="0" err="1">
                <a:latin typeface="Times New Roman" panose="02020603050405020304" pitchFamily="18" charset="0"/>
                <a:cs typeface="Times New Roman" panose="02020603050405020304" pitchFamily="18" charset="0"/>
              </a:rPr>
              <a:t>dụ</a:t>
            </a:r>
            <a:r>
              <a:rPr lang="en-US" sz="3600"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48691"/>
            <a:ext cx="10515600" cy="4528272"/>
          </a:xfrm>
        </p:spPr>
        <p:txBody>
          <a:bodyPr/>
          <a:lstStyle/>
          <a:p>
            <a:pPr algn="just"/>
            <a:r>
              <a:rPr lang="en-US" dirty="0">
                <a:latin typeface="Times New Roman" panose="02020603050405020304" pitchFamily="18" charset="0"/>
                <a:cs typeface="Times New Roman" panose="02020603050405020304" pitchFamily="18" charset="0"/>
              </a:rPr>
              <a:t>Trai </a:t>
            </a:r>
            <a:r>
              <a:rPr lang="en-US" dirty="0" err="1">
                <a:latin typeface="Times New Roman" panose="02020603050405020304" pitchFamily="18" charset="0"/>
                <a:cs typeface="Times New Roman" panose="02020603050405020304" pitchFamily="18" charset="0"/>
              </a:rPr>
              <a:t>gái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lớn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chồng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lấy</a:t>
            </a:r>
            <a:r>
              <a:rPr lang="en-US" dirty="0">
                <a:latin typeface="Times New Roman" panose="02020603050405020304" pitchFamily="18" charset="0"/>
                <a:cs typeface="Times New Roman" panose="02020603050405020304" pitchFamily="18" charset="0"/>
              </a:rPr>
              <a:t> ai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ngẫu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Con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lúc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ngẫu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minh </a:t>
            </a:r>
            <a:r>
              <a:rPr lang="en-US" dirty="0" err="1">
                <a:latin typeface="Times New Roman" panose="02020603050405020304" pitchFamily="18" charset="0"/>
                <a:cs typeface="Times New Roman" panose="02020603050405020304" pitchFamily="18" charset="0"/>
              </a:rPr>
              <a:t>khoa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minh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lúc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ngẫu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lgn="just"/>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nhân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xuất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trong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lịch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nhưng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trò</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lịch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ấy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ngẫu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nhiên</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b="1" dirty="0" err="1">
                <a:latin typeface="Times New Roman" panose="02020603050405020304" pitchFamily="18" charset="0"/>
                <a:cs typeface="Times New Roman" panose="02020603050405020304" pitchFamily="18" charset="0"/>
              </a:rPr>
              <a:t>Mối</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quan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hệ</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biện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chứng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giữa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tất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nhiên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và</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ngẫu</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nhiên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đều</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khách</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đều</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vai</a:t>
            </a:r>
            <a:r>
              <a:rPr lang="en-US" altLang="en-US" dirty="0">
                <a:latin typeface="Times New Roman" panose="02020603050405020304" pitchFamily="18" charset="0"/>
              </a:rPr>
              <a:t> </a:t>
            </a:r>
            <a:r>
              <a:rPr lang="en-US" altLang="en-US" dirty="0" err="1">
                <a:latin typeface="Times New Roman" panose="02020603050405020304" pitchFamily="18" charset="0"/>
              </a:rPr>
              <a:t>trò</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đóng</a:t>
            </a:r>
            <a:r>
              <a:rPr lang="en-US" altLang="en-US" dirty="0">
                <a:latin typeface="Times New Roman" panose="02020603050405020304" pitchFamily="18" charset="0"/>
              </a:rPr>
              <a:t> </a:t>
            </a:r>
            <a:r>
              <a:rPr lang="en-US" altLang="en-US" dirty="0" err="1">
                <a:latin typeface="Times New Roman" panose="02020603050405020304" pitchFamily="18" charset="0"/>
              </a:rPr>
              <a:t>vai</a:t>
            </a:r>
            <a:r>
              <a:rPr lang="en-US" altLang="en-US" dirty="0">
                <a:latin typeface="Times New Roman" panose="02020603050405020304" pitchFamily="18" charset="0"/>
              </a:rPr>
              <a:t> </a:t>
            </a:r>
            <a:r>
              <a:rPr lang="en-US" altLang="en-US" dirty="0" err="1">
                <a:latin typeface="Times New Roman" panose="02020603050405020304" pitchFamily="18" charset="0"/>
              </a:rPr>
              <a:t>trò</a:t>
            </a:r>
            <a:r>
              <a:rPr lang="en-US" altLang="en-US" dirty="0">
                <a:latin typeface="Times New Roman" panose="02020603050405020304" pitchFamily="18" charset="0"/>
              </a:rPr>
              <a:t> </a:t>
            </a:r>
            <a:r>
              <a:rPr lang="en-US" altLang="en-US" dirty="0" err="1">
                <a:latin typeface="Times New Roman" panose="02020603050405020304" pitchFamily="18" charset="0"/>
              </a:rPr>
              <a:t>quyết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đều</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thống</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biện</a:t>
            </a:r>
            <a:r>
              <a:rPr lang="en-US" altLang="en-US" dirty="0">
                <a:latin typeface="Times New Roman" panose="02020603050405020304" pitchFamily="18" charset="0"/>
              </a:rPr>
              <a:t> </a:t>
            </a:r>
            <a:r>
              <a:rPr lang="en-US" altLang="en-US" dirty="0" err="1">
                <a:latin typeface="Times New Roman" panose="02020603050405020304" pitchFamily="18" charset="0"/>
              </a:rPr>
              <a:t>chứng</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thuần</a:t>
            </a:r>
            <a:r>
              <a:rPr lang="en-US" altLang="en-US" dirty="0">
                <a:latin typeface="Times New Roman" panose="02020603050405020304" pitchFamily="18" charset="0"/>
              </a:rPr>
              <a:t> </a:t>
            </a:r>
            <a:r>
              <a:rPr lang="en-US" altLang="en-US" dirty="0" err="1">
                <a:latin typeface="Times New Roman" panose="02020603050405020304" pitchFamily="18" charset="0"/>
              </a:rPr>
              <a:t>túy</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bao</a:t>
            </a:r>
            <a:r>
              <a:rPr lang="en-US" altLang="en-US" dirty="0">
                <a:latin typeface="Times New Roman" panose="02020603050405020304" pitchFamily="18" charset="0"/>
              </a:rPr>
              <a:t> </a:t>
            </a:r>
            <a:r>
              <a:rPr lang="en-US" altLang="en-US" dirty="0" err="1">
                <a:latin typeface="Times New Roman" panose="02020603050405020304" pitchFamily="18" charset="0"/>
              </a:rPr>
              <a:t>giờ</a:t>
            </a:r>
            <a:r>
              <a:rPr lang="en-US" altLang="en-US" dirty="0">
                <a:latin typeface="Times New Roman" panose="02020603050405020304" pitchFamily="18" charset="0"/>
              </a:rPr>
              <a:t> </a:t>
            </a:r>
            <a:r>
              <a:rPr lang="en-US" altLang="en-US" dirty="0" err="1">
                <a:latin typeface="Times New Roman" panose="02020603050405020304" pitchFamily="18" charset="0"/>
              </a:rPr>
              <a:t>cũng</a:t>
            </a:r>
            <a:r>
              <a:rPr lang="en-US" altLang="en-US" dirty="0">
                <a:latin typeface="Times New Roman" panose="02020603050405020304" pitchFamily="18" charset="0"/>
              </a:rPr>
              <a:t> </a:t>
            </a:r>
            <a:r>
              <a:rPr lang="en-US" altLang="en-US" dirty="0" err="1">
                <a:latin typeface="Times New Roman" panose="02020603050405020304" pitchFamily="18" charset="0"/>
              </a:rPr>
              <a:t>vạch</a:t>
            </a:r>
            <a:r>
              <a:rPr lang="en-US" altLang="en-US" dirty="0">
                <a:latin typeface="Times New Roman" panose="02020603050405020304" pitchFamily="18" charset="0"/>
              </a:rPr>
              <a:t> </a:t>
            </a:r>
            <a:r>
              <a:rPr lang="en-US" altLang="en-US" dirty="0" err="1">
                <a:latin typeface="Times New Roman" panose="02020603050405020304" pitchFamily="18" charset="0"/>
              </a:rPr>
              <a:t>đường</a:t>
            </a:r>
            <a:r>
              <a:rPr lang="en-US" altLang="en-US" dirty="0">
                <a:latin typeface="Times New Roman" panose="02020603050405020304" pitchFamily="18" charset="0"/>
              </a:rPr>
              <a:t> </a:t>
            </a:r>
            <a:r>
              <a:rPr lang="en-US" altLang="en-US" dirty="0" err="1">
                <a:latin typeface="Times New Roman" panose="02020603050405020304" pitchFamily="18" charset="0"/>
              </a:rPr>
              <a:t>đi</a:t>
            </a:r>
            <a:r>
              <a:rPr lang="en-US" altLang="en-US" dirty="0">
                <a:latin typeface="Times New Roman" panose="02020603050405020304" pitchFamily="18" charset="0"/>
              </a:rPr>
              <a:t> </a:t>
            </a:r>
            <a:r>
              <a:rPr lang="en-US" altLang="en-US" dirty="0" err="1">
                <a:latin typeface="Times New Roman" panose="02020603050405020304" pitchFamily="18" charset="0"/>
              </a:rPr>
              <a:t>cho</a:t>
            </a:r>
            <a:r>
              <a:rPr lang="en-US" altLang="en-US" dirty="0">
                <a:latin typeface="Times New Roman" panose="02020603050405020304" pitchFamily="18" charset="0"/>
              </a:rPr>
              <a:t> </a:t>
            </a:r>
            <a:r>
              <a:rPr lang="en-US" altLang="en-US" dirty="0" err="1">
                <a:latin typeface="Times New Roman" panose="02020603050405020304" pitchFamily="18" charset="0"/>
              </a:rPr>
              <a:t>mình</a:t>
            </a:r>
            <a:r>
              <a:rPr lang="en-US" altLang="en-US" dirty="0">
                <a:latin typeface="Times New Roman" panose="02020603050405020304" pitchFamily="18" charset="0"/>
              </a:rPr>
              <a:t> </a:t>
            </a:r>
            <a:r>
              <a:rPr lang="en-US" altLang="en-US" dirty="0" err="1">
                <a:latin typeface="Times New Roman" panose="02020603050405020304" pitchFamily="18" charset="0"/>
              </a:rPr>
              <a:t>thông</a:t>
            </a:r>
            <a:r>
              <a:rPr lang="en-US" altLang="en-US" dirty="0">
                <a:latin typeface="Times New Roman" panose="02020603050405020304" pitchFamily="18" charset="0"/>
              </a:rPr>
              <a:t> qua </a:t>
            </a:r>
            <a:r>
              <a:rPr lang="en-US" altLang="en-US" dirty="0" err="1">
                <a:latin typeface="Times New Roman" panose="02020603050405020304" pitchFamily="18" charset="0"/>
              </a:rPr>
              <a:t>vô</a:t>
            </a:r>
            <a:r>
              <a:rPr lang="en-US" altLang="en-US" dirty="0">
                <a:latin typeface="Times New Roman" panose="02020603050405020304" pitchFamily="18" charset="0"/>
              </a:rPr>
              <a:t> </a:t>
            </a:r>
            <a:r>
              <a:rPr lang="en-US" altLang="en-US" dirty="0" err="1">
                <a:latin typeface="Times New Roman" panose="02020603050405020304" pitchFamily="18" charset="0"/>
              </a:rPr>
              <a:t>số</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Còn</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biểu</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bổ</a:t>
            </a:r>
            <a:r>
              <a:rPr lang="en-US" altLang="en-US" dirty="0">
                <a:latin typeface="Times New Roman" panose="02020603050405020304" pitchFamily="18" charset="0"/>
              </a:rPr>
              <a:t> sung </a:t>
            </a:r>
            <a:r>
              <a:rPr lang="en-US" altLang="en-US" dirty="0" err="1">
                <a:latin typeface="Times New Roman" panose="02020603050405020304" pitchFamily="18" charset="0"/>
              </a:rPr>
              <a:t>cho</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00966"/>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Ý </a:t>
            </a:r>
            <a:r>
              <a:rPr lang="en-US" sz="4000" b="1" dirty="0" err="1">
                <a:latin typeface="Times New Roman" panose="02020603050405020304" pitchFamily="18" charset="0"/>
                <a:cs typeface="Times New Roman" panose="02020603050405020304" pitchFamily="18" charset="0"/>
              </a:rPr>
              <a:t>nghĩa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phương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luận</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34905"/>
            <a:ext cx="10515600" cy="4742058"/>
          </a:xfrm>
        </p:spPr>
        <p:txBody>
          <a:bodyPr/>
          <a:lstStyle/>
          <a:p>
            <a:pPr algn="just"/>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chúng</a:t>
            </a:r>
            <a:r>
              <a:rPr lang="en-US" altLang="en-US" dirty="0">
                <a:latin typeface="Times New Roman" panose="02020603050405020304" pitchFamily="18" charset="0"/>
              </a:rPr>
              <a:t> ta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căn</a:t>
            </a:r>
            <a:r>
              <a:rPr lang="en-US" altLang="en-US" dirty="0">
                <a:latin typeface="Times New Roman" panose="02020603050405020304" pitchFamily="18" charset="0"/>
              </a:rPr>
              <a:t> </a:t>
            </a:r>
            <a:r>
              <a:rPr lang="en-US" altLang="en-US" dirty="0" err="1">
                <a:latin typeface="Times New Roman" panose="02020603050405020304" pitchFamily="18" charset="0"/>
              </a:rPr>
              <a:t>cứ</a:t>
            </a:r>
            <a:r>
              <a:rPr lang="en-US" altLang="en-US" dirty="0">
                <a:latin typeface="Times New Roman" panose="02020603050405020304" pitchFamily="18" charset="0"/>
              </a:rPr>
              <a:t> </a:t>
            </a:r>
            <a:r>
              <a:rPr lang="en-US" altLang="en-US" dirty="0" err="1">
                <a:latin typeface="Times New Roman" panose="02020603050405020304" pitchFamily="18" charset="0"/>
              </a:rPr>
              <a:t>vào</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Tuy</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bỏ</a:t>
            </a:r>
            <a:r>
              <a:rPr lang="en-US" altLang="en-US" dirty="0">
                <a:latin typeface="Times New Roman" panose="02020603050405020304" pitchFamily="18" charset="0"/>
              </a:rPr>
              <a:t> qua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tách</a:t>
            </a:r>
            <a:r>
              <a:rPr lang="en-US" altLang="en-US" dirty="0">
                <a:latin typeface="Times New Roman" panose="02020603050405020304" pitchFamily="18" charset="0"/>
              </a:rPr>
              <a:t> </a:t>
            </a:r>
            <a:r>
              <a:rPr lang="en-US" altLang="en-US" dirty="0" err="1">
                <a:latin typeface="Times New Roman" panose="02020603050405020304" pitchFamily="18" charset="0"/>
              </a:rPr>
              <a:t>rời</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khỏi</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Cần</a:t>
            </a:r>
            <a:r>
              <a:rPr lang="en-US" altLang="en-US" dirty="0">
                <a:latin typeface="Times New Roman" panose="02020603050405020304" pitchFamily="18" charset="0"/>
              </a:rPr>
              <a:t> </a:t>
            </a:r>
            <a:r>
              <a:rPr lang="en-US" altLang="en-US" dirty="0" err="1">
                <a:latin typeface="Times New Roman" panose="02020603050405020304" pitchFamily="18" charset="0"/>
              </a:rPr>
              <a:t>xuất</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đạt</a:t>
            </a:r>
            <a:r>
              <a:rPr lang="en-US" altLang="en-US" dirty="0">
                <a:latin typeface="Times New Roman" panose="02020603050405020304" pitchFamily="18" charset="0"/>
              </a:rPr>
              <a:t> </a:t>
            </a:r>
            <a:r>
              <a:rPr lang="en-US" altLang="en-US" dirty="0" err="1">
                <a:latin typeface="Times New Roman" panose="02020603050405020304" pitchFamily="18" charset="0"/>
              </a:rPr>
              <a:t>đến</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Muốn</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thì</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thông</a:t>
            </a:r>
            <a:r>
              <a:rPr lang="en-US" altLang="en-US" dirty="0">
                <a:latin typeface="Times New Roman" panose="02020603050405020304" pitchFamily="18" charset="0"/>
              </a:rPr>
              <a:t> qua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cái</a:t>
            </a:r>
            <a:r>
              <a:rPr lang="en-US" altLang="en-US" dirty="0">
                <a:latin typeface="Times New Roman" panose="02020603050405020304" pitchFamily="18" charset="0"/>
              </a:rPr>
              <a:t> </a:t>
            </a:r>
            <a:r>
              <a:rPr lang="en-US" altLang="en-US" dirty="0" err="1">
                <a:latin typeface="Times New Roman" panose="02020603050405020304" pitchFamily="18" charset="0"/>
              </a:rPr>
              <a:t>ngẫu</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97914"/>
          </a:xfrm>
        </p:spPr>
        <p:txBody>
          <a:bodyPr>
            <a:normAutofit fontScale="90000"/>
          </a:bodyPr>
          <a:lstStyle/>
          <a:p>
            <a:br>
              <a:rPr lang="en-US" sz="4000" b="1" dirty="0">
                <a:latin typeface="Times New Roman" panose="02020603050405020304" pitchFamily="18" charset="0"/>
                <a:cs typeface="Times New Roman" panose="02020603050405020304" pitchFamily="18" charset="0"/>
              </a:rPr>
            </a:br>
            <a:r>
              <a:rPr lang="en-US" sz="4000" b="1" dirty="0">
                <a:latin typeface="Times New Roman" panose="02020603050405020304" pitchFamily="18" charset="0"/>
                <a:cs typeface="Times New Roman" panose="02020603050405020304" pitchFamily="18" charset="0"/>
              </a:rPr>
              <a:t>4. NỘI DUNG VÀ HÌNH THỨC</a:t>
            </a:r>
            <a:br>
              <a:rPr lang="en-US" sz="4000" dirty="0">
                <a:latin typeface="Times New Roman" panose="02020603050405020304" pitchFamily="18" charset="0"/>
                <a:cs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631852"/>
            <a:ext cx="10515600" cy="4545111"/>
          </a:xfrm>
        </p:spPr>
        <p:txBody>
          <a:bodyPr/>
          <a:lstStyle/>
          <a:p>
            <a:pPr algn="just"/>
            <a:r>
              <a:rPr lang="en-US" altLang="en-US" i="1" dirty="0" err="1">
                <a:latin typeface="Times New Roman" panose="02020603050405020304" pitchFamily="18" charset="0"/>
              </a:rPr>
              <a:t>Nội</a:t>
            </a:r>
            <a:r>
              <a:rPr lang="en-US" altLang="en-US" i="1" dirty="0">
                <a:latin typeface="Times New Roman" panose="02020603050405020304" pitchFamily="18" charset="0"/>
              </a:rPr>
              <a:t> dung</a:t>
            </a:r>
            <a:r>
              <a:rPr lang="en-US" altLang="en-US" dirty="0">
                <a:latin typeface="Times New Roman" panose="02020603050405020304" pitchFamily="18" charset="0"/>
              </a:rPr>
              <a:t> </a:t>
            </a:r>
            <a:r>
              <a:rPr lang="en-US" altLang="en-US" dirty="0" err="1">
                <a:latin typeface="Times New Roman" panose="02020603050405020304" pitchFamily="18" charset="0"/>
              </a:rPr>
              <a:t>dùng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tổng</a:t>
            </a:r>
            <a:r>
              <a:rPr lang="en-US" altLang="en-US" dirty="0">
                <a:latin typeface="Times New Roman" panose="02020603050405020304" pitchFamily="18" charset="0"/>
              </a:rPr>
              <a:t> </a:t>
            </a:r>
            <a:r>
              <a:rPr lang="en-US" altLang="en-US" dirty="0" err="1">
                <a:latin typeface="Times New Roman" panose="02020603050405020304" pitchFamily="18" charset="0"/>
              </a:rPr>
              <a:t>hợp</a:t>
            </a:r>
            <a:r>
              <a:rPr lang="en-US" altLang="en-US" dirty="0">
                <a:latin typeface="Times New Roman" panose="02020603050405020304" pitchFamily="18" charset="0"/>
              </a:rPr>
              <a:t> </a:t>
            </a:r>
            <a:r>
              <a:rPr lang="en-US" altLang="en-US" dirty="0" err="1">
                <a:latin typeface="Times New Roman" panose="02020603050405020304" pitchFamily="18" charset="0"/>
              </a:rPr>
              <a:t>tất</a:t>
            </a:r>
            <a:r>
              <a:rPr lang="en-US" altLang="en-US" dirty="0">
                <a:latin typeface="Times New Roman" panose="02020603050405020304" pitchFamily="18" charset="0"/>
              </a:rPr>
              <a:t> </a:t>
            </a:r>
            <a:r>
              <a:rPr lang="en-US" altLang="en-US" dirty="0" err="1">
                <a:latin typeface="Times New Roman" panose="02020603050405020304" pitchFamily="18" charset="0"/>
              </a:rPr>
              <a:t>cả</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mặt</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yếu</a:t>
            </a:r>
            <a:r>
              <a:rPr lang="en-US" altLang="en-US" dirty="0">
                <a:latin typeface="Times New Roman" panose="02020603050405020304" pitchFamily="18" charset="0"/>
              </a:rPr>
              <a:t> </a:t>
            </a:r>
            <a:r>
              <a:rPr lang="en-US" altLang="en-US" dirty="0" err="1">
                <a:latin typeface="Times New Roman" panose="02020603050405020304" pitchFamily="18" charset="0"/>
              </a:rPr>
              <a:t>tố</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nên</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r>
              <a:rPr lang="en-US" altLang="en-US" i="1" dirty="0" err="1">
                <a:latin typeface="Times New Roman" panose="02020603050405020304" pitchFamily="18" charset="0"/>
              </a:rPr>
              <a:t>Hình</a:t>
            </a:r>
            <a:r>
              <a:rPr lang="en-US" altLang="en-US" i="1" dirty="0">
                <a:latin typeface="Times New Roman" panose="02020603050405020304" pitchFamily="18" charset="0"/>
              </a:rPr>
              <a:t> </a:t>
            </a:r>
            <a:r>
              <a:rPr lang="en-US" altLang="en-US" i="1"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dùng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phương</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hệ</a:t>
            </a:r>
            <a:r>
              <a:rPr lang="en-US" altLang="en-US" dirty="0">
                <a:latin typeface="Times New Roman" panose="02020603050405020304" pitchFamily="18" charset="0"/>
              </a:rPr>
              <a:t> </a:t>
            </a:r>
            <a:r>
              <a:rPr lang="en-US" altLang="en-US" dirty="0" err="1">
                <a:latin typeface="Times New Roman" panose="02020603050405020304" pitchFamily="18" charset="0"/>
              </a:rPr>
              <a:t>thống</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mối</a:t>
            </a:r>
            <a:r>
              <a:rPr lang="en-US" altLang="en-US" dirty="0">
                <a:latin typeface="Times New Roman" panose="02020603050405020304" pitchFamily="18" charset="0"/>
              </a:rPr>
              <a:t> </a:t>
            </a:r>
            <a:r>
              <a:rPr lang="en-US" altLang="en-US" dirty="0" err="1">
                <a:latin typeface="Times New Roman" panose="02020603050405020304" pitchFamily="18" charset="0"/>
              </a:rPr>
              <a:t>liên</a:t>
            </a:r>
            <a:r>
              <a:rPr lang="en-US" altLang="en-US" dirty="0">
                <a:latin typeface="Times New Roman" panose="02020603050405020304" pitchFamily="18" charset="0"/>
              </a:rPr>
              <a:t> </a:t>
            </a:r>
            <a:r>
              <a:rPr lang="en-US" altLang="en-US" dirty="0" err="1">
                <a:latin typeface="Times New Roman" panose="02020603050405020304" pitchFamily="18" charset="0"/>
              </a:rPr>
              <a:t>hệ</a:t>
            </a:r>
            <a:r>
              <a:rPr lang="en-US" altLang="en-US" dirty="0">
                <a:latin typeface="Times New Roman" panose="02020603050405020304" pitchFamily="18" charset="0"/>
              </a:rPr>
              <a:t> </a:t>
            </a:r>
            <a:r>
              <a:rPr lang="en-US" altLang="en-US" dirty="0" err="1">
                <a:latin typeface="Times New Roman" panose="02020603050405020304" pitchFamily="18" charset="0"/>
              </a:rPr>
              <a:t>tương</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bền</a:t>
            </a:r>
            <a:r>
              <a:rPr lang="en-US" altLang="en-US" dirty="0">
                <a:latin typeface="Times New Roman" panose="02020603050405020304" pitchFamily="18" charset="0"/>
              </a:rPr>
              <a:t> </a:t>
            </a:r>
            <a:r>
              <a:rPr lang="en-US" altLang="en-US" dirty="0" err="1">
                <a:latin typeface="Times New Roman" panose="02020603050405020304" pitchFamily="18" charset="0"/>
              </a:rPr>
              <a:t>vững</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yếu</a:t>
            </a:r>
            <a:r>
              <a:rPr lang="en-US" altLang="en-US" dirty="0">
                <a:latin typeface="Times New Roman" panose="02020603050405020304" pitchFamily="18" charset="0"/>
              </a:rPr>
              <a:t> </a:t>
            </a:r>
            <a:r>
              <a:rPr lang="en-US" altLang="en-US" dirty="0" err="1">
                <a:latin typeface="Times New Roman" panose="02020603050405020304" pitchFamily="18" charset="0"/>
              </a:rPr>
              <a:t>tố</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nó</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11983"/>
          </a:xfrm>
        </p:spPr>
        <p:txBody>
          <a:bodyPr>
            <a:normAutofit fontScale="90000"/>
          </a:bodyPr>
          <a:lstStyle/>
          <a:p>
            <a:pPr algn="just"/>
            <a:br>
              <a:rPr lang="en-US" altLang="en-US" sz="4000" b="1" i="1" dirty="0">
                <a:latin typeface="Times New Roman" panose="02020603050405020304" pitchFamily="18" charset="0"/>
              </a:rPr>
            </a:br>
            <a:r>
              <a:rPr lang="en-US" altLang="en-US" sz="4000" b="1" i="1" dirty="0" err="1">
                <a:latin typeface="Times New Roman" panose="02020603050405020304" pitchFamily="18" charset="0"/>
              </a:rPr>
              <a:t>Mối</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quan</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hệ</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biện</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chứng</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giữa</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nội</a:t>
            </a:r>
            <a:r>
              <a:rPr lang="en-US" altLang="en-US" sz="4000" b="1" i="1" dirty="0">
                <a:latin typeface="Times New Roman" panose="02020603050405020304" pitchFamily="18" charset="0"/>
              </a:rPr>
              <a:t> dung </a:t>
            </a:r>
            <a:r>
              <a:rPr lang="en-US" altLang="en-US" sz="4000" b="1" i="1" dirty="0" err="1">
                <a:latin typeface="Times New Roman" panose="02020603050405020304" pitchFamily="18" charset="0"/>
              </a:rPr>
              <a:t>và</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hình</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thức</a:t>
            </a:r>
            <a:br>
              <a:rPr lang="en-US" altLang="en-US" sz="4000" b="1" i="1" dirty="0">
                <a:latin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v"/>
            </a:pPr>
            <a:r>
              <a:rPr lang="en-US" altLang="en-US" sz="2400" b="1" i="1" dirty="0" err="1">
                <a:latin typeface="Times New Roman" panose="02020603050405020304" pitchFamily="18" charset="0"/>
              </a:rPr>
              <a:t>Sự</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thống</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nhất</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giữa</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nội</a:t>
            </a:r>
            <a:r>
              <a:rPr lang="en-US" altLang="en-US" sz="2400" b="1" i="1" dirty="0">
                <a:latin typeface="Times New Roman" panose="02020603050405020304" pitchFamily="18" charset="0"/>
              </a:rPr>
              <a:t> dung </a:t>
            </a:r>
            <a:r>
              <a:rPr lang="en-US" altLang="en-US" sz="2400" b="1" i="1" dirty="0" err="1">
                <a:latin typeface="Times New Roman" panose="02020603050405020304" pitchFamily="18" charset="0"/>
              </a:rPr>
              <a:t>và</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hình</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thức</a:t>
            </a:r>
            <a:endParaRPr lang="en-US" altLang="en-US" b="1" i="1" dirty="0">
              <a:latin typeface="Times New Roman" panose="02020603050405020304" pitchFamily="18" charset="0"/>
            </a:endParaRPr>
          </a:p>
          <a:p>
            <a:pPr algn="just">
              <a:buFontTx/>
              <a:buChar char="-"/>
            </a:pPr>
            <a:r>
              <a:rPr lang="en-US" altLang="en-US" dirty="0" err="1">
                <a:latin typeface="Times New Roman" panose="02020603050405020304" pitchFamily="18" charset="0"/>
              </a:rPr>
              <a:t>Nội</a:t>
            </a:r>
            <a:r>
              <a:rPr lang="en-US" altLang="en-US" dirty="0">
                <a:latin typeface="Times New Roman" panose="02020603050405020304" pitchFamily="18" charset="0"/>
              </a:rPr>
              <a:t> Dung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gắn</a:t>
            </a:r>
            <a:r>
              <a:rPr lang="en-US" altLang="en-US" dirty="0">
                <a:latin typeface="Times New Roman" panose="02020603050405020304" pitchFamily="18" charset="0"/>
              </a:rPr>
              <a:t> </a:t>
            </a:r>
            <a:r>
              <a:rPr lang="en-US" altLang="en-US" dirty="0" err="1">
                <a:latin typeface="Times New Roman" panose="02020603050405020304" pitchFamily="18" charset="0"/>
              </a:rPr>
              <a:t>bó</a:t>
            </a:r>
            <a:r>
              <a:rPr lang="en-US" altLang="en-US" dirty="0">
                <a:latin typeface="Times New Roman" panose="02020603050405020304" pitchFamily="18" charset="0"/>
              </a:rPr>
              <a:t> </a:t>
            </a:r>
            <a:r>
              <a:rPr lang="en-US" altLang="en-US" dirty="0" err="1">
                <a:latin typeface="Times New Roman" panose="02020603050405020304" pitchFamily="18" charset="0"/>
              </a:rPr>
              <a:t>chặt</a:t>
            </a:r>
            <a:r>
              <a:rPr lang="en-US" altLang="en-US" dirty="0">
                <a:latin typeface="Times New Roman" panose="02020603050405020304" pitchFamily="18" charset="0"/>
              </a:rPr>
              <a:t> </a:t>
            </a:r>
            <a:r>
              <a:rPr lang="en-US" altLang="en-US" dirty="0" err="1">
                <a:latin typeface="Times New Roman" panose="02020603050405020304" pitchFamily="18" charset="0"/>
              </a:rPr>
              <a:t>chẽ</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chỉnh</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thống</a:t>
            </a:r>
            <a:r>
              <a:rPr lang="en-US" altLang="en-US" dirty="0">
                <a:latin typeface="Times New Roman" panose="02020603050405020304" pitchFamily="18" charset="0"/>
              </a:rPr>
              <a:t> </a:t>
            </a:r>
            <a:r>
              <a:rPr lang="en-US" altLang="en-US" dirty="0" err="1">
                <a:latin typeface="Times New Roman" panose="02020603050405020304" pitchFamily="18" charset="0"/>
              </a:rPr>
              <a:t>nhất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Tuy</a:t>
            </a:r>
            <a:r>
              <a:rPr lang="en-US" altLang="en-US" dirty="0">
                <a:latin typeface="Times New Roman" panose="02020603050405020304" pitchFamily="18" charset="0"/>
              </a:rPr>
              <a:t> </a:t>
            </a:r>
            <a:r>
              <a:rPr lang="en-US" altLang="en-US" dirty="0" err="1">
                <a:latin typeface="Times New Roman" panose="02020603050405020304" pitchFamily="18" charset="0"/>
              </a:rPr>
              <a:t>nhiên</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lúc</a:t>
            </a:r>
            <a:r>
              <a:rPr lang="en-US" altLang="en-US" dirty="0">
                <a:latin typeface="Times New Roman" panose="02020603050405020304" pitchFamily="18" charset="0"/>
              </a:rPr>
              <a:t> </a:t>
            </a:r>
            <a:r>
              <a:rPr lang="en-US" altLang="en-US" dirty="0" err="1">
                <a:latin typeface="Times New Roman" panose="02020603050405020304" pitchFamily="18" charset="0"/>
              </a:rPr>
              <a:t>nào</a:t>
            </a:r>
            <a:r>
              <a:rPr lang="en-US" altLang="en-US" dirty="0">
                <a:latin typeface="Times New Roman" panose="02020603050405020304" pitchFamily="18" charset="0"/>
              </a:rPr>
              <a:t> ND </a:t>
            </a:r>
            <a:r>
              <a:rPr lang="en-US" altLang="en-US" dirty="0" err="1">
                <a:latin typeface="Times New Roman" panose="02020603050405020304" pitchFamily="18" charset="0"/>
              </a:rPr>
              <a:t>và</a:t>
            </a:r>
            <a:r>
              <a:rPr lang="en-US" altLang="en-US" dirty="0">
                <a:latin typeface="Times New Roman" panose="02020603050405020304" pitchFamily="18" charset="0"/>
              </a:rPr>
              <a:t> HT </a:t>
            </a:r>
            <a:r>
              <a:rPr lang="en-US" altLang="en-US" dirty="0" err="1">
                <a:latin typeface="Times New Roman" panose="02020603050405020304" pitchFamily="18" charset="0"/>
              </a:rPr>
              <a:t>cũng</a:t>
            </a:r>
            <a:r>
              <a:rPr lang="en-US" altLang="en-US" dirty="0">
                <a:latin typeface="Times New Roman" panose="02020603050405020304" pitchFamily="18" charset="0"/>
              </a:rPr>
              <a:t> </a:t>
            </a:r>
            <a:r>
              <a:rPr lang="en-US" altLang="en-US" dirty="0" err="1">
                <a:latin typeface="Times New Roman" panose="02020603050405020304" pitchFamily="18" charset="0"/>
              </a:rPr>
              <a:t>phù</a:t>
            </a:r>
            <a:r>
              <a:rPr lang="en-US" altLang="en-US" dirty="0">
                <a:latin typeface="Times New Roman" panose="02020603050405020304" pitchFamily="18" charset="0"/>
              </a:rPr>
              <a:t> </a:t>
            </a:r>
            <a:r>
              <a:rPr lang="en-US" altLang="en-US" dirty="0" err="1">
                <a:latin typeface="Times New Roman" panose="02020603050405020304" pitchFamily="18" charset="0"/>
              </a:rPr>
              <a:t>hợp</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nhau</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nội</a:t>
            </a:r>
            <a:r>
              <a:rPr lang="en-US" altLang="en-US" dirty="0">
                <a:latin typeface="Times New Roman" panose="02020603050405020304" pitchFamily="18" charset="0"/>
              </a:rPr>
              <a:t> dung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hiện</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chứa</a:t>
            </a:r>
            <a:r>
              <a:rPr lang="en-US" altLang="en-US" dirty="0">
                <a:latin typeface="Times New Roman" panose="02020603050405020304" pitchFamily="18" charset="0"/>
              </a:rPr>
              <a:t> </a:t>
            </a:r>
            <a:r>
              <a:rPr lang="en-US" altLang="en-US" dirty="0" err="1">
                <a:latin typeface="Times New Roman" panose="02020603050405020304" pitchFamily="18" charset="0"/>
              </a:rPr>
              <a:t>đựng</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nội</a:t>
            </a:r>
            <a:r>
              <a:rPr lang="en-US" altLang="en-US" dirty="0">
                <a:latin typeface="Times New Roman" panose="02020603050405020304" pitchFamily="18" charset="0"/>
              </a:rPr>
              <a:t> dung </a:t>
            </a:r>
            <a:r>
              <a:rPr lang="en-US" altLang="en-US" dirty="0" err="1">
                <a:latin typeface="Times New Roman" panose="02020603050405020304" pitchFamily="18" charset="0"/>
              </a:rPr>
              <a:t>khác</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32623"/>
          </a:xfrm>
        </p:spPr>
        <p:txBody>
          <a:bodyPr/>
          <a:lstStyle/>
          <a:p>
            <a:endParaRPr lang="en-US" dirty="0"/>
          </a:p>
        </p:txBody>
      </p:sp>
      <p:sp>
        <p:nvSpPr>
          <p:cNvPr id="3" name="Rectangle 2"/>
          <p:cNvSpPr/>
          <p:nvPr/>
        </p:nvSpPr>
        <p:spPr>
          <a:xfrm>
            <a:off x="970670" y="703386"/>
            <a:ext cx="2546253" cy="23352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v"/>
            </a:pPr>
            <a:endParaRPr lang="en-US" altLang="en-US" sz="2400" b="1" i="1" dirty="0">
              <a:latin typeface="Times New Roman" panose="02020603050405020304" pitchFamily="18" charset="0"/>
            </a:endParaRPr>
          </a:p>
          <a:p>
            <a:pPr marL="285750" indent="-285750">
              <a:buFont typeface="Wingdings" panose="05000000000000000000" pitchFamily="2" charset="2"/>
              <a:buChar char="v"/>
            </a:pPr>
            <a:r>
              <a:rPr lang="en-US" altLang="en-US" sz="2200" b="1" i="1" dirty="0">
                <a:solidFill>
                  <a:schemeClr val="tx1"/>
                </a:solidFill>
                <a:latin typeface="Times New Roman" panose="02020603050405020304" pitchFamily="18" charset="0"/>
              </a:rPr>
              <a:t>ND </a:t>
            </a:r>
            <a:r>
              <a:rPr lang="en-US" altLang="en-US" sz="2200" b="1" i="1" dirty="0" err="1">
                <a:solidFill>
                  <a:schemeClr val="tx1"/>
                </a:solidFill>
                <a:latin typeface="Times New Roman" panose="02020603050405020304" pitchFamily="18" charset="0"/>
              </a:rPr>
              <a:t>giữ</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vai</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trò</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quyết</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định</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đối</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với</a:t>
            </a:r>
            <a:r>
              <a:rPr lang="en-US" altLang="en-US" sz="2200" b="1" i="1" dirty="0">
                <a:solidFill>
                  <a:schemeClr val="tx1"/>
                </a:solidFill>
                <a:latin typeface="Times New Roman" panose="02020603050405020304" pitchFamily="18" charset="0"/>
              </a:rPr>
              <a:t> HT </a:t>
            </a:r>
            <a:r>
              <a:rPr lang="en-US" altLang="en-US" sz="2200" b="1" i="1" dirty="0" err="1">
                <a:solidFill>
                  <a:schemeClr val="tx1"/>
                </a:solidFill>
                <a:latin typeface="Times New Roman" panose="02020603050405020304" pitchFamily="18" charset="0"/>
              </a:rPr>
              <a:t>trong</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quá</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trình</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vận</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động</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và</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phát</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triển</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của</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sự</a:t>
            </a:r>
            <a:r>
              <a:rPr lang="en-US" altLang="en-US" sz="2200" b="1" i="1" dirty="0">
                <a:solidFill>
                  <a:schemeClr val="tx1"/>
                </a:solidFill>
                <a:latin typeface="Times New Roman" panose="02020603050405020304" pitchFamily="18" charset="0"/>
              </a:rPr>
              <a:t> </a:t>
            </a:r>
            <a:r>
              <a:rPr lang="en-US" altLang="en-US" sz="2200" b="1" i="1" dirty="0" err="1">
                <a:solidFill>
                  <a:schemeClr val="tx1"/>
                </a:solidFill>
                <a:latin typeface="Times New Roman" panose="02020603050405020304" pitchFamily="18" charset="0"/>
              </a:rPr>
              <a:t>vật</a:t>
            </a:r>
            <a:br>
              <a:rPr lang="en-US" altLang="en-US" sz="2000" b="1" i="1" dirty="0">
                <a:solidFill>
                  <a:schemeClr val="tx1"/>
                </a:solidFill>
                <a:latin typeface="Times New Roman" panose="02020603050405020304" pitchFamily="18" charset="0"/>
              </a:rPr>
            </a:br>
            <a:endParaRPr lang="en-US" sz="2000" dirty="0">
              <a:solidFill>
                <a:schemeClr val="tx1"/>
              </a:solidFill>
            </a:endParaRPr>
          </a:p>
        </p:txBody>
      </p:sp>
      <p:sp>
        <p:nvSpPr>
          <p:cNvPr id="4" name="Rectangle 3"/>
          <p:cNvSpPr/>
          <p:nvPr/>
        </p:nvSpPr>
        <p:spPr>
          <a:xfrm flipH="1">
            <a:off x="4712675" y="751989"/>
            <a:ext cx="6274192" cy="95020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altLang="en-US" sz="2200" dirty="0">
                <a:solidFill>
                  <a:schemeClr val="tx1"/>
                </a:solidFill>
                <a:latin typeface="Times New Roman" panose="02020603050405020304" pitchFamily="18" charset="0"/>
              </a:rPr>
              <a:t>ND </a:t>
            </a:r>
            <a:r>
              <a:rPr lang="en-US" altLang="en-US" sz="2200" dirty="0" err="1">
                <a:solidFill>
                  <a:schemeClr val="tx1"/>
                </a:solidFill>
                <a:latin typeface="Times New Roman" panose="02020603050405020304" pitchFamily="18" charset="0"/>
              </a:rPr>
              <a:t>quyết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định</a:t>
            </a:r>
            <a:r>
              <a:rPr lang="en-US" altLang="en-US" sz="2200" dirty="0">
                <a:solidFill>
                  <a:schemeClr val="tx1"/>
                </a:solidFill>
                <a:latin typeface="Times New Roman" panose="02020603050405020304" pitchFamily="18" charset="0"/>
              </a:rPr>
              <a:t> HT, ND </a:t>
            </a:r>
            <a:r>
              <a:rPr lang="en-US" altLang="en-US" sz="2200" dirty="0" err="1">
                <a:solidFill>
                  <a:schemeClr val="tx1"/>
                </a:solidFill>
                <a:latin typeface="Times New Roman" panose="02020603050405020304" pitchFamily="18" charset="0"/>
              </a:rPr>
              <a:t>thay</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đổi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thì</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trước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sau</a:t>
            </a:r>
            <a:r>
              <a:rPr lang="en-US" altLang="en-US" sz="2200" dirty="0">
                <a:solidFill>
                  <a:schemeClr val="tx1"/>
                </a:solidFill>
                <a:latin typeface="Times New Roman" panose="02020603050405020304" pitchFamily="18" charset="0"/>
              </a:rPr>
              <a:t> HT </a:t>
            </a:r>
            <a:r>
              <a:rPr lang="en-US" altLang="en-US" sz="2200" dirty="0" err="1">
                <a:solidFill>
                  <a:schemeClr val="tx1"/>
                </a:solidFill>
                <a:latin typeface="Times New Roman" panose="02020603050405020304" pitchFamily="18" charset="0"/>
              </a:rPr>
              <a:t>cũng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thay</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đổi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theo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phù</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hợp</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với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nội</a:t>
            </a:r>
            <a:r>
              <a:rPr lang="en-US" altLang="en-US" sz="2200" dirty="0">
                <a:solidFill>
                  <a:schemeClr val="tx1"/>
                </a:solidFill>
                <a:latin typeface="Times New Roman" panose="02020603050405020304" pitchFamily="18" charset="0"/>
              </a:rPr>
              <a:t> dung </a:t>
            </a:r>
            <a:endParaRPr lang="en-US" altLang="en-US" sz="2200" dirty="0">
              <a:solidFill>
                <a:schemeClr val="tx1"/>
              </a:solidFill>
              <a:latin typeface="Times New Roman" panose="02020603050405020304" pitchFamily="18" charset="0"/>
            </a:endParaRPr>
          </a:p>
        </p:txBody>
      </p:sp>
      <p:sp>
        <p:nvSpPr>
          <p:cNvPr id="5" name="Rectangle 4"/>
          <p:cNvSpPr/>
          <p:nvPr/>
        </p:nvSpPr>
        <p:spPr>
          <a:xfrm rot="10800000" flipH="1" flipV="1">
            <a:off x="4712674" y="1913844"/>
            <a:ext cx="6274191" cy="991134"/>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altLang="en-US" sz="2200" dirty="0">
                <a:solidFill>
                  <a:schemeClr val="tx1"/>
                </a:solidFill>
                <a:latin typeface="Times New Roman" panose="02020603050405020304" pitchFamily="18" charset="0"/>
              </a:rPr>
              <a:t>HT </a:t>
            </a:r>
            <a:r>
              <a:rPr lang="en-US" altLang="en-US" sz="2200" dirty="0" err="1">
                <a:solidFill>
                  <a:schemeClr val="tx1"/>
                </a:solidFill>
                <a:latin typeface="Times New Roman" panose="02020603050405020304" pitchFamily="18" charset="0"/>
              </a:rPr>
              <a:t>biến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đổi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chậm</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hơn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và</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không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thường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xuyên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như</a:t>
            </a:r>
            <a:r>
              <a:rPr lang="en-US" altLang="en-US" sz="2200" dirty="0">
                <a:solidFill>
                  <a:schemeClr val="tx1"/>
                </a:solidFill>
                <a:latin typeface="Times New Roman" panose="02020603050405020304" pitchFamily="18" charset="0"/>
              </a:rPr>
              <a:t> ND</a:t>
            </a:r>
            <a:endParaRPr lang="en-US" altLang="en-US" sz="2200" dirty="0">
              <a:solidFill>
                <a:schemeClr val="tx1"/>
              </a:solidFill>
              <a:latin typeface="Times New Roman" panose="02020603050405020304" pitchFamily="18" charset="0"/>
            </a:endParaRPr>
          </a:p>
        </p:txBody>
      </p:sp>
      <p:sp>
        <p:nvSpPr>
          <p:cNvPr id="6" name="Rectangle 5"/>
          <p:cNvSpPr/>
          <p:nvPr/>
        </p:nvSpPr>
        <p:spPr>
          <a:xfrm>
            <a:off x="970670" y="3953023"/>
            <a:ext cx="2546253" cy="23352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Wingdings" panose="05000000000000000000" pitchFamily="2" charset="2"/>
              <a:buChar char="v"/>
            </a:pPr>
            <a:r>
              <a:rPr lang="en-US" altLang="en-US" sz="2000" b="1" i="1" dirty="0" err="1">
                <a:solidFill>
                  <a:schemeClr val="tx1"/>
                </a:solidFill>
                <a:latin typeface="Times New Roman" panose="02020603050405020304" pitchFamily="18" charset="0"/>
              </a:rPr>
              <a:t>Sự</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tác</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động</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trở</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lại</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của</a:t>
            </a:r>
            <a:r>
              <a:rPr lang="en-US" altLang="en-US" sz="2000" b="1" i="1" dirty="0">
                <a:solidFill>
                  <a:schemeClr val="tx1"/>
                </a:solidFill>
                <a:latin typeface="Times New Roman" panose="02020603050405020304" pitchFamily="18" charset="0"/>
              </a:rPr>
              <a:t> HT </a:t>
            </a:r>
            <a:r>
              <a:rPr lang="en-US" altLang="en-US" sz="2000" b="1" i="1" dirty="0" err="1">
                <a:solidFill>
                  <a:schemeClr val="tx1"/>
                </a:solidFill>
                <a:latin typeface="Times New Roman" panose="02020603050405020304" pitchFamily="18" charset="0"/>
              </a:rPr>
              <a:t>đối</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với</a:t>
            </a:r>
            <a:r>
              <a:rPr lang="en-US" altLang="en-US" sz="2000" b="1" i="1" dirty="0">
                <a:solidFill>
                  <a:schemeClr val="tx1"/>
                </a:solidFill>
                <a:latin typeface="Times New Roman" panose="02020603050405020304" pitchFamily="18" charset="0"/>
              </a:rPr>
              <a:t> ND </a:t>
            </a:r>
            <a:r>
              <a:rPr lang="en-US" altLang="en-US" sz="2000" b="1" i="1" dirty="0" err="1">
                <a:solidFill>
                  <a:schemeClr val="tx1"/>
                </a:solidFill>
                <a:latin typeface="Times New Roman" panose="02020603050405020304" pitchFamily="18" charset="0"/>
              </a:rPr>
              <a:t>diễn</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ra</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theo</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hai</a:t>
            </a:r>
            <a:r>
              <a:rPr lang="en-US" altLang="en-US" sz="2000" b="1" i="1" dirty="0">
                <a:solidFill>
                  <a:schemeClr val="tx1"/>
                </a:solidFill>
                <a:latin typeface="Times New Roman" panose="02020603050405020304" pitchFamily="18" charset="0"/>
              </a:rPr>
              <a:t> </a:t>
            </a:r>
            <a:r>
              <a:rPr lang="en-US" altLang="en-US" sz="2000" b="1" i="1" dirty="0" err="1">
                <a:solidFill>
                  <a:schemeClr val="tx1"/>
                </a:solidFill>
                <a:latin typeface="Times New Roman" panose="02020603050405020304" pitchFamily="18" charset="0"/>
              </a:rPr>
              <a:t>hướng</a:t>
            </a:r>
            <a:r>
              <a:rPr lang="en-US" altLang="en-US" sz="2000" b="1" i="1" dirty="0">
                <a:solidFill>
                  <a:schemeClr val="tx1"/>
                </a:solidFill>
                <a:latin typeface="Times New Roman" panose="02020603050405020304" pitchFamily="18" charset="0"/>
              </a:rPr>
              <a:t>: </a:t>
            </a:r>
            <a:endParaRPr lang="en-US" altLang="en-US" sz="2000" b="1" i="1" dirty="0">
              <a:solidFill>
                <a:schemeClr val="tx1"/>
              </a:solidFill>
              <a:latin typeface="Times New Roman" panose="02020603050405020304" pitchFamily="18" charset="0"/>
            </a:endParaRPr>
          </a:p>
        </p:txBody>
      </p:sp>
      <p:sp>
        <p:nvSpPr>
          <p:cNvPr id="7" name="Rectangle 6"/>
          <p:cNvSpPr/>
          <p:nvPr/>
        </p:nvSpPr>
        <p:spPr>
          <a:xfrm flipH="1">
            <a:off x="4712675" y="3953023"/>
            <a:ext cx="6274190" cy="9431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altLang="en-US" sz="2200" dirty="0" err="1">
                <a:solidFill>
                  <a:schemeClr val="tx1"/>
                </a:solidFill>
                <a:latin typeface="Times New Roman" panose="02020603050405020304" pitchFamily="18" charset="0"/>
              </a:rPr>
              <a:t>Phù</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hợp</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với</a:t>
            </a:r>
            <a:r>
              <a:rPr lang="en-US" altLang="en-US" sz="2200" dirty="0">
                <a:solidFill>
                  <a:schemeClr val="tx1"/>
                </a:solidFill>
                <a:latin typeface="Times New Roman" panose="02020603050405020304" pitchFamily="18" charset="0"/>
              </a:rPr>
              <a:t> ND </a:t>
            </a:r>
            <a:r>
              <a:rPr lang="en-US" altLang="en-US" sz="2200" dirty="0" err="1">
                <a:solidFill>
                  <a:schemeClr val="tx1"/>
                </a:solidFill>
                <a:latin typeface="Times New Roman" panose="02020603050405020304" pitchFamily="18" charset="0"/>
              </a:rPr>
              <a:t>thì</a:t>
            </a:r>
            <a:r>
              <a:rPr lang="en-US" altLang="en-US" sz="2200" dirty="0">
                <a:solidFill>
                  <a:schemeClr val="tx1"/>
                </a:solidFill>
                <a:latin typeface="Times New Roman" panose="02020603050405020304" pitchFamily="18" charset="0"/>
              </a:rPr>
              <a:t> HT </a:t>
            </a:r>
            <a:r>
              <a:rPr lang="en-US" altLang="en-US" sz="2200" dirty="0" err="1">
                <a:solidFill>
                  <a:schemeClr val="tx1"/>
                </a:solidFill>
                <a:latin typeface="Times New Roman" panose="02020603050405020304" pitchFamily="18" charset="0"/>
              </a:rPr>
              <a:t>sẽ</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tạo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điều</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kiện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thuận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lợi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thúc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đẩy</a:t>
            </a:r>
            <a:r>
              <a:rPr lang="en-US" altLang="en-US" sz="2200" dirty="0">
                <a:solidFill>
                  <a:schemeClr val="tx1"/>
                </a:solidFill>
                <a:latin typeface="Times New Roman" panose="02020603050405020304" pitchFamily="18" charset="0"/>
              </a:rPr>
              <a:t> ND </a:t>
            </a:r>
            <a:r>
              <a:rPr lang="en-US" altLang="en-US" sz="2200" dirty="0" err="1">
                <a:solidFill>
                  <a:schemeClr val="tx1"/>
                </a:solidFill>
                <a:latin typeface="Times New Roman" panose="02020603050405020304" pitchFamily="18" charset="0"/>
              </a:rPr>
              <a:t>phát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triển</a:t>
            </a:r>
            <a:r>
              <a:rPr lang="en-US" altLang="en-US" sz="2200" dirty="0">
                <a:solidFill>
                  <a:schemeClr val="tx1"/>
                </a:solidFill>
                <a:latin typeface="Times New Roman" panose="02020603050405020304" pitchFamily="18" charset="0"/>
              </a:rPr>
              <a:t> </a:t>
            </a:r>
            <a:endParaRPr lang="en-US" altLang="en-US" sz="2200" dirty="0">
              <a:solidFill>
                <a:schemeClr val="tx1"/>
              </a:solidFill>
              <a:latin typeface="Times New Roman" panose="02020603050405020304" pitchFamily="18" charset="0"/>
            </a:endParaRPr>
          </a:p>
        </p:txBody>
      </p:sp>
      <p:sp>
        <p:nvSpPr>
          <p:cNvPr id="8" name="Rectangle 7"/>
          <p:cNvSpPr/>
          <p:nvPr/>
        </p:nvSpPr>
        <p:spPr>
          <a:xfrm>
            <a:off x="4712674" y="5162843"/>
            <a:ext cx="6274191" cy="94316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just">
              <a:buFont typeface="Arial" panose="020B0604020202020204" pitchFamily="34" charset="0"/>
              <a:buChar char="•"/>
            </a:pPr>
            <a:r>
              <a:rPr lang="en-US" altLang="en-US" sz="2200" dirty="0" err="1">
                <a:solidFill>
                  <a:schemeClr val="tx1"/>
                </a:solidFill>
                <a:latin typeface="Times New Roman" panose="02020603050405020304" pitchFamily="18" charset="0"/>
              </a:rPr>
              <a:t>Không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phù</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hợp</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với</a:t>
            </a:r>
            <a:r>
              <a:rPr lang="en-US" altLang="en-US" sz="2200" dirty="0">
                <a:solidFill>
                  <a:schemeClr val="tx1"/>
                </a:solidFill>
                <a:latin typeface="Times New Roman" panose="02020603050405020304" pitchFamily="18" charset="0"/>
              </a:rPr>
              <a:t> ND </a:t>
            </a:r>
            <a:r>
              <a:rPr lang="en-US" altLang="en-US" sz="2200" dirty="0" err="1">
                <a:solidFill>
                  <a:schemeClr val="tx1"/>
                </a:solidFill>
                <a:latin typeface="Times New Roman" panose="02020603050405020304" pitchFamily="18" charset="0"/>
              </a:rPr>
              <a:t>thì</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sẽ</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kìm</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hãm</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sự</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phát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triển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của</a:t>
            </a:r>
            <a:r>
              <a:rPr lang="en-US" altLang="en-US" sz="2200" dirty="0">
                <a:solidFill>
                  <a:schemeClr val="tx1"/>
                </a:solidFill>
                <a:latin typeface="Times New Roman" panose="02020603050405020304" pitchFamily="18" charset="0"/>
              </a:rPr>
              <a:t> HT.</a:t>
            </a:r>
            <a:endParaRPr lang="en-US" sz="2200" dirty="0">
              <a:solidFill>
                <a:schemeClr val="tx1"/>
              </a:solidFill>
              <a:latin typeface="Times New Roman" panose="02020603050405020304" pitchFamily="18" charset="0"/>
              <a:cs typeface="Times New Roman" panose="02020603050405020304" pitchFamily="18" charset="0"/>
            </a:endParaRPr>
          </a:p>
        </p:txBody>
      </p:sp>
      <p:cxnSp>
        <p:nvCxnSpPr>
          <p:cNvPr id="10" name="Straight Arrow Connector 9"/>
          <p:cNvCxnSpPr>
            <a:stCxn id="3" idx="3"/>
            <a:endCxn id="4" idx="3"/>
          </p:cNvCxnSpPr>
          <p:nvPr/>
        </p:nvCxnSpPr>
        <p:spPr>
          <a:xfrm flipV="1">
            <a:off x="3516923" y="1227091"/>
            <a:ext cx="1195752" cy="64391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a:endCxn id="5" idx="1"/>
          </p:cNvCxnSpPr>
          <p:nvPr/>
        </p:nvCxnSpPr>
        <p:spPr>
          <a:xfrm>
            <a:off x="3516923" y="1913843"/>
            <a:ext cx="1195751" cy="4955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stCxn id="6" idx="3"/>
          </p:cNvCxnSpPr>
          <p:nvPr/>
        </p:nvCxnSpPr>
        <p:spPr>
          <a:xfrm flipV="1">
            <a:off x="3516923" y="4459458"/>
            <a:ext cx="1195751" cy="6611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stCxn id="6" idx="3"/>
            <a:endCxn id="8" idx="1"/>
          </p:cNvCxnSpPr>
          <p:nvPr/>
        </p:nvCxnSpPr>
        <p:spPr>
          <a:xfrm>
            <a:off x="3516923" y="5120641"/>
            <a:ext cx="1195751" cy="5137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8764"/>
          </a:xfrm>
        </p:spPr>
        <p:txBody>
          <a:bodyPr>
            <a:normAutofit/>
          </a:bodyPr>
          <a:lstStyle/>
          <a:p>
            <a:pPr algn="just"/>
            <a:r>
              <a:rPr lang="en-US" sz="4000" b="1" dirty="0">
                <a:latin typeface="Times New Roman" panose="02020603050405020304" pitchFamily="18" charset="0"/>
                <a:cs typeface="Times New Roman" panose="02020603050405020304" pitchFamily="18" charset="0"/>
              </a:rPr>
              <a:t>Ý </a:t>
            </a:r>
            <a:r>
              <a:rPr lang="en-US" sz="4000" b="1" dirty="0" err="1">
                <a:latin typeface="Times New Roman" panose="02020603050405020304" pitchFamily="18" charset="0"/>
                <a:cs typeface="Times New Roman" panose="02020603050405020304" pitchFamily="18" charset="0"/>
              </a:rPr>
              <a:t>nghĩa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phương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pháp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luận</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tách</a:t>
            </a:r>
            <a:r>
              <a:rPr lang="en-US" altLang="en-US" dirty="0">
                <a:latin typeface="Times New Roman" panose="02020603050405020304" pitchFamily="18" charset="0"/>
              </a:rPr>
              <a:t> </a:t>
            </a:r>
            <a:r>
              <a:rPr lang="en-US" altLang="en-US" dirty="0" err="1">
                <a:latin typeface="Times New Roman" panose="02020603050405020304" pitchFamily="18" charset="0"/>
              </a:rPr>
              <a:t>rời</a:t>
            </a:r>
            <a:r>
              <a:rPr lang="en-US" altLang="en-US" dirty="0">
                <a:latin typeface="Times New Roman" panose="02020603050405020304" pitchFamily="18" charset="0"/>
              </a:rPr>
              <a:t>, </a:t>
            </a:r>
            <a:r>
              <a:rPr lang="en-US" altLang="en-US" dirty="0" err="1">
                <a:latin typeface="Times New Roman" panose="02020603050405020304" pitchFamily="18" charset="0"/>
              </a:rPr>
              <a:t>tuyệt</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hoá</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ND </a:t>
            </a:r>
            <a:r>
              <a:rPr lang="en-US" altLang="en-US" dirty="0" err="1">
                <a:latin typeface="Times New Roman" panose="02020603050405020304" pitchFamily="18" charset="0"/>
              </a:rPr>
              <a:t>hoặc</a:t>
            </a:r>
            <a:r>
              <a:rPr lang="en-US" altLang="en-US" dirty="0">
                <a:latin typeface="Times New Roman" panose="02020603050405020304" pitchFamily="18" charset="0"/>
              </a:rPr>
              <a:t> HT</a:t>
            </a:r>
            <a:endParaRPr lang="en-US" altLang="en-US" dirty="0">
              <a:latin typeface="Times New Roman" panose="02020603050405020304" pitchFamily="18" charset="0"/>
            </a:endParaRPr>
          </a:p>
          <a:p>
            <a:pPr>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cần</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căn</a:t>
            </a:r>
            <a:r>
              <a:rPr lang="en-US" altLang="en-US" dirty="0">
                <a:latin typeface="Times New Roman" panose="02020603050405020304" pitchFamily="18" charset="0"/>
              </a:rPr>
              <a:t> </a:t>
            </a:r>
            <a:r>
              <a:rPr lang="en-US" altLang="en-US" dirty="0" err="1">
                <a:latin typeface="Times New Roman" panose="02020603050405020304" pitchFamily="18" charset="0"/>
              </a:rPr>
              <a:t>cứ</a:t>
            </a:r>
            <a:r>
              <a:rPr lang="en-US" altLang="en-US" dirty="0">
                <a:latin typeface="Times New Roman" panose="02020603050405020304" pitchFamily="18" charset="0"/>
              </a:rPr>
              <a:t> </a:t>
            </a:r>
            <a:r>
              <a:rPr lang="en-US" altLang="en-US" dirty="0" err="1">
                <a:latin typeface="Times New Roman" panose="02020603050405020304" pitchFamily="18" charset="0"/>
              </a:rPr>
              <a:t>nội</a:t>
            </a:r>
            <a:r>
              <a:rPr lang="en-US" altLang="en-US" dirty="0">
                <a:latin typeface="Times New Roman" panose="02020603050405020304" pitchFamily="18" charset="0"/>
              </a:rPr>
              <a:t> dung</a:t>
            </a:r>
            <a:endParaRPr lang="en-US" altLang="en-US" dirty="0">
              <a:latin typeface="Times New Roman" panose="02020603050405020304" pitchFamily="18" charset="0"/>
            </a:endParaRPr>
          </a:p>
          <a:p>
            <a:pPr>
              <a:buFontTx/>
              <a:buChar char="-"/>
            </a:pP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thường</a:t>
            </a:r>
            <a:r>
              <a:rPr lang="en-US" altLang="en-US" dirty="0">
                <a:latin typeface="Times New Roman" panose="02020603050405020304" pitchFamily="18" charset="0"/>
              </a:rPr>
              <a:t> </a:t>
            </a:r>
            <a:r>
              <a:rPr lang="en-US" altLang="en-US" dirty="0" err="1">
                <a:latin typeface="Times New Roman" panose="02020603050405020304" pitchFamily="18" charset="0"/>
              </a:rPr>
              <a:t>xuyên</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chiếu</a:t>
            </a:r>
            <a:r>
              <a:rPr lang="en-US" altLang="en-US" dirty="0">
                <a:latin typeface="Times New Roman" panose="02020603050405020304" pitchFamily="18" charset="0"/>
              </a:rPr>
              <a:t> </a:t>
            </a:r>
            <a:r>
              <a:rPr lang="en-US" altLang="en-US" dirty="0" err="1">
                <a:latin typeface="Times New Roman" panose="02020603050405020304" pitchFamily="18" charset="0"/>
              </a:rPr>
              <a:t>giữa</a:t>
            </a:r>
            <a:r>
              <a:rPr lang="en-US" altLang="en-US" dirty="0">
                <a:latin typeface="Times New Roman" panose="02020603050405020304" pitchFamily="18" charset="0"/>
              </a:rPr>
              <a:t> ND </a:t>
            </a:r>
            <a:r>
              <a:rPr lang="en-US" altLang="en-US" dirty="0" err="1">
                <a:latin typeface="Times New Roman" panose="02020603050405020304" pitchFamily="18" charset="0"/>
              </a:rPr>
              <a:t>và</a:t>
            </a:r>
            <a:r>
              <a:rPr lang="en-US" altLang="en-US" dirty="0">
                <a:latin typeface="Times New Roman" panose="02020603050405020304" pitchFamily="18" charset="0"/>
              </a:rPr>
              <a:t> HT </a:t>
            </a:r>
            <a:r>
              <a:rPr lang="en-US" altLang="en-US" dirty="0" err="1">
                <a:latin typeface="Times New Roman" panose="02020603050405020304" pitchFamily="18" charset="0"/>
              </a:rPr>
              <a:t>sao</a:t>
            </a:r>
            <a:r>
              <a:rPr lang="en-US" altLang="en-US" dirty="0">
                <a:latin typeface="Times New Roman" panose="02020603050405020304" pitchFamily="18" charset="0"/>
              </a:rPr>
              <a:t> </a:t>
            </a:r>
            <a:r>
              <a:rPr lang="en-US" altLang="en-US" dirty="0" err="1">
                <a:latin typeface="Times New Roman" panose="02020603050405020304" pitchFamily="18" charset="0"/>
              </a:rPr>
              <a:t>cho</a:t>
            </a:r>
            <a:r>
              <a:rPr lang="en-US" altLang="en-US" dirty="0">
                <a:latin typeface="Times New Roman" panose="02020603050405020304" pitchFamily="18" charset="0"/>
              </a:rPr>
              <a:t> </a:t>
            </a:r>
            <a:r>
              <a:rPr lang="en-US" altLang="en-US" dirty="0" err="1">
                <a:latin typeface="Times New Roman" panose="02020603050405020304" pitchFamily="18" charset="0"/>
              </a:rPr>
              <a:t>phù</a:t>
            </a:r>
            <a:r>
              <a:rPr lang="en-US" altLang="en-US" dirty="0">
                <a:latin typeface="Times New Roman" panose="02020603050405020304" pitchFamily="18" charset="0"/>
              </a:rPr>
              <a:t> </a:t>
            </a:r>
            <a:r>
              <a:rPr lang="en-US" altLang="en-US" dirty="0" err="1">
                <a:latin typeface="Times New Roman" panose="02020603050405020304" pitchFamily="18" charset="0"/>
              </a:rPr>
              <a:t>hợ</a:t>
            </a:r>
            <a:endParaRPr lang="en-US"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latin typeface="Times New Roman" panose="02020603050405020304" pitchFamily="18" charset="0"/>
                <a:cs typeface="Times New Roman" panose="02020603050405020304" pitchFamily="18" charset="0"/>
              </a:rPr>
              <a:t>5. BẢN CHẤT VÀ HIỆN TƯỢNG</a:t>
            </a:r>
            <a:br>
              <a:rPr lang="en-US" sz="4000" b="1" dirty="0">
                <a:latin typeface="Times New Roman" panose="02020603050405020304" pitchFamily="18" charset="0"/>
                <a:cs typeface="Times New Roman" panose="02020603050405020304" pitchFamily="18" charset="0"/>
              </a:rPr>
            </a:b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20837"/>
            <a:ext cx="10515600" cy="4756126"/>
          </a:xfrm>
        </p:spPr>
        <p:txBody>
          <a:bodyPr/>
          <a:lstStyle/>
          <a:p>
            <a:pPr algn="just">
              <a:buFontTx/>
              <a:buChar char="-"/>
            </a:pPr>
            <a:r>
              <a:rPr lang="fr-FR" altLang="en-US" i="1" dirty="0" err="1">
                <a:latin typeface="Times New Roman" panose="02020603050405020304" pitchFamily="18" charset="0"/>
              </a:rPr>
              <a:t>Bản</a:t>
            </a:r>
            <a:r>
              <a:rPr lang="fr-FR" altLang="en-US" i="1" dirty="0">
                <a:latin typeface="Times New Roman" panose="02020603050405020304" pitchFamily="18" charset="0"/>
              </a:rPr>
              <a:t> </a:t>
            </a:r>
            <a:r>
              <a:rPr lang="fr-FR" altLang="en-US" i="1" dirty="0" err="1">
                <a:latin typeface="Times New Roman" panose="02020603050405020304" pitchFamily="18" charset="0"/>
              </a:rPr>
              <a:t>chất</a:t>
            </a:r>
            <a:r>
              <a:rPr lang="fr-FR" altLang="en-US" dirty="0">
                <a:latin typeface="Times New Roman" panose="02020603050405020304" pitchFamily="18" charset="0"/>
              </a:rPr>
              <a:t> </a:t>
            </a:r>
            <a:r>
              <a:rPr lang="fr-FR" altLang="en-US" dirty="0" err="1">
                <a:latin typeface="Times New Roman" panose="02020603050405020304" pitchFamily="18" charset="0"/>
              </a:rPr>
              <a:t>dùng</a:t>
            </a:r>
            <a:r>
              <a:rPr lang="fr-FR" altLang="en-US" dirty="0">
                <a:latin typeface="Times New Roman" panose="02020603050405020304" pitchFamily="18" charset="0"/>
              </a:rPr>
              <a:t> </a:t>
            </a:r>
            <a:r>
              <a:rPr lang="fr-FR" altLang="en-US" dirty="0" err="1">
                <a:latin typeface="Times New Roman" panose="02020603050405020304" pitchFamily="18" charset="0"/>
              </a:rPr>
              <a:t>để</a:t>
            </a:r>
            <a:r>
              <a:rPr lang="fr-FR" altLang="en-US" dirty="0">
                <a:latin typeface="Times New Roman" panose="02020603050405020304" pitchFamily="18" charset="0"/>
              </a:rPr>
              <a:t> </a:t>
            </a:r>
            <a:r>
              <a:rPr lang="fr-FR" altLang="en-US" dirty="0" err="1">
                <a:latin typeface="Times New Roman" panose="02020603050405020304" pitchFamily="18" charset="0"/>
              </a:rPr>
              <a:t>chỉ</a:t>
            </a:r>
            <a:r>
              <a:rPr lang="fr-FR" altLang="en-US" dirty="0">
                <a:latin typeface="Times New Roman" panose="02020603050405020304" pitchFamily="18" charset="0"/>
              </a:rPr>
              <a:t>  </a:t>
            </a:r>
            <a:r>
              <a:rPr lang="fr-FR" altLang="en-US" dirty="0" err="1">
                <a:latin typeface="Times New Roman" panose="02020603050405020304" pitchFamily="18" charset="0"/>
              </a:rPr>
              <a:t>tổng</a:t>
            </a:r>
            <a:r>
              <a:rPr lang="fr-FR" altLang="en-US" dirty="0">
                <a:latin typeface="Times New Roman" panose="02020603050405020304" pitchFamily="18" charset="0"/>
              </a:rPr>
              <a:t> </a:t>
            </a:r>
            <a:r>
              <a:rPr lang="fr-FR" altLang="en-US" dirty="0" err="1">
                <a:latin typeface="Times New Roman" panose="02020603050405020304" pitchFamily="18" charset="0"/>
              </a:rPr>
              <a:t>hợp</a:t>
            </a:r>
            <a:r>
              <a:rPr lang="fr-FR" altLang="en-US" dirty="0">
                <a:latin typeface="Times New Roman" panose="02020603050405020304" pitchFamily="18" charset="0"/>
              </a:rPr>
              <a:t> </a:t>
            </a:r>
            <a:r>
              <a:rPr lang="fr-FR" altLang="en-US" dirty="0" err="1">
                <a:latin typeface="Times New Roman" panose="02020603050405020304" pitchFamily="18" charset="0"/>
              </a:rPr>
              <a:t>tất</a:t>
            </a:r>
            <a:r>
              <a:rPr lang="fr-FR" altLang="en-US" dirty="0">
                <a:latin typeface="Times New Roman" panose="02020603050405020304" pitchFamily="18" charset="0"/>
              </a:rPr>
              <a:t> </a:t>
            </a:r>
            <a:r>
              <a:rPr lang="fr-FR" altLang="en-US" dirty="0" err="1">
                <a:latin typeface="Times New Roman" panose="02020603050405020304" pitchFamily="18" charset="0"/>
              </a:rPr>
              <a:t>cả</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mặt</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mối</a:t>
            </a:r>
            <a:r>
              <a:rPr lang="fr-FR" altLang="en-US" dirty="0">
                <a:latin typeface="Times New Roman" panose="02020603050405020304" pitchFamily="18" charset="0"/>
              </a:rPr>
              <a:t> </a:t>
            </a:r>
            <a:r>
              <a:rPr lang="fr-FR" altLang="en-US" dirty="0" err="1">
                <a:latin typeface="Times New Roman" panose="02020603050405020304" pitchFamily="18" charset="0"/>
              </a:rPr>
              <a:t>liên</a:t>
            </a:r>
            <a:r>
              <a:rPr lang="fr-FR" altLang="en-US" dirty="0">
                <a:latin typeface="Times New Roman" panose="02020603050405020304" pitchFamily="18" charset="0"/>
              </a:rPr>
              <a:t> </a:t>
            </a:r>
            <a:r>
              <a:rPr lang="fr-FR" altLang="en-US" dirty="0" err="1">
                <a:latin typeface="Times New Roman" panose="02020603050405020304" pitchFamily="18" charset="0"/>
              </a:rPr>
              <a:t>hệ</a:t>
            </a:r>
            <a:r>
              <a:rPr lang="fr-FR" altLang="en-US" dirty="0">
                <a:latin typeface="Times New Roman" panose="02020603050405020304" pitchFamily="18" charset="0"/>
              </a:rPr>
              <a:t> </a:t>
            </a:r>
            <a:r>
              <a:rPr lang="fr-FR" altLang="en-US" dirty="0" err="1">
                <a:latin typeface="Times New Roman" panose="02020603050405020304" pitchFamily="18" charset="0"/>
              </a:rPr>
              <a:t>tất</a:t>
            </a:r>
            <a:r>
              <a:rPr lang="fr-FR" altLang="en-US" dirty="0">
                <a:latin typeface="Times New Roman" panose="02020603050405020304" pitchFamily="18" charset="0"/>
              </a:rPr>
              <a:t> </a:t>
            </a:r>
            <a:r>
              <a:rPr lang="fr-FR" altLang="en-US" dirty="0" err="1">
                <a:latin typeface="Times New Roman" panose="02020603050405020304" pitchFamily="18" charset="0"/>
              </a:rPr>
              <a:t>nhiên</a:t>
            </a:r>
            <a:r>
              <a:rPr lang="fr-FR" altLang="en-US" dirty="0">
                <a:latin typeface="Times New Roman" panose="02020603050405020304" pitchFamily="18" charset="0"/>
              </a:rPr>
              <a:t>, </a:t>
            </a:r>
            <a:r>
              <a:rPr lang="fr-FR" altLang="en-US" dirty="0" err="1">
                <a:latin typeface="Times New Roman" panose="02020603050405020304" pitchFamily="18" charset="0"/>
              </a:rPr>
              <a:t>tương</a:t>
            </a:r>
            <a:r>
              <a:rPr lang="fr-FR" altLang="en-US" dirty="0">
                <a:latin typeface="Times New Roman" panose="02020603050405020304" pitchFamily="18" charset="0"/>
              </a:rPr>
              <a:t> </a:t>
            </a:r>
            <a:r>
              <a:rPr lang="fr-FR" altLang="en-US" dirty="0" err="1">
                <a:latin typeface="Times New Roman" panose="02020603050405020304" pitchFamily="18" charset="0"/>
              </a:rPr>
              <a:t>đối</a:t>
            </a:r>
            <a:r>
              <a:rPr lang="fr-FR" altLang="en-US" dirty="0">
                <a:latin typeface="Times New Roman" panose="02020603050405020304" pitchFamily="18" charset="0"/>
              </a:rPr>
              <a:t> </a:t>
            </a:r>
            <a:r>
              <a:rPr lang="fr-FR" altLang="en-US" dirty="0" err="1">
                <a:latin typeface="Times New Roman" panose="02020603050405020304" pitchFamily="18" charset="0"/>
              </a:rPr>
              <a:t>ổn</a:t>
            </a:r>
            <a:r>
              <a:rPr lang="fr-FR" altLang="en-US" dirty="0">
                <a:latin typeface="Times New Roman" panose="02020603050405020304" pitchFamily="18" charset="0"/>
              </a:rPr>
              <a:t> </a:t>
            </a:r>
            <a:r>
              <a:rPr lang="fr-FR" altLang="en-US" dirty="0" err="1">
                <a:latin typeface="Times New Roman" panose="02020603050405020304" pitchFamily="18" charset="0"/>
              </a:rPr>
              <a:t>định</a:t>
            </a:r>
            <a:r>
              <a:rPr lang="fr-FR" altLang="en-US" dirty="0">
                <a:latin typeface="Times New Roman" panose="02020603050405020304" pitchFamily="18" charset="0"/>
              </a:rPr>
              <a:t> ở </a:t>
            </a:r>
            <a:r>
              <a:rPr lang="fr-FR" altLang="en-US" dirty="0" err="1">
                <a:latin typeface="Times New Roman" panose="02020603050405020304" pitchFamily="18" charset="0"/>
              </a:rPr>
              <a:t>bên</a:t>
            </a:r>
            <a:r>
              <a:rPr lang="fr-FR" altLang="en-US" dirty="0">
                <a:latin typeface="Times New Roman" panose="02020603050405020304" pitchFamily="18" charset="0"/>
              </a:rPr>
              <a:t> </a:t>
            </a:r>
            <a:r>
              <a:rPr lang="fr-FR" altLang="en-US" dirty="0" err="1">
                <a:latin typeface="Times New Roman" panose="02020603050405020304" pitchFamily="18" charset="0"/>
              </a:rPr>
              <a:t>trong</a:t>
            </a:r>
            <a:r>
              <a:rPr lang="fr-FR" altLang="en-US" dirty="0">
                <a:latin typeface="Times New Roman" panose="02020603050405020304" pitchFamily="18" charset="0"/>
              </a:rPr>
              <a:t>, </a:t>
            </a:r>
            <a:r>
              <a:rPr lang="fr-FR" altLang="en-US" dirty="0" err="1">
                <a:latin typeface="Times New Roman" panose="02020603050405020304" pitchFamily="18" charset="0"/>
              </a:rPr>
              <a:t>quy</a:t>
            </a:r>
            <a:r>
              <a:rPr lang="fr-FR" altLang="en-US" dirty="0">
                <a:latin typeface="Times New Roman" panose="02020603050405020304" pitchFamily="18" charset="0"/>
              </a:rPr>
              <a:t> </a:t>
            </a:r>
            <a:r>
              <a:rPr lang="fr-FR" altLang="en-US" dirty="0" err="1">
                <a:latin typeface="Times New Roman" panose="02020603050405020304" pitchFamily="18" charset="0"/>
              </a:rPr>
              <a:t>định</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vận</a:t>
            </a:r>
            <a:r>
              <a:rPr lang="fr-FR" altLang="en-US" dirty="0">
                <a:latin typeface="Times New Roman" panose="02020603050405020304" pitchFamily="18" charset="0"/>
              </a:rPr>
              <a:t> </a:t>
            </a:r>
            <a:r>
              <a:rPr lang="fr-FR" altLang="en-US" dirty="0" err="1">
                <a:latin typeface="Times New Roman" panose="02020603050405020304" pitchFamily="18" charset="0"/>
              </a:rPr>
              <a:t>động</a:t>
            </a:r>
            <a:r>
              <a:rPr lang="fr-FR" altLang="en-US" dirty="0">
                <a:latin typeface="Times New Roman" panose="02020603050405020304" pitchFamily="18" charset="0"/>
              </a:rPr>
              <a:t> </a:t>
            </a:r>
            <a:r>
              <a:rPr lang="fr-FR" altLang="en-US" dirty="0" err="1">
                <a:latin typeface="Times New Roman" panose="02020603050405020304" pitchFamily="18" charset="0"/>
              </a:rPr>
              <a:t>và</a:t>
            </a:r>
            <a:r>
              <a:rPr lang="fr-FR" altLang="en-US" dirty="0">
                <a:latin typeface="Times New Roman" panose="02020603050405020304" pitchFamily="18" charset="0"/>
              </a:rPr>
              <a:t> </a:t>
            </a:r>
            <a:r>
              <a:rPr lang="fr-FR" altLang="en-US" dirty="0" err="1">
                <a:latin typeface="Times New Roman" panose="02020603050405020304" pitchFamily="18" charset="0"/>
              </a:rPr>
              <a:t>phát</a:t>
            </a:r>
            <a:r>
              <a:rPr lang="fr-FR" altLang="en-US" dirty="0">
                <a:latin typeface="Times New Roman" panose="02020603050405020304" pitchFamily="18" charset="0"/>
              </a:rPr>
              <a:t> </a:t>
            </a:r>
            <a:r>
              <a:rPr lang="fr-FR" altLang="en-US" dirty="0" err="1">
                <a:latin typeface="Times New Roman" panose="02020603050405020304" pitchFamily="18" charset="0"/>
              </a:rPr>
              <a:t>triển</a:t>
            </a:r>
            <a:r>
              <a:rPr lang="fr-FR" altLang="en-US" dirty="0">
                <a:latin typeface="Times New Roman" panose="02020603050405020304" pitchFamily="18" charset="0"/>
              </a:rPr>
              <a:t> </a:t>
            </a:r>
            <a:r>
              <a:rPr lang="fr-FR" altLang="en-US" dirty="0" err="1">
                <a:latin typeface="Times New Roman" panose="02020603050405020304" pitchFamily="18" charset="0"/>
              </a:rPr>
              <a:t>của</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vật</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tượng</a:t>
            </a:r>
            <a:r>
              <a:rPr lang="fr-FR" altLang="en-US" dirty="0">
                <a:latin typeface="Times New Roman" panose="02020603050405020304" pitchFamily="18" charset="0"/>
              </a:rPr>
              <a:t>.</a:t>
            </a:r>
            <a:endParaRPr lang="fr-FR" altLang="en-US" dirty="0">
              <a:latin typeface="Times New Roman" panose="02020603050405020304" pitchFamily="18" charset="0"/>
            </a:endParaRPr>
          </a:p>
          <a:p>
            <a:pPr algn="just">
              <a:buFontTx/>
              <a:buChar char="-"/>
            </a:pPr>
            <a:r>
              <a:rPr lang="fr-FR" altLang="en-US" i="1" dirty="0" err="1">
                <a:latin typeface="Times New Roman" panose="02020603050405020304" pitchFamily="18" charset="0"/>
              </a:rPr>
              <a:t>Hiện</a:t>
            </a:r>
            <a:r>
              <a:rPr lang="fr-FR" altLang="en-US" i="1" dirty="0">
                <a:latin typeface="Times New Roman" panose="02020603050405020304" pitchFamily="18" charset="0"/>
              </a:rPr>
              <a:t> </a:t>
            </a:r>
            <a:r>
              <a:rPr lang="fr-FR" altLang="en-US" i="1" dirty="0" err="1">
                <a:latin typeface="Times New Roman" panose="02020603050405020304" pitchFamily="18" charset="0"/>
              </a:rPr>
              <a:t>tượng</a:t>
            </a:r>
            <a:r>
              <a:rPr lang="fr-FR" altLang="en-US" dirty="0">
                <a:latin typeface="Times New Roman" panose="02020603050405020304" pitchFamily="18" charset="0"/>
              </a:rPr>
              <a:t> </a:t>
            </a:r>
            <a:r>
              <a:rPr lang="fr-FR" altLang="en-US" dirty="0" err="1">
                <a:latin typeface="Times New Roman" panose="02020603050405020304" pitchFamily="18" charset="0"/>
              </a:rPr>
              <a:t>dùng</a:t>
            </a:r>
            <a:r>
              <a:rPr lang="fr-FR" altLang="en-US" dirty="0">
                <a:latin typeface="Times New Roman" panose="02020603050405020304" pitchFamily="18" charset="0"/>
              </a:rPr>
              <a:t> </a:t>
            </a:r>
            <a:r>
              <a:rPr lang="fr-FR" altLang="en-US" dirty="0" err="1">
                <a:latin typeface="Times New Roman" panose="02020603050405020304" pitchFamily="18" charset="0"/>
              </a:rPr>
              <a:t>để</a:t>
            </a:r>
            <a:r>
              <a:rPr lang="fr-FR" altLang="en-US" dirty="0">
                <a:latin typeface="Times New Roman" panose="02020603050405020304" pitchFamily="18" charset="0"/>
              </a:rPr>
              <a:t> </a:t>
            </a:r>
            <a:r>
              <a:rPr lang="fr-FR" altLang="en-US" dirty="0" err="1">
                <a:latin typeface="Times New Roman" panose="02020603050405020304" pitchFamily="18" charset="0"/>
              </a:rPr>
              <a:t>chỉ</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biểu</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của</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mặt</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mối</a:t>
            </a:r>
            <a:r>
              <a:rPr lang="fr-FR" altLang="en-US" dirty="0">
                <a:latin typeface="Times New Roman" panose="02020603050405020304" pitchFamily="18" charset="0"/>
              </a:rPr>
              <a:t> </a:t>
            </a:r>
            <a:r>
              <a:rPr lang="fr-FR" altLang="en-US" dirty="0" err="1">
                <a:latin typeface="Times New Roman" panose="02020603050405020304" pitchFamily="18" charset="0"/>
              </a:rPr>
              <a:t>liên</a:t>
            </a:r>
            <a:r>
              <a:rPr lang="fr-FR" altLang="en-US" dirty="0">
                <a:latin typeface="Times New Roman" panose="02020603050405020304" pitchFamily="18" charset="0"/>
              </a:rPr>
              <a:t> </a:t>
            </a:r>
            <a:r>
              <a:rPr lang="fr-FR" altLang="en-US" dirty="0" err="1">
                <a:latin typeface="Times New Roman" panose="02020603050405020304" pitchFamily="18" charset="0"/>
              </a:rPr>
              <a:t>hệ</a:t>
            </a:r>
            <a:r>
              <a:rPr lang="fr-FR" altLang="en-US" dirty="0">
                <a:latin typeface="Times New Roman" panose="02020603050405020304" pitchFamily="18" charset="0"/>
              </a:rPr>
              <a:t> </a:t>
            </a:r>
            <a:r>
              <a:rPr lang="fr-FR" altLang="en-US" dirty="0" err="1">
                <a:latin typeface="Times New Roman" panose="02020603050405020304" pitchFamily="18" charset="0"/>
              </a:rPr>
              <a:t>đó</a:t>
            </a:r>
            <a:r>
              <a:rPr lang="fr-FR" altLang="en-US" dirty="0">
                <a:latin typeface="Times New Roman" panose="02020603050405020304" pitchFamily="18" charset="0"/>
              </a:rPr>
              <a:t> </a:t>
            </a:r>
            <a:r>
              <a:rPr lang="fr-FR" altLang="en-US" dirty="0" err="1">
                <a:latin typeface="Times New Roman" panose="02020603050405020304" pitchFamily="18" charset="0"/>
              </a:rPr>
              <a:t>trong</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điều</a:t>
            </a:r>
            <a:r>
              <a:rPr lang="fr-FR" altLang="en-US" dirty="0">
                <a:latin typeface="Times New Roman" panose="02020603050405020304" pitchFamily="18" charset="0"/>
              </a:rPr>
              <a:t> </a:t>
            </a:r>
            <a:r>
              <a:rPr lang="fr-FR" altLang="en-US" dirty="0" err="1">
                <a:latin typeface="Times New Roman" panose="02020603050405020304" pitchFamily="18" charset="0"/>
              </a:rPr>
              <a:t>kiện</a:t>
            </a:r>
            <a:r>
              <a:rPr lang="fr-FR" altLang="en-US" dirty="0">
                <a:latin typeface="Times New Roman" panose="02020603050405020304" pitchFamily="18" charset="0"/>
              </a:rPr>
              <a:t> </a:t>
            </a:r>
            <a:r>
              <a:rPr lang="fr-FR" altLang="en-US" dirty="0" err="1">
                <a:latin typeface="Times New Roman" panose="02020603050405020304" pitchFamily="18" charset="0"/>
              </a:rPr>
              <a:t>xác</a:t>
            </a:r>
            <a:r>
              <a:rPr lang="fr-FR" altLang="en-US" dirty="0">
                <a:latin typeface="Times New Roman" panose="02020603050405020304" pitchFamily="18" charset="0"/>
              </a:rPr>
              <a:t> </a:t>
            </a:r>
            <a:r>
              <a:rPr lang="fr-FR" altLang="en-US" dirty="0" err="1">
                <a:latin typeface="Times New Roman" panose="02020603050405020304" pitchFamily="18" charset="0"/>
              </a:rPr>
              <a:t>định</a:t>
            </a:r>
            <a:r>
              <a:rPr lang="fr-FR" altLang="en-US" dirty="0">
                <a:latin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13509"/>
          </a:xfrm>
        </p:spPr>
        <p:txBody>
          <a:bodyPr>
            <a:normAutofit fontScale="90000"/>
          </a:bodyPr>
          <a:lstStyle/>
          <a:p>
            <a:br>
              <a:rPr lang="fr-FR" altLang="en-US" sz="4000" b="1" i="1" dirty="0">
                <a:latin typeface="Times New Roman" panose="02020603050405020304" pitchFamily="18" charset="0"/>
              </a:rPr>
            </a:br>
            <a:r>
              <a:rPr lang="fr-FR" altLang="en-US" sz="4000" b="1" i="1" dirty="0">
                <a:latin typeface="Times New Roman" panose="02020603050405020304" pitchFamily="18" charset="0"/>
              </a:rPr>
              <a:t>MQHBC </a:t>
            </a:r>
            <a:r>
              <a:rPr lang="fr-FR" altLang="en-US" sz="4000" b="1" i="1" dirty="0" err="1">
                <a:latin typeface="Times New Roman" panose="02020603050405020304" pitchFamily="18" charset="0"/>
              </a:rPr>
              <a:t>giữa</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bản</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chất</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và</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hiện</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tượng</a:t>
            </a:r>
            <a:br>
              <a:rPr lang="fr-FR" altLang="en-US" sz="4000" b="1" dirty="0">
                <a:latin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78634"/>
            <a:ext cx="10515600" cy="4798329"/>
          </a:xfrm>
        </p:spPr>
        <p:txBody>
          <a:bodyPr/>
          <a:lstStyle/>
          <a:p>
            <a:pPr algn="just">
              <a:buFont typeface="Wingdings" panose="05000000000000000000" pitchFamily="2" charset="2"/>
              <a:buChar char="v"/>
            </a:pPr>
            <a:r>
              <a:rPr lang="fr-FR" altLang="en-US" b="1" i="1" dirty="0" err="1">
                <a:latin typeface="Times New Roman" panose="02020603050405020304" pitchFamily="18" charset="0"/>
              </a:rPr>
              <a:t>Sự</a:t>
            </a:r>
            <a:r>
              <a:rPr lang="fr-FR" altLang="en-US" b="1" i="1" dirty="0">
                <a:latin typeface="Times New Roman" panose="02020603050405020304" pitchFamily="18" charset="0"/>
              </a:rPr>
              <a:t> </a:t>
            </a:r>
            <a:r>
              <a:rPr lang="fr-FR" altLang="en-US" b="1" i="1" dirty="0" err="1">
                <a:latin typeface="Times New Roman" panose="02020603050405020304" pitchFamily="18" charset="0"/>
              </a:rPr>
              <a:t>thống</a:t>
            </a:r>
            <a:r>
              <a:rPr lang="fr-FR" altLang="en-US" b="1" i="1" dirty="0">
                <a:latin typeface="Times New Roman" panose="02020603050405020304" pitchFamily="18" charset="0"/>
              </a:rPr>
              <a:t> </a:t>
            </a:r>
            <a:r>
              <a:rPr lang="fr-FR" altLang="en-US" b="1" i="1" dirty="0" err="1">
                <a:latin typeface="Times New Roman" panose="02020603050405020304" pitchFamily="18" charset="0"/>
              </a:rPr>
              <a:t>nhất</a:t>
            </a:r>
            <a:r>
              <a:rPr lang="fr-FR" altLang="en-US" b="1" i="1" dirty="0">
                <a:latin typeface="Times New Roman" panose="02020603050405020304" pitchFamily="18" charset="0"/>
              </a:rPr>
              <a:t> </a:t>
            </a:r>
            <a:r>
              <a:rPr lang="fr-FR" altLang="en-US" b="1" i="1" dirty="0" err="1">
                <a:latin typeface="Times New Roman" panose="02020603050405020304" pitchFamily="18" charset="0"/>
              </a:rPr>
              <a:t>giữa</a:t>
            </a:r>
            <a:r>
              <a:rPr lang="fr-FR" altLang="en-US" b="1" i="1" dirty="0">
                <a:latin typeface="Times New Roman" panose="02020603050405020304" pitchFamily="18" charset="0"/>
              </a:rPr>
              <a:t> </a:t>
            </a:r>
            <a:r>
              <a:rPr lang="fr-FR" altLang="en-US" b="1" i="1" dirty="0" err="1">
                <a:latin typeface="Times New Roman" panose="02020603050405020304" pitchFamily="18" charset="0"/>
              </a:rPr>
              <a:t>B.chất</a:t>
            </a:r>
            <a:r>
              <a:rPr lang="fr-FR" altLang="en-US" b="1" i="1" dirty="0">
                <a:latin typeface="Times New Roman" panose="02020603050405020304" pitchFamily="18" charset="0"/>
              </a:rPr>
              <a:t> </a:t>
            </a:r>
            <a:r>
              <a:rPr lang="fr-FR" altLang="en-US" b="1" i="1" dirty="0" err="1">
                <a:latin typeface="Times New Roman" panose="02020603050405020304" pitchFamily="18" charset="0"/>
              </a:rPr>
              <a:t>và</a:t>
            </a:r>
            <a:r>
              <a:rPr lang="fr-FR" altLang="en-US" b="1" i="1" dirty="0">
                <a:latin typeface="Times New Roman" panose="02020603050405020304" pitchFamily="18" charset="0"/>
              </a:rPr>
              <a:t> </a:t>
            </a:r>
            <a:r>
              <a:rPr lang="fr-FR" altLang="en-US" b="1" i="1" dirty="0" err="1">
                <a:latin typeface="Times New Roman" panose="02020603050405020304" pitchFamily="18" charset="0"/>
              </a:rPr>
              <a:t>H.tượng</a:t>
            </a:r>
            <a:endParaRPr lang="fr-FR" altLang="en-US" sz="3200" b="1" dirty="0">
              <a:latin typeface="Times New Roman" panose="02020603050405020304" pitchFamily="18" charset="0"/>
            </a:endParaRPr>
          </a:p>
          <a:p>
            <a:pPr algn="just">
              <a:buFontTx/>
              <a:buChar char="-"/>
            </a:pPr>
            <a:r>
              <a:rPr lang="fr-FR" altLang="en-US" sz="3200" dirty="0" err="1">
                <a:latin typeface="Times New Roman" panose="02020603050405020304" pitchFamily="18" charset="0"/>
              </a:rPr>
              <a:t>Bản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luôn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được</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bộc</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lộ</a:t>
            </a:r>
            <a:r>
              <a:rPr lang="fr-FR" altLang="en-US" sz="3200" dirty="0">
                <a:latin typeface="Times New Roman" panose="02020603050405020304" pitchFamily="18" charset="0"/>
              </a:rPr>
              <a:t> ra qua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tượng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còn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tượng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nào</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cũng</a:t>
            </a:r>
            <a:r>
              <a:rPr lang="fr-FR" altLang="en-US" sz="3200" dirty="0">
                <a:latin typeface="Times New Roman" panose="02020603050405020304" pitchFamily="18" charset="0"/>
              </a:rPr>
              <a:t> là </a:t>
            </a:r>
            <a:r>
              <a:rPr lang="fr-FR" altLang="en-US" sz="3200" dirty="0" err="1">
                <a:latin typeface="Times New Roman" panose="02020603050405020304" pitchFamily="18" charset="0"/>
              </a:rPr>
              <a:t>biểu</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của</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một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bản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nhất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định</a:t>
            </a:r>
            <a:r>
              <a:rPr lang="fr-FR" altLang="en-US" sz="3200" dirty="0">
                <a:latin typeface="Times New Roman" panose="02020603050405020304" pitchFamily="18" charset="0"/>
              </a:rPr>
              <a:t>.</a:t>
            </a:r>
            <a:endParaRPr lang="fr-FR" altLang="en-US" sz="3200" dirty="0">
              <a:latin typeface="Times New Roman" panose="02020603050405020304" pitchFamily="18" charset="0"/>
            </a:endParaRPr>
          </a:p>
          <a:p>
            <a:pPr algn="just">
              <a:buFontTx/>
              <a:buChar char="-"/>
            </a:pPr>
            <a:r>
              <a:rPr lang="fr-FR" altLang="en-US" sz="3200" dirty="0" err="1">
                <a:latin typeface="Times New Roman" panose="02020603050405020304" pitchFamily="18" charset="0"/>
              </a:rPr>
              <a:t>Không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có</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bản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nào</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tồn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tại</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thuần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túy</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tách</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rời</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tượng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cũng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như</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không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có</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tượng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lại</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không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biểu</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của</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một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b.chất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nào</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đó</a:t>
            </a:r>
            <a:r>
              <a:rPr lang="fr-FR" altLang="en-US" sz="3200" dirty="0">
                <a:latin typeface="Times New Roman" panose="02020603050405020304" pitchFamily="18" charset="0"/>
              </a:rPr>
              <a:t>. </a:t>
            </a:r>
            <a:endParaRPr lang="fr-FR" altLang="en-US" sz="3200" dirty="0">
              <a:latin typeface="Times New Roman" panose="02020603050405020304" pitchFamily="18" charset="0"/>
            </a:endParaRPr>
          </a:p>
          <a:p>
            <a:pPr algn="just">
              <a:buFontTx/>
              <a:buChar char="-"/>
            </a:pPr>
            <a:r>
              <a:rPr lang="fr-FR" altLang="en-US" sz="3200" dirty="0">
                <a:latin typeface="Times New Roman" panose="02020603050405020304" pitchFamily="18" charset="0"/>
              </a:rPr>
              <a:t>Khi </a:t>
            </a:r>
            <a:r>
              <a:rPr lang="fr-FR" altLang="en-US" sz="3200" dirty="0" err="1">
                <a:latin typeface="Times New Roman" panose="02020603050405020304" pitchFamily="18" charset="0"/>
              </a:rPr>
              <a:t>bản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thay</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đổi</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thì</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tượng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cũng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thay</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đổi</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theo</a:t>
            </a:r>
            <a:r>
              <a:rPr lang="fr-FR" altLang="en-US" sz="3200" dirty="0">
                <a:latin typeface="Times New Roman" panose="02020603050405020304" pitchFamily="18" charset="0"/>
              </a:rPr>
              <a:t>. Khi </a:t>
            </a:r>
            <a:r>
              <a:rPr lang="fr-FR" altLang="en-US" sz="3200" dirty="0" err="1">
                <a:latin typeface="Times New Roman" panose="02020603050405020304" pitchFamily="18" charset="0"/>
              </a:rPr>
              <a:t>bản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chất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mất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đi</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thì</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hiện</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tượng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cũng</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mất</a:t>
            </a:r>
            <a:r>
              <a:rPr lang="fr-FR" altLang="en-US" sz="3200" dirty="0">
                <a:latin typeface="Times New Roman" panose="02020603050405020304" pitchFamily="18" charset="0"/>
              </a:rPr>
              <a:t> </a:t>
            </a:r>
            <a:r>
              <a:rPr lang="fr-FR" altLang="en-US" sz="3200" dirty="0" err="1">
                <a:latin typeface="Times New Roman" panose="02020603050405020304" pitchFamily="18" charset="0"/>
              </a:rPr>
              <a:t>theo</a:t>
            </a:r>
            <a:r>
              <a:rPr lang="fr-FR" altLang="en-US" sz="3200"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lgn="just">
              <a:buFont typeface="Wingdings" panose="05000000000000000000" pitchFamily="2" charset="2"/>
              <a:buChar char="v"/>
            </a:pPr>
            <a:r>
              <a:rPr lang="fr-FR" altLang="en-US" sz="4000" b="1" i="1" dirty="0" err="1">
                <a:latin typeface="Times New Roman" panose="02020603050405020304" pitchFamily="18" charset="0"/>
              </a:rPr>
              <a:t>Tính</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chất</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mâu</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thuẫn</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của</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sự</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thống</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nhất</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giữa</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bản</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chất</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và</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hiện</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tượng</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Tx/>
              <a:buChar char="-"/>
            </a:pPr>
            <a:r>
              <a:rPr lang="fr-FR" altLang="en-US" dirty="0">
                <a:latin typeface="Times New Roman" panose="02020603050405020304" pitchFamily="18" charset="0"/>
              </a:rPr>
              <a:t>BC </a:t>
            </a:r>
            <a:r>
              <a:rPr lang="fr-FR" altLang="en-US" dirty="0" err="1">
                <a:latin typeface="Times New Roman" panose="02020603050405020304" pitchFamily="18" charset="0"/>
              </a:rPr>
              <a:t>phản</a:t>
            </a:r>
            <a:r>
              <a:rPr lang="fr-FR" altLang="en-US" dirty="0">
                <a:latin typeface="Times New Roman" panose="02020603050405020304" pitchFamily="18" charset="0"/>
              </a:rPr>
              <a:t> </a:t>
            </a:r>
            <a:r>
              <a:rPr lang="fr-FR" altLang="en-US" dirty="0" err="1">
                <a:latin typeface="Times New Roman" panose="02020603050405020304" pitchFamily="18" charset="0"/>
              </a:rPr>
              <a:t>ánh</a:t>
            </a:r>
            <a:r>
              <a:rPr lang="fr-FR" altLang="en-US" dirty="0">
                <a:latin typeface="Times New Roman" panose="02020603050405020304" pitchFamily="18" charset="0"/>
              </a:rPr>
              <a:t> </a:t>
            </a:r>
            <a:r>
              <a:rPr lang="fr-FR" altLang="en-US" dirty="0" err="1">
                <a:latin typeface="Times New Roman" panose="02020603050405020304" pitchFamily="18" charset="0"/>
              </a:rPr>
              <a:t>cái</a:t>
            </a:r>
            <a:r>
              <a:rPr lang="fr-FR" altLang="en-US" dirty="0">
                <a:latin typeface="Times New Roman" panose="02020603050405020304" pitchFamily="18" charset="0"/>
              </a:rPr>
              <a:t> </a:t>
            </a:r>
            <a:r>
              <a:rPr lang="fr-FR" altLang="en-US" dirty="0" err="1">
                <a:latin typeface="Times New Roman" panose="02020603050405020304" pitchFamily="18" charset="0"/>
              </a:rPr>
              <a:t>chung</a:t>
            </a:r>
            <a:r>
              <a:rPr lang="fr-FR" altLang="en-US" dirty="0">
                <a:latin typeface="Times New Roman" panose="02020603050405020304" pitchFamily="18" charset="0"/>
              </a:rPr>
              <a:t>, </a:t>
            </a:r>
            <a:r>
              <a:rPr lang="fr-FR" altLang="en-US" dirty="0" err="1">
                <a:latin typeface="Times New Roman" panose="02020603050405020304" pitchFamily="18" charset="0"/>
              </a:rPr>
              <a:t>cái</a:t>
            </a:r>
            <a:r>
              <a:rPr lang="fr-FR" altLang="en-US" dirty="0">
                <a:latin typeface="Times New Roman" panose="02020603050405020304" pitchFamily="18" charset="0"/>
              </a:rPr>
              <a:t> </a:t>
            </a:r>
            <a:r>
              <a:rPr lang="fr-FR" altLang="en-US" dirty="0" err="1">
                <a:latin typeface="Times New Roman" panose="02020603050405020304" pitchFamily="18" charset="0"/>
              </a:rPr>
              <a:t>tất</a:t>
            </a:r>
            <a:r>
              <a:rPr lang="fr-FR" altLang="en-US" dirty="0">
                <a:latin typeface="Times New Roman" panose="02020603050405020304" pitchFamily="18" charset="0"/>
              </a:rPr>
              <a:t> </a:t>
            </a:r>
            <a:r>
              <a:rPr lang="fr-FR" altLang="en-US" dirty="0" err="1">
                <a:latin typeface="Times New Roman" panose="02020603050405020304" pitchFamily="18" charset="0"/>
              </a:rPr>
              <a:t>yếu</a:t>
            </a:r>
            <a:r>
              <a:rPr lang="fr-FR" altLang="en-US" dirty="0">
                <a:latin typeface="Times New Roman" panose="02020603050405020304" pitchFamily="18" charset="0"/>
              </a:rPr>
              <a:t>, </a:t>
            </a:r>
            <a:r>
              <a:rPr lang="fr-FR" altLang="en-US" dirty="0" err="1">
                <a:latin typeface="Times New Roman" panose="02020603050405020304" pitchFamily="18" charset="0"/>
              </a:rPr>
              <a:t>quyết</a:t>
            </a:r>
            <a:r>
              <a:rPr lang="fr-FR" altLang="en-US" dirty="0">
                <a:latin typeface="Times New Roman" panose="02020603050405020304" pitchFamily="18" charset="0"/>
              </a:rPr>
              <a:t> </a:t>
            </a:r>
            <a:r>
              <a:rPr lang="fr-FR" altLang="en-US" dirty="0" err="1">
                <a:latin typeface="Times New Roman" panose="02020603050405020304" pitchFamily="18" charset="0"/>
              </a:rPr>
              <a:t>định</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tồn</a:t>
            </a:r>
            <a:r>
              <a:rPr lang="fr-FR" altLang="en-US" dirty="0">
                <a:latin typeface="Times New Roman" panose="02020603050405020304" pitchFamily="18" charset="0"/>
              </a:rPr>
              <a:t> </a:t>
            </a:r>
            <a:r>
              <a:rPr lang="fr-FR" altLang="en-US" dirty="0" err="1">
                <a:latin typeface="Times New Roman" panose="02020603050405020304" pitchFamily="18" charset="0"/>
              </a:rPr>
              <a:t>tại</a:t>
            </a:r>
            <a:r>
              <a:rPr lang="fr-FR" altLang="en-US" dirty="0">
                <a:latin typeface="Times New Roman" panose="02020603050405020304" pitchFamily="18" charset="0"/>
              </a:rPr>
              <a:t> </a:t>
            </a:r>
            <a:r>
              <a:rPr lang="fr-FR" altLang="en-US" dirty="0" err="1">
                <a:latin typeface="Times New Roman" panose="02020603050405020304" pitchFamily="18" charset="0"/>
              </a:rPr>
              <a:t>và</a:t>
            </a:r>
            <a:r>
              <a:rPr lang="fr-FR" altLang="en-US" dirty="0">
                <a:latin typeface="Times New Roman" panose="02020603050405020304" pitchFamily="18" charset="0"/>
              </a:rPr>
              <a:t> </a:t>
            </a:r>
            <a:r>
              <a:rPr lang="fr-FR" altLang="en-US" dirty="0" err="1">
                <a:latin typeface="Times New Roman" panose="02020603050405020304" pitchFamily="18" charset="0"/>
              </a:rPr>
              <a:t>phát</a:t>
            </a:r>
            <a:r>
              <a:rPr lang="fr-FR" altLang="en-US" dirty="0">
                <a:latin typeface="Times New Roman" panose="02020603050405020304" pitchFamily="18" charset="0"/>
              </a:rPr>
              <a:t> </a:t>
            </a:r>
            <a:r>
              <a:rPr lang="fr-FR" altLang="en-US" dirty="0" err="1">
                <a:latin typeface="Times New Roman" panose="02020603050405020304" pitchFamily="18" charset="0"/>
              </a:rPr>
              <a:t>triển</a:t>
            </a:r>
            <a:r>
              <a:rPr lang="fr-FR" altLang="en-US" dirty="0">
                <a:latin typeface="Times New Roman" panose="02020603050405020304" pitchFamily="18" charset="0"/>
              </a:rPr>
              <a:t> </a:t>
            </a:r>
            <a:r>
              <a:rPr lang="fr-FR" altLang="en-US" dirty="0" err="1">
                <a:latin typeface="Times New Roman" panose="02020603050405020304" pitchFamily="18" charset="0"/>
              </a:rPr>
              <a:t>của</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vật</a:t>
            </a:r>
            <a:r>
              <a:rPr lang="fr-FR" altLang="en-US" dirty="0">
                <a:latin typeface="Times New Roman" panose="02020603050405020304" pitchFamily="18" charset="0"/>
              </a:rPr>
              <a:t>, </a:t>
            </a:r>
            <a:r>
              <a:rPr lang="fr-FR" altLang="en-US" dirty="0" err="1">
                <a:latin typeface="Times New Roman" panose="02020603050405020304" pitchFamily="18" charset="0"/>
              </a:rPr>
              <a:t>còn</a:t>
            </a:r>
            <a:r>
              <a:rPr lang="fr-FR" altLang="en-US" dirty="0">
                <a:latin typeface="Times New Roman" panose="02020603050405020304" pitchFamily="18" charset="0"/>
              </a:rPr>
              <a:t> HT </a:t>
            </a:r>
            <a:r>
              <a:rPr lang="fr-FR" altLang="en-US" dirty="0" err="1">
                <a:latin typeface="Times New Roman" panose="02020603050405020304" pitchFamily="18" charset="0"/>
              </a:rPr>
              <a:t>phản</a:t>
            </a:r>
            <a:r>
              <a:rPr lang="fr-FR" altLang="en-US" dirty="0">
                <a:latin typeface="Times New Roman" panose="02020603050405020304" pitchFamily="18" charset="0"/>
              </a:rPr>
              <a:t> </a:t>
            </a:r>
            <a:r>
              <a:rPr lang="fr-FR" altLang="en-US" dirty="0" err="1">
                <a:latin typeface="Times New Roman" panose="02020603050405020304" pitchFamily="18" charset="0"/>
              </a:rPr>
              <a:t>ánh</a:t>
            </a:r>
            <a:r>
              <a:rPr lang="fr-FR" altLang="en-US" dirty="0">
                <a:latin typeface="Times New Roman" panose="02020603050405020304" pitchFamily="18" charset="0"/>
              </a:rPr>
              <a:t> </a:t>
            </a:r>
            <a:r>
              <a:rPr lang="fr-FR" altLang="en-US" dirty="0" err="1">
                <a:latin typeface="Times New Roman" panose="02020603050405020304" pitchFamily="18" charset="0"/>
              </a:rPr>
              <a:t>cái</a:t>
            </a:r>
            <a:r>
              <a:rPr lang="fr-FR" altLang="en-US" dirty="0">
                <a:latin typeface="Times New Roman" panose="02020603050405020304" pitchFamily="18" charset="0"/>
              </a:rPr>
              <a:t> </a:t>
            </a:r>
            <a:r>
              <a:rPr lang="fr-FR" altLang="en-US" dirty="0" err="1">
                <a:latin typeface="Times New Roman" panose="02020603050405020304" pitchFamily="18" charset="0"/>
              </a:rPr>
              <a:t>riêng</a:t>
            </a:r>
            <a:r>
              <a:rPr lang="fr-FR" altLang="en-US" dirty="0">
                <a:latin typeface="Times New Roman" panose="02020603050405020304" pitchFamily="18" charset="0"/>
              </a:rPr>
              <a:t>, </a:t>
            </a:r>
            <a:r>
              <a:rPr lang="fr-FR" altLang="en-US" dirty="0" err="1">
                <a:latin typeface="Times New Roman" panose="02020603050405020304" pitchFamily="18" charset="0"/>
              </a:rPr>
              <a:t>cái</a:t>
            </a:r>
            <a:r>
              <a:rPr lang="fr-FR" altLang="en-US" dirty="0">
                <a:latin typeface="Times New Roman" panose="02020603050405020304" pitchFamily="18" charset="0"/>
              </a:rPr>
              <a:t> </a:t>
            </a:r>
            <a:r>
              <a:rPr lang="fr-FR" altLang="en-US" dirty="0" err="1">
                <a:latin typeface="Times New Roman" panose="02020603050405020304" pitchFamily="18" charset="0"/>
              </a:rPr>
              <a:t>cá</a:t>
            </a:r>
            <a:r>
              <a:rPr lang="fr-FR" altLang="en-US" dirty="0">
                <a:latin typeface="Times New Roman" panose="02020603050405020304" pitchFamily="18" charset="0"/>
              </a:rPr>
              <a:t> </a:t>
            </a:r>
            <a:r>
              <a:rPr lang="fr-FR" altLang="en-US" dirty="0" err="1">
                <a:latin typeface="Times New Roman" panose="02020603050405020304" pitchFamily="18" charset="0"/>
              </a:rPr>
              <a:t>biệt</a:t>
            </a:r>
            <a:endParaRPr lang="fr-FR" altLang="en-US" dirty="0">
              <a:latin typeface="Times New Roman" panose="02020603050405020304" pitchFamily="18" charset="0"/>
            </a:endParaRPr>
          </a:p>
          <a:p>
            <a:pPr algn="just">
              <a:buFontTx/>
              <a:buChar char="-"/>
            </a:pPr>
            <a:r>
              <a:rPr lang="fr-FR" altLang="en-US" dirty="0" err="1">
                <a:latin typeface="Times New Roman" panose="02020603050405020304" pitchFamily="18" charset="0"/>
              </a:rPr>
              <a:t>Cùng</a:t>
            </a:r>
            <a:r>
              <a:rPr lang="fr-FR" altLang="en-US" dirty="0">
                <a:latin typeface="Times New Roman" panose="02020603050405020304" pitchFamily="18" charset="0"/>
              </a:rPr>
              <a:t>  </a:t>
            </a:r>
            <a:r>
              <a:rPr lang="fr-FR" altLang="en-US" dirty="0" err="1">
                <a:latin typeface="Times New Roman" panose="02020603050405020304" pitchFamily="18" charset="0"/>
              </a:rPr>
              <a:t>một</a:t>
            </a:r>
            <a:r>
              <a:rPr lang="fr-FR" altLang="en-US" dirty="0">
                <a:latin typeface="Times New Roman" panose="02020603050405020304" pitchFamily="18" charset="0"/>
              </a:rPr>
              <a:t> BC </a:t>
            </a:r>
            <a:r>
              <a:rPr lang="fr-FR" altLang="en-US" dirty="0" err="1">
                <a:latin typeface="Times New Roman" panose="02020603050405020304" pitchFamily="18" charset="0"/>
              </a:rPr>
              <a:t>có</a:t>
            </a:r>
            <a:r>
              <a:rPr lang="fr-FR" altLang="en-US" dirty="0">
                <a:latin typeface="Times New Roman" panose="02020603050405020304" pitchFamily="18" charset="0"/>
              </a:rPr>
              <a:t> </a:t>
            </a:r>
            <a:r>
              <a:rPr lang="fr-FR" altLang="en-US" dirty="0" err="1">
                <a:latin typeface="Times New Roman" panose="02020603050405020304" pitchFamily="18" charset="0"/>
              </a:rPr>
              <a:t>thể</a:t>
            </a:r>
            <a:r>
              <a:rPr lang="fr-FR" altLang="en-US" dirty="0">
                <a:latin typeface="Times New Roman" panose="02020603050405020304" pitchFamily="18" charset="0"/>
              </a:rPr>
              <a:t> </a:t>
            </a:r>
            <a:r>
              <a:rPr lang="fr-FR" altLang="en-US" dirty="0" err="1">
                <a:latin typeface="Times New Roman" panose="02020603050405020304" pitchFamily="18" charset="0"/>
              </a:rPr>
              <a:t>biểu</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ra ở </a:t>
            </a:r>
            <a:r>
              <a:rPr lang="fr-FR" altLang="en-US" dirty="0" err="1">
                <a:latin typeface="Times New Roman" panose="02020603050405020304" pitchFamily="18" charset="0"/>
              </a:rPr>
              <a:t>nhiều</a:t>
            </a:r>
            <a:r>
              <a:rPr lang="fr-FR" altLang="en-US" dirty="0">
                <a:latin typeface="Times New Roman" panose="02020603050405020304" pitchFamily="18" charset="0"/>
              </a:rPr>
              <a:t> HT </a:t>
            </a:r>
            <a:r>
              <a:rPr lang="fr-FR" altLang="en-US" dirty="0" err="1">
                <a:latin typeface="Times New Roman" panose="02020603050405020304" pitchFamily="18" charset="0"/>
              </a:rPr>
              <a:t>khác</a:t>
            </a:r>
            <a:r>
              <a:rPr lang="fr-FR" altLang="en-US" dirty="0">
                <a:latin typeface="Times New Roman" panose="02020603050405020304" pitchFamily="18" charset="0"/>
              </a:rPr>
              <a:t> </a:t>
            </a:r>
            <a:r>
              <a:rPr lang="fr-FR" altLang="en-US" dirty="0" err="1">
                <a:latin typeface="Times New Roman" panose="02020603050405020304" pitchFamily="18" charset="0"/>
              </a:rPr>
              <a:t>nhau</a:t>
            </a:r>
            <a:r>
              <a:rPr lang="fr-FR" altLang="en-US" dirty="0">
                <a:latin typeface="Times New Roman" panose="02020603050405020304" pitchFamily="18" charset="0"/>
              </a:rPr>
              <a:t> </a:t>
            </a:r>
            <a:r>
              <a:rPr lang="fr-FR" altLang="en-US" dirty="0" err="1">
                <a:latin typeface="Times New Roman" panose="02020603050405020304" pitchFamily="18" charset="0"/>
              </a:rPr>
              <a:t>tuỳ</a:t>
            </a:r>
            <a:r>
              <a:rPr lang="fr-FR" altLang="en-US" dirty="0">
                <a:latin typeface="Times New Roman" panose="02020603050405020304" pitchFamily="18" charset="0"/>
              </a:rPr>
              <a:t> </a:t>
            </a:r>
            <a:r>
              <a:rPr lang="fr-FR" altLang="en-US" dirty="0" err="1">
                <a:latin typeface="Times New Roman" panose="02020603050405020304" pitchFamily="18" charset="0"/>
              </a:rPr>
              <a:t>theo</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thay</a:t>
            </a:r>
            <a:r>
              <a:rPr lang="fr-FR" altLang="en-US" dirty="0">
                <a:latin typeface="Times New Roman" panose="02020603050405020304" pitchFamily="18" charset="0"/>
              </a:rPr>
              <a:t> </a:t>
            </a:r>
            <a:r>
              <a:rPr lang="fr-FR" altLang="en-US" dirty="0" err="1">
                <a:latin typeface="Times New Roman" panose="02020603050405020304" pitchFamily="18" charset="0"/>
              </a:rPr>
              <a:t>đổi</a:t>
            </a:r>
            <a:r>
              <a:rPr lang="fr-FR" altLang="en-US" dirty="0">
                <a:latin typeface="Times New Roman" panose="02020603050405020304" pitchFamily="18" charset="0"/>
              </a:rPr>
              <a:t> </a:t>
            </a:r>
            <a:r>
              <a:rPr lang="fr-FR" altLang="en-US" dirty="0" err="1">
                <a:latin typeface="Times New Roman" panose="02020603050405020304" pitchFamily="18" charset="0"/>
              </a:rPr>
              <a:t>của</a:t>
            </a:r>
            <a:r>
              <a:rPr lang="fr-FR" altLang="en-US" dirty="0">
                <a:latin typeface="Times New Roman" panose="02020603050405020304" pitchFamily="18" charset="0"/>
              </a:rPr>
              <a:t> </a:t>
            </a:r>
            <a:r>
              <a:rPr lang="fr-FR" altLang="en-US" dirty="0" err="1">
                <a:latin typeface="Times New Roman" panose="02020603050405020304" pitchFamily="18" charset="0"/>
              </a:rPr>
              <a:t>điều</a:t>
            </a:r>
            <a:r>
              <a:rPr lang="fr-FR" altLang="en-US" dirty="0">
                <a:latin typeface="Times New Roman" panose="02020603050405020304" pitchFamily="18" charset="0"/>
              </a:rPr>
              <a:t> </a:t>
            </a:r>
            <a:r>
              <a:rPr lang="fr-FR" altLang="en-US" dirty="0" err="1">
                <a:latin typeface="Times New Roman" panose="02020603050405020304" pitchFamily="18" charset="0"/>
              </a:rPr>
              <a:t>kiện</a:t>
            </a:r>
            <a:r>
              <a:rPr lang="fr-FR" altLang="en-US" dirty="0">
                <a:latin typeface="Times New Roman" panose="02020603050405020304" pitchFamily="18" charset="0"/>
              </a:rPr>
              <a:t> </a:t>
            </a:r>
            <a:r>
              <a:rPr lang="fr-FR" altLang="en-US" dirty="0" err="1">
                <a:latin typeface="Times New Roman" panose="02020603050405020304" pitchFamily="18" charset="0"/>
              </a:rPr>
              <a:t>và</a:t>
            </a:r>
            <a:r>
              <a:rPr lang="fr-FR" altLang="en-US" dirty="0">
                <a:latin typeface="Times New Roman" panose="02020603050405020304" pitchFamily="18" charset="0"/>
              </a:rPr>
              <a:t> </a:t>
            </a:r>
            <a:r>
              <a:rPr lang="fr-FR" altLang="en-US" dirty="0" err="1">
                <a:latin typeface="Times New Roman" panose="02020603050405020304" pitchFamily="18" charset="0"/>
              </a:rPr>
              <a:t>hoàn</a:t>
            </a:r>
            <a:r>
              <a:rPr lang="fr-FR" altLang="en-US" dirty="0">
                <a:latin typeface="Times New Roman" panose="02020603050405020304" pitchFamily="18" charset="0"/>
              </a:rPr>
              <a:t> </a:t>
            </a:r>
            <a:r>
              <a:rPr lang="fr-FR" altLang="en-US" dirty="0" err="1">
                <a:latin typeface="Times New Roman" panose="02020603050405020304" pitchFamily="18" charset="0"/>
              </a:rPr>
              <a:t>cảnh</a:t>
            </a:r>
            <a:endParaRPr lang="fr-FR" altLang="en-US" dirty="0">
              <a:latin typeface="Times New Roman" panose="02020603050405020304" pitchFamily="18" charset="0"/>
            </a:endParaRPr>
          </a:p>
          <a:p>
            <a:pPr algn="just">
              <a:buFontTx/>
              <a:buChar char="-"/>
            </a:pPr>
            <a:r>
              <a:rPr lang="fr-FR" altLang="en-US" dirty="0">
                <a:latin typeface="Times New Roman" panose="02020603050405020304" pitchFamily="18" charset="0"/>
              </a:rPr>
              <a:t>BC là </a:t>
            </a:r>
            <a:r>
              <a:rPr lang="fr-FR" altLang="en-US" dirty="0" err="1">
                <a:latin typeface="Times New Roman" panose="02020603050405020304" pitchFamily="18" charset="0"/>
              </a:rPr>
              <a:t>cái</a:t>
            </a:r>
            <a:r>
              <a:rPr lang="fr-FR" altLang="en-US" dirty="0">
                <a:latin typeface="Times New Roman" panose="02020603050405020304" pitchFamily="18" charset="0"/>
              </a:rPr>
              <a:t> </a:t>
            </a:r>
            <a:r>
              <a:rPr lang="fr-FR" altLang="en-US" dirty="0" err="1">
                <a:latin typeface="Times New Roman" panose="02020603050405020304" pitchFamily="18" charset="0"/>
              </a:rPr>
              <a:t>tương</a:t>
            </a:r>
            <a:r>
              <a:rPr lang="fr-FR" altLang="en-US" dirty="0">
                <a:latin typeface="Times New Roman" panose="02020603050405020304" pitchFamily="18" charset="0"/>
              </a:rPr>
              <a:t> </a:t>
            </a:r>
            <a:r>
              <a:rPr lang="fr-FR" altLang="en-US" dirty="0" err="1">
                <a:latin typeface="Times New Roman" panose="02020603050405020304" pitchFamily="18" charset="0"/>
              </a:rPr>
              <a:t>đối</a:t>
            </a:r>
            <a:r>
              <a:rPr lang="fr-FR" altLang="en-US" dirty="0">
                <a:latin typeface="Times New Roman" panose="02020603050405020304" pitchFamily="18" charset="0"/>
              </a:rPr>
              <a:t> </a:t>
            </a:r>
            <a:r>
              <a:rPr lang="fr-FR" altLang="en-US" dirty="0" err="1">
                <a:latin typeface="Times New Roman" panose="02020603050405020304" pitchFamily="18" charset="0"/>
              </a:rPr>
              <a:t>ổn</a:t>
            </a:r>
            <a:r>
              <a:rPr lang="fr-FR" altLang="en-US" dirty="0">
                <a:latin typeface="Times New Roman" panose="02020603050405020304" pitchFamily="18" charset="0"/>
              </a:rPr>
              <a:t> </a:t>
            </a:r>
            <a:r>
              <a:rPr lang="fr-FR" altLang="en-US" dirty="0" err="1">
                <a:latin typeface="Times New Roman" panose="02020603050405020304" pitchFamily="18" charset="0"/>
              </a:rPr>
              <a:t>định</a:t>
            </a:r>
            <a:r>
              <a:rPr lang="fr-FR" altLang="en-US" dirty="0">
                <a:latin typeface="Times New Roman" panose="02020603050405020304" pitchFamily="18" charset="0"/>
              </a:rPr>
              <a:t>, </a:t>
            </a:r>
            <a:r>
              <a:rPr lang="fr-FR" altLang="en-US" dirty="0" err="1">
                <a:latin typeface="Times New Roman" panose="02020603050405020304" pitchFamily="18" charset="0"/>
              </a:rPr>
              <a:t>ít</a:t>
            </a:r>
            <a:r>
              <a:rPr lang="fr-FR" altLang="en-US" dirty="0">
                <a:latin typeface="Times New Roman" panose="02020603050405020304" pitchFamily="18" charset="0"/>
              </a:rPr>
              <a:t> </a:t>
            </a:r>
            <a:r>
              <a:rPr lang="fr-FR" altLang="en-US" dirty="0" err="1">
                <a:latin typeface="Times New Roman" panose="02020603050405020304" pitchFamily="18" charset="0"/>
              </a:rPr>
              <a:t>biến</a:t>
            </a:r>
            <a:r>
              <a:rPr lang="fr-FR" altLang="en-US" dirty="0">
                <a:latin typeface="Times New Roman" panose="02020603050405020304" pitchFamily="18" charset="0"/>
              </a:rPr>
              <a:t> </a:t>
            </a:r>
            <a:r>
              <a:rPr lang="fr-FR" altLang="en-US" dirty="0" err="1">
                <a:latin typeface="Times New Roman" panose="02020603050405020304" pitchFamily="18" charset="0"/>
              </a:rPr>
              <a:t>đổi</a:t>
            </a:r>
            <a:r>
              <a:rPr lang="fr-FR" altLang="en-US" dirty="0">
                <a:latin typeface="Times New Roman" panose="02020603050405020304" pitchFamily="18" charset="0"/>
              </a:rPr>
              <a:t>, </a:t>
            </a:r>
            <a:r>
              <a:rPr lang="fr-FR" altLang="en-US" dirty="0" err="1">
                <a:latin typeface="Times New Roman" panose="02020603050405020304" pitchFamily="18" charset="0"/>
              </a:rPr>
              <a:t>còn</a:t>
            </a:r>
            <a:r>
              <a:rPr lang="fr-FR" altLang="en-US" dirty="0">
                <a:latin typeface="Times New Roman" panose="02020603050405020304" pitchFamily="18" charset="0"/>
              </a:rPr>
              <a:t> HT là </a:t>
            </a:r>
            <a:r>
              <a:rPr lang="fr-FR" altLang="en-US" dirty="0" err="1">
                <a:latin typeface="Times New Roman" panose="02020603050405020304" pitchFamily="18" charset="0"/>
              </a:rPr>
              <a:t>cái</a:t>
            </a:r>
            <a:r>
              <a:rPr lang="fr-FR" altLang="en-US" dirty="0">
                <a:latin typeface="Times New Roman" panose="02020603050405020304" pitchFamily="18" charset="0"/>
              </a:rPr>
              <a:t> </a:t>
            </a:r>
            <a:r>
              <a:rPr lang="fr-FR" altLang="en-US" dirty="0" err="1">
                <a:latin typeface="Times New Roman" panose="02020603050405020304" pitchFamily="18" charset="0"/>
              </a:rPr>
              <a:t>thường</a:t>
            </a:r>
            <a:r>
              <a:rPr lang="fr-FR" altLang="en-US" dirty="0">
                <a:latin typeface="Times New Roman" panose="02020603050405020304" pitchFamily="18" charset="0"/>
              </a:rPr>
              <a:t> </a:t>
            </a:r>
            <a:r>
              <a:rPr lang="fr-FR" altLang="en-US" dirty="0" err="1">
                <a:latin typeface="Times New Roman" panose="02020603050405020304" pitchFamily="18" charset="0"/>
              </a:rPr>
              <a:t>xuyên</a:t>
            </a:r>
            <a:r>
              <a:rPr lang="fr-FR" altLang="en-US" dirty="0">
                <a:latin typeface="Times New Roman" panose="02020603050405020304" pitchFamily="18" charset="0"/>
              </a:rPr>
              <a:t> </a:t>
            </a:r>
            <a:r>
              <a:rPr lang="fr-FR" altLang="en-US" dirty="0" err="1">
                <a:latin typeface="Times New Roman" panose="02020603050405020304" pitchFamily="18" charset="0"/>
              </a:rPr>
              <a:t>biến</a:t>
            </a:r>
            <a:r>
              <a:rPr lang="fr-FR" altLang="en-US" dirty="0">
                <a:latin typeface="Times New Roman" panose="02020603050405020304" pitchFamily="18" charset="0"/>
              </a:rPr>
              <a:t> </a:t>
            </a:r>
            <a:r>
              <a:rPr lang="fr-FR" altLang="en-US" dirty="0" err="1">
                <a:latin typeface="Times New Roman" panose="02020603050405020304" pitchFamily="18" charset="0"/>
              </a:rPr>
              <a:t>đổi</a:t>
            </a:r>
            <a:r>
              <a:rPr lang="fr-FR"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041644"/>
          </a:xfrm>
        </p:spPr>
        <p:txBody>
          <a:bodyPr>
            <a:normAutofit fontScale="90000"/>
          </a:bodyPr>
          <a:lstStyle/>
          <a:p>
            <a:br>
              <a:rPr lang="fr-FR" altLang="en-US" sz="4000" b="1" i="1" dirty="0">
                <a:latin typeface="Times New Roman" panose="02020603050405020304" pitchFamily="18" charset="0"/>
              </a:rPr>
            </a:br>
            <a:r>
              <a:rPr lang="fr-FR" altLang="en-US" sz="4000" b="1" i="1" dirty="0">
                <a:latin typeface="Times New Roman" panose="02020603050405020304" pitchFamily="18" charset="0"/>
              </a:rPr>
              <a:t>Ý </a:t>
            </a:r>
            <a:r>
              <a:rPr lang="fr-FR" altLang="en-US" sz="4000" b="1" i="1" dirty="0" err="1">
                <a:latin typeface="Times New Roman" panose="02020603050405020304" pitchFamily="18" charset="0"/>
              </a:rPr>
              <a:t>nghĩa</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phương</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pháp</a:t>
            </a:r>
            <a:r>
              <a:rPr lang="fr-FR" altLang="en-US" sz="4000" b="1" i="1" dirty="0">
                <a:latin typeface="Times New Roman" panose="02020603050405020304" pitchFamily="18" charset="0"/>
              </a:rPr>
              <a:t> </a:t>
            </a:r>
            <a:r>
              <a:rPr lang="fr-FR" altLang="en-US" sz="4000" b="1" i="1" dirty="0" err="1">
                <a:latin typeface="Times New Roman" panose="02020603050405020304" pitchFamily="18" charset="0"/>
              </a:rPr>
              <a:t>luận</a:t>
            </a:r>
            <a:br>
              <a:rPr lang="fr-FR" altLang="en-US" sz="4000" b="1" i="1" dirty="0">
                <a:latin typeface="Times New Roman" panose="02020603050405020304" pitchFamily="18" charset="0"/>
              </a:rPr>
            </a:b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Tx/>
              <a:buChar char="-"/>
            </a:pPr>
            <a:r>
              <a:rPr lang="fr-FR" altLang="en-US" dirty="0" err="1">
                <a:latin typeface="Times New Roman" panose="02020603050405020304" pitchFamily="18" charset="0"/>
              </a:rPr>
              <a:t>Muốn</a:t>
            </a:r>
            <a:r>
              <a:rPr lang="fr-FR" altLang="en-US" dirty="0">
                <a:latin typeface="Times New Roman" panose="02020603050405020304" pitchFamily="18" charset="0"/>
              </a:rPr>
              <a:t> </a:t>
            </a:r>
            <a:r>
              <a:rPr lang="fr-FR" altLang="en-US" dirty="0" err="1">
                <a:latin typeface="Times New Roman" panose="02020603050405020304" pitchFamily="18" charset="0"/>
              </a:rPr>
              <a:t>nhận</a:t>
            </a:r>
            <a:r>
              <a:rPr lang="fr-FR" altLang="en-US" dirty="0">
                <a:latin typeface="Times New Roman" panose="02020603050405020304" pitchFamily="18" charset="0"/>
              </a:rPr>
              <a:t> </a:t>
            </a:r>
            <a:r>
              <a:rPr lang="fr-FR" altLang="en-US" dirty="0" err="1">
                <a:latin typeface="Times New Roman" panose="02020603050405020304" pitchFamily="18" charset="0"/>
              </a:rPr>
              <a:t>thức</a:t>
            </a:r>
            <a:r>
              <a:rPr lang="fr-FR" altLang="en-US" dirty="0">
                <a:latin typeface="Times New Roman" panose="02020603050405020304" pitchFamily="18" charset="0"/>
              </a:rPr>
              <a:t> </a:t>
            </a:r>
            <a:r>
              <a:rPr lang="fr-FR" altLang="en-US" dirty="0" err="1">
                <a:latin typeface="Times New Roman" panose="02020603050405020304" pitchFamily="18" charset="0"/>
              </a:rPr>
              <a:t>đúng</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vật</a:t>
            </a:r>
            <a:r>
              <a:rPr lang="fr-FR" altLang="en-US" dirty="0">
                <a:latin typeface="Times New Roman" panose="02020603050405020304" pitchFamily="18" charset="0"/>
              </a:rPr>
              <a:t>, </a:t>
            </a:r>
            <a:r>
              <a:rPr lang="fr-FR" altLang="en-US" dirty="0" err="1">
                <a:latin typeface="Times New Roman" panose="02020603050405020304" pitchFamily="18" charset="0"/>
              </a:rPr>
              <a:t>không</a:t>
            </a:r>
            <a:r>
              <a:rPr lang="fr-FR" altLang="en-US" dirty="0">
                <a:latin typeface="Times New Roman" panose="02020603050405020304" pitchFamily="18" charset="0"/>
              </a:rPr>
              <a:t> </a:t>
            </a:r>
            <a:r>
              <a:rPr lang="fr-FR" altLang="en-US" dirty="0" err="1">
                <a:latin typeface="Times New Roman" panose="02020603050405020304" pitchFamily="18" charset="0"/>
              </a:rPr>
              <a:t>dừng</a:t>
            </a:r>
            <a:r>
              <a:rPr lang="fr-FR" altLang="en-US" dirty="0">
                <a:latin typeface="Times New Roman" panose="02020603050405020304" pitchFamily="18" charset="0"/>
              </a:rPr>
              <a:t> ở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tượng</a:t>
            </a:r>
            <a:r>
              <a:rPr lang="fr-FR" altLang="en-US" dirty="0">
                <a:latin typeface="Times New Roman" panose="02020603050405020304" pitchFamily="18" charset="0"/>
              </a:rPr>
              <a:t>, </a:t>
            </a:r>
            <a:r>
              <a:rPr lang="fr-FR" altLang="en-US" dirty="0" err="1">
                <a:latin typeface="Times New Roman" panose="02020603050405020304" pitchFamily="18" charset="0"/>
              </a:rPr>
              <a:t>mà</a:t>
            </a:r>
            <a:r>
              <a:rPr lang="fr-FR" altLang="en-US" dirty="0">
                <a:latin typeface="Times New Roman" panose="02020603050405020304" pitchFamily="18" charset="0"/>
              </a:rPr>
              <a:t> </a:t>
            </a:r>
            <a:r>
              <a:rPr lang="fr-FR" altLang="en-US" dirty="0" err="1">
                <a:latin typeface="Times New Roman" panose="02020603050405020304" pitchFamily="18" charset="0"/>
              </a:rPr>
              <a:t>phải</a:t>
            </a:r>
            <a:r>
              <a:rPr lang="fr-FR" altLang="en-US" dirty="0">
                <a:latin typeface="Times New Roman" panose="02020603050405020304" pitchFamily="18" charset="0"/>
              </a:rPr>
              <a:t> </a:t>
            </a:r>
            <a:r>
              <a:rPr lang="fr-FR" altLang="en-US" dirty="0" err="1">
                <a:latin typeface="Times New Roman" panose="02020603050405020304" pitchFamily="18" charset="0"/>
              </a:rPr>
              <a:t>đi</a:t>
            </a:r>
            <a:r>
              <a:rPr lang="fr-FR" altLang="en-US" dirty="0">
                <a:latin typeface="Times New Roman" panose="02020603050405020304" pitchFamily="18" charset="0"/>
              </a:rPr>
              <a:t> </a:t>
            </a:r>
            <a:r>
              <a:rPr lang="fr-FR" altLang="en-US" dirty="0" err="1">
                <a:latin typeface="Times New Roman" panose="02020603050405020304" pitchFamily="18" charset="0"/>
              </a:rPr>
              <a:t>vào</a:t>
            </a:r>
            <a:r>
              <a:rPr lang="fr-FR" altLang="en-US" dirty="0">
                <a:latin typeface="Times New Roman" panose="02020603050405020304" pitchFamily="18" charset="0"/>
              </a:rPr>
              <a:t> </a:t>
            </a:r>
            <a:r>
              <a:rPr lang="fr-FR" altLang="en-US" dirty="0" err="1">
                <a:latin typeface="Times New Roman" panose="02020603050405020304" pitchFamily="18" charset="0"/>
              </a:rPr>
              <a:t>bản</a:t>
            </a:r>
            <a:r>
              <a:rPr lang="fr-FR" altLang="en-US" dirty="0">
                <a:latin typeface="Times New Roman" panose="02020603050405020304" pitchFamily="18" charset="0"/>
              </a:rPr>
              <a:t> </a:t>
            </a:r>
            <a:r>
              <a:rPr lang="fr-FR" altLang="en-US" dirty="0" err="1">
                <a:latin typeface="Times New Roman" panose="02020603050405020304" pitchFamily="18" charset="0"/>
              </a:rPr>
              <a:t>chất</a:t>
            </a:r>
            <a:r>
              <a:rPr lang="fr-FR" altLang="en-US" dirty="0">
                <a:latin typeface="Times New Roman" panose="02020603050405020304" pitchFamily="18" charset="0"/>
              </a:rPr>
              <a:t>; </a:t>
            </a:r>
            <a:r>
              <a:rPr lang="fr-FR" altLang="en-US" dirty="0" err="1">
                <a:latin typeface="Times New Roman" panose="02020603050405020304" pitchFamily="18" charset="0"/>
              </a:rPr>
              <a:t>phải</a:t>
            </a:r>
            <a:r>
              <a:rPr lang="fr-FR" altLang="en-US" dirty="0">
                <a:latin typeface="Times New Roman" panose="02020603050405020304" pitchFamily="18" charset="0"/>
              </a:rPr>
              <a:t> </a:t>
            </a:r>
            <a:r>
              <a:rPr lang="fr-FR" altLang="en-US" dirty="0" err="1">
                <a:latin typeface="Times New Roman" panose="02020603050405020304" pitchFamily="18" charset="0"/>
              </a:rPr>
              <a:t>thông</a:t>
            </a:r>
            <a:r>
              <a:rPr lang="fr-FR" altLang="en-US" dirty="0">
                <a:latin typeface="Times New Roman" panose="02020603050405020304" pitchFamily="18" charset="0"/>
              </a:rPr>
              <a:t> qua </a:t>
            </a:r>
            <a:r>
              <a:rPr lang="fr-FR" altLang="en-US" dirty="0" err="1">
                <a:latin typeface="Times New Roman" panose="02020603050405020304" pitchFamily="18" charset="0"/>
              </a:rPr>
              <a:t>nhiều</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tượng</a:t>
            </a:r>
            <a:r>
              <a:rPr lang="fr-FR" altLang="en-US" dirty="0">
                <a:latin typeface="Times New Roman" panose="02020603050405020304" pitchFamily="18" charset="0"/>
              </a:rPr>
              <a:t> </a:t>
            </a:r>
            <a:r>
              <a:rPr lang="fr-FR" altLang="en-US" dirty="0" err="1">
                <a:latin typeface="Times New Roman" panose="02020603050405020304" pitchFamily="18" charset="0"/>
              </a:rPr>
              <a:t>khác</a:t>
            </a:r>
            <a:r>
              <a:rPr lang="fr-FR" altLang="en-US" dirty="0">
                <a:latin typeface="Times New Roman" panose="02020603050405020304" pitchFamily="18" charset="0"/>
              </a:rPr>
              <a:t> </a:t>
            </a:r>
            <a:r>
              <a:rPr lang="fr-FR" altLang="en-US" dirty="0" err="1">
                <a:latin typeface="Times New Roman" panose="02020603050405020304" pitchFamily="18" charset="0"/>
              </a:rPr>
              <a:t>nhau</a:t>
            </a:r>
            <a:r>
              <a:rPr lang="fr-FR" altLang="en-US" dirty="0">
                <a:latin typeface="Times New Roman" panose="02020603050405020304" pitchFamily="18" charset="0"/>
              </a:rPr>
              <a:t> </a:t>
            </a:r>
            <a:r>
              <a:rPr lang="fr-FR" altLang="en-US" dirty="0" err="1">
                <a:latin typeface="Times New Roman" panose="02020603050405020304" pitchFamily="18" charset="0"/>
              </a:rPr>
              <a:t>mới</a:t>
            </a:r>
            <a:r>
              <a:rPr lang="fr-FR" altLang="en-US" dirty="0">
                <a:latin typeface="Times New Roman" panose="02020603050405020304" pitchFamily="18" charset="0"/>
              </a:rPr>
              <a:t> </a:t>
            </a:r>
            <a:r>
              <a:rPr lang="fr-FR" altLang="en-US" dirty="0" err="1">
                <a:latin typeface="Times New Roman" panose="02020603050405020304" pitchFamily="18" charset="0"/>
              </a:rPr>
              <a:t>nhận</a:t>
            </a:r>
            <a:r>
              <a:rPr lang="fr-FR" altLang="en-US" dirty="0">
                <a:latin typeface="Times New Roman" panose="02020603050405020304" pitchFamily="18" charset="0"/>
              </a:rPr>
              <a:t> </a:t>
            </a:r>
            <a:r>
              <a:rPr lang="fr-FR" altLang="en-US" dirty="0" err="1">
                <a:latin typeface="Times New Roman" panose="02020603050405020304" pitchFamily="18" charset="0"/>
              </a:rPr>
              <a:t>thức</a:t>
            </a:r>
            <a:r>
              <a:rPr lang="fr-FR" altLang="en-US" dirty="0">
                <a:latin typeface="Times New Roman" panose="02020603050405020304" pitchFamily="18" charset="0"/>
              </a:rPr>
              <a:t> </a:t>
            </a:r>
            <a:r>
              <a:rPr lang="fr-FR" altLang="en-US" dirty="0" err="1">
                <a:latin typeface="Times New Roman" panose="02020603050405020304" pitchFamily="18" charset="0"/>
              </a:rPr>
              <a:t>đúng</a:t>
            </a:r>
            <a:r>
              <a:rPr lang="fr-FR" altLang="en-US" dirty="0">
                <a:latin typeface="Times New Roman" panose="02020603050405020304" pitchFamily="18" charset="0"/>
              </a:rPr>
              <a:t> </a:t>
            </a:r>
            <a:r>
              <a:rPr lang="fr-FR" altLang="en-US" dirty="0" err="1">
                <a:latin typeface="Times New Roman" panose="02020603050405020304" pitchFamily="18" charset="0"/>
              </a:rPr>
              <a:t>bản</a:t>
            </a:r>
            <a:r>
              <a:rPr lang="fr-FR" altLang="en-US" dirty="0">
                <a:latin typeface="Times New Roman" panose="02020603050405020304" pitchFamily="18" charset="0"/>
              </a:rPr>
              <a:t> </a:t>
            </a:r>
            <a:r>
              <a:rPr lang="fr-FR" altLang="en-US" dirty="0" err="1">
                <a:latin typeface="Times New Roman" panose="02020603050405020304" pitchFamily="18" charset="0"/>
              </a:rPr>
              <a:t>chất</a:t>
            </a:r>
            <a:r>
              <a:rPr lang="fr-FR" altLang="en-US" dirty="0">
                <a:latin typeface="Times New Roman" panose="02020603050405020304" pitchFamily="18" charset="0"/>
              </a:rPr>
              <a:t>. </a:t>
            </a:r>
            <a:endParaRPr lang="fr-FR" altLang="en-US" dirty="0">
              <a:latin typeface="Times New Roman" panose="02020603050405020304" pitchFamily="18" charset="0"/>
            </a:endParaRPr>
          </a:p>
          <a:p>
            <a:pPr algn="just">
              <a:buFontTx/>
              <a:buChar char="-"/>
            </a:pPr>
            <a:r>
              <a:rPr lang="fr-FR" altLang="en-US" dirty="0" err="1">
                <a:latin typeface="Times New Roman" panose="02020603050405020304" pitchFamily="18" charset="0"/>
              </a:rPr>
              <a:t>Để</a:t>
            </a:r>
            <a:r>
              <a:rPr lang="fr-FR" altLang="en-US" dirty="0">
                <a:latin typeface="Times New Roman" panose="02020603050405020304" pitchFamily="18" charset="0"/>
              </a:rPr>
              <a:t> </a:t>
            </a:r>
            <a:r>
              <a:rPr lang="fr-FR" altLang="en-US" dirty="0" err="1">
                <a:latin typeface="Times New Roman" panose="02020603050405020304" pitchFamily="18" charset="0"/>
              </a:rPr>
              <a:t>đánh</a:t>
            </a:r>
            <a:r>
              <a:rPr lang="fr-FR" altLang="en-US" dirty="0">
                <a:latin typeface="Times New Roman" panose="02020603050405020304" pitchFamily="18" charset="0"/>
              </a:rPr>
              <a:t> </a:t>
            </a:r>
            <a:r>
              <a:rPr lang="fr-FR" altLang="en-US" dirty="0" err="1">
                <a:latin typeface="Times New Roman" panose="02020603050405020304" pitchFamily="18" charset="0"/>
              </a:rPr>
              <a:t>giá</a:t>
            </a:r>
            <a:r>
              <a:rPr lang="fr-FR" altLang="en-US" dirty="0">
                <a:latin typeface="Times New Roman" panose="02020603050405020304" pitchFamily="18" charset="0"/>
              </a:rPr>
              <a:t> </a:t>
            </a:r>
            <a:r>
              <a:rPr lang="fr-FR" altLang="en-US" dirty="0" err="1">
                <a:latin typeface="Times New Roman" panose="02020603050405020304" pitchFamily="18" charset="0"/>
              </a:rPr>
              <a:t>đúng</a:t>
            </a:r>
            <a:r>
              <a:rPr lang="fr-FR" altLang="en-US" dirty="0">
                <a:latin typeface="Times New Roman" panose="02020603050405020304" pitchFamily="18" charset="0"/>
              </a:rPr>
              <a:t> </a:t>
            </a:r>
            <a:r>
              <a:rPr lang="fr-FR" altLang="en-US" dirty="0" err="1">
                <a:latin typeface="Times New Roman" panose="02020603050405020304" pitchFamily="18" charset="0"/>
              </a:rPr>
              <a:t>về</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vật</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tượng</a:t>
            </a:r>
            <a:r>
              <a:rPr lang="fr-FR" altLang="en-US" dirty="0">
                <a:latin typeface="Times New Roman" panose="02020603050405020304" pitchFamily="18" charset="0"/>
              </a:rPr>
              <a:t>, </a:t>
            </a:r>
            <a:r>
              <a:rPr lang="fr-FR" altLang="en-US" dirty="0" err="1">
                <a:latin typeface="Times New Roman" panose="02020603050405020304" pitchFamily="18" charset="0"/>
              </a:rPr>
              <a:t>phải</a:t>
            </a:r>
            <a:r>
              <a:rPr lang="fr-FR" altLang="en-US" dirty="0">
                <a:latin typeface="Times New Roman" panose="02020603050405020304" pitchFamily="18" charset="0"/>
              </a:rPr>
              <a:t> </a:t>
            </a:r>
            <a:r>
              <a:rPr lang="fr-FR" altLang="en-US" dirty="0" err="1">
                <a:latin typeface="Times New Roman" panose="02020603050405020304" pitchFamily="18" charset="0"/>
              </a:rPr>
              <a:t>căn</a:t>
            </a:r>
            <a:r>
              <a:rPr lang="fr-FR" altLang="en-US" dirty="0">
                <a:latin typeface="Times New Roman" panose="02020603050405020304" pitchFamily="18" charset="0"/>
              </a:rPr>
              <a:t> </a:t>
            </a:r>
            <a:r>
              <a:rPr lang="fr-FR" altLang="en-US" dirty="0" err="1">
                <a:latin typeface="Times New Roman" panose="02020603050405020304" pitchFamily="18" charset="0"/>
              </a:rPr>
              <a:t>cứ</a:t>
            </a:r>
            <a:r>
              <a:rPr lang="fr-FR" altLang="en-US" dirty="0">
                <a:latin typeface="Times New Roman" panose="02020603050405020304" pitchFamily="18" charset="0"/>
              </a:rPr>
              <a:t> </a:t>
            </a:r>
            <a:r>
              <a:rPr lang="fr-FR" altLang="en-US" dirty="0" err="1">
                <a:latin typeface="Times New Roman" panose="02020603050405020304" pitchFamily="18" charset="0"/>
              </a:rPr>
              <a:t>vào</a:t>
            </a:r>
            <a:r>
              <a:rPr lang="fr-FR" altLang="en-US" dirty="0">
                <a:latin typeface="Times New Roman" panose="02020603050405020304" pitchFamily="18" charset="0"/>
              </a:rPr>
              <a:t> </a:t>
            </a:r>
            <a:r>
              <a:rPr lang="fr-FR" altLang="en-US" dirty="0" err="1">
                <a:latin typeface="Times New Roman" panose="02020603050405020304" pitchFamily="18" charset="0"/>
              </a:rPr>
              <a:t>bản</a:t>
            </a:r>
            <a:r>
              <a:rPr lang="fr-FR" altLang="en-US" dirty="0">
                <a:latin typeface="Times New Roman" panose="02020603050405020304" pitchFamily="18" charset="0"/>
              </a:rPr>
              <a:t> </a:t>
            </a:r>
            <a:r>
              <a:rPr lang="fr-FR" altLang="en-US" dirty="0" err="1">
                <a:latin typeface="Times New Roman" panose="02020603050405020304" pitchFamily="18" charset="0"/>
              </a:rPr>
              <a:t>chất</a:t>
            </a:r>
            <a:r>
              <a:rPr lang="fr-FR" altLang="en-US" dirty="0">
                <a:latin typeface="Times New Roman" panose="02020603050405020304" pitchFamily="18" charset="0"/>
              </a:rPr>
              <a:t> </a:t>
            </a:r>
            <a:r>
              <a:rPr lang="fr-FR" altLang="en-US" dirty="0" err="1">
                <a:latin typeface="Times New Roman" panose="02020603050405020304" pitchFamily="18" charset="0"/>
              </a:rPr>
              <a:t>của</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vật</a:t>
            </a:r>
            <a:r>
              <a:rPr lang="fr-FR" altLang="en-US" dirty="0">
                <a:latin typeface="Times New Roman" panose="02020603050405020304" pitchFamily="18" charset="0"/>
              </a:rPr>
              <a:t>, </a:t>
            </a:r>
            <a:r>
              <a:rPr lang="fr-FR" altLang="en-US" dirty="0" err="1">
                <a:latin typeface="Times New Roman" panose="02020603050405020304" pitchFamily="18" charset="0"/>
              </a:rPr>
              <a:t>không</a:t>
            </a:r>
            <a:r>
              <a:rPr lang="fr-FR" altLang="en-US" dirty="0">
                <a:latin typeface="Times New Roman" panose="02020603050405020304" pitchFamily="18" charset="0"/>
              </a:rPr>
              <a:t> </a:t>
            </a:r>
            <a:r>
              <a:rPr lang="fr-FR" altLang="en-US" dirty="0" err="1">
                <a:latin typeface="Times New Roman" panose="02020603050405020304" pitchFamily="18" charset="0"/>
              </a:rPr>
              <a:t>chỉ</a:t>
            </a:r>
            <a:r>
              <a:rPr lang="fr-FR" altLang="en-US" dirty="0">
                <a:latin typeface="Times New Roman" panose="02020603050405020304" pitchFamily="18" charset="0"/>
              </a:rPr>
              <a:t> </a:t>
            </a:r>
            <a:r>
              <a:rPr lang="fr-FR" altLang="en-US" dirty="0" err="1">
                <a:latin typeface="Times New Roman" panose="02020603050405020304" pitchFamily="18" charset="0"/>
              </a:rPr>
              <a:t>căn</a:t>
            </a:r>
            <a:r>
              <a:rPr lang="fr-FR" altLang="en-US" dirty="0">
                <a:latin typeface="Times New Roman" panose="02020603050405020304" pitchFamily="18" charset="0"/>
              </a:rPr>
              <a:t> </a:t>
            </a:r>
            <a:r>
              <a:rPr lang="fr-FR" altLang="en-US" dirty="0" err="1">
                <a:latin typeface="Times New Roman" panose="02020603050405020304" pitchFamily="18" charset="0"/>
              </a:rPr>
              <a:t>cứ</a:t>
            </a:r>
            <a:r>
              <a:rPr lang="fr-FR" altLang="en-US" dirty="0">
                <a:latin typeface="Times New Roman" panose="02020603050405020304" pitchFamily="18" charset="0"/>
              </a:rPr>
              <a:t> </a:t>
            </a:r>
            <a:r>
              <a:rPr lang="fr-FR" altLang="en-US" dirty="0" err="1">
                <a:latin typeface="Times New Roman" panose="02020603050405020304" pitchFamily="18" charset="0"/>
              </a:rPr>
              <a:t>vào</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tượng</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02493"/>
          </a:xfrm>
        </p:spPr>
        <p:txBody>
          <a:bodyPr>
            <a:normAutofit fontScale="90000"/>
          </a:bodyPr>
          <a:lstStyle/>
          <a:p>
            <a:br>
              <a:rPr lang="fr-FR" altLang="en-US" sz="3600" b="1" dirty="0">
                <a:latin typeface="Times New Roman" panose="02020603050405020304" pitchFamily="18" charset="0"/>
              </a:rPr>
            </a:br>
            <a:r>
              <a:rPr lang="fr-FR" altLang="en-US" sz="3600" b="1" dirty="0">
                <a:latin typeface="Times New Roman" panose="02020603050405020304" pitchFamily="18" charset="0"/>
              </a:rPr>
              <a:t>6. </a:t>
            </a:r>
            <a:r>
              <a:rPr lang="fr-FR" altLang="en-US" sz="3600" b="1" dirty="0" err="1">
                <a:latin typeface="Times New Roman" panose="02020603050405020304" pitchFamily="18" charset="0"/>
              </a:rPr>
              <a:t>Khả</a:t>
            </a:r>
            <a:r>
              <a:rPr lang="fr-FR" altLang="en-US" sz="3600" b="1" dirty="0">
                <a:latin typeface="Times New Roman" panose="02020603050405020304" pitchFamily="18" charset="0"/>
              </a:rPr>
              <a:t> </a:t>
            </a:r>
            <a:r>
              <a:rPr lang="fr-FR" altLang="en-US" sz="3600" b="1" dirty="0" err="1">
                <a:latin typeface="Times New Roman" panose="02020603050405020304" pitchFamily="18" charset="0"/>
              </a:rPr>
              <a:t>năng</a:t>
            </a:r>
            <a:r>
              <a:rPr lang="fr-FR" altLang="en-US" sz="3600" b="1" dirty="0">
                <a:latin typeface="Times New Roman" panose="02020603050405020304" pitchFamily="18" charset="0"/>
              </a:rPr>
              <a:t> </a:t>
            </a:r>
            <a:r>
              <a:rPr lang="fr-FR" altLang="en-US" sz="3600" b="1" dirty="0" err="1">
                <a:latin typeface="Times New Roman" panose="02020603050405020304" pitchFamily="18" charset="0"/>
              </a:rPr>
              <a:t>và</a:t>
            </a:r>
            <a:r>
              <a:rPr lang="fr-FR" altLang="en-US" sz="3600" b="1" dirty="0">
                <a:latin typeface="Times New Roman" panose="02020603050405020304" pitchFamily="18" charset="0"/>
              </a:rPr>
              <a:t> </a:t>
            </a:r>
            <a:r>
              <a:rPr lang="fr-FR" altLang="en-US" sz="3600" b="1" dirty="0" err="1">
                <a:latin typeface="Times New Roman" panose="02020603050405020304" pitchFamily="18" charset="0"/>
              </a:rPr>
              <a:t>hiện</a:t>
            </a:r>
            <a:r>
              <a:rPr lang="fr-FR" altLang="en-US" sz="3600" b="1" dirty="0">
                <a:latin typeface="Times New Roman" panose="02020603050405020304" pitchFamily="18" charset="0"/>
              </a:rPr>
              <a:t> </a:t>
            </a:r>
            <a:r>
              <a:rPr lang="fr-FR" altLang="en-US" sz="3600" b="1" dirty="0" err="1">
                <a:latin typeface="Times New Roman" panose="02020603050405020304" pitchFamily="18" charset="0"/>
              </a:rPr>
              <a:t>thực</a:t>
            </a:r>
            <a:br>
              <a:rPr lang="fr-FR" altLang="en-US" sz="3600" b="1" dirty="0">
                <a:latin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05243"/>
            <a:ext cx="10515600" cy="4671720"/>
          </a:xfrm>
        </p:spPr>
        <p:txBody>
          <a:bodyPr/>
          <a:lstStyle/>
          <a:p>
            <a:pPr algn="just"/>
            <a:r>
              <a:rPr lang="fr-FR" altLang="en-US" i="1" dirty="0" err="1">
                <a:latin typeface="Times New Roman" panose="02020603050405020304" pitchFamily="18" charset="0"/>
              </a:rPr>
              <a:t>Hiện</a:t>
            </a:r>
            <a:r>
              <a:rPr lang="fr-FR" altLang="en-US" i="1" dirty="0">
                <a:latin typeface="Times New Roman" panose="02020603050405020304" pitchFamily="18" charset="0"/>
              </a:rPr>
              <a:t> </a:t>
            </a:r>
            <a:r>
              <a:rPr lang="fr-FR" altLang="en-US" i="1" dirty="0" err="1">
                <a:latin typeface="Times New Roman" panose="02020603050405020304" pitchFamily="18" charset="0"/>
              </a:rPr>
              <a:t>thực</a:t>
            </a:r>
            <a:r>
              <a:rPr lang="fr-FR" altLang="en-US" dirty="0">
                <a:latin typeface="Times New Roman" panose="02020603050405020304" pitchFamily="18" charset="0"/>
              </a:rPr>
              <a:t> </a:t>
            </a:r>
            <a:r>
              <a:rPr lang="fr-FR" altLang="en-US" dirty="0" err="1">
                <a:latin typeface="Times New Roman" panose="02020603050405020304" pitchFamily="18" charset="0"/>
              </a:rPr>
              <a:t>và</a:t>
            </a:r>
            <a:r>
              <a:rPr lang="fr-FR" altLang="en-US" dirty="0">
                <a:latin typeface="Times New Roman" panose="02020603050405020304" pitchFamily="18" charset="0"/>
              </a:rPr>
              <a:t> </a:t>
            </a:r>
            <a:r>
              <a:rPr lang="fr-FR" altLang="en-US" i="1" dirty="0" err="1">
                <a:latin typeface="Times New Roman" panose="02020603050405020304" pitchFamily="18" charset="0"/>
              </a:rPr>
              <a:t>khả</a:t>
            </a:r>
            <a:r>
              <a:rPr lang="fr-FR" altLang="en-US" i="1" dirty="0">
                <a:latin typeface="Times New Roman" panose="02020603050405020304" pitchFamily="18" charset="0"/>
              </a:rPr>
              <a:t> </a:t>
            </a:r>
            <a:r>
              <a:rPr lang="fr-FR" altLang="en-US" i="1" dirty="0" err="1">
                <a:latin typeface="Times New Roman" panose="02020603050405020304" pitchFamily="18" charset="0"/>
              </a:rPr>
              <a:t>năng</a:t>
            </a:r>
            <a:r>
              <a:rPr lang="fr-FR" altLang="en-US" dirty="0">
                <a:latin typeface="Times New Roman" panose="02020603050405020304" pitchFamily="18" charset="0"/>
              </a:rPr>
              <a:t> </a:t>
            </a:r>
            <a:r>
              <a:rPr lang="fr-FR" altLang="en-US" dirty="0" err="1">
                <a:latin typeface="Times New Roman" panose="02020603050405020304" pitchFamily="18" charset="0"/>
              </a:rPr>
              <a:t>được</a:t>
            </a:r>
            <a:r>
              <a:rPr lang="fr-FR" altLang="en-US" dirty="0">
                <a:latin typeface="Times New Roman" panose="02020603050405020304" pitchFamily="18" charset="0"/>
              </a:rPr>
              <a:t> </a:t>
            </a:r>
            <a:r>
              <a:rPr lang="fr-FR" altLang="en-US" dirty="0" err="1">
                <a:latin typeface="Times New Roman" panose="02020603050405020304" pitchFamily="18" charset="0"/>
              </a:rPr>
              <a:t>dùng</a:t>
            </a:r>
            <a:r>
              <a:rPr lang="fr-FR" altLang="en-US" dirty="0">
                <a:latin typeface="Times New Roman" panose="02020603050405020304" pitchFamily="18" charset="0"/>
              </a:rPr>
              <a:t> </a:t>
            </a:r>
            <a:r>
              <a:rPr lang="fr-FR" altLang="en-US" dirty="0" err="1">
                <a:latin typeface="Times New Roman" panose="02020603050405020304" pitchFamily="18" charset="0"/>
              </a:rPr>
              <a:t>để</a:t>
            </a:r>
            <a:r>
              <a:rPr lang="fr-FR" altLang="en-US" dirty="0">
                <a:latin typeface="Times New Roman" panose="02020603050405020304" pitchFamily="18" charset="0"/>
              </a:rPr>
              <a:t> </a:t>
            </a:r>
            <a:r>
              <a:rPr lang="fr-FR" altLang="en-US" dirty="0" err="1">
                <a:latin typeface="Times New Roman" panose="02020603050405020304" pitchFamily="18" charset="0"/>
              </a:rPr>
              <a:t>phản</a:t>
            </a:r>
            <a:r>
              <a:rPr lang="fr-FR" altLang="en-US" dirty="0">
                <a:latin typeface="Times New Roman" panose="02020603050405020304" pitchFamily="18" charset="0"/>
              </a:rPr>
              <a:t> </a:t>
            </a:r>
            <a:r>
              <a:rPr lang="fr-FR" altLang="en-US" dirty="0" err="1">
                <a:latin typeface="Times New Roman" panose="02020603050405020304" pitchFamily="18" charset="0"/>
              </a:rPr>
              <a:t>ánh</a:t>
            </a:r>
            <a:r>
              <a:rPr lang="fr-FR" altLang="en-US" dirty="0">
                <a:latin typeface="Times New Roman" panose="02020603050405020304" pitchFamily="18" charset="0"/>
              </a:rPr>
              <a:t> </a:t>
            </a:r>
            <a:r>
              <a:rPr lang="fr-FR" altLang="en-US" dirty="0" err="1">
                <a:latin typeface="Times New Roman" panose="02020603050405020304" pitchFamily="18" charset="0"/>
              </a:rPr>
              <a:t>mối</a:t>
            </a:r>
            <a:r>
              <a:rPr lang="fr-FR" altLang="en-US" dirty="0">
                <a:latin typeface="Times New Roman" panose="02020603050405020304" pitchFamily="18" charset="0"/>
              </a:rPr>
              <a:t> </a:t>
            </a:r>
            <a:r>
              <a:rPr lang="fr-FR" altLang="en-US" dirty="0" err="1">
                <a:latin typeface="Times New Roman" panose="02020603050405020304" pitchFamily="18" charset="0"/>
              </a:rPr>
              <a:t>quan</a:t>
            </a:r>
            <a:r>
              <a:rPr lang="fr-FR" altLang="en-US" dirty="0">
                <a:latin typeface="Times New Roman" panose="02020603050405020304" pitchFamily="18" charset="0"/>
              </a:rPr>
              <a:t> </a:t>
            </a:r>
            <a:r>
              <a:rPr lang="fr-FR" altLang="en-US" dirty="0" err="1">
                <a:latin typeface="Times New Roman" panose="02020603050405020304" pitchFamily="18" charset="0"/>
              </a:rPr>
              <a:t>hệ</a:t>
            </a:r>
            <a:r>
              <a:rPr lang="fr-FR" altLang="en-US" dirty="0">
                <a:latin typeface="Times New Roman" panose="02020603050405020304" pitchFamily="18" charset="0"/>
              </a:rPr>
              <a:t> </a:t>
            </a:r>
            <a:r>
              <a:rPr lang="fr-FR" altLang="en-US" dirty="0" err="1">
                <a:latin typeface="Times New Roman" panose="02020603050405020304" pitchFamily="18" charset="0"/>
              </a:rPr>
              <a:t>biện</a:t>
            </a:r>
            <a:r>
              <a:rPr lang="fr-FR" altLang="en-US" dirty="0">
                <a:latin typeface="Times New Roman" panose="02020603050405020304" pitchFamily="18" charset="0"/>
              </a:rPr>
              <a:t> </a:t>
            </a:r>
            <a:r>
              <a:rPr lang="fr-FR" altLang="en-US" dirty="0" err="1">
                <a:latin typeface="Times New Roman" panose="02020603050405020304" pitchFamily="18" charset="0"/>
              </a:rPr>
              <a:t>chứng</a:t>
            </a:r>
            <a:r>
              <a:rPr lang="fr-FR" altLang="en-US" dirty="0">
                <a:latin typeface="Times New Roman" panose="02020603050405020304" pitchFamily="18" charset="0"/>
              </a:rPr>
              <a:t> </a:t>
            </a:r>
            <a:r>
              <a:rPr lang="fr-FR" altLang="en-US" dirty="0" err="1">
                <a:latin typeface="Times New Roman" panose="02020603050405020304" pitchFamily="18" charset="0"/>
              </a:rPr>
              <a:t>giữa</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gì</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có</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đang</a:t>
            </a:r>
            <a:r>
              <a:rPr lang="fr-FR" altLang="en-US" dirty="0">
                <a:latin typeface="Times New Roman" panose="02020603050405020304" pitchFamily="18" charset="0"/>
              </a:rPr>
              <a:t> </a:t>
            </a:r>
            <a:r>
              <a:rPr lang="fr-FR" altLang="en-US" dirty="0" err="1">
                <a:latin typeface="Times New Roman" panose="02020603050405020304" pitchFamily="18" charset="0"/>
              </a:rPr>
              <a:t>tồn</a:t>
            </a:r>
            <a:r>
              <a:rPr lang="fr-FR" altLang="en-US" dirty="0">
                <a:latin typeface="Times New Roman" panose="02020603050405020304" pitchFamily="18" charset="0"/>
              </a:rPr>
              <a:t> </a:t>
            </a:r>
            <a:r>
              <a:rPr lang="fr-FR" altLang="en-US" dirty="0" err="1">
                <a:latin typeface="Times New Roman" panose="02020603050405020304" pitchFamily="18" charset="0"/>
              </a:rPr>
              <a:t>tại</a:t>
            </a:r>
            <a:r>
              <a:rPr lang="fr-FR" altLang="en-US" dirty="0">
                <a:latin typeface="Times New Roman" panose="02020603050405020304" pitchFamily="18" charset="0"/>
              </a:rPr>
              <a:t> </a:t>
            </a:r>
            <a:r>
              <a:rPr lang="fr-FR" altLang="en-US" dirty="0" err="1">
                <a:latin typeface="Times New Roman" panose="02020603050405020304" pitchFamily="18" charset="0"/>
              </a:rPr>
              <a:t>thực</a:t>
            </a:r>
            <a:r>
              <a:rPr lang="fr-FR" altLang="en-US" dirty="0">
                <a:latin typeface="Times New Roman" panose="02020603050405020304" pitchFamily="18" charset="0"/>
              </a:rPr>
              <a:t> </a:t>
            </a:r>
            <a:r>
              <a:rPr lang="fr-FR" altLang="en-US" dirty="0" err="1">
                <a:latin typeface="Times New Roman" panose="02020603050405020304" pitchFamily="18" charset="0"/>
              </a:rPr>
              <a:t>sự</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thực</a:t>
            </a:r>
            <a:r>
              <a:rPr lang="fr-FR" altLang="en-US" dirty="0">
                <a:latin typeface="Times New Roman" panose="02020603050405020304" pitchFamily="18" charset="0"/>
              </a:rPr>
              <a:t>) </a:t>
            </a:r>
            <a:r>
              <a:rPr lang="fr-FR" altLang="en-US" dirty="0" err="1">
                <a:latin typeface="Times New Roman" panose="02020603050405020304" pitchFamily="18" charset="0"/>
              </a:rPr>
              <a:t>với</a:t>
            </a:r>
            <a:r>
              <a:rPr lang="fr-FR" altLang="en-US" dirty="0">
                <a:latin typeface="Times New Roman" panose="02020603050405020304" pitchFamily="18" charset="0"/>
              </a:rPr>
              <a:t> </a:t>
            </a:r>
            <a:r>
              <a:rPr lang="fr-FR" altLang="en-US" dirty="0" err="1">
                <a:latin typeface="Times New Roman" panose="02020603050405020304" pitchFamily="18" charset="0"/>
              </a:rPr>
              <a:t>những</a:t>
            </a:r>
            <a:r>
              <a:rPr lang="fr-FR" altLang="en-US" dirty="0">
                <a:latin typeface="Times New Roman" panose="02020603050405020304" pitchFamily="18" charset="0"/>
              </a:rPr>
              <a:t> </a:t>
            </a:r>
            <a:r>
              <a:rPr lang="fr-FR" altLang="en-US" dirty="0" err="1">
                <a:latin typeface="Times New Roman" panose="02020603050405020304" pitchFamily="18" charset="0"/>
              </a:rPr>
              <a:t>gì</a:t>
            </a:r>
            <a:r>
              <a:rPr lang="fr-FR" altLang="en-US" dirty="0">
                <a:latin typeface="Times New Roman" panose="02020603050405020304" pitchFamily="18" charset="0"/>
              </a:rPr>
              <a:t> </a:t>
            </a:r>
            <a:r>
              <a:rPr lang="fr-FR" altLang="en-US" dirty="0" err="1">
                <a:latin typeface="Times New Roman" panose="02020603050405020304" pitchFamily="18" charset="0"/>
              </a:rPr>
              <a:t>hiện</a:t>
            </a:r>
            <a:r>
              <a:rPr lang="fr-FR" altLang="en-US" dirty="0">
                <a:latin typeface="Times New Roman" panose="02020603050405020304" pitchFamily="18" charset="0"/>
              </a:rPr>
              <a:t> </a:t>
            </a:r>
            <a:r>
              <a:rPr lang="fr-FR" altLang="en-US" dirty="0" err="1">
                <a:latin typeface="Times New Roman" panose="02020603050405020304" pitchFamily="18" charset="0"/>
              </a:rPr>
              <a:t>chưa</a:t>
            </a:r>
            <a:r>
              <a:rPr lang="fr-FR" altLang="en-US" dirty="0">
                <a:latin typeface="Times New Roman" panose="02020603050405020304" pitchFamily="18" charset="0"/>
              </a:rPr>
              <a:t> </a:t>
            </a:r>
            <a:r>
              <a:rPr lang="fr-FR" altLang="en-US" dirty="0" err="1">
                <a:latin typeface="Times New Roman" panose="02020603050405020304" pitchFamily="18" charset="0"/>
              </a:rPr>
              <a:t>có</a:t>
            </a:r>
            <a:r>
              <a:rPr lang="fr-FR" altLang="en-US" dirty="0">
                <a:latin typeface="Times New Roman" panose="02020603050405020304" pitchFamily="18" charset="0"/>
              </a:rPr>
              <a:t>, </a:t>
            </a:r>
            <a:r>
              <a:rPr lang="fr-FR" altLang="en-US" dirty="0" err="1">
                <a:latin typeface="Times New Roman" panose="02020603050405020304" pitchFamily="18" charset="0"/>
              </a:rPr>
              <a:t>nhưng</a:t>
            </a:r>
            <a:r>
              <a:rPr lang="fr-FR" altLang="en-US" dirty="0">
                <a:latin typeface="Times New Roman" panose="02020603050405020304" pitchFamily="18" charset="0"/>
              </a:rPr>
              <a:t> </a:t>
            </a:r>
            <a:r>
              <a:rPr lang="fr-FR" altLang="en-US" dirty="0" err="1">
                <a:latin typeface="Times New Roman" panose="02020603050405020304" pitchFamily="18" charset="0"/>
              </a:rPr>
              <a:t>sẽ</a:t>
            </a:r>
            <a:r>
              <a:rPr lang="fr-FR" altLang="en-US" dirty="0">
                <a:latin typeface="Times New Roman" panose="02020603050405020304" pitchFamily="18" charset="0"/>
              </a:rPr>
              <a:t> </a:t>
            </a:r>
            <a:r>
              <a:rPr lang="fr-FR" altLang="en-US" dirty="0" err="1">
                <a:latin typeface="Times New Roman" panose="02020603050405020304" pitchFamily="18" charset="0"/>
              </a:rPr>
              <a:t>có</a:t>
            </a:r>
            <a:r>
              <a:rPr lang="fr-FR" altLang="en-US" dirty="0">
                <a:latin typeface="Times New Roman" panose="02020603050405020304" pitchFamily="18" charset="0"/>
              </a:rPr>
              <a:t>, </a:t>
            </a:r>
            <a:r>
              <a:rPr lang="fr-FR" altLang="en-US" dirty="0" err="1">
                <a:latin typeface="Times New Roman" panose="02020603050405020304" pitchFamily="18" charset="0"/>
              </a:rPr>
              <a:t>sẽ</a:t>
            </a:r>
            <a:r>
              <a:rPr lang="fr-FR" altLang="en-US" dirty="0">
                <a:latin typeface="Times New Roman" panose="02020603050405020304" pitchFamily="18" charset="0"/>
              </a:rPr>
              <a:t> </a:t>
            </a:r>
            <a:r>
              <a:rPr lang="fr-FR" altLang="en-US" dirty="0" err="1">
                <a:latin typeface="Times New Roman" panose="02020603050405020304" pitchFamily="18" charset="0"/>
              </a:rPr>
              <a:t>tới</a:t>
            </a:r>
            <a:r>
              <a:rPr lang="fr-FR" altLang="en-US" dirty="0">
                <a:latin typeface="Times New Roman" panose="02020603050405020304" pitchFamily="18" charset="0"/>
              </a:rPr>
              <a:t> khi </a:t>
            </a:r>
            <a:r>
              <a:rPr lang="fr-FR" altLang="en-US" dirty="0" err="1">
                <a:latin typeface="Times New Roman" panose="02020603050405020304" pitchFamily="18" charset="0"/>
              </a:rPr>
              <a:t>có</a:t>
            </a:r>
            <a:r>
              <a:rPr lang="fr-FR" altLang="en-US" dirty="0">
                <a:latin typeface="Times New Roman" panose="02020603050405020304" pitchFamily="18" charset="0"/>
              </a:rPr>
              <a:t> </a:t>
            </a:r>
            <a:r>
              <a:rPr lang="fr-FR" altLang="en-US" dirty="0" err="1">
                <a:latin typeface="Times New Roman" panose="02020603050405020304" pitchFamily="18" charset="0"/>
              </a:rPr>
              <a:t>các</a:t>
            </a:r>
            <a:r>
              <a:rPr lang="fr-FR" altLang="en-US" dirty="0">
                <a:latin typeface="Times New Roman" panose="02020603050405020304" pitchFamily="18" charset="0"/>
              </a:rPr>
              <a:t> </a:t>
            </a:r>
            <a:r>
              <a:rPr lang="fr-FR" altLang="en-US" dirty="0" err="1">
                <a:latin typeface="Times New Roman" panose="02020603050405020304" pitchFamily="18" charset="0"/>
              </a:rPr>
              <a:t>điều</a:t>
            </a:r>
            <a:r>
              <a:rPr lang="fr-FR" altLang="en-US" dirty="0">
                <a:latin typeface="Times New Roman" panose="02020603050405020304" pitchFamily="18" charset="0"/>
              </a:rPr>
              <a:t> </a:t>
            </a:r>
            <a:r>
              <a:rPr lang="fr-FR" altLang="en-US" dirty="0" err="1">
                <a:latin typeface="Times New Roman" panose="02020603050405020304" pitchFamily="18" charset="0"/>
              </a:rPr>
              <a:t>kiện</a:t>
            </a:r>
            <a:r>
              <a:rPr lang="fr-FR" altLang="en-US" dirty="0">
                <a:latin typeface="Times New Roman" panose="02020603050405020304" pitchFamily="18" charset="0"/>
              </a:rPr>
              <a:t> </a:t>
            </a:r>
            <a:r>
              <a:rPr lang="fr-FR" altLang="en-US" dirty="0" err="1">
                <a:latin typeface="Times New Roman" panose="02020603050405020304" pitchFamily="18" charset="0"/>
              </a:rPr>
              <a:t>tương</a:t>
            </a:r>
            <a:r>
              <a:rPr lang="fr-FR" altLang="en-US" dirty="0">
                <a:latin typeface="Times New Roman" panose="02020603050405020304" pitchFamily="18" charset="0"/>
              </a:rPr>
              <a:t> </a:t>
            </a:r>
            <a:r>
              <a:rPr lang="fr-FR" altLang="en-US" dirty="0" err="1">
                <a:latin typeface="Times New Roman" panose="02020603050405020304" pitchFamily="18" charset="0"/>
              </a:rPr>
              <a:t>ứng</a:t>
            </a:r>
            <a:r>
              <a:rPr lang="fr-FR" altLang="en-US" dirty="0">
                <a:latin typeface="Times New Roman" panose="02020603050405020304" pitchFamily="18" charset="0"/>
              </a:rPr>
              <a:t> (</a:t>
            </a:r>
            <a:r>
              <a:rPr lang="fr-FR" altLang="en-US" dirty="0" err="1">
                <a:latin typeface="Times New Roman" panose="02020603050405020304" pitchFamily="18" charset="0"/>
              </a:rPr>
              <a:t>khả</a:t>
            </a:r>
            <a:r>
              <a:rPr lang="fr-FR" altLang="en-US" dirty="0">
                <a:latin typeface="Times New Roman" panose="02020603050405020304" pitchFamily="18" charset="0"/>
              </a:rPr>
              <a:t> </a:t>
            </a:r>
            <a:r>
              <a:rPr lang="fr-FR" altLang="en-US" dirty="0" err="1">
                <a:latin typeface="Times New Roman" panose="02020603050405020304" pitchFamily="18" charset="0"/>
              </a:rPr>
              <a:t>năng</a:t>
            </a:r>
            <a:r>
              <a:rPr lang="fr-FR"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99441"/>
          </a:xfrm>
        </p:spPr>
        <p:txBody>
          <a:bodyPr>
            <a:normAutofit fontScale="90000"/>
          </a:bodyPr>
          <a:lstStyle/>
          <a:p>
            <a:pPr algn="just"/>
            <a:br>
              <a:rPr lang="en-US" altLang="en-US" sz="3600" b="1" i="1" dirty="0">
                <a:latin typeface="Times New Roman" panose="02020603050405020304" pitchFamily="18" charset="0"/>
              </a:rPr>
            </a:br>
            <a:r>
              <a:rPr lang="en-US" altLang="en-US" sz="3600" b="1" i="1" dirty="0" err="1">
                <a:latin typeface="Times New Roman" panose="02020603050405020304" pitchFamily="18" charset="0"/>
              </a:rPr>
              <a:t>Mối</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quan</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hệ</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biện</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chứng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giữa</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khả</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năng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và</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hiện</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thực</a:t>
            </a:r>
            <a:br>
              <a:rPr lang="en-US" altLang="en-US" sz="3600" b="1" i="1" dirty="0">
                <a:latin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91175"/>
            <a:ext cx="10515600" cy="4685788"/>
          </a:xfrm>
        </p:spPr>
        <p:txBody>
          <a:bodyPr/>
          <a:lstStyle/>
          <a:p>
            <a:pPr algn="just">
              <a:buFontTx/>
              <a:buChar char="-"/>
            </a:pPr>
            <a:r>
              <a:rPr lang="en-US" altLang="en-US" dirty="0" err="1">
                <a:latin typeface="Times New Roman" panose="02020603050405020304" pitchFamily="18" charset="0"/>
              </a:rPr>
              <a:t>Khả</a:t>
            </a:r>
            <a:r>
              <a:rPr lang="en-US" altLang="en-US" dirty="0">
                <a:latin typeface="Times New Roman" panose="02020603050405020304" pitchFamily="18" charset="0"/>
              </a:rPr>
              <a:t> </a:t>
            </a:r>
            <a:r>
              <a:rPr lang="en-US" altLang="en-US" dirty="0" err="1">
                <a:latin typeface="Times New Roman" panose="02020603050405020304" pitchFamily="18" charset="0"/>
              </a:rPr>
              <a:t>năng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mối</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hệ</a:t>
            </a:r>
            <a:r>
              <a:rPr lang="en-US" altLang="en-US" dirty="0">
                <a:latin typeface="Times New Roman" panose="02020603050405020304" pitchFamily="18" charset="0"/>
              </a:rPr>
              <a:t> </a:t>
            </a:r>
            <a:r>
              <a:rPr lang="en-US" altLang="en-US" dirty="0" err="1">
                <a:latin typeface="Times New Roman" panose="02020603050405020304" pitchFamily="18" charset="0"/>
              </a:rPr>
              <a:t>thống</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tách</a:t>
            </a:r>
            <a:r>
              <a:rPr lang="en-US" altLang="en-US" dirty="0">
                <a:latin typeface="Times New Roman" panose="02020603050405020304" pitchFamily="18" charset="0"/>
              </a:rPr>
              <a:t> </a:t>
            </a:r>
            <a:r>
              <a:rPr lang="en-US" altLang="en-US" dirty="0" err="1">
                <a:latin typeface="Times New Roman" panose="02020603050405020304" pitchFamily="18" charset="0"/>
              </a:rPr>
              <a:t>rời</a:t>
            </a:r>
            <a:r>
              <a:rPr lang="en-US" altLang="en-US" dirty="0">
                <a:latin typeface="Times New Roman" panose="02020603050405020304" pitchFamily="18" charset="0"/>
              </a:rPr>
              <a:t>, </a:t>
            </a:r>
            <a:r>
              <a:rPr lang="en-US" altLang="en-US" dirty="0" err="1">
                <a:latin typeface="Times New Roman" panose="02020603050405020304" pitchFamily="18" charset="0"/>
              </a:rPr>
              <a:t>luôn</a:t>
            </a:r>
            <a:r>
              <a:rPr lang="en-US" altLang="en-US" dirty="0">
                <a:latin typeface="Times New Roman" panose="02020603050405020304" pitchFamily="18" charset="0"/>
              </a:rPr>
              <a:t> </a:t>
            </a:r>
            <a:r>
              <a:rPr lang="en-US" altLang="en-US" dirty="0" err="1">
                <a:latin typeface="Times New Roman" panose="02020603050405020304" pitchFamily="18" charset="0"/>
              </a:rPr>
              <a:t>luôn</a:t>
            </a:r>
            <a:r>
              <a:rPr lang="en-US" altLang="en-US" dirty="0">
                <a:latin typeface="Times New Roman" panose="02020603050405020304" pitchFamily="18" charset="0"/>
              </a:rPr>
              <a:t> </a:t>
            </a:r>
            <a:r>
              <a:rPr lang="en-US" altLang="en-US" dirty="0" err="1">
                <a:latin typeface="Times New Roman" panose="02020603050405020304" pitchFamily="18" charset="0"/>
              </a:rPr>
              <a:t>chuyển</a:t>
            </a:r>
            <a:r>
              <a:rPr lang="en-US" altLang="en-US" dirty="0">
                <a:latin typeface="Times New Roman" panose="02020603050405020304" pitchFamily="18" charset="0"/>
              </a:rPr>
              <a:t> </a:t>
            </a:r>
            <a:r>
              <a:rPr lang="en-US" altLang="en-US" dirty="0" err="1">
                <a:latin typeface="Times New Roman" panose="02020603050405020304" pitchFamily="18" charset="0"/>
              </a:rPr>
              <a:t>hoá</a:t>
            </a:r>
            <a:r>
              <a:rPr lang="en-US" altLang="en-US" dirty="0">
                <a:latin typeface="Times New Roman" panose="02020603050405020304" pitchFamily="18" charset="0"/>
              </a:rPr>
              <a:t> </a:t>
            </a:r>
            <a:r>
              <a:rPr lang="en-US" altLang="en-US" dirty="0" err="1">
                <a:latin typeface="Times New Roman" panose="02020603050405020304" pitchFamily="18" charset="0"/>
              </a:rPr>
              <a:t>lẫn</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điều</a:t>
            </a:r>
            <a:r>
              <a:rPr lang="en-US" altLang="en-US" dirty="0">
                <a:latin typeface="Times New Roman" panose="02020603050405020304" pitchFamily="18" charset="0"/>
              </a:rPr>
              <a:t>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ở </a:t>
            </a:r>
            <a:r>
              <a:rPr lang="en-US" altLang="en-US" dirty="0" err="1">
                <a:latin typeface="Times New Roman" panose="02020603050405020304" pitchFamily="18" charset="0"/>
              </a:rPr>
              <a:t>cùng</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thể</a:t>
            </a:r>
            <a:r>
              <a:rPr lang="en-US" altLang="en-US" dirty="0">
                <a:latin typeface="Times New Roman" panose="02020603050405020304" pitchFamily="18" charset="0"/>
              </a:rPr>
              <a:t> </a:t>
            </a:r>
            <a:r>
              <a:rPr lang="en-US" altLang="en-US" dirty="0" err="1">
                <a:latin typeface="Times New Roman" panose="02020603050405020304" pitchFamily="18" charset="0"/>
              </a:rPr>
              <a:t>tồn</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hoặc</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khả</a:t>
            </a:r>
            <a:r>
              <a:rPr lang="en-US" altLang="en-US" dirty="0">
                <a:latin typeface="Times New Roman" panose="02020603050405020304" pitchFamily="18" charset="0"/>
              </a:rPr>
              <a:t> </a:t>
            </a:r>
            <a:r>
              <a:rPr lang="en-US" altLang="en-US" dirty="0" err="1">
                <a:latin typeface="Times New Roman" panose="02020603050405020304" pitchFamily="18" charset="0"/>
              </a:rPr>
              <a:t>năng</a:t>
            </a:r>
            <a:r>
              <a:rPr lang="en-US" altLang="en-US" dirty="0">
                <a:latin typeface="Times New Roman" panose="02020603050405020304" pitchFamily="18" charset="0"/>
              </a:rPr>
              <a:t> </a:t>
            </a:r>
            <a:r>
              <a:rPr lang="en-US" altLang="en-US" dirty="0" err="1">
                <a:latin typeface="Times New Roman" panose="02020603050405020304" pitchFamily="18" charset="0"/>
              </a:rPr>
              <a:t>chứ</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khả</a:t>
            </a:r>
            <a:r>
              <a:rPr lang="en-US" altLang="en-US" dirty="0">
                <a:latin typeface="Times New Roman" panose="02020603050405020304" pitchFamily="18" charset="0"/>
              </a:rPr>
              <a:t> </a:t>
            </a:r>
            <a:r>
              <a:rPr lang="en-US" altLang="en-US" dirty="0" err="1">
                <a:latin typeface="Times New Roman" panose="02020603050405020304" pitchFamily="18" charset="0"/>
              </a:rPr>
              <a:t>năng</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58764"/>
          </a:xfrm>
        </p:spPr>
        <p:txBody>
          <a:bodyPr>
            <a:normAutofit/>
          </a:bodyPr>
          <a:lstStyle/>
          <a:p>
            <a:pPr algn="just"/>
            <a:r>
              <a:rPr lang="en-US" altLang="en-US" sz="4000" b="1" i="1" dirty="0">
                <a:latin typeface="Times New Roman" panose="02020603050405020304" pitchFamily="18" charset="0"/>
              </a:rPr>
              <a:t>Ý </a:t>
            </a:r>
            <a:r>
              <a:rPr lang="en-US" altLang="en-US" sz="4000" b="1" i="1" dirty="0" err="1">
                <a:latin typeface="Times New Roman" panose="02020603050405020304" pitchFamily="18" charset="0"/>
              </a:rPr>
              <a:t>nghĩa</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phương</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pháp</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luận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cần</a:t>
            </a:r>
            <a:r>
              <a:rPr lang="en-US" altLang="en-US" dirty="0">
                <a:latin typeface="Times New Roman" panose="02020603050405020304" pitchFamily="18" charset="0"/>
              </a:rPr>
              <a:t> </a:t>
            </a:r>
            <a:r>
              <a:rPr lang="en-US" altLang="en-US" dirty="0" err="1">
                <a:latin typeface="Times New Roman" panose="02020603050405020304" pitchFamily="18" charset="0"/>
              </a:rPr>
              <a:t>dựa</a:t>
            </a:r>
            <a:r>
              <a:rPr lang="en-US" altLang="en-US" dirty="0">
                <a:latin typeface="Times New Roman" panose="02020603050405020304" pitchFamily="18" charset="0"/>
              </a:rPr>
              <a:t> </a:t>
            </a:r>
            <a:r>
              <a:rPr lang="en-US" altLang="en-US" dirty="0" err="1">
                <a:latin typeface="Times New Roman" panose="02020603050405020304" pitchFamily="18" charset="0"/>
              </a:rPr>
              <a:t>vào</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xác</a:t>
            </a:r>
            <a:r>
              <a:rPr lang="en-US" altLang="en-US" dirty="0">
                <a:latin typeface="Times New Roman" panose="02020603050405020304" pitchFamily="18" charset="0"/>
              </a:rPr>
              <a:t> </a:t>
            </a:r>
            <a:r>
              <a:rPr lang="en-US" altLang="en-US" dirty="0" err="1">
                <a:latin typeface="Times New Roman" panose="02020603050405020304" pitchFamily="18" charset="0"/>
              </a:rPr>
              <a:t>lập</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chủ</a:t>
            </a:r>
            <a:r>
              <a:rPr lang="en-US" altLang="en-US" dirty="0">
                <a:latin typeface="Times New Roman" panose="02020603050405020304" pitchFamily="18" charset="0"/>
              </a:rPr>
              <a:t> </a:t>
            </a:r>
            <a:r>
              <a:rPr lang="en-US" altLang="en-US" dirty="0" err="1">
                <a:latin typeface="Times New Roman" panose="02020603050405020304" pitchFamily="18" charset="0"/>
              </a:rPr>
              <a:t>trương</a:t>
            </a:r>
            <a:r>
              <a:rPr lang="en-US" altLang="en-US" dirty="0">
                <a:latin typeface="Times New Roman" panose="02020603050405020304" pitchFamily="18" charset="0"/>
              </a:rPr>
              <a:t>, </a:t>
            </a:r>
            <a:r>
              <a:rPr lang="en-US" altLang="en-US" dirty="0" err="1">
                <a:latin typeface="Times New Roman" panose="02020603050405020304" pitchFamily="18" charset="0"/>
              </a:rPr>
              <a:t>phương</a:t>
            </a:r>
            <a:r>
              <a:rPr lang="en-US" altLang="en-US" dirty="0">
                <a:latin typeface="Times New Roman" panose="02020603050405020304" pitchFamily="18" charset="0"/>
              </a:rPr>
              <a:t> </a:t>
            </a:r>
            <a:r>
              <a:rPr lang="en-US" altLang="en-US" dirty="0" err="1">
                <a:latin typeface="Times New Roman" panose="02020603050405020304" pitchFamily="18" charset="0"/>
              </a:rPr>
              <a:t>hướng</a:t>
            </a:r>
            <a:r>
              <a:rPr lang="en-US" altLang="en-US" dirty="0">
                <a:latin typeface="Times New Roman" panose="02020603050405020304" pitchFamily="18" charset="0"/>
              </a:rPr>
              <a:t> </a:t>
            </a:r>
            <a:r>
              <a:rPr lang="en-US" altLang="en-US" dirty="0" err="1">
                <a:latin typeface="Times New Roman" panose="02020603050405020304" pitchFamily="18" charset="0"/>
              </a:rPr>
              <a:t>hành</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cho</a:t>
            </a:r>
            <a:r>
              <a:rPr lang="en-US" altLang="en-US" dirty="0">
                <a:latin typeface="Times New Roman" panose="02020603050405020304" pitchFamily="18" charset="0"/>
              </a:rPr>
              <a:t> </a:t>
            </a:r>
            <a:r>
              <a:rPr lang="en-US" altLang="en-US" dirty="0" err="1">
                <a:latin typeface="Times New Roman" panose="02020603050405020304" pitchFamily="18" charset="0"/>
              </a:rPr>
              <a:t>mình</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Cần</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toàn</a:t>
            </a:r>
            <a:r>
              <a:rPr lang="en-US" altLang="en-US" dirty="0">
                <a:latin typeface="Times New Roman" panose="02020603050405020304" pitchFamily="18" charset="0"/>
              </a:rPr>
              <a:t> </a:t>
            </a:r>
            <a:r>
              <a:rPr lang="en-US" altLang="en-US" dirty="0" err="1">
                <a:latin typeface="Times New Roman" panose="02020603050405020304" pitchFamily="18" charset="0"/>
              </a:rPr>
              <a:t>diện</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khả</a:t>
            </a:r>
            <a:r>
              <a:rPr lang="en-US" altLang="en-US" dirty="0">
                <a:latin typeface="Times New Roman" panose="02020603050405020304" pitchFamily="18" charset="0"/>
              </a:rPr>
              <a:t> </a:t>
            </a:r>
            <a:r>
              <a:rPr lang="en-US" altLang="en-US" dirty="0" err="1">
                <a:latin typeface="Times New Roman" panose="02020603050405020304" pitchFamily="18" charset="0"/>
              </a:rPr>
              <a:t>năng</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phương</a:t>
            </a:r>
            <a:r>
              <a:rPr lang="en-US" altLang="en-US" dirty="0">
                <a:latin typeface="Times New Roman" panose="02020603050405020304" pitchFamily="18" charset="0"/>
              </a:rPr>
              <a:t> </a:t>
            </a:r>
            <a:r>
              <a:rPr lang="en-US" altLang="en-US" dirty="0" err="1">
                <a:latin typeface="Times New Roman" panose="02020603050405020304" pitchFamily="18" charset="0"/>
              </a:rPr>
              <a:t>pháp</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phù</a:t>
            </a:r>
            <a:r>
              <a:rPr lang="en-US" altLang="en-US" dirty="0">
                <a:latin typeface="Times New Roman" panose="02020603050405020304" pitchFamily="18" charset="0"/>
              </a:rPr>
              <a:t> </a:t>
            </a:r>
            <a:r>
              <a:rPr lang="en-US" altLang="en-US" dirty="0" err="1">
                <a:latin typeface="Times New Roman" panose="02020603050405020304" pitchFamily="18" charset="0"/>
              </a:rPr>
              <a:t>hợp</a:t>
            </a:r>
            <a:r>
              <a:rPr lang="en-US" altLang="en-US" dirty="0">
                <a:latin typeface="Times New Roman" panose="02020603050405020304" pitchFamily="18" charset="0"/>
              </a:rPr>
              <a:t>, </a:t>
            </a:r>
            <a:r>
              <a:rPr lang="en-US" altLang="en-US" dirty="0" err="1">
                <a:latin typeface="Times New Roman" panose="02020603050405020304" pitchFamily="18" charset="0"/>
              </a:rPr>
              <a:t>hiệu</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huy</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tố</a:t>
            </a:r>
            <a:r>
              <a:rPr lang="en-US" altLang="en-US" dirty="0">
                <a:latin typeface="Times New Roman" panose="02020603050405020304" pitchFamily="18" charset="0"/>
              </a:rPr>
              <a:t> </a:t>
            </a:r>
            <a:r>
              <a:rPr lang="en-US" altLang="en-US" dirty="0" err="1">
                <a:latin typeface="Times New Roman" panose="02020603050405020304" pitchFamily="18" charset="0"/>
              </a:rPr>
              <a:t>chủ</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hoàn</a:t>
            </a:r>
            <a:r>
              <a:rPr lang="en-US" altLang="en-US" dirty="0">
                <a:latin typeface="Times New Roman" panose="02020603050405020304" pitchFamily="18" charset="0"/>
              </a:rPr>
              <a:t> </a:t>
            </a:r>
            <a:r>
              <a:rPr lang="en-US" altLang="en-US" dirty="0" err="1">
                <a:latin typeface="Times New Roman" panose="02020603050405020304" pitchFamily="18" charset="0"/>
              </a:rPr>
              <a:t>cảnh</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endParaRPr lang="en-US"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4000" b="1" dirty="0">
                <a:latin typeface="Times New Roman" panose="02020603050405020304" pitchFamily="18" charset="0"/>
                <a:cs typeface="Times New Roman" panose="02020603050405020304" pitchFamily="18" charset="0"/>
              </a:rPr>
              <a:t>c. </a:t>
            </a:r>
            <a:r>
              <a:rPr lang="en-US" sz="4000" b="1" dirty="0" err="1">
                <a:latin typeface="Times New Roman" panose="02020603050405020304" pitchFamily="18" charset="0"/>
                <a:cs typeface="Times New Roman" panose="02020603050405020304" pitchFamily="18" charset="0"/>
              </a:rPr>
              <a:t>Các</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quy</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luật</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cơ</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bản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của</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phép</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biện</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chứng</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duy</a:t>
            </a:r>
            <a:r>
              <a:rPr lang="en-US" sz="4000" b="1" dirty="0">
                <a:latin typeface="Times New Roman" panose="02020603050405020304" pitchFamily="18" charset="0"/>
                <a:cs typeface="Times New Roman" panose="02020603050405020304" pitchFamily="18" charset="0"/>
              </a:rPr>
              <a:t> </a:t>
            </a:r>
            <a:r>
              <a:rPr lang="en-US" sz="4000" b="1" dirty="0" err="1">
                <a:latin typeface="Times New Roman" panose="02020603050405020304" pitchFamily="18" charset="0"/>
                <a:cs typeface="Times New Roman" panose="02020603050405020304" pitchFamily="18" charset="0"/>
              </a:rPr>
              <a:t>vật</a:t>
            </a:r>
            <a:endParaRPr lang="en-US" sz="40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a:p>
            <a:pPr marL="0" indent="0" algn="just">
              <a:buNone/>
            </a:pPr>
            <a:r>
              <a:rPr lang="en-US" dirty="0">
                <a:latin typeface="Times New Roman" panose="02020603050405020304" pitchFamily="18" charset="0"/>
                <a:cs typeface="Times New Roman" panose="02020603050405020304" pitchFamily="18" charset="0"/>
              </a:rPr>
              <a:t>Quy </a:t>
            </a:r>
            <a:r>
              <a:rPr lang="en-US" dirty="0" err="1">
                <a:latin typeface="Times New Roman" panose="02020603050405020304" pitchFamily="18" charset="0"/>
                <a:cs typeface="Times New Roman" panose="02020603050405020304" pitchFamily="18" charset="0"/>
              </a:rPr>
              <a:t>luật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hệ</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phổ</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quan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vững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yếu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giữa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đối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tượng</a:t>
            </a:r>
            <a:r>
              <a:rPr lang="en-US">
                <a:latin typeface="Times New Roman" panose="02020603050405020304" pitchFamily="18" charset="0"/>
                <a:cs typeface="Times New Roman" panose="02020603050405020304" pitchFamily="18" charset="0"/>
              </a:rPr>
              <a:t> nhất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định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điều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phù</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hợp</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82880"/>
            <a:ext cx="10515600" cy="1050175"/>
          </a:xfrm>
        </p:spPr>
        <p:txBody>
          <a:bodyPr>
            <a:normAutofit fontScale="90000"/>
          </a:bodyPr>
          <a:lstStyle/>
          <a:p>
            <a:br>
              <a:rPr lang="en-US" sz="28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c.1 </a:t>
            </a:r>
            <a:r>
              <a:rPr lang="en-US" altLang="en-US" sz="3600" b="1" i="1" dirty="0" err="1">
                <a:latin typeface="Times New Roman" panose="02020603050405020304" pitchFamily="18" charset="0"/>
              </a:rPr>
              <a:t>Quy</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luật</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từ</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những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sự</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thay</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đổi</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về</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lượng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dẫn</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đến</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những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thay</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đổi</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về</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chất</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và</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ngược</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lại</a:t>
            </a:r>
            <a:br>
              <a:rPr lang="en-US" altLang="en-US" sz="3600" b="1" i="1" dirty="0">
                <a:latin typeface="Times New Roman" panose="02020603050405020304" pitchFamily="18" charset="0"/>
              </a:rPr>
            </a:b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0873"/>
            <a:ext cx="10515600" cy="4736090"/>
          </a:xfrm>
        </p:spPr>
        <p:txBody>
          <a:bodyPr>
            <a:normAutofit/>
          </a:bodyPr>
          <a:lstStyle/>
          <a:p>
            <a:pPr algn="just">
              <a:buFont typeface="Wingdings" panose="05000000000000000000" pitchFamily="2" charset="2"/>
              <a:buChar char="Ø"/>
            </a:pPr>
            <a:r>
              <a:rPr lang="en-US" altLang="en-US" b="1" i="1" dirty="0" err="1">
                <a:latin typeface="Times New Roman" panose="02020603050405020304" pitchFamily="18" charset="0"/>
              </a:rPr>
              <a:t>Vai</a:t>
            </a:r>
            <a:r>
              <a:rPr lang="en-US" altLang="en-US" b="1" i="1" dirty="0">
                <a:latin typeface="Times New Roman" panose="02020603050405020304" pitchFamily="18" charset="0"/>
              </a:rPr>
              <a:t> </a:t>
            </a:r>
            <a:r>
              <a:rPr lang="en-US" altLang="en-US" b="1" i="1" dirty="0" err="1">
                <a:latin typeface="Times New Roman" panose="02020603050405020304" pitchFamily="18" charset="0"/>
              </a:rPr>
              <a:t>trò</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của</a:t>
            </a:r>
            <a:r>
              <a:rPr lang="en-US" altLang="en-US" b="1" i="1" dirty="0">
                <a:latin typeface="Times New Roman" panose="02020603050405020304" pitchFamily="18" charset="0"/>
              </a:rPr>
              <a:t> </a:t>
            </a:r>
            <a:r>
              <a:rPr lang="en-US" altLang="en-US" b="1" i="1" dirty="0" err="1">
                <a:latin typeface="Times New Roman" panose="02020603050405020304" pitchFamily="18" charset="0"/>
              </a:rPr>
              <a:t>quy</a:t>
            </a:r>
            <a:r>
              <a:rPr lang="en-US" altLang="en-US" b="1" i="1" dirty="0">
                <a:latin typeface="Times New Roman" panose="02020603050405020304" pitchFamily="18" charset="0"/>
              </a:rPr>
              <a:t> </a:t>
            </a:r>
            <a:r>
              <a:rPr lang="en-US" altLang="en-US" b="1" i="1" dirty="0" err="1">
                <a:latin typeface="Times New Roman" panose="02020603050405020304" pitchFamily="18" charset="0"/>
              </a:rPr>
              <a:t>luật</a:t>
            </a:r>
            <a:r>
              <a:rPr lang="en-US" altLang="en-US" b="1" i="1" dirty="0">
                <a:latin typeface="Times New Roman" panose="02020603050405020304" pitchFamily="18" charset="0"/>
              </a:rPr>
              <a:t>:</a:t>
            </a:r>
            <a:endParaRPr lang="en-US" altLang="en-US" b="1" i="1" dirty="0">
              <a:latin typeface="Times New Roman" panose="02020603050405020304" pitchFamily="18" charset="0"/>
            </a:endParaRPr>
          </a:p>
          <a:p>
            <a:pPr algn="just">
              <a:buFontTx/>
              <a:buChar char="-"/>
            </a:pP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i="1" dirty="0" err="1">
                <a:latin typeface="Times New Roman" panose="02020603050405020304" pitchFamily="18" charset="0"/>
              </a:rPr>
              <a:t>phương</a:t>
            </a:r>
            <a:r>
              <a:rPr lang="en-US" altLang="en-US" i="1" dirty="0">
                <a:latin typeface="Times New Roman" panose="02020603050405020304" pitchFamily="18" charset="0"/>
              </a:rPr>
              <a:t> </a:t>
            </a:r>
            <a:r>
              <a:rPr lang="en-US" altLang="en-US" i="1" dirty="0" err="1">
                <a:latin typeface="Times New Roman" panose="02020603050405020304" pitchFamily="18" charset="0"/>
              </a:rPr>
              <a:t>thức</a:t>
            </a:r>
            <a:r>
              <a:rPr lang="en-US" altLang="en-US" dirty="0">
                <a:latin typeface="Times New Roman" panose="02020603050405020304" pitchFamily="18" charset="0"/>
              </a:rPr>
              <a:t>, </a:t>
            </a:r>
            <a:r>
              <a:rPr lang="en-US" altLang="en-US" i="1" dirty="0" err="1">
                <a:latin typeface="Times New Roman" panose="02020603050405020304" pitchFamily="18" charset="0"/>
              </a:rPr>
              <a:t>cách</a:t>
            </a:r>
            <a:r>
              <a:rPr lang="en-US" altLang="en-US" i="1" dirty="0">
                <a:latin typeface="Times New Roman" panose="02020603050405020304" pitchFamily="18" charset="0"/>
              </a:rPr>
              <a:t> </a:t>
            </a:r>
            <a:r>
              <a:rPr lang="en-US" altLang="en-US" i="1"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b="1" dirty="0">
                <a:latin typeface="Times New Roman" panose="02020603050405020304" pitchFamily="18" charset="0"/>
              </a:rPr>
              <a:t>“</a:t>
            </a:r>
            <a:r>
              <a:rPr lang="en-US" altLang="en-US" b="1" i="1" dirty="0" err="1">
                <a:latin typeface="Times New Roman" panose="02020603050405020304" pitchFamily="18" charset="0"/>
              </a:rPr>
              <a:t>Chất</a:t>
            </a:r>
            <a:r>
              <a:rPr lang="en-US" altLang="en-US" b="1" i="1" dirty="0">
                <a:latin typeface="Times New Roman" panose="02020603050405020304" pitchFamily="18" charset="0"/>
              </a:rPr>
              <a:t>”</a:t>
            </a:r>
            <a:r>
              <a:rPr lang="en-US" altLang="en-US" dirty="0">
                <a:latin typeface="Times New Roman" panose="02020603050405020304" pitchFamily="18" charset="0"/>
              </a:rPr>
              <a:t> </a:t>
            </a:r>
            <a:r>
              <a:rPr lang="en-US" altLang="en-US" i="1" dirty="0" err="1">
                <a:latin typeface="Times New Roman" panose="02020603050405020304" pitchFamily="18" charset="0"/>
              </a:rPr>
              <a:t>là</a:t>
            </a:r>
            <a:r>
              <a:rPr lang="en-US" altLang="en-US" i="1" dirty="0">
                <a:latin typeface="Times New Roman" panose="02020603050405020304" pitchFamily="18" charset="0"/>
              </a:rPr>
              <a:t> </a:t>
            </a:r>
            <a:r>
              <a:rPr lang="en-US" altLang="en-US" i="1" dirty="0" err="1">
                <a:latin typeface="Times New Roman" panose="02020603050405020304" pitchFamily="18" charset="0"/>
              </a:rPr>
              <a:t>phạm</a:t>
            </a:r>
            <a:r>
              <a:rPr lang="en-US" altLang="en-US" i="1" dirty="0">
                <a:latin typeface="Times New Roman" panose="02020603050405020304" pitchFamily="18" charset="0"/>
              </a:rPr>
              <a:t> </a:t>
            </a:r>
            <a:r>
              <a:rPr lang="en-US" altLang="en-US" i="1" dirty="0" err="1">
                <a:latin typeface="Times New Roman" panose="02020603050405020304" pitchFamily="18" charset="0"/>
              </a:rPr>
              <a:t>trù</a:t>
            </a:r>
            <a:r>
              <a:rPr lang="en-US" altLang="en-US" i="1" dirty="0">
                <a:latin typeface="Times New Roman" panose="02020603050405020304" pitchFamily="18" charset="0"/>
              </a:rPr>
              <a:t> </a:t>
            </a:r>
            <a:r>
              <a:rPr lang="en-US" altLang="en-US" i="1" dirty="0" err="1">
                <a:latin typeface="Times New Roman" panose="02020603050405020304" pitchFamily="18" charset="0"/>
              </a:rPr>
              <a:t>triết</a:t>
            </a:r>
            <a:r>
              <a:rPr lang="en-US" altLang="en-US" i="1" dirty="0">
                <a:latin typeface="Times New Roman" panose="02020603050405020304" pitchFamily="18" charset="0"/>
              </a:rPr>
              <a:t> </a:t>
            </a:r>
            <a:r>
              <a:rPr lang="en-US" altLang="en-US" i="1" dirty="0" err="1">
                <a:latin typeface="Times New Roman" panose="02020603050405020304" pitchFamily="18" charset="0"/>
              </a:rPr>
              <a:t>học</a:t>
            </a:r>
            <a:r>
              <a:rPr lang="en-US" altLang="en-US" i="1" dirty="0">
                <a:latin typeface="Times New Roman" panose="02020603050405020304" pitchFamily="18" charset="0"/>
              </a:rPr>
              <a:t> </a:t>
            </a:r>
            <a:r>
              <a:rPr lang="en-US" altLang="en-US" i="1" dirty="0" err="1">
                <a:latin typeface="Times New Roman" panose="02020603050405020304" pitchFamily="18" charset="0"/>
              </a:rPr>
              <a:t>dùng</a:t>
            </a:r>
            <a:r>
              <a:rPr lang="en-US" altLang="en-US" i="1" dirty="0">
                <a:latin typeface="Times New Roman" panose="02020603050405020304" pitchFamily="18" charset="0"/>
              </a:rPr>
              <a:t> </a:t>
            </a:r>
            <a:r>
              <a:rPr lang="en-US" altLang="en-US" i="1" dirty="0" err="1">
                <a:latin typeface="Times New Roman" panose="02020603050405020304" pitchFamily="18" charset="0"/>
              </a:rPr>
              <a:t>để</a:t>
            </a:r>
            <a:r>
              <a:rPr lang="en-US" altLang="en-US" i="1" dirty="0">
                <a:latin typeface="Times New Roman" panose="02020603050405020304" pitchFamily="18" charset="0"/>
              </a:rPr>
              <a:t> </a:t>
            </a:r>
            <a:r>
              <a:rPr lang="en-US" altLang="en-US" i="1" dirty="0" err="1">
                <a:latin typeface="Times New Roman" panose="02020603050405020304" pitchFamily="18" charset="0"/>
              </a:rPr>
              <a:t>chỉ</a:t>
            </a:r>
            <a:r>
              <a:rPr lang="en-US" altLang="en-US" i="1" dirty="0">
                <a:latin typeface="Times New Roman" panose="02020603050405020304" pitchFamily="18" charset="0"/>
              </a:rPr>
              <a:t> </a:t>
            </a:r>
            <a:r>
              <a:rPr lang="en-US" altLang="en-US" i="1" dirty="0" err="1">
                <a:latin typeface="Times New Roman" panose="02020603050405020304" pitchFamily="18" charset="0"/>
              </a:rPr>
              <a:t>tính</a:t>
            </a:r>
            <a:r>
              <a:rPr lang="en-US" altLang="en-US" i="1" dirty="0">
                <a:latin typeface="Times New Roman" panose="02020603050405020304" pitchFamily="18" charset="0"/>
              </a:rPr>
              <a:t> </a:t>
            </a:r>
            <a:r>
              <a:rPr lang="en-US" altLang="en-US" i="1" dirty="0" err="1">
                <a:latin typeface="Times New Roman" panose="02020603050405020304" pitchFamily="18" charset="0"/>
              </a:rPr>
              <a:t>quy</a:t>
            </a:r>
            <a:r>
              <a:rPr lang="en-US" altLang="en-US" i="1" dirty="0">
                <a:latin typeface="Times New Roman" panose="02020603050405020304" pitchFamily="18" charset="0"/>
              </a:rPr>
              <a:t> </a:t>
            </a:r>
            <a:r>
              <a:rPr lang="en-US" altLang="en-US" i="1" dirty="0" err="1">
                <a:latin typeface="Times New Roman" panose="02020603050405020304" pitchFamily="18" charset="0"/>
              </a:rPr>
              <a:t>định</a:t>
            </a:r>
            <a:r>
              <a:rPr lang="en-US" altLang="en-US" i="1" dirty="0">
                <a:latin typeface="Times New Roman" panose="02020603050405020304" pitchFamily="18" charset="0"/>
              </a:rPr>
              <a:t> </a:t>
            </a:r>
            <a:r>
              <a:rPr lang="en-US" altLang="en-US" i="1" dirty="0" err="1">
                <a:latin typeface="Times New Roman" panose="02020603050405020304" pitchFamily="18" charset="0"/>
              </a:rPr>
              <a:t>khách</a:t>
            </a:r>
            <a:r>
              <a:rPr lang="en-US" altLang="en-US" i="1" dirty="0">
                <a:latin typeface="Times New Roman" panose="02020603050405020304" pitchFamily="18" charset="0"/>
              </a:rPr>
              <a:t> </a:t>
            </a:r>
            <a:r>
              <a:rPr lang="en-US" altLang="en-US" i="1" dirty="0" err="1">
                <a:latin typeface="Times New Roman" panose="02020603050405020304" pitchFamily="18" charset="0"/>
              </a:rPr>
              <a:t>quan</a:t>
            </a:r>
            <a:r>
              <a:rPr lang="en-US" altLang="en-US" i="1" dirty="0">
                <a:latin typeface="Times New Roman" panose="02020603050405020304" pitchFamily="18" charset="0"/>
              </a:rPr>
              <a:t> </a:t>
            </a:r>
            <a:r>
              <a:rPr lang="en-US" altLang="en-US" i="1" dirty="0" err="1">
                <a:latin typeface="Times New Roman" panose="02020603050405020304" pitchFamily="18" charset="0"/>
              </a:rPr>
              <a:t>vốn</a:t>
            </a:r>
            <a:r>
              <a:rPr lang="en-US" altLang="en-US" i="1" dirty="0">
                <a:latin typeface="Times New Roman" panose="02020603050405020304" pitchFamily="18" charset="0"/>
              </a:rPr>
              <a:t> </a:t>
            </a:r>
            <a:r>
              <a:rPr lang="en-US" altLang="en-US" i="1" dirty="0" err="1">
                <a:latin typeface="Times New Roman" panose="02020603050405020304" pitchFamily="18" charset="0"/>
              </a:rPr>
              <a:t>có</a:t>
            </a:r>
            <a:r>
              <a:rPr lang="en-US" altLang="en-US" i="1" dirty="0">
                <a:latin typeface="Times New Roman" panose="02020603050405020304" pitchFamily="18" charset="0"/>
              </a:rPr>
              <a:t> </a:t>
            </a:r>
            <a:r>
              <a:rPr lang="en-US" altLang="en-US" i="1" dirty="0" err="1">
                <a:latin typeface="Times New Roman" panose="02020603050405020304" pitchFamily="18" charset="0"/>
              </a:rPr>
              <a:t>của</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vật</a:t>
            </a:r>
            <a:r>
              <a:rPr lang="en-US" altLang="en-US" i="1" dirty="0">
                <a:latin typeface="Times New Roman" panose="02020603050405020304" pitchFamily="18" charset="0"/>
              </a:rPr>
              <a:t>, </a:t>
            </a:r>
            <a:r>
              <a:rPr lang="en-US" altLang="en-US" i="1" dirty="0" err="1">
                <a:latin typeface="Times New Roman" panose="02020603050405020304" pitchFamily="18" charset="0"/>
              </a:rPr>
              <a:t>là</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thống</a:t>
            </a:r>
            <a:r>
              <a:rPr lang="en-US" altLang="en-US" i="1" dirty="0">
                <a:latin typeface="Times New Roman" panose="02020603050405020304" pitchFamily="18" charset="0"/>
              </a:rPr>
              <a:t> </a:t>
            </a:r>
            <a:r>
              <a:rPr lang="en-US" altLang="en-US" i="1" dirty="0" err="1">
                <a:latin typeface="Times New Roman" panose="02020603050405020304" pitchFamily="18" charset="0"/>
              </a:rPr>
              <a:t>nhất</a:t>
            </a:r>
            <a:r>
              <a:rPr lang="en-US" altLang="en-US" i="1" dirty="0">
                <a:latin typeface="Times New Roman" panose="02020603050405020304" pitchFamily="18" charset="0"/>
              </a:rPr>
              <a:t> </a:t>
            </a:r>
            <a:r>
              <a:rPr lang="en-US" altLang="en-US" i="1" dirty="0" err="1">
                <a:latin typeface="Times New Roman" panose="02020603050405020304" pitchFamily="18" charset="0"/>
              </a:rPr>
              <a:t>hữu</a:t>
            </a:r>
            <a:r>
              <a:rPr lang="en-US" altLang="en-US" i="1" dirty="0">
                <a:latin typeface="Times New Roman" panose="02020603050405020304" pitchFamily="18" charset="0"/>
              </a:rPr>
              <a:t> </a:t>
            </a:r>
            <a:r>
              <a:rPr lang="en-US" altLang="en-US" i="1" dirty="0" err="1">
                <a:latin typeface="Times New Roman" panose="02020603050405020304" pitchFamily="18" charset="0"/>
              </a:rPr>
              <a:t>cơ</a:t>
            </a:r>
            <a:r>
              <a:rPr lang="en-US" altLang="en-US" i="1" dirty="0">
                <a:latin typeface="Times New Roman" panose="02020603050405020304" pitchFamily="18" charset="0"/>
              </a:rPr>
              <a:t> </a:t>
            </a:r>
            <a:r>
              <a:rPr lang="en-US" altLang="en-US" i="1" dirty="0" err="1">
                <a:latin typeface="Times New Roman" panose="02020603050405020304" pitchFamily="18" charset="0"/>
              </a:rPr>
              <a:t>của</a:t>
            </a:r>
            <a:r>
              <a:rPr lang="en-US" altLang="en-US" i="1" dirty="0">
                <a:latin typeface="Times New Roman" panose="02020603050405020304" pitchFamily="18" charset="0"/>
              </a:rPr>
              <a:t> </a:t>
            </a:r>
            <a:r>
              <a:rPr lang="en-US" altLang="en-US" i="1" dirty="0" err="1">
                <a:latin typeface="Times New Roman" panose="02020603050405020304" pitchFamily="18" charset="0"/>
              </a:rPr>
              <a:t>những</a:t>
            </a:r>
            <a:r>
              <a:rPr lang="en-US" altLang="en-US" i="1" dirty="0">
                <a:latin typeface="Times New Roman" panose="02020603050405020304" pitchFamily="18" charset="0"/>
              </a:rPr>
              <a:t> </a:t>
            </a:r>
            <a:r>
              <a:rPr lang="en-US" altLang="en-US" i="1" dirty="0" err="1">
                <a:latin typeface="Times New Roman" panose="02020603050405020304" pitchFamily="18" charset="0"/>
              </a:rPr>
              <a:t>thuộc</a:t>
            </a:r>
            <a:r>
              <a:rPr lang="en-US" altLang="en-US" i="1" dirty="0">
                <a:latin typeface="Times New Roman" panose="02020603050405020304" pitchFamily="18" charset="0"/>
              </a:rPr>
              <a:t> </a:t>
            </a:r>
            <a:r>
              <a:rPr lang="en-US" altLang="en-US" i="1" dirty="0" err="1">
                <a:latin typeface="Times New Roman" panose="02020603050405020304" pitchFamily="18" charset="0"/>
              </a:rPr>
              <a:t>tính</a:t>
            </a:r>
            <a:r>
              <a:rPr lang="en-US" altLang="en-US" i="1" dirty="0">
                <a:latin typeface="Times New Roman" panose="02020603050405020304" pitchFamily="18" charset="0"/>
              </a:rPr>
              <a:t> </a:t>
            </a:r>
            <a:r>
              <a:rPr lang="en-US" altLang="en-US" i="1" dirty="0" err="1">
                <a:latin typeface="Times New Roman" panose="02020603050405020304" pitchFamily="18" charset="0"/>
              </a:rPr>
              <a:t>làm</a:t>
            </a:r>
            <a:r>
              <a:rPr lang="en-US" altLang="en-US" i="1" dirty="0">
                <a:latin typeface="Times New Roman" panose="02020603050405020304" pitchFamily="18" charset="0"/>
              </a:rPr>
              <a:t> </a:t>
            </a:r>
            <a:r>
              <a:rPr lang="en-US" altLang="en-US" i="1" dirty="0" err="1">
                <a:latin typeface="Times New Roman" panose="02020603050405020304" pitchFamily="18" charset="0"/>
              </a:rPr>
              <a:t>cho</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vật</a:t>
            </a:r>
            <a:r>
              <a:rPr lang="en-US" altLang="en-US" i="1" dirty="0">
                <a:latin typeface="Times New Roman" panose="02020603050405020304" pitchFamily="18" charset="0"/>
              </a:rPr>
              <a:t> </a:t>
            </a:r>
            <a:r>
              <a:rPr lang="en-US" altLang="en-US" i="1" dirty="0" err="1">
                <a:latin typeface="Times New Roman" panose="02020603050405020304" pitchFamily="18" charset="0"/>
              </a:rPr>
              <a:t>là</a:t>
            </a:r>
            <a:r>
              <a:rPr lang="en-US" altLang="en-US" i="1" dirty="0">
                <a:latin typeface="Times New Roman" panose="02020603050405020304" pitchFamily="18" charset="0"/>
              </a:rPr>
              <a:t> </a:t>
            </a:r>
            <a:r>
              <a:rPr lang="en-US" altLang="en-US" i="1" dirty="0" err="1">
                <a:latin typeface="Times New Roman" panose="02020603050405020304" pitchFamily="18" charset="0"/>
              </a:rPr>
              <a:t>nó</a:t>
            </a:r>
            <a:r>
              <a:rPr lang="en-US" altLang="en-US" i="1" dirty="0">
                <a:latin typeface="Times New Roman" panose="02020603050405020304" pitchFamily="18" charset="0"/>
              </a:rPr>
              <a:t> </a:t>
            </a:r>
            <a:r>
              <a:rPr lang="en-US" altLang="en-US" i="1" dirty="0" err="1">
                <a:latin typeface="Times New Roman" panose="02020603050405020304" pitchFamily="18" charset="0"/>
              </a:rPr>
              <a:t>chứ</a:t>
            </a:r>
            <a:r>
              <a:rPr lang="en-US" altLang="en-US" i="1" dirty="0">
                <a:latin typeface="Times New Roman" panose="02020603050405020304" pitchFamily="18" charset="0"/>
              </a:rPr>
              <a:t> </a:t>
            </a:r>
            <a:r>
              <a:rPr lang="en-US" altLang="en-US" i="1" dirty="0" err="1">
                <a:latin typeface="Times New Roman" panose="02020603050405020304" pitchFamily="18" charset="0"/>
              </a:rPr>
              <a:t>không</a:t>
            </a:r>
            <a:r>
              <a:rPr lang="en-US" altLang="en-US" i="1" dirty="0">
                <a:latin typeface="Times New Roman" panose="02020603050405020304" pitchFamily="18" charset="0"/>
              </a:rPr>
              <a:t> </a:t>
            </a:r>
            <a:r>
              <a:rPr lang="en-US" altLang="en-US" i="1" dirty="0" err="1">
                <a:latin typeface="Times New Roman" panose="02020603050405020304" pitchFamily="18" charset="0"/>
              </a:rPr>
              <a:t>phải</a:t>
            </a:r>
            <a:r>
              <a:rPr lang="en-US" altLang="en-US" i="1" dirty="0">
                <a:latin typeface="Times New Roman" panose="02020603050405020304" pitchFamily="18" charset="0"/>
              </a:rPr>
              <a:t> </a:t>
            </a:r>
            <a:r>
              <a:rPr lang="en-US" altLang="en-US" i="1" dirty="0" err="1">
                <a:latin typeface="Times New Roman" panose="02020603050405020304" pitchFamily="18" charset="0"/>
              </a:rPr>
              <a:t>là</a:t>
            </a:r>
            <a:r>
              <a:rPr lang="en-US" altLang="en-US" i="1" dirty="0">
                <a:latin typeface="Times New Roman" panose="02020603050405020304" pitchFamily="18" charset="0"/>
              </a:rPr>
              <a:t> </a:t>
            </a:r>
            <a:r>
              <a:rPr lang="en-US" altLang="en-US" i="1" dirty="0" err="1">
                <a:latin typeface="Times New Roman" panose="02020603050405020304" pitchFamily="18" charset="0"/>
              </a:rPr>
              <a:t>cái</a:t>
            </a:r>
            <a:r>
              <a:rPr lang="en-US" altLang="en-US" i="1" dirty="0">
                <a:latin typeface="Times New Roman" panose="02020603050405020304" pitchFamily="18" charset="0"/>
              </a:rPr>
              <a:t> </a:t>
            </a:r>
            <a:r>
              <a:rPr lang="en-US" altLang="en-US" i="1" dirty="0" err="1">
                <a:latin typeface="Times New Roman" panose="02020603050405020304" pitchFamily="18" charset="0"/>
              </a:rPr>
              <a:t>khác</a:t>
            </a:r>
            <a:r>
              <a:rPr lang="en-US" altLang="en-US" i="1" dirty="0">
                <a:latin typeface="Times New Roman" panose="02020603050405020304" pitchFamily="18" charset="0"/>
              </a:rPr>
              <a:t>.</a:t>
            </a:r>
            <a:endParaRPr lang="en-US" altLang="en-US" i="1" dirty="0">
              <a:latin typeface="Times New Roman" panose="02020603050405020304" pitchFamily="18" charset="0"/>
            </a:endParaRPr>
          </a:p>
          <a:p>
            <a:pPr algn="just">
              <a:buNone/>
            </a:pPr>
            <a:r>
              <a:rPr lang="en-US" altLang="en-US" b="1" u="sng" dirty="0" err="1">
                <a:latin typeface="Times New Roman" panose="02020603050405020304" pitchFamily="18" charset="0"/>
              </a:rPr>
              <a:t>Ví</a:t>
            </a:r>
            <a:r>
              <a:rPr lang="en-US" altLang="en-US" b="1" u="sng" dirty="0">
                <a:latin typeface="Times New Roman" panose="02020603050405020304" pitchFamily="18" charset="0"/>
              </a:rPr>
              <a:t> </a:t>
            </a:r>
            <a:r>
              <a:rPr lang="en-US" altLang="en-US" b="1" u="sng" dirty="0" err="1">
                <a:latin typeface="Times New Roman" panose="02020603050405020304" pitchFamily="18" charset="0"/>
              </a:rPr>
              <a:t>dụ</a:t>
            </a:r>
            <a:r>
              <a:rPr lang="en-US" altLang="en-US" b="1" u="sng" dirty="0">
                <a:latin typeface="Times New Roman" panose="02020603050405020304" pitchFamily="18" charset="0"/>
              </a:rPr>
              <a:t>: </a:t>
            </a:r>
            <a:endParaRPr lang="en-US" altLang="en-US" b="1" u="sng" dirty="0">
              <a:latin typeface="Times New Roman" panose="02020603050405020304" pitchFamily="18" charset="0"/>
            </a:endParaRPr>
          </a:p>
          <a:p>
            <a:pPr algn="just"/>
            <a:r>
              <a:rPr lang="en-US" altLang="en-US" dirty="0" err="1">
                <a:latin typeface="Times New Roman" panose="02020603050405020304" pitchFamily="18" charset="0"/>
              </a:rPr>
              <a:t>Mỗi</a:t>
            </a:r>
            <a:r>
              <a:rPr lang="en-US" altLang="en-US" dirty="0">
                <a:latin typeface="Times New Roman" panose="02020603050405020304" pitchFamily="18" charset="0"/>
              </a:rPr>
              <a:t> </a:t>
            </a:r>
            <a:r>
              <a:rPr lang="en-US" altLang="en-US" dirty="0" err="1">
                <a:latin typeface="Times New Roman" panose="02020603050405020304" pitchFamily="18" charset="0"/>
              </a:rPr>
              <a:t>nguyên</a:t>
            </a:r>
            <a:r>
              <a:rPr lang="en-US" altLang="en-US" dirty="0">
                <a:latin typeface="Times New Roman" panose="02020603050405020304" pitchFamily="18" charset="0"/>
              </a:rPr>
              <a:t> </a:t>
            </a:r>
            <a:r>
              <a:rPr lang="en-US" altLang="en-US" dirty="0" err="1">
                <a:latin typeface="Times New Roman" panose="02020603050405020304" pitchFamily="18" charset="0"/>
              </a:rPr>
              <a:t>tố</a:t>
            </a:r>
            <a:r>
              <a:rPr lang="en-US" altLang="en-US" dirty="0">
                <a:latin typeface="Times New Roman" panose="02020603050405020304" pitchFamily="18" charset="0"/>
              </a:rPr>
              <a:t> </a:t>
            </a:r>
            <a:r>
              <a:rPr lang="en-US" altLang="en-US" dirty="0" err="1">
                <a:latin typeface="Times New Roman" panose="02020603050405020304" pitchFamily="18" charset="0"/>
              </a:rPr>
              <a:t>hóa</a:t>
            </a:r>
            <a:r>
              <a:rPr lang="en-US" altLang="en-US" dirty="0">
                <a:latin typeface="Times New Roman" panose="02020603050405020304" pitchFamily="18" charset="0"/>
              </a:rPr>
              <a:t> </a:t>
            </a:r>
            <a:r>
              <a:rPr lang="en-US" altLang="en-US" dirty="0" err="1">
                <a:latin typeface="Times New Roman" panose="02020603050405020304" pitchFamily="18" charset="0"/>
              </a:rPr>
              <a:t>học</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riêng</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Đồng</a:t>
            </a:r>
            <a:r>
              <a:rPr lang="en-US" altLang="en-US" dirty="0">
                <a:latin typeface="Times New Roman" panose="02020603050405020304" pitchFamily="18" charset="0"/>
              </a:rPr>
              <a:t> </a:t>
            </a:r>
            <a:r>
              <a:rPr lang="en-US" altLang="en-US" dirty="0" err="1">
                <a:latin typeface="Times New Roman" panose="02020603050405020304" pitchFamily="18" charset="0"/>
              </a:rPr>
              <a:t>hóa</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dị</a:t>
            </a:r>
            <a:r>
              <a:rPr lang="en-US" altLang="en-US" dirty="0">
                <a:latin typeface="Times New Roman" panose="02020603050405020304" pitchFamily="18" charset="0"/>
              </a:rPr>
              <a:t> </a:t>
            </a:r>
            <a:r>
              <a:rPr lang="en-US" altLang="en-US" dirty="0" err="1">
                <a:latin typeface="Times New Roman" panose="02020603050405020304" pitchFamily="18" charset="0"/>
              </a:rPr>
              <a:t>hóa</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hai</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 </a:t>
            </a:r>
            <a:r>
              <a:rPr lang="en-US" altLang="en-US" dirty="0" err="1">
                <a:latin typeface="Times New Roman" panose="02020603050405020304" pitchFamily="18" charset="0"/>
              </a:rPr>
              <a:t>khác</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sinh</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nhiều</a:t>
            </a:r>
            <a:r>
              <a:rPr lang="en-US" altLang="en-US" dirty="0">
                <a:latin typeface="Times New Roman" panose="02020603050405020304" pitchFamily="18" charset="0"/>
              </a:rPr>
              <a:t> </a:t>
            </a:r>
            <a:r>
              <a:rPr lang="en-US" altLang="en-US" dirty="0" err="1">
                <a:latin typeface="Times New Roman" panose="02020603050405020304" pitchFamily="18" charset="0"/>
              </a:rPr>
              <a:t>loài</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mỗi</a:t>
            </a:r>
            <a:r>
              <a:rPr lang="en-US" altLang="en-US" dirty="0">
                <a:latin typeface="Times New Roman" panose="02020603050405020304" pitchFamily="18" charset="0"/>
              </a:rPr>
              <a:t> </a:t>
            </a:r>
            <a:r>
              <a:rPr lang="en-US" altLang="en-US" dirty="0" err="1">
                <a:latin typeface="Times New Roman" panose="02020603050405020304" pitchFamily="18" charset="0"/>
              </a:rPr>
              <a:t>loài</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a:t>
            </a:r>
            <a:endParaRPr lang="en-US" altLang="en-US" dirty="0">
              <a:latin typeface="Times New Roman" panose="02020603050405020304" pitchFamily="18" charset="0"/>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en-US" sz="2800" dirty="0">
                <a:latin typeface="Times New Roman" panose="02020603050405020304" pitchFamily="18" charset="0"/>
                <a:cs typeface="Times New Roman" panose="02020603050405020304" pitchFamily="18" charset="0"/>
              </a:rPr>
            </a:br>
            <a:r>
              <a:rPr lang="en-US" sz="2800" dirty="0">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rPr>
              <a:t>“</a:t>
            </a:r>
            <a:r>
              <a:rPr lang="en-US" altLang="en-US" sz="2800" b="1" i="1" dirty="0" err="1">
                <a:latin typeface="Times New Roman" panose="02020603050405020304" pitchFamily="18" charset="0"/>
              </a:rPr>
              <a:t>Lượng</a:t>
            </a:r>
            <a:r>
              <a:rPr lang="en-US" altLang="en-US" sz="2800" b="1" dirty="0">
                <a:latin typeface="Times New Roman" panose="02020603050405020304" pitchFamily="18" charset="0"/>
              </a:rPr>
              <a:t>”</a:t>
            </a:r>
            <a:r>
              <a:rPr lang="en-US" altLang="en-US" sz="2800" dirty="0">
                <a:latin typeface="Times New Roman" panose="02020603050405020304" pitchFamily="18" charset="0"/>
              </a:rPr>
              <a:t> </a:t>
            </a:r>
            <a:r>
              <a:rPr lang="en-US" altLang="en-US" sz="2800" i="1" dirty="0" err="1">
                <a:latin typeface="Times New Roman" panose="02020603050405020304" pitchFamily="18" charset="0"/>
              </a:rPr>
              <a:t>là</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phạm</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trù</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triết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học</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dùng</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để</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chỉ</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tính</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quy</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định</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vốn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có</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của</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vật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về</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mặt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số</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lượng</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quy</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mô</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trình</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độ</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nhịp</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điệu</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của</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vận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động</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và</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phát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triển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cũng</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như</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các</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thuộc</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tính</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của</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vật</a:t>
            </a:r>
            <a:r>
              <a:rPr lang="en-US" altLang="en-US" sz="2800" i="1" dirty="0">
                <a:latin typeface="Times New Roman" panose="02020603050405020304" pitchFamily="18" charset="0"/>
              </a:rPr>
              <a:t>.</a:t>
            </a:r>
            <a:br>
              <a:rPr lang="en-US" altLang="en-US" sz="2800" i="1" dirty="0">
                <a:latin typeface="Times New Roman" panose="02020603050405020304" pitchFamily="18" charset="0"/>
              </a:rPr>
            </a:br>
            <a:endParaRPr lang="en-US" sz="2800"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spcBef>
                <a:spcPct val="0"/>
              </a:spcBef>
              <a:buFontTx/>
              <a:buChar char="-"/>
            </a:pPr>
            <a:endParaRPr lang="en-US" altLang="en-US" dirty="0">
              <a:latin typeface="Times New Roman" panose="02020603050405020304" pitchFamily="18" charset="0"/>
              <a:cs typeface="Times New Roman" panose="02020603050405020304" pitchFamily="18" charset="0"/>
            </a:endParaRPr>
          </a:p>
          <a:p>
            <a:pPr algn="just">
              <a:spcBef>
                <a:spcPct val="0"/>
              </a:spcBef>
              <a:buFontTx/>
              <a:buChar char="-"/>
            </a:pPr>
            <a:r>
              <a:rPr lang="en-US" altLang="en-US" dirty="0" err="1">
                <a:latin typeface="Times New Roman" panose="02020603050405020304" pitchFamily="18" charset="0"/>
                <a:cs typeface="Times New Roman" panose="02020603050405020304" pitchFamily="18" charset="0"/>
              </a:rPr>
              <a:t>Trong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tế</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bằng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vị</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cụ</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như</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dài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khối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song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biểu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dưới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trừu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như</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độ</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triển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xã</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hội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cũng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mang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khách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cũng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marL="0" indent="0" algn="just">
              <a:spcBef>
                <a:spcPct val="0"/>
              </a:spcBef>
              <a:buNone/>
            </a:pPr>
            <a:endParaRPr lang="en-US" altLang="en-US" dirty="0">
              <a:latin typeface="Times New Roman" panose="02020603050405020304" pitchFamily="18" charset="0"/>
              <a:cs typeface="Times New Roman" panose="02020603050405020304" pitchFamily="18" charset="0"/>
            </a:endParaRPr>
          </a:p>
          <a:p>
            <a:pPr algn="just">
              <a:spcBef>
                <a:spcPct val="0"/>
              </a:spcBef>
              <a:buFontTx/>
              <a:buChar char="-"/>
            </a:pP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phân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biệt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chỉ</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mang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tính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đối</a:t>
            </a:r>
            <a:endParaRPr lang="en-US" altLang="en-US" dirty="0">
              <a:latin typeface="Times New Roman" panose="02020603050405020304" pitchFamily="18" charset="0"/>
              <a:cs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lgn="just">
              <a:buFont typeface="Wingdings" panose="05000000000000000000" pitchFamily="2" charset="2"/>
              <a:buChar char="v"/>
            </a:pPr>
            <a:r>
              <a:rPr lang="en-US" altLang="en-US" sz="3200" b="1" i="1" dirty="0" err="1">
                <a:latin typeface="Times New Roman" panose="02020603050405020304" pitchFamily="18" charset="0"/>
              </a:rPr>
              <a:t>Mối</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quan</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hệ</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biện</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chứng</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giữa</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sự</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thay</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đổi</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về</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lượng</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và</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sự</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thay</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đổi</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về</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chất</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spcBef>
                <a:spcPts val="1200"/>
              </a:spcBef>
              <a:spcAft>
                <a:spcPts val="1200"/>
              </a:spcAft>
              <a:buFont typeface="Wingdings" panose="05000000000000000000" pitchFamily="2" charset="2"/>
              <a:buChar char="Ø"/>
            </a:pPr>
            <a:r>
              <a:rPr lang="en-US" altLang="en-US" b="1" dirty="0" err="1">
                <a:latin typeface="Times New Roman" panose="02020603050405020304" pitchFamily="18" charset="0"/>
              </a:rPr>
              <a:t>Những</a:t>
            </a:r>
            <a:r>
              <a:rPr lang="en-US" altLang="en-US" b="1" dirty="0">
                <a:latin typeface="Times New Roman" panose="02020603050405020304" pitchFamily="18" charset="0"/>
              </a:rPr>
              <a:t> </a:t>
            </a:r>
            <a:r>
              <a:rPr lang="en-US" altLang="en-US" b="1" dirty="0" err="1">
                <a:latin typeface="Times New Roman" panose="02020603050405020304" pitchFamily="18" charset="0"/>
              </a:rPr>
              <a:t>thay</a:t>
            </a:r>
            <a:r>
              <a:rPr lang="en-US" altLang="en-US" b="1" dirty="0">
                <a:latin typeface="Times New Roman" panose="02020603050405020304" pitchFamily="18" charset="0"/>
              </a:rPr>
              <a:t> </a:t>
            </a:r>
            <a:r>
              <a:rPr lang="en-US" altLang="en-US" b="1" dirty="0" err="1">
                <a:latin typeface="Times New Roman" panose="02020603050405020304" pitchFamily="18" charset="0"/>
              </a:rPr>
              <a:t>đổi</a:t>
            </a:r>
            <a:r>
              <a:rPr lang="en-US" altLang="en-US" b="1" dirty="0">
                <a:latin typeface="Times New Roman" panose="02020603050405020304" pitchFamily="18" charset="0"/>
              </a:rPr>
              <a:t> </a:t>
            </a:r>
            <a:r>
              <a:rPr lang="en-US" altLang="en-US" b="1" dirty="0" err="1">
                <a:latin typeface="Times New Roman" panose="02020603050405020304" pitchFamily="18" charset="0"/>
              </a:rPr>
              <a:t>về</a:t>
            </a:r>
            <a:r>
              <a:rPr lang="en-US" altLang="en-US" b="1" dirty="0">
                <a:latin typeface="Times New Roman" panose="02020603050405020304" pitchFamily="18" charset="0"/>
              </a:rPr>
              <a:t> </a:t>
            </a:r>
            <a:r>
              <a:rPr lang="en-US" altLang="en-US" b="1" dirty="0" err="1">
                <a:latin typeface="Times New Roman" panose="02020603050405020304" pitchFamily="18" charset="0"/>
              </a:rPr>
              <a:t>lượng</a:t>
            </a:r>
            <a:r>
              <a:rPr lang="en-US" altLang="en-US" b="1" dirty="0">
                <a:latin typeface="Times New Roman" panose="02020603050405020304" pitchFamily="18" charset="0"/>
              </a:rPr>
              <a:t> </a:t>
            </a:r>
            <a:r>
              <a:rPr lang="en-US" altLang="en-US" b="1" dirty="0" err="1">
                <a:latin typeface="Times New Roman" panose="02020603050405020304" pitchFamily="18" charset="0"/>
              </a:rPr>
              <a:t>dẫn</a:t>
            </a:r>
            <a:r>
              <a:rPr lang="en-US" altLang="en-US" b="1" dirty="0">
                <a:latin typeface="Times New Roman" panose="02020603050405020304" pitchFamily="18" charset="0"/>
              </a:rPr>
              <a:t> </a:t>
            </a:r>
            <a:r>
              <a:rPr lang="en-US" altLang="en-US" b="1" dirty="0" err="1">
                <a:latin typeface="Times New Roman" panose="02020603050405020304" pitchFamily="18" charset="0"/>
              </a:rPr>
              <a:t>đến</a:t>
            </a:r>
            <a:r>
              <a:rPr lang="en-US" altLang="en-US" b="1" dirty="0">
                <a:latin typeface="Times New Roman" panose="02020603050405020304" pitchFamily="18" charset="0"/>
              </a:rPr>
              <a:t> </a:t>
            </a:r>
            <a:r>
              <a:rPr lang="en-US" altLang="en-US" b="1" dirty="0" err="1">
                <a:latin typeface="Times New Roman" panose="02020603050405020304" pitchFamily="18" charset="0"/>
              </a:rPr>
              <a:t>những</a:t>
            </a:r>
            <a:r>
              <a:rPr lang="en-US" altLang="en-US" b="1" dirty="0">
                <a:latin typeface="Times New Roman" panose="02020603050405020304" pitchFamily="18" charset="0"/>
              </a:rPr>
              <a:t> </a:t>
            </a:r>
            <a:r>
              <a:rPr lang="en-US" altLang="en-US" b="1" dirty="0" err="1">
                <a:latin typeface="Times New Roman" panose="02020603050405020304" pitchFamily="18" charset="0"/>
              </a:rPr>
              <a:t>thay</a:t>
            </a:r>
            <a:r>
              <a:rPr lang="en-US" altLang="en-US" b="1" dirty="0">
                <a:latin typeface="Times New Roman" panose="02020603050405020304" pitchFamily="18" charset="0"/>
              </a:rPr>
              <a:t> </a:t>
            </a:r>
            <a:r>
              <a:rPr lang="en-US" altLang="en-US" b="1" dirty="0" err="1">
                <a:latin typeface="Times New Roman" panose="02020603050405020304" pitchFamily="18" charset="0"/>
              </a:rPr>
              <a:t>đổi</a:t>
            </a:r>
            <a:r>
              <a:rPr lang="en-US" altLang="en-US" b="1" dirty="0">
                <a:latin typeface="Times New Roman" panose="02020603050405020304" pitchFamily="18" charset="0"/>
              </a:rPr>
              <a:t> </a:t>
            </a:r>
            <a:r>
              <a:rPr lang="en-US" altLang="en-US" b="1" dirty="0" err="1">
                <a:latin typeface="Times New Roman" panose="02020603050405020304" pitchFamily="18" charset="0"/>
              </a:rPr>
              <a:t>về</a:t>
            </a:r>
            <a:r>
              <a:rPr lang="en-US" altLang="en-US" b="1" dirty="0">
                <a:latin typeface="Times New Roman" panose="02020603050405020304" pitchFamily="18" charset="0"/>
              </a:rPr>
              <a:t> </a:t>
            </a:r>
            <a:r>
              <a:rPr lang="en-US" altLang="en-US" b="1" dirty="0" err="1">
                <a:latin typeface="Times New Roman" panose="02020603050405020304" pitchFamily="18" charset="0"/>
              </a:rPr>
              <a:t>chất</a:t>
            </a:r>
            <a:r>
              <a:rPr lang="en-US" altLang="en-US" b="1" dirty="0">
                <a:latin typeface="Times New Roman" panose="02020603050405020304" pitchFamily="18" charset="0"/>
              </a:rPr>
              <a:t>   </a:t>
            </a:r>
            <a:endParaRPr lang="en-US" altLang="en-US" b="1" dirty="0">
              <a:latin typeface="Times New Roman" panose="02020603050405020304" pitchFamily="18" charset="0"/>
            </a:endParaRPr>
          </a:p>
          <a:p>
            <a:pPr algn="just">
              <a:spcBef>
                <a:spcPts val="1200"/>
              </a:spcBef>
              <a:spcAft>
                <a:spcPts val="1200"/>
              </a:spcAft>
              <a:buFontTx/>
              <a:buChar char="-"/>
            </a:pP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hai</a:t>
            </a:r>
            <a:r>
              <a:rPr lang="en-US" altLang="en-US" dirty="0">
                <a:latin typeface="Times New Roman" panose="02020603050405020304" pitchFamily="18" charset="0"/>
              </a:rPr>
              <a:t> </a:t>
            </a:r>
            <a:r>
              <a:rPr lang="en-US" altLang="en-US" dirty="0" err="1">
                <a:latin typeface="Times New Roman" panose="02020603050405020304" pitchFamily="18" charset="0"/>
              </a:rPr>
              <a:t>mặt</a:t>
            </a:r>
            <a:r>
              <a:rPr lang="en-US" altLang="en-US" dirty="0">
                <a:latin typeface="Times New Roman" panose="02020603050405020304" pitchFamily="18" charset="0"/>
              </a:rPr>
              <a:t> </a:t>
            </a:r>
            <a:r>
              <a:rPr lang="en-US" altLang="en-US" dirty="0" err="1">
                <a:latin typeface="Times New Roman" panose="02020603050405020304" pitchFamily="18" charset="0"/>
              </a:rPr>
              <a:t>thống</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tách</a:t>
            </a:r>
            <a:r>
              <a:rPr lang="en-US" altLang="en-US" dirty="0">
                <a:latin typeface="Times New Roman" panose="02020603050405020304" pitchFamily="18" charset="0"/>
              </a:rPr>
              <a:t> </a:t>
            </a:r>
            <a:r>
              <a:rPr lang="en-US" altLang="en-US" dirty="0" err="1">
                <a:latin typeface="Times New Roman" panose="02020603050405020304" pitchFamily="18" charset="0"/>
              </a:rPr>
              <a:t>rời</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mà</a:t>
            </a:r>
            <a:r>
              <a:rPr lang="en-US" altLang="en-US" dirty="0">
                <a:latin typeface="Times New Roman" panose="02020603050405020304" pitchFamily="18" charset="0"/>
              </a:rPr>
              <a:t> </a:t>
            </a:r>
            <a:r>
              <a:rPr lang="en-US" altLang="en-US" dirty="0" err="1">
                <a:latin typeface="Times New Roman" panose="02020603050405020304" pitchFamily="18" charset="0"/>
              </a:rPr>
              <a:t>tác</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nhau</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cách</a:t>
            </a:r>
            <a:r>
              <a:rPr lang="en-US" altLang="en-US" dirty="0">
                <a:latin typeface="Times New Roman" panose="02020603050405020304" pitchFamily="18" charset="0"/>
              </a:rPr>
              <a:t> </a:t>
            </a:r>
            <a:r>
              <a:rPr lang="en-US" altLang="en-US" dirty="0" err="1">
                <a:latin typeface="Times New Roman" panose="02020603050405020304" pitchFamily="18" charset="0"/>
              </a:rPr>
              <a:t>biện</a:t>
            </a:r>
            <a:r>
              <a:rPr lang="en-US" altLang="en-US" dirty="0">
                <a:latin typeface="Times New Roman" panose="02020603050405020304" pitchFamily="18" charset="0"/>
              </a:rPr>
              <a:t> </a:t>
            </a:r>
            <a:r>
              <a:rPr lang="en-US" altLang="en-US" dirty="0" err="1">
                <a:latin typeface="Times New Roman" panose="02020603050405020304" pitchFamily="18" charset="0"/>
              </a:rPr>
              <a:t>chứng</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mỗi</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vât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spcBef>
                <a:spcPts val="1200"/>
              </a:spcBef>
              <a:spcAft>
                <a:spcPts val="1200"/>
              </a:spcAft>
              <a:buFontTx/>
              <a:buChar char="-"/>
            </a:pP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thay</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diễn</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cùng</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&amp;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spcBef>
                <a:spcPts val="1200"/>
              </a:spcBef>
              <a:spcAft>
                <a:spcPts val="1200"/>
              </a:spcAft>
              <a:buFontTx/>
              <a:buChar char="-"/>
            </a:pPr>
            <a:r>
              <a:rPr lang="en-US" altLang="en-US" dirty="0">
                <a:latin typeface="Times New Roman" panose="02020603050405020304" pitchFamily="18" charset="0"/>
              </a:rPr>
              <a:t>Ở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giới</a:t>
            </a:r>
            <a:r>
              <a:rPr lang="en-US" altLang="en-US" dirty="0">
                <a:latin typeface="Times New Roman" panose="02020603050405020304" pitchFamily="18" charset="0"/>
              </a:rPr>
              <a:t> </a:t>
            </a:r>
            <a:r>
              <a:rPr lang="en-US" altLang="en-US" dirty="0" err="1">
                <a:latin typeface="Times New Roman" panose="02020603050405020304" pitchFamily="18" charset="0"/>
              </a:rPr>
              <a:t>hạn</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thay</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chưa</a:t>
            </a:r>
            <a:r>
              <a:rPr lang="en-US" altLang="en-US" dirty="0">
                <a:latin typeface="Times New Roman" panose="02020603050405020304" pitchFamily="18" charset="0"/>
              </a:rPr>
              <a:t> </a:t>
            </a:r>
            <a:r>
              <a:rPr lang="en-US" altLang="en-US" dirty="0" err="1">
                <a:latin typeface="Times New Roman" panose="02020603050405020304" pitchFamily="18" charset="0"/>
              </a:rPr>
              <a:t>dẫn</a:t>
            </a:r>
            <a:r>
              <a:rPr lang="en-US" altLang="en-US" dirty="0">
                <a:latin typeface="Times New Roman" panose="02020603050405020304" pitchFamily="18" charset="0"/>
              </a:rPr>
              <a:t> </a:t>
            </a:r>
            <a:r>
              <a:rPr lang="en-US" altLang="en-US" dirty="0" err="1">
                <a:latin typeface="Times New Roman" panose="02020603050405020304" pitchFamily="18" charset="0"/>
              </a:rPr>
              <a:t>đến</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thay</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Giới</a:t>
            </a:r>
            <a:r>
              <a:rPr lang="en-US" altLang="en-US" dirty="0">
                <a:latin typeface="Times New Roman" panose="02020603050405020304" pitchFamily="18" charset="0"/>
              </a:rPr>
              <a:t> </a:t>
            </a:r>
            <a:r>
              <a:rPr lang="en-US" altLang="en-US" dirty="0" err="1">
                <a:latin typeface="Times New Roman" panose="02020603050405020304" pitchFamily="18" charset="0"/>
              </a:rPr>
              <a:t>hạn</a:t>
            </a:r>
            <a:r>
              <a:rPr lang="en-US" altLang="en-US" dirty="0">
                <a:latin typeface="Times New Roman" panose="02020603050405020304" pitchFamily="18" charset="0"/>
              </a:rPr>
              <a:t> </a:t>
            </a:r>
            <a:r>
              <a:rPr lang="en-US" altLang="en-US" dirty="0" err="1">
                <a:latin typeface="Times New Roman" panose="02020603050405020304" pitchFamily="18" charset="0"/>
              </a:rPr>
              <a:t>mà</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thay</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chưa</a:t>
            </a:r>
            <a:r>
              <a:rPr lang="en-US" altLang="en-US" dirty="0">
                <a:latin typeface="Times New Roman" panose="02020603050405020304" pitchFamily="18" charset="0"/>
              </a:rPr>
              <a:t> </a:t>
            </a:r>
            <a:r>
              <a:rPr lang="en-US" altLang="en-US" dirty="0" err="1">
                <a:latin typeface="Times New Roman" panose="02020603050405020304" pitchFamily="18" charset="0"/>
              </a:rPr>
              <a:t>làm</a:t>
            </a:r>
            <a:r>
              <a:rPr lang="en-US" altLang="en-US" dirty="0">
                <a:latin typeface="Times New Roman" panose="02020603050405020304" pitchFamily="18" charset="0"/>
              </a:rPr>
              <a:t> </a:t>
            </a:r>
            <a:r>
              <a:rPr lang="en-US" altLang="en-US" dirty="0" err="1">
                <a:latin typeface="Times New Roman" panose="02020603050405020304" pitchFamily="18" charset="0"/>
              </a:rPr>
              <a:t>thay</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gọi</a:t>
            </a:r>
            <a:r>
              <a:rPr lang="en-US" altLang="en-US" dirty="0">
                <a:latin typeface="Times New Roman" panose="02020603050405020304" pitchFamily="18" charset="0"/>
              </a:rPr>
              <a:t> </a:t>
            </a:r>
            <a:r>
              <a:rPr lang="en-US" altLang="en-US" b="1" i="1" dirty="0" err="1">
                <a:latin typeface="Times New Roman" panose="02020603050405020304" pitchFamily="18" charset="0"/>
              </a:rPr>
              <a:t>là</a:t>
            </a:r>
            <a:r>
              <a:rPr lang="en-US" altLang="en-US" b="1" i="1" dirty="0">
                <a:latin typeface="Times New Roman" panose="02020603050405020304" pitchFamily="18" charset="0"/>
              </a:rPr>
              <a:t> “</a:t>
            </a:r>
            <a:r>
              <a:rPr lang="en-US" altLang="en-US" b="1" i="1" dirty="0" err="1">
                <a:latin typeface="Times New Roman" panose="02020603050405020304" pitchFamily="18" charset="0"/>
              </a:rPr>
              <a:t>độ</a:t>
            </a:r>
            <a:r>
              <a:rPr lang="en-US" altLang="en-US" b="1" i="1" dirty="0">
                <a:latin typeface="Times New Roman" panose="02020603050405020304" pitchFamily="18" charset="0"/>
              </a:rPr>
              <a:t>”.</a:t>
            </a:r>
            <a:endParaRPr lang="en-US" altLang="en-US" b="1" i="1" dirty="0">
              <a:latin typeface="Times New Roman" panose="02020603050405020304" pitchFamily="18" charset="0"/>
            </a:endParaRPr>
          </a:p>
          <a:p>
            <a:pPr marL="0" indent="0" algn="just">
              <a:spcBef>
                <a:spcPts val="1200"/>
              </a:spcBef>
              <a:spcAft>
                <a:spcPts val="1200"/>
              </a:spcAft>
              <a:buNone/>
            </a:pPr>
            <a:endParaRPr lang="en-US" altLang="en-US" dirty="0">
              <a:latin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12420" y="365125"/>
            <a:ext cx="11567160" cy="5259820"/>
          </a:xfrm>
        </p:spPr>
        <p:txBody>
          <a:bodyPr>
            <a:normAutofit/>
          </a:bodyPr>
          <a:lstStyle/>
          <a:p>
            <a:pPr algn="just"/>
            <a:r>
              <a:rPr lang="en-US" altLang="en-US" sz="3600" b="1" i="1" u="sng" dirty="0" err="1">
                <a:latin typeface="Times New Roman" panose="02020603050405020304" pitchFamily="18" charset="0"/>
                <a:cs typeface="Times New Roman" panose="02020603050405020304" pitchFamily="18" charset="0"/>
              </a:rPr>
              <a:t>Ví</a:t>
            </a:r>
            <a:r>
              <a:rPr lang="en-US" altLang="en-US" sz="3600" b="1" i="1" u="sng" dirty="0">
                <a:latin typeface="Times New Roman" panose="02020603050405020304" pitchFamily="18" charset="0"/>
                <a:cs typeface="Times New Roman" panose="02020603050405020304" pitchFamily="18" charset="0"/>
              </a:rPr>
              <a:t> </a:t>
            </a:r>
            <a:r>
              <a:rPr lang="en-US" altLang="en-US" sz="3600" b="1" i="1" u="sng" dirty="0" err="1">
                <a:latin typeface="Times New Roman" panose="02020603050405020304" pitchFamily="18" charset="0"/>
                <a:cs typeface="Times New Roman" panose="02020603050405020304" pitchFamily="18" charset="0"/>
              </a:rPr>
              <a:t>dụ</a:t>
            </a:r>
            <a:r>
              <a:rPr lang="en-US" altLang="en-US" sz="3600" i="1" dirty="0">
                <a:latin typeface="Times New Roman" panose="02020603050405020304" pitchFamily="18" charset="0"/>
                <a:cs typeface="Times New Roman" panose="02020603050405020304" pitchFamily="18" charset="0"/>
              </a:rPr>
              <a: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dưới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áp</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suất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bình</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thường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của</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không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khí</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sự</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tăng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hoặc</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giảm</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nhiệt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độ</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trong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khoảng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giới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hạn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từ</a:t>
            </a:r>
            <a:r>
              <a:rPr lang="en-US" altLang="en-US" sz="3600" dirty="0">
                <a:latin typeface="Times New Roman" panose="02020603050405020304" pitchFamily="18" charset="0"/>
                <a:cs typeface="Times New Roman" panose="02020603050405020304" pitchFamily="18" charset="0"/>
              </a:rPr>
              <a:t> 0℃ </a:t>
            </a:r>
            <a:r>
              <a:rPr lang="en-US" altLang="en-US" sz="3600" dirty="0" err="1">
                <a:latin typeface="Times New Roman" panose="02020603050405020304" pitchFamily="18" charset="0"/>
                <a:cs typeface="Times New Roman" panose="02020603050405020304" pitchFamily="18" charset="0"/>
              </a:rPr>
              <a:t>đến</a:t>
            </a:r>
            <a:r>
              <a:rPr lang="en-US" altLang="en-US" sz="3600" dirty="0">
                <a:latin typeface="Times New Roman" panose="02020603050405020304" pitchFamily="18" charset="0"/>
                <a:cs typeface="Times New Roman" panose="02020603050405020304" pitchFamily="18" charset="0"/>
              </a:rPr>
              <a:t> 100℃, </a:t>
            </a:r>
            <a:r>
              <a:rPr lang="en-US" altLang="en-US" sz="3600" dirty="0" err="1">
                <a:latin typeface="Times New Roman" panose="02020603050405020304" pitchFamily="18" charset="0"/>
                <a:cs typeface="Times New Roman" panose="02020603050405020304" pitchFamily="18" charset="0"/>
              </a:rPr>
              <a:t>nước</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nguyên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chất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vẫn</a:t>
            </a:r>
            <a:r>
              <a:rPr lang="en-US" altLang="en-US" sz="3600" dirty="0">
                <a:latin typeface="Times New Roman" panose="02020603050405020304" pitchFamily="18" charset="0"/>
                <a:cs typeface="Times New Roman" panose="02020603050405020304" pitchFamily="18" charset="0"/>
              </a:rPr>
              <a:t> ở </a:t>
            </a:r>
            <a:r>
              <a:rPr lang="en-US" altLang="en-US" sz="3600" dirty="0" err="1">
                <a:latin typeface="Times New Roman" panose="02020603050405020304" pitchFamily="18" charset="0"/>
                <a:cs typeface="Times New Roman" panose="02020603050405020304" pitchFamily="18" charset="0"/>
              </a:rPr>
              <a:t>trạng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thái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lỏng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Nếu</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nhiệt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độ</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của</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nước</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giảm</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xuống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dưới</a:t>
            </a:r>
            <a:r>
              <a:rPr lang="en-US" altLang="en-US" sz="3600" dirty="0">
                <a:latin typeface="Times New Roman" panose="02020603050405020304" pitchFamily="18" charset="0"/>
                <a:cs typeface="Times New Roman" panose="02020603050405020304" pitchFamily="18" charset="0"/>
              </a:rPr>
              <a:t> 0℃  </a:t>
            </a:r>
            <a:r>
              <a:rPr lang="en-US" altLang="en-US" sz="3600" dirty="0" err="1">
                <a:latin typeface="Times New Roman" panose="02020603050405020304" pitchFamily="18" charset="0"/>
                <a:cs typeface="Times New Roman" panose="02020603050405020304" pitchFamily="18" charset="0"/>
              </a:rPr>
              <a:t>nước</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chuyển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thành</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thể</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rắn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từ</a:t>
            </a:r>
            <a:r>
              <a:rPr lang="en-US" altLang="en-US" sz="3600" dirty="0">
                <a:latin typeface="Times New Roman" panose="02020603050405020304" pitchFamily="18" charset="0"/>
                <a:cs typeface="Times New Roman" panose="02020603050405020304" pitchFamily="18" charset="0"/>
              </a:rPr>
              <a:t> 100℃ </a:t>
            </a:r>
            <a:r>
              <a:rPr lang="en-US" altLang="en-US" sz="3600" dirty="0" err="1">
                <a:latin typeface="Times New Roman" panose="02020603050405020304" pitchFamily="18" charset="0"/>
                <a:cs typeface="Times New Roman" panose="02020603050405020304" pitchFamily="18" charset="0"/>
              </a:rPr>
              <a:t>trở</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lên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nước</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chuyển</a:t>
            </a:r>
            <a:r>
              <a:rPr lang="en-US" altLang="en-US" sz="3600" dirty="0">
                <a:latin typeface="Times New Roman" panose="02020603050405020304" pitchFamily="18" charset="0"/>
                <a:cs typeface="Times New Roman" panose="02020603050405020304" pitchFamily="18" charset="0"/>
              </a:rPr>
              <a:t> sang </a:t>
            </a:r>
            <a:r>
              <a:rPr lang="en-US" altLang="en-US" sz="3600" dirty="0" err="1">
                <a:latin typeface="Times New Roman" panose="02020603050405020304" pitchFamily="18" charset="0"/>
                <a:cs typeface="Times New Roman" panose="02020603050405020304" pitchFamily="18" charset="0"/>
              </a:rPr>
              <a:t>thể</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hơi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Đó</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là</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sự</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thay</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đổi</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về</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chất</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trong</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hình</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thức</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vận</a:t>
            </a:r>
            <a:r>
              <a:rPr lang="en-US" altLang="en-US" sz="3600" dirty="0">
                <a:latin typeface="Times New Roman" panose="02020603050405020304" pitchFamily="18" charset="0"/>
                <a:cs typeface="Times New Roman" panose="02020603050405020304" pitchFamily="18" charset="0"/>
              </a:rPr>
              <a:t> </a:t>
            </a:r>
            <a:r>
              <a:rPr lang="en-US" altLang="en-US" sz="3600" dirty="0" err="1">
                <a:latin typeface="Times New Roman" panose="02020603050405020304" pitchFamily="18" charset="0"/>
                <a:cs typeface="Times New Roman" panose="02020603050405020304" pitchFamily="18" charset="0"/>
              </a:rPr>
              <a:t>động</a:t>
            </a:r>
            <a:r>
              <a:rPr lang="en-US" altLang="en-US" sz="3600" dirty="0">
                <a:latin typeface="Times New Roman" panose="02020603050405020304" pitchFamily="18" charset="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948584"/>
          </a:xfrm>
        </p:spPr>
        <p:txBody>
          <a:bodyPr>
            <a:noAutofit/>
          </a:bodyPr>
          <a:lstStyle/>
          <a:p>
            <a:pPr>
              <a:spcBef>
                <a:spcPts val="1200"/>
              </a:spcBef>
              <a:spcAft>
                <a:spcPts val="1200"/>
              </a:spcAft>
            </a:pPr>
            <a:r>
              <a:rPr lang="en-US" altLang="en-US" sz="2400" dirty="0">
                <a:latin typeface="Times New Roman" panose="02020603050405020304" pitchFamily="18" charset="0"/>
              </a:rPr>
              <a:t>-  </a:t>
            </a:r>
            <a:r>
              <a:rPr lang="en-US" altLang="en-US" sz="2400" b="1" dirty="0">
                <a:latin typeface="Times New Roman" panose="02020603050405020304" pitchFamily="18" charset="0"/>
              </a:rPr>
              <a:t>“</a:t>
            </a:r>
            <a:r>
              <a:rPr lang="en-US" altLang="en-US" sz="2400" b="1" i="1" dirty="0" err="1">
                <a:latin typeface="Times New Roman" panose="02020603050405020304" pitchFamily="18" charset="0"/>
              </a:rPr>
              <a:t>Độ</a:t>
            </a:r>
            <a:r>
              <a:rPr lang="en-US" altLang="en-US" sz="2400" b="1" i="1" dirty="0">
                <a:latin typeface="Times New Roman" panose="02020603050405020304" pitchFamily="18" charset="0"/>
              </a:rPr>
              <a:t>”</a:t>
            </a:r>
            <a:r>
              <a:rPr lang="en-US" altLang="en-US" sz="2400" b="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phạm</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trù</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triết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học</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dùng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để</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chỉ</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khoảng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giới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hạn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trong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đó</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thay</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đổi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về</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lượng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của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chưa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làm</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thay</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đổi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căn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bản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chất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của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vật</a:t>
            </a:r>
            <a:r>
              <a:rPr lang="en-US" altLang="en-US" sz="2400" i="1" dirty="0">
                <a:latin typeface="Times New Roman" panose="02020603050405020304" pitchFamily="18" charset="0"/>
              </a:rPr>
              <a:t>.</a:t>
            </a:r>
            <a:br>
              <a:rPr lang="en-US" altLang="en-US" sz="2400" i="1" dirty="0">
                <a:latin typeface="Times New Roman" panose="02020603050405020304" pitchFamily="18" charset="0"/>
              </a:rPr>
            </a:br>
            <a:br>
              <a:rPr lang="en-US" altLang="en-US" sz="2400" i="1" dirty="0">
                <a:latin typeface="Times New Roman" panose="02020603050405020304" pitchFamily="18" charset="0"/>
              </a:rPr>
            </a:br>
            <a:r>
              <a:rPr lang="en-US" altLang="en-US" sz="2400" dirty="0">
                <a:latin typeface="Times New Roman" panose="02020603050405020304" pitchFamily="18" charset="0"/>
              </a:rPr>
              <a:t>-  </a:t>
            </a:r>
            <a:r>
              <a:rPr lang="en-US" altLang="en-US" sz="2400" dirty="0" err="1">
                <a:latin typeface="Times New Roman" panose="02020603050405020304" pitchFamily="18" charset="0"/>
              </a:rPr>
              <a:t>Trong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giới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hạn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của</a:t>
            </a:r>
            <a:r>
              <a:rPr lang="en-US" altLang="en-US" sz="2400" dirty="0">
                <a:latin typeface="Times New Roman" panose="02020603050405020304" pitchFamily="18" charset="0"/>
              </a:rPr>
              <a:t> </a:t>
            </a:r>
            <a:r>
              <a:rPr lang="en-US" altLang="en-US" sz="2400" b="1" i="1" dirty="0" err="1">
                <a:latin typeface="Times New Roman" panose="02020603050405020304" pitchFamily="18" charset="0"/>
              </a:rPr>
              <a:t>độ</a:t>
            </a:r>
            <a:r>
              <a:rPr lang="en-US" altLang="en-US" sz="2400" b="1" dirty="0">
                <a:latin typeface="Times New Roman" panose="02020603050405020304" pitchFamily="18" charset="0"/>
              </a:rPr>
              <a: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sự</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vật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hiện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tượng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vẫn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còn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là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nó</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chưa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chuyển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hóa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thành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sự</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vật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hiện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tượng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khác</a:t>
            </a:r>
            <a:r>
              <a:rPr lang="en-US" altLang="en-US" sz="2400" dirty="0">
                <a:latin typeface="Times New Roman" panose="02020603050405020304" pitchFamily="18" charset="0"/>
              </a:rPr>
              <a:t>.</a:t>
            </a:r>
            <a:endParaRPr lang="en-US" altLang="en-US" sz="2400" dirty="0">
              <a:latin typeface="Times New Roman" panose="02020603050405020304" pitchFamily="18" charset="0"/>
            </a:endParaRPr>
          </a:p>
        </p:txBody>
      </p:sp>
      <p:pic>
        <p:nvPicPr>
          <p:cNvPr id="4" name="Picture 16" descr="冰２"/>
          <p:cNvPicPr>
            <a:picLocks noGrp="1" noChangeAspect="1" noChangeArrowheads="1"/>
          </p:cNvPicPr>
          <p:nvPr>
            <p:ph idx="1"/>
          </p:nvPr>
        </p:nvPicPr>
        <p:blipFill>
          <a:blip r:embed="rId1">
            <a:lum contrast="24000"/>
            <a:extLst>
              <a:ext uri="{28A0092B-C50C-407E-A947-70E740481C1C}">
                <a14:useLocalDpi xmlns:a14="http://schemas.microsoft.com/office/drawing/2010/main" val="0"/>
              </a:ext>
            </a:extLst>
          </a:blip>
          <a:srcRect l="3622" t="3247" r="3624" b="1949"/>
          <a:stretch>
            <a:fillRect/>
          </a:stretch>
        </p:blipFill>
        <p:spPr bwMode="auto">
          <a:xfrm>
            <a:off x="1066801" y="2589655"/>
            <a:ext cx="4184072" cy="297944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pic>
        <p:nvPicPr>
          <p:cNvPr id="5" name="T790621A.WMV">
            <a:hlinkClick r:id="" action="ppaction://media"/>
          </p:cNvPr>
          <p:cNvPicPr>
            <a:picLocks noRot="1" noChangeAspect="1" noChangeArrowheads="1"/>
          </p:cNvPicPr>
          <p:nvPr>
            <a:videoFile r:link="rId2"/>
            <p:extLst>
              <p:ext uri="{DAA4B4D4-6D71-4841-9C94-3DE7FCFB9230}">
                <p14:media xmlns:p14="http://schemas.microsoft.com/office/powerpoint/2010/main" r:link="rId3"/>
              </p:ext>
            </p:extLst>
          </p:nvPr>
        </p:nvPicPr>
        <p:blipFill>
          <a:blip r:embed="rId4">
            <a:extLst>
              <a:ext uri="{28A0092B-C50C-407E-A947-70E740481C1C}">
                <a14:useLocalDpi xmlns:a14="http://schemas.microsoft.com/office/drawing/2010/main" val="0"/>
              </a:ext>
            </a:extLst>
          </a:blip>
          <a:srcRect/>
          <a:stretch>
            <a:fillRect/>
          </a:stretch>
        </p:blipFill>
        <p:spPr bwMode="auto">
          <a:xfrm>
            <a:off x="6622473" y="2617789"/>
            <a:ext cx="4488872" cy="29794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Box 15"/>
          <p:cNvSpPr txBox="1">
            <a:spLocks noChangeArrowheads="1"/>
          </p:cNvSpPr>
          <p:nvPr/>
        </p:nvSpPr>
        <p:spPr bwMode="auto">
          <a:xfrm>
            <a:off x="1357746" y="5717102"/>
            <a:ext cx="3699164"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eaLnBrk="1" hangingPunct="1">
              <a:spcBef>
                <a:spcPct val="50000"/>
              </a:spcBef>
              <a:buClrTx/>
              <a:buSzTx/>
              <a:buFontTx/>
              <a:buNone/>
            </a:pPr>
            <a:endParaRPr lang="en-US" altLang="en-US" sz="2000">
              <a:solidFill>
                <a:schemeClr val="tx1"/>
              </a:solidFill>
              <a:latin typeface="Arial" panose="020B0604020202020204" pitchFamily="34" charset="0"/>
            </a:endParaRPr>
          </a:p>
        </p:txBody>
      </p:sp>
      <p:sp>
        <p:nvSpPr>
          <p:cNvPr id="12" name="Rectangle 11"/>
          <p:cNvSpPr/>
          <p:nvPr/>
        </p:nvSpPr>
        <p:spPr>
          <a:xfrm>
            <a:off x="984738" y="6054715"/>
            <a:ext cx="1041010" cy="4042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RẮN</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3" name="Rectangle 12"/>
          <p:cNvSpPr/>
          <p:nvPr/>
        </p:nvSpPr>
        <p:spPr>
          <a:xfrm rot="10800000" flipV="1">
            <a:off x="2588455" y="6054716"/>
            <a:ext cx="942536" cy="40420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LỎNG</a:t>
            </a:r>
            <a:endParaRPr lang="en-US" sz="2000" dirty="0">
              <a:solidFill>
                <a:schemeClr val="tx1"/>
              </a:solidFill>
              <a:latin typeface="Times New Roman" panose="02020603050405020304" pitchFamily="18" charset="0"/>
              <a:cs typeface="Times New Roman" panose="02020603050405020304" pitchFamily="18" charset="0"/>
            </a:endParaRPr>
          </a:p>
        </p:txBody>
      </p:sp>
      <p:sp>
        <p:nvSpPr>
          <p:cNvPr id="14" name="Rectangle 13"/>
          <p:cNvSpPr/>
          <p:nvPr/>
        </p:nvSpPr>
        <p:spPr>
          <a:xfrm rot="10800000" flipV="1">
            <a:off x="4164037" y="6054715"/>
            <a:ext cx="1086836" cy="404209"/>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latin typeface="Times New Roman" panose="02020603050405020304" pitchFamily="18" charset="0"/>
                <a:cs typeface="Times New Roman" panose="02020603050405020304" pitchFamily="18" charset="0"/>
              </a:rPr>
              <a:t>KHÍ</a:t>
            </a:r>
            <a:endParaRPr lang="en-US" sz="2000" dirty="0">
              <a:solidFill>
                <a:schemeClr val="tx1"/>
              </a:solidFill>
              <a:latin typeface="Times New Roman" panose="02020603050405020304" pitchFamily="18" charset="0"/>
              <a:cs typeface="Times New Roman" panose="02020603050405020304" pitchFamily="18" charset="0"/>
            </a:endParaRPr>
          </a:p>
        </p:txBody>
      </p:sp>
      <p:cxnSp>
        <p:nvCxnSpPr>
          <p:cNvPr id="16" name="Straight Connector 15"/>
          <p:cNvCxnSpPr>
            <a:stCxn id="12" idx="3"/>
          </p:cNvCxnSpPr>
          <p:nvPr/>
        </p:nvCxnSpPr>
        <p:spPr>
          <a:xfrm flipV="1">
            <a:off x="2025748" y="6256819"/>
            <a:ext cx="0" cy="1"/>
          </a:xfrm>
          <a:prstGeom prst="line">
            <a:avLst/>
          </a:prstGeom>
        </p:spPr>
        <p:style>
          <a:lnRef idx="1">
            <a:schemeClr val="accent1"/>
          </a:lnRef>
          <a:fillRef idx="0">
            <a:schemeClr val="accent1"/>
          </a:fillRef>
          <a:effectRef idx="0">
            <a:schemeClr val="accent1"/>
          </a:effectRef>
          <a:fontRef idx="minor">
            <a:schemeClr val="tx1"/>
          </a:fontRef>
        </p:style>
      </p:cxnSp>
      <p:cxnSp>
        <p:nvCxnSpPr>
          <p:cNvPr id="7" name="Straight Connector 6"/>
          <p:cNvCxnSpPr>
            <a:stCxn id="12" idx="3"/>
            <a:endCxn id="13" idx="3"/>
          </p:cNvCxnSpPr>
          <p:nvPr/>
        </p:nvCxnSpPr>
        <p:spPr>
          <a:xfrm>
            <a:off x="2025748" y="6256820"/>
            <a:ext cx="562707" cy="0"/>
          </a:xfrm>
          <a:prstGeom prst="line">
            <a:avLst/>
          </a:prstGeom>
        </p:spPr>
        <p:style>
          <a:lnRef idx="1">
            <a:schemeClr val="dk1"/>
          </a:lnRef>
          <a:fillRef idx="0">
            <a:schemeClr val="dk1"/>
          </a:fillRef>
          <a:effectRef idx="0">
            <a:schemeClr val="dk1"/>
          </a:effectRef>
          <a:fontRef idx="minor">
            <a:schemeClr val="tx1"/>
          </a:fontRef>
        </p:style>
      </p:cxnSp>
      <p:cxnSp>
        <p:nvCxnSpPr>
          <p:cNvPr id="9" name="Straight Connector 8"/>
          <p:cNvCxnSpPr>
            <a:stCxn id="13" idx="1"/>
            <a:endCxn id="14" idx="3"/>
          </p:cNvCxnSpPr>
          <p:nvPr/>
        </p:nvCxnSpPr>
        <p:spPr>
          <a:xfrm>
            <a:off x="3530991" y="6256820"/>
            <a:ext cx="633046"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1000" fill="hold"/>
                                        <p:tgtEl>
                                          <p:spTgt spid="4"/>
                                        </p:tgtEl>
                                        <p:attrNameLst>
                                          <p:attrName>ppt_w</p:attrName>
                                        </p:attrNameLst>
                                      </p:cBhvr>
                                      <p:tavLst>
                                        <p:tav tm="0">
                                          <p:val>
                                            <p:strVal val="#ppt_w*0.70"/>
                                          </p:val>
                                        </p:tav>
                                        <p:tav tm="100000">
                                          <p:val>
                                            <p:strVal val="#ppt_w"/>
                                          </p:val>
                                        </p:tav>
                                      </p:tavLst>
                                    </p:anim>
                                    <p:anim calcmode="lin" valueType="num">
                                      <p:cBhvr>
                                        <p:cTn id="8" dur="1000" fill="hold"/>
                                        <p:tgtEl>
                                          <p:spTgt spid="4"/>
                                        </p:tgtEl>
                                        <p:attrNameLst>
                                          <p:attrName>ppt_h</p:attrName>
                                        </p:attrNameLst>
                                      </p:cBhvr>
                                      <p:tavLst>
                                        <p:tav tm="0">
                                          <p:val>
                                            <p:strVal val="#ppt_h"/>
                                          </p:val>
                                        </p:tav>
                                        <p:tav tm="100000">
                                          <p:val>
                                            <p:strVal val="#ppt_h"/>
                                          </p:val>
                                        </p:tav>
                                      </p:tavLst>
                                    </p:anim>
                                    <p:animEffect transition="in" filter="fade">
                                      <p:cBhvr>
                                        <p:cTn id="9" dur="1000"/>
                                        <p:tgtEl>
                                          <p:spTgt spid="4"/>
                                        </p:tgtEl>
                                      </p:cBhvr>
                                    </p:animEffect>
                                  </p:childTnLst>
                                </p:cTn>
                              </p:par>
                            </p:childTnLst>
                          </p:cTn>
                        </p:par>
                        <p:par>
                          <p:cTn id="10" fill="hold">
                            <p:stCondLst>
                              <p:cond delay="1000"/>
                            </p:stCondLst>
                            <p:childTnLst>
                              <p:par>
                                <p:cTn id="11" presetID="55"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p:cTn id="13" dur="1000" fill="hold"/>
                                        <p:tgtEl>
                                          <p:spTgt spid="5"/>
                                        </p:tgtEl>
                                        <p:attrNameLst>
                                          <p:attrName>ppt_w</p:attrName>
                                        </p:attrNameLst>
                                      </p:cBhvr>
                                      <p:tavLst>
                                        <p:tav tm="0">
                                          <p:val>
                                            <p:strVal val="#ppt_w*0.70"/>
                                          </p:val>
                                        </p:tav>
                                        <p:tav tm="100000">
                                          <p:val>
                                            <p:strVal val="#ppt_w"/>
                                          </p:val>
                                        </p:tav>
                                      </p:tavLst>
                                    </p:anim>
                                    <p:anim calcmode="lin" valueType="num">
                                      <p:cBhvr>
                                        <p:cTn id="14" dur="1000" fill="hold"/>
                                        <p:tgtEl>
                                          <p:spTgt spid="5"/>
                                        </p:tgtEl>
                                        <p:attrNameLst>
                                          <p:attrName>ppt_h</p:attrName>
                                        </p:attrNameLst>
                                      </p:cBhvr>
                                      <p:tavLst>
                                        <p:tav tm="0">
                                          <p:val>
                                            <p:strVal val="#ppt_h"/>
                                          </p:val>
                                        </p:tav>
                                        <p:tav tm="100000">
                                          <p:val>
                                            <p:strVal val="#ppt_h"/>
                                          </p:val>
                                        </p:tav>
                                      </p:tavLst>
                                    </p:anim>
                                    <p:animEffect transition="in" filter="fade">
                                      <p:cBhvr>
                                        <p:cTn id="15" dur="1000"/>
                                        <p:tgtEl>
                                          <p:spTgt spid="5"/>
                                        </p:tgtEl>
                                      </p:cBhvr>
                                    </p:animEffect>
                                  </p:childTnLst>
                                </p:cTn>
                              </p:par>
                            </p:childTnLst>
                          </p:cTn>
                        </p:par>
                        <p:par>
                          <p:cTn id="16" fill="hold">
                            <p:stCondLst>
                              <p:cond delay="2000"/>
                            </p:stCondLst>
                            <p:childTnLst>
                              <p:par>
                                <p:cTn id="17" presetID="23" presetClass="entr" presetSubtype="16" fill="hold" grpId="0" nodeType="afterEffect" nodePh="1">
                                  <p:stCondLst>
                                    <p:cond delay="0"/>
                                  </p:stCondLst>
                                  <p:endCondLst>
                                    <p:cond evt="begin" delay="0">
                                      <p:tn val="17"/>
                                    </p:cond>
                                  </p:endCondLst>
                                  <p:childTnLst>
                                    <p:set>
                                      <p:cBhvr>
                                        <p:cTn id="18" dur="1" fill="hold">
                                          <p:stCondLst>
                                            <p:cond delay="0"/>
                                          </p:stCondLst>
                                        </p:cTn>
                                        <p:tgtEl>
                                          <p:spTgt spid="6"/>
                                        </p:tgtEl>
                                        <p:attrNameLst>
                                          <p:attrName>style.visibility</p:attrName>
                                        </p:attrNameLst>
                                      </p:cBhvr>
                                      <p:to>
                                        <p:strVal val="visible"/>
                                      </p:to>
                                    </p:set>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video>
              <p:cMediaNode>
                <p:cTn id="21" fill="hold" display="0">
                  <p:stCondLst>
                    <p:cond delay="indefinite"/>
                  </p:stCondLst>
                  <p:endCondLst>
                    <p:cond evt="onNext" delay="0">
                      <p:tgtEl>
                        <p:sldTgt/>
                      </p:tgtEl>
                    </p:cond>
                    <p:cond evt="onPrev" delay="0">
                      <p:tgtEl>
                        <p:sldTgt/>
                      </p:tgtEl>
                    </p:cond>
                  </p:endCondLst>
                </p:cTn>
                <p:tgtEl>
                  <p:spTgt spid="5"/>
                </p:tgtEl>
              </p:cMediaNode>
            </p:video>
          </p:childTnLst>
        </p:cTn>
      </p:par>
    </p:tnLst>
    <p:bldLst>
      <p:bldP spid="6" grpId="0"/>
    </p:bldLst>
  </p:timing>
</p:sld>
</file>

<file path=ppt/slides/slide9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8"/>
            <a:ext cx="10515600" cy="1515918"/>
          </a:xfrm>
        </p:spPr>
        <p:txBody>
          <a:bodyPr>
            <a:normAutofit fontScale="90000"/>
          </a:bodyPr>
          <a:lstStyle/>
          <a:p>
            <a:br>
              <a:rPr lang="en-US" altLang="en-US" sz="3100" i="1" dirty="0">
                <a:latin typeface="Times New Roman" panose="02020603050405020304" pitchFamily="18" charset="0"/>
              </a:rPr>
            </a:br>
            <a:r>
              <a:rPr lang="en-US" altLang="en-US" sz="3100" b="1" i="1" dirty="0" err="1">
                <a:latin typeface="Times New Roman" panose="02020603050405020304" pitchFamily="18" charset="0"/>
              </a:rPr>
              <a:t>Lượng</a:t>
            </a:r>
            <a:r>
              <a:rPr lang="en-US" altLang="en-US" sz="3100" b="1" i="1" dirty="0">
                <a:latin typeface="Times New Roman" panose="02020603050405020304" pitchFamily="18" charset="0"/>
              </a:rPr>
              <a:t> </a:t>
            </a:r>
            <a:r>
              <a:rPr lang="en-US" altLang="en-US" sz="3100" i="1" dirty="0" err="1">
                <a:latin typeface="Times New Roman" panose="02020603050405020304" pitchFamily="18" charset="0"/>
              </a:rPr>
              <a:t>biến</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đổi</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dần</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dần</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tới</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một</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giới</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hạn</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nhất</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định</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sẽ</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tất</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yếu</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dẫn</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tới</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sự</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thay</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đổi</a:t>
            </a:r>
            <a:r>
              <a:rPr lang="en-US" altLang="en-US" sz="3100" i="1" dirty="0">
                <a:latin typeface="Times New Roman" panose="02020603050405020304" pitchFamily="18" charset="0"/>
              </a:rPr>
              <a:t> </a:t>
            </a:r>
            <a:r>
              <a:rPr lang="en-US" altLang="en-US" sz="3100" i="1" dirty="0" err="1">
                <a:latin typeface="Times New Roman" panose="02020603050405020304" pitchFamily="18" charset="0"/>
              </a:rPr>
              <a:t>về</a:t>
            </a:r>
            <a:r>
              <a:rPr lang="en-US" altLang="en-US" sz="3100" i="1" dirty="0">
                <a:latin typeface="Times New Roman" panose="02020603050405020304" pitchFamily="18" charset="0"/>
              </a:rPr>
              <a:t> </a:t>
            </a:r>
            <a:r>
              <a:rPr lang="en-US" altLang="en-US" sz="3100" b="1" i="1" dirty="0" err="1">
                <a:latin typeface="Times New Roman" panose="02020603050405020304" pitchFamily="18" charset="0"/>
              </a:rPr>
              <a:t>chất</a:t>
            </a:r>
            <a:r>
              <a:rPr lang="en-US" altLang="en-US" sz="3100" b="1" i="1" dirty="0">
                <a:latin typeface="Times New Roman" panose="02020603050405020304" pitchFamily="18" charset="0"/>
              </a:rPr>
              <a:t>.</a:t>
            </a:r>
            <a:br>
              <a:rPr lang="en-US" altLang="en-US" sz="3100" i="1" dirty="0">
                <a:latin typeface="Times New Roman" panose="02020603050405020304" pitchFamily="18" charset="0"/>
              </a:rPr>
            </a:br>
            <a:r>
              <a:rPr lang="en-US" altLang="en-US" sz="3100" dirty="0" err="1">
                <a:latin typeface="Times New Roman" panose="02020603050405020304" pitchFamily="18" charset="0"/>
              </a:rPr>
              <a:t>Giới</a:t>
            </a:r>
            <a:r>
              <a:rPr lang="en-US" altLang="en-US" sz="3100" dirty="0">
                <a:latin typeface="Times New Roman" panose="02020603050405020304" pitchFamily="18" charset="0"/>
              </a:rPr>
              <a:t> </a:t>
            </a:r>
            <a:r>
              <a:rPr lang="en-US" altLang="en-US" sz="3100" dirty="0" err="1">
                <a:latin typeface="Times New Roman" panose="02020603050405020304" pitchFamily="18" charset="0"/>
              </a:rPr>
              <a:t>hạn</a:t>
            </a:r>
            <a:r>
              <a:rPr lang="en-US" altLang="en-US" sz="3100" dirty="0">
                <a:latin typeface="Times New Roman" panose="02020603050405020304" pitchFamily="18" charset="0"/>
              </a:rPr>
              <a:t> </a:t>
            </a:r>
            <a:r>
              <a:rPr lang="en-US" altLang="en-US" sz="3100" dirty="0" err="1">
                <a:latin typeface="Times New Roman" panose="02020603050405020304" pitchFamily="18" charset="0"/>
              </a:rPr>
              <a:t>đó</a:t>
            </a:r>
            <a:r>
              <a:rPr lang="en-US" altLang="en-US" sz="3100" dirty="0">
                <a:latin typeface="Times New Roman" panose="02020603050405020304" pitchFamily="18" charset="0"/>
              </a:rPr>
              <a:t> </a:t>
            </a:r>
            <a:r>
              <a:rPr lang="en-US" altLang="en-US" sz="3100" dirty="0" err="1">
                <a:latin typeface="Times New Roman" panose="02020603050405020304" pitchFamily="18" charset="0"/>
              </a:rPr>
              <a:t>được</a:t>
            </a:r>
            <a:r>
              <a:rPr lang="en-US" altLang="en-US" sz="3100" dirty="0">
                <a:latin typeface="Times New Roman" panose="02020603050405020304" pitchFamily="18" charset="0"/>
              </a:rPr>
              <a:t> </a:t>
            </a:r>
            <a:r>
              <a:rPr lang="en-US" altLang="en-US" sz="3100" dirty="0" err="1">
                <a:latin typeface="Times New Roman" panose="02020603050405020304" pitchFamily="18" charset="0"/>
              </a:rPr>
              <a:t>gọi</a:t>
            </a:r>
            <a:r>
              <a:rPr lang="en-US" altLang="en-US" sz="3100" dirty="0">
                <a:latin typeface="Times New Roman" panose="02020603050405020304" pitchFamily="18" charset="0"/>
              </a:rPr>
              <a:t> </a:t>
            </a:r>
            <a:r>
              <a:rPr lang="en-US" altLang="en-US" sz="3100" b="1" i="1" dirty="0" err="1">
                <a:latin typeface="Times New Roman" panose="02020603050405020304" pitchFamily="18" charset="0"/>
              </a:rPr>
              <a:t>là</a:t>
            </a:r>
            <a:r>
              <a:rPr lang="en-US" altLang="en-US" sz="3100" b="1" i="1" dirty="0">
                <a:latin typeface="Times New Roman" panose="02020603050405020304" pitchFamily="18" charset="0"/>
              </a:rPr>
              <a:t> “</a:t>
            </a:r>
            <a:r>
              <a:rPr lang="en-US" altLang="en-US" sz="3100" b="1" i="1" dirty="0" err="1">
                <a:latin typeface="Times New Roman" panose="02020603050405020304" pitchFamily="18" charset="0"/>
              </a:rPr>
              <a:t>điểm</a:t>
            </a:r>
            <a:r>
              <a:rPr lang="en-US" altLang="en-US" sz="3100" b="1" i="1" dirty="0">
                <a:latin typeface="Times New Roman" panose="02020603050405020304" pitchFamily="18" charset="0"/>
              </a:rPr>
              <a:t> </a:t>
            </a:r>
            <a:r>
              <a:rPr lang="en-US" altLang="en-US" sz="3100" b="1" i="1" dirty="0" err="1">
                <a:latin typeface="Times New Roman" panose="02020603050405020304" pitchFamily="18" charset="0"/>
              </a:rPr>
              <a:t>nút</a:t>
            </a:r>
            <a:r>
              <a:rPr lang="en-US" altLang="en-US" sz="3100" b="1" i="1" dirty="0">
                <a:latin typeface="Times New Roman" panose="02020603050405020304" pitchFamily="18" charset="0"/>
              </a:rPr>
              <a:t>”</a:t>
            </a:r>
            <a:br>
              <a:rPr lang="en-US" altLang="en-US" sz="3100" b="1" i="1" dirty="0">
                <a:latin typeface="Times New Roman" panose="02020603050405020304" pitchFamily="18" charset="0"/>
              </a:rPr>
            </a:br>
            <a:endParaRPr lang="en-US" sz="3100"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lgn="just">
              <a:spcBef>
                <a:spcPct val="0"/>
              </a:spcBef>
              <a:buNone/>
            </a:pPr>
            <a:endParaRPr lang="en-US" altLang="en-US" b="1" u="sng" dirty="0">
              <a:latin typeface="Times New Roman" panose="02020603050405020304" pitchFamily="18" charset="0"/>
            </a:endParaRPr>
          </a:p>
          <a:p>
            <a:pPr algn="just">
              <a:spcBef>
                <a:spcPct val="0"/>
              </a:spcBef>
              <a:buNone/>
            </a:pPr>
            <a:r>
              <a:rPr lang="en-US" altLang="en-US" b="1" i="1" dirty="0" err="1">
                <a:latin typeface="Times New Roman" panose="02020603050405020304" pitchFamily="18" charset="0"/>
              </a:rPr>
              <a:t>Điểm</a:t>
            </a:r>
            <a:r>
              <a:rPr lang="en-US" altLang="en-US" b="1" i="1" dirty="0">
                <a:latin typeface="Times New Roman" panose="02020603050405020304" pitchFamily="18" charset="0"/>
              </a:rPr>
              <a:t> </a:t>
            </a:r>
            <a:r>
              <a:rPr lang="en-US" altLang="en-US" b="1" i="1" dirty="0" err="1">
                <a:latin typeface="Times New Roman" panose="02020603050405020304" pitchFamily="18" charset="0"/>
              </a:rPr>
              <a:t>nút</a:t>
            </a:r>
            <a:r>
              <a:rPr lang="en-US" altLang="en-US" b="1" i="1" dirty="0">
                <a:latin typeface="Times New Roman" panose="02020603050405020304" pitchFamily="18" charset="0"/>
              </a:rPr>
              <a:t> </a:t>
            </a:r>
            <a:r>
              <a:rPr lang="en-US" altLang="en-US" b="1" dirty="0">
                <a:latin typeface="Times New Roman" panose="02020603050405020304" pitchFamily="18" charset="0"/>
              </a:rPr>
              <a:t>:</a:t>
            </a:r>
            <a:r>
              <a:rPr lang="en-US" altLang="en-US" i="1" dirty="0" err="1">
                <a:latin typeface="Times New Roman" panose="02020603050405020304" pitchFamily="18" charset="0"/>
              </a:rPr>
              <a:t>là</a:t>
            </a:r>
            <a:r>
              <a:rPr lang="en-US" altLang="en-US" i="1" dirty="0">
                <a:latin typeface="Times New Roman" panose="02020603050405020304" pitchFamily="18" charset="0"/>
              </a:rPr>
              <a:t> </a:t>
            </a:r>
            <a:r>
              <a:rPr lang="en-US" altLang="en-US" i="1" dirty="0" err="1">
                <a:latin typeface="Times New Roman" panose="02020603050405020304" pitchFamily="18" charset="0"/>
              </a:rPr>
              <a:t>phạm</a:t>
            </a:r>
            <a:r>
              <a:rPr lang="en-US" altLang="en-US" i="1" dirty="0">
                <a:latin typeface="Times New Roman" panose="02020603050405020304" pitchFamily="18" charset="0"/>
              </a:rPr>
              <a:t> </a:t>
            </a:r>
            <a:r>
              <a:rPr lang="en-US" altLang="en-US" i="1" dirty="0" err="1">
                <a:latin typeface="Times New Roman" panose="02020603050405020304" pitchFamily="18" charset="0"/>
              </a:rPr>
              <a:t>trù</a:t>
            </a:r>
            <a:r>
              <a:rPr lang="en-US" altLang="en-US" i="1" dirty="0">
                <a:latin typeface="Times New Roman" panose="02020603050405020304" pitchFamily="18" charset="0"/>
              </a:rPr>
              <a:t> </a:t>
            </a:r>
            <a:r>
              <a:rPr lang="en-US" altLang="en-US" i="1" dirty="0" err="1">
                <a:latin typeface="Times New Roman" panose="02020603050405020304" pitchFamily="18" charset="0"/>
              </a:rPr>
              <a:t>triết</a:t>
            </a:r>
            <a:r>
              <a:rPr lang="en-US" altLang="en-US" i="1" dirty="0">
                <a:latin typeface="Times New Roman" panose="02020603050405020304" pitchFamily="18" charset="0"/>
              </a:rPr>
              <a:t> </a:t>
            </a:r>
            <a:r>
              <a:rPr lang="en-US" altLang="en-US" i="1" dirty="0" err="1">
                <a:latin typeface="Times New Roman" panose="02020603050405020304" pitchFamily="18" charset="0"/>
              </a:rPr>
              <a:t>học</a:t>
            </a:r>
            <a:r>
              <a:rPr lang="en-US" altLang="en-US" i="1" dirty="0">
                <a:latin typeface="Times New Roman" panose="02020603050405020304" pitchFamily="18" charset="0"/>
              </a:rPr>
              <a:t> </a:t>
            </a:r>
            <a:r>
              <a:rPr lang="en-US" altLang="en-US" i="1" dirty="0" err="1">
                <a:latin typeface="Times New Roman" panose="02020603050405020304" pitchFamily="18" charset="0"/>
              </a:rPr>
              <a:t>dùng</a:t>
            </a:r>
            <a:r>
              <a:rPr lang="en-US" altLang="en-US" i="1" dirty="0">
                <a:latin typeface="Times New Roman" panose="02020603050405020304" pitchFamily="18" charset="0"/>
              </a:rPr>
              <a:t> </a:t>
            </a:r>
            <a:r>
              <a:rPr lang="en-US" altLang="en-US" i="1" dirty="0" err="1">
                <a:latin typeface="Times New Roman" panose="02020603050405020304" pitchFamily="18" charset="0"/>
              </a:rPr>
              <a:t>để</a:t>
            </a:r>
            <a:r>
              <a:rPr lang="en-US" altLang="en-US" i="1" dirty="0">
                <a:latin typeface="Times New Roman" panose="02020603050405020304" pitchFamily="18" charset="0"/>
              </a:rPr>
              <a:t> </a:t>
            </a:r>
            <a:r>
              <a:rPr lang="en-US" altLang="en-US" i="1" dirty="0" err="1">
                <a:latin typeface="Times New Roman" panose="02020603050405020304" pitchFamily="18" charset="0"/>
              </a:rPr>
              <a:t>chỉ</a:t>
            </a:r>
            <a:r>
              <a:rPr lang="en-US" altLang="en-US" i="1" dirty="0">
                <a:latin typeface="Times New Roman" panose="02020603050405020304" pitchFamily="18" charset="0"/>
              </a:rPr>
              <a:t> </a:t>
            </a:r>
            <a:r>
              <a:rPr lang="en-US" altLang="en-US" i="1" dirty="0" err="1">
                <a:latin typeface="Times New Roman" panose="02020603050405020304" pitchFamily="18" charset="0"/>
              </a:rPr>
              <a:t>điểm</a:t>
            </a:r>
            <a:r>
              <a:rPr lang="en-US" altLang="en-US" i="1" dirty="0">
                <a:latin typeface="Times New Roman" panose="02020603050405020304" pitchFamily="18" charset="0"/>
              </a:rPr>
              <a:t> </a:t>
            </a:r>
            <a:r>
              <a:rPr lang="en-US" altLang="en-US" i="1" dirty="0" err="1">
                <a:latin typeface="Times New Roman" panose="02020603050405020304" pitchFamily="18" charset="0"/>
              </a:rPr>
              <a:t>giới</a:t>
            </a:r>
            <a:r>
              <a:rPr lang="en-US" altLang="en-US" i="1" dirty="0">
                <a:latin typeface="Times New Roman" panose="02020603050405020304" pitchFamily="18" charset="0"/>
              </a:rPr>
              <a:t> </a:t>
            </a:r>
            <a:r>
              <a:rPr lang="en-US" altLang="en-US" i="1" dirty="0" err="1">
                <a:latin typeface="Times New Roman" panose="02020603050405020304" pitchFamily="18" charset="0"/>
              </a:rPr>
              <a:t>hạn</a:t>
            </a:r>
            <a:r>
              <a:rPr lang="en-US" altLang="en-US" i="1" dirty="0">
                <a:latin typeface="Times New Roman" panose="02020603050405020304" pitchFamily="18" charset="0"/>
              </a:rPr>
              <a:t> </a:t>
            </a:r>
            <a:r>
              <a:rPr lang="en-US" altLang="en-US" i="1" dirty="0" err="1">
                <a:latin typeface="Times New Roman" panose="02020603050405020304" pitchFamily="18" charset="0"/>
              </a:rPr>
              <a:t>mà</a:t>
            </a:r>
            <a:r>
              <a:rPr lang="en-US" altLang="en-US" i="1" dirty="0">
                <a:latin typeface="Times New Roman" panose="02020603050405020304" pitchFamily="18" charset="0"/>
              </a:rPr>
              <a:t> </a:t>
            </a:r>
            <a:r>
              <a:rPr lang="en-US" altLang="en-US" i="1" dirty="0" err="1">
                <a:latin typeface="Times New Roman" panose="02020603050405020304" pitchFamily="18" charset="0"/>
              </a:rPr>
              <a:t>tại</a:t>
            </a:r>
            <a:r>
              <a:rPr lang="en-US" altLang="en-US" i="1" dirty="0">
                <a:latin typeface="Times New Roman" panose="02020603050405020304" pitchFamily="18" charset="0"/>
              </a:rPr>
              <a:t> </a:t>
            </a:r>
            <a:r>
              <a:rPr lang="en-US" altLang="en-US" i="1" dirty="0" err="1">
                <a:latin typeface="Times New Roman" panose="02020603050405020304" pitchFamily="18" charset="0"/>
              </a:rPr>
              <a:t>đó</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thay</a:t>
            </a:r>
            <a:r>
              <a:rPr lang="en-US" altLang="en-US" i="1" dirty="0">
                <a:latin typeface="Times New Roman" panose="02020603050405020304" pitchFamily="18" charset="0"/>
              </a:rPr>
              <a:t> </a:t>
            </a:r>
            <a:r>
              <a:rPr lang="en-US" altLang="en-US" i="1" dirty="0" err="1">
                <a:latin typeface="Times New Roman" panose="02020603050405020304" pitchFamily="18" charset="0"/>
              </a:rPr>
              <a:t>đổi</a:t>
            </a:r>
            <a:r>
              <a:rPr lang="en-US" altLang="en-US" i="1" dirty="0">
                <a:latin typeface="Times New Roman" panose="02020603050405020304" pitchFamily="18" charset="0"/>
              </a:rPr>
              <a:t> </a:t>
            </a:r>
            <a:r>
              <a:rPr lang="en-US" altLang="en-US" i="1" dirty="0" err="1">
                <a:latin typeface="Times New Roman" panose="02020603050405020304" pitchFamily="18" charset="0"/>
              </a:rPr>
              <a:t>về</a:t>
            </a:r>
            <a:r>
              <a:rPr lang="en-US" altLang="en-US" i="1" dirty="0">
                <a:latin typeface="Times New Roman" panose="02020603050405020304" pitchFamily="18" charset="0"/>
              </a:rPr>
              <a:t> </a:t>
            </a:r>
            <a:r>
              <a:rPr lang="en-US" altLang="en-US" i="1" dirty="0" err="1">
                <a:latin typeface="Times New Roman" panose="02020603050405020304" pitchFamily="18" charset="0"/>
              </a:rPr>
              <a:t>lượng</a:t>
            </a:r>
            <a:r>
              <a:rPr lang="en-US" altLang="en-US" i="1" dirty="0">
                <a:latin typeface="Times New Roman" panose="02020603050405020304" pitchFamily="18" charset="0"/>
              </a:rPr>
              <a:t> </a:t>
            </a:r>
            <a:r>
              <a:rPr lang="en-US" altLang="en-US" i="1" dirty="0" err="1">
                <a:latin typeface="Times New Roman" panose="02020603050405020304" pitchFamily="18" charset="0"/>
              </a:rPr>
              <a:t>đã</a:t>
            </a:r>
            <a:r>
              <a:rPr lang="en-US" altLang="en-US" i="1" dirty="0">
                <a:latin typeface="Times New Roman" panose="02020603050405020304" pitchFamily="18" charset="0"/>
              </a:rPr>
              <a:t> </a:t>
            </a:r>
            <a:r>
              <a:rPr lang="en-US" altLang="en-US" i="1" dirty="0" err="1">
                <a:latin typeface="Times New Roman" panose="02020603050405020304" pitchFamily="18" charset="0"/>
              </a:rPr>
              <a:t>đủ</a:t>
            </a:r>
            <a:r>
              <a:rPr lang="en-US" altLang="en-US" i="1" dirty="0">
                <a:latin typeface="Times New Roman" panose="02020603050405020304" pitchFamily="18" charset="0"/>
              </a:rPr>
              <a:t> </a:t>
            </a:r>
            <a:r>
              <a:rPr lang="en-US" altLang="en-US" i="1" dirty="0" err="1">
                <a:latin typeface="Times New Roman" panose="02020603050405020304" pitchFamily="18" charset="0"/>
              </a:rPr>
              <a:t>làm</a:t>
            </a:r>
            <a:r>
              <a:rPr lang="en-US" altLang="en-US" i="1" dirty="0">
                <a:latin typeface="Times New Roman" panose="02020603050405020304" pitchFamily="18" charset="0"/>
              </a:rPr>
              <a:t> </a:t>
            </a:r>
            <a:r>
              <a:rPr lang="en-US" altLang="en-US" i="1" dirty="0" err="1">
                <a:latin typeface="Times New Roman" panose="02020603050405020304" pitchFamily="18" charset="0"/>
              </a:rPr>
              <a:t>thay</a:t>
            </a:r>
            <a:r>
              <a:rPr lang="en-US" altLang="en-US" i="1" dirty="0">
                <a:latin typeface="Times New Roman" panose="02020603050405020304" pitchFamily="18" charset="0"/>
              </a:rPr>
              <a:t> </a:t>
            </a:r>
            <a:r>
              <a:rPr lang="en-US" altLang="en-US" i="1" dirty="0" err="1">
                <a:latin typeface="Times New Roman" panose="02020603050405020304" pitchFamily="18" charset="0"/>
              </a:rPr>
              <a:t>đổi</a:t>
            </a:r>
            <a:r>
              <a:rPr lang="en-US" altLang="en-US" i="1" dirty="0">
                <a:latin typeface="Times New Roman" panose="02020603050405020304" pitchFamily="18" charset="0"/>
              </a:rPr>
              <a:t> </a:t>
            </a:r>
            <a:r>
              <a:rPr lang="en-US" altLang="en-US" i="1" dirty="0" err="1">
                <a:latin typeface="Times New Roman" panose="02020603050405020304" pitchFamily="18" charset="0"/>
              </a:rPr>
              <a:t>về</a:t>
            </a:r>
            <a:r>
              <a:rPr lang="en-US" altLang="en-US" i="1" dirty="0">
                <a:latin typeface="Times New Roman" panose="02020603050405020304" pitchFamily="18" charset="0"/>
              </a:rPr>
              <a:t> </a:t>
            </a:r>
            <a:r>
              <a:rPr lang="en-US" altLang="en-US" i="1" dirty="0" err="1">
                <a:latin typeface="Times New Roman" panose="02020603050405020304" pitchFamily="18" charset="0"/>
              </a:rPr>
              <a:t>chất</a:t>
            </a:r>
            <a:r>
              <a:rPr lang="en-US" altLang="en-US" i="1" dirty="0">
                <a:latin typeface="Times New Roman" panose="02020603050405020304" pitchFamily="18" charset="0"/>
              </a:rPr>
              <a:t> </a:t>
            </a:r>
            <a:r>
              <a:rPr lang="en-US" altLang="en-US" i="1" dirty="0" err="1">
                <a:latin typeface="Times New Roman" panose="02020603050405020304" pitchFamily="18" charset="0"/>
              </a:rPr>
              <a:t>của</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vật</a:t>
            </a:r>
            <a:r>
              <a:rPr lang="en-US" altLang="en-US" i="1" dirty="0">
                <a:latin typeface="Times New Roman" panose="02020603050405020304" pitchFamily="18" charset="0"/>
              </a:rPr>
              <a:t>.</a:t>
            </a:r>
            <a:endParaRPr lang="en-US" altLang="en-US" i="1" dirty="0">
              <a:latin typeface="Times New Roman" panose="02020603050405020304" pitchFamily="18" charset="0"/>
            </a:endParaRPr>
          </a:p>
          <a:p>
            <a:pPr algn="just">
              <a:spcBef>
                <a:spcPct val="0"/>
              </a:spcBef>
              <a:buNone/>
            </a:pP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tích</a:t>
            </a:r>
            <a:r>
              <a:rPr lang="en-US" altLang="en-US" dirty="0">
                <a:latin typeface="Times New Roman" panose="02020603050405020304" pitchFamily="18" charset="0"/>
              </a:rPr>
              <a:t> </a:t>
            </a:r>
            <a:r>
              <a:rPr lang="en-US" altLang="en-US" dirty="0" err="1">
                <a:latin typeface="Times New Roman" panose="02020603050405020304" pitchFamily="18" charset="0"/>
              </a:rPr>
              <a:t>lũy</a:t>
            </a:r>
            <a:r>
              <a:rPr lang="en-US" altLang="en-US" dirty="0">
                <a:latin typeface="Times New Roman" panose="02020603050405020304" pitchFamily="18" charset="0"/>
              </a:rPr>
              <a:t> </a:t>
            </a:r>
            <a:r>
              <a:rPr lang="en-US" altLang="en-US" dirty="0" err="1">
                <a:latin typeface="Times New Roman" panose="02020603050405020304" pitchFamily="18" charset="0"/>
              </a:rPr>
              <a:t>đủ</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tại</a:t>
            </a:r>
            <a:r>
              <a:rPr lang="en-US" altLang="en-US" dirty="0">
                <a:latin typeface="Times New Roman" panose="02020603050405020304" pitchFamily="18" charset="0"/>
              </a:rPr>
              <a:t> </a:t>
            </a:r>
            <a:r>
              <a:rPr lang="en-US" altLang="en-US" dirty="0" err="1">
                <a:latin typeface="Times New Roman" panose="02020603050405020304" pitchFamily="18" charset="0"/>
              </a:rPr>
              <a:t>điểm</a:t>
            </a:r>
            <a:r>
              <a:rPr lang="en-US" altLang="en-US" dirty="0">
                <a:latin typeface="Times New Roman" panose="02020603050405020304" pitchFamily="18" charset="0"/>
              </a:rPr>
              <a:t> </a:t>
            </a:r>
            <a:r>
              <a:rPr lang="en-US" altLang="en-US" dirty="0" err="1">
                <a:latin typeface="Times New Roman" panose="02020603050405020304" pitchFamily="18" charset="0"/>
              </a:rPr>
              <a:t>nút</a:t>
            </a:r>
            <a:r>
              <a:rPr lang="en-US" altLang="en-US" dirty="0">
                <a:latin typeface="Times New Roman" panose="02020603050405020304" pitchFamily="18" charset="0"/>
              </a:rPr>
              <a:t> </a:t>
            </a:r>
            <a:r>
              <a:rPr lang="en-US" altLang="en-US" dirty="0" err="1">
                <a:latin typeface="Times New Roman" panose="02020603050405020304" pitchFamily="18" charset="0"/>
              </a:rPr>
              <a:t>sẽ</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bước</a:t>
            </a:r>
            <a:r>
              <a:rPr lang="en-US" altLang="en-US" dirty="0">
                <a:latin typeface="Times New Roman" panose="02020603050405020304" pitchFamily="18" charset="0"/>
              </a:rPr>
              <a:t> </a:t>
            </a:r>
            <a:r>
              <a:rPr lang="en-US" altLang="en-US" dirty="0" err="1">
                <a:latin typeface="Times New Roman" panose="02020603050405020304" pitchFamily="18" charset="0"/>
              </a:rPr>
              <a:t>nhảy</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mới</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đời</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spcBef>
                <a:spcPct val="0"/>
              </a:spcBef>
              <a:buNone/>
            </a:pPr>
            <a:r>
              <a:rPr lang="en-US" altLang="en-US" dirty="0" err="1">
                <a:latin typeface="Times New Roman" panose="02020603050405020304" pitchFamily="18" charset="0"/>
              </a:rPr>
              <a:t>Ví</a:t>
            </a:r>
            <a:r>
              <a:rPr lang="en-US" altLang="en-US" dirty="0">
                <a:latin typeface="Times New Roman" panose="02020603050405020304" pitchFamily="18" charset="0"/>
              </a:rPr>
              <a:t> </a:t>
            </a:r>
            <a:r>
              <a:rPr lang="en-US" altLang="en-US" dirty="0" err="1">
                <a:latin typeface="Times New Roman" panose="02020603050405020304" pitchFamily="18" charset="0"/>
              </a:rPr>
              <a:t>dụ</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đến</a:t>
            </a:r>
            <a:r>
              <a:rPr lang="en-US" altLang="en-US" dirty="0">
                <a:latin typeface="Times New Roman" panose="02020603050405020304" pitchFamily="18" charset="0"/>
              </a:rPr>
              <a:t> 0℃ </a:t>
            </a:r>
            <a:r>
              <a:rPr lang="en-US" altLang="en-US" dirty="0" err="1">
                <a:latin typeface="Times New Roman" panose="02020603050405020304" pitchFamily="18" charset="0"/>
              </a:rPr>
              <a:t>hoặc</a:t>
            </a:r>
            <a:r>
              <a:rPr lang="en-US" altLang="en-US" dirty="0">
                <a:latin typeface="Times New Roman" panose="02020603050405020304" pitchFamily="18" charset="0"/>
              </a:rPr>
              <a:t> 100℃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điểm</a:t>
            </a:r>
            <a:r>
              <a:rPr lang="en-US" altLang="en-US" dirty="0">
                <a:latin typeface="Times New Roman" panose="02020603050405020304" pitchFamily="18" charset="0"/>
              </a:rPr>
              <a:t> </a:t>
            </a:r>
            <a:r>
              <a:rPr lang="en-US" altLang="en-US" dirty="0" err="1">
                <a:latin typeface="Times New Roman" panose="02020603050405020304" pitchFamily="18" charset="0"/>
              </a:rPr>
              <a:t>nút</a:t>
            </a:r>
            <a:endParaRPr lang="en-US" altLang="en-US" dirty="0">
              <a:latin typeface="Times New Roman" panose="02020603050405020304" pitchFamily="18" charset="0"/>
            </a:endParaRPr>
          </a:p>
          <a:p>
            <a:pPr algn="just">
              <a:spcBef>
                <a:spcPct val="0"/>
              </a:spcBef>
              <a:buNone/>
            </a:pPr>
            <a:endParaRPr lang="en-US" altLang="en-US" dirty="0">
              <a:latin typeface="Times New Roman" panose="02020603050405020304" pitchFamily="18" charset="0"/>
            </a:endParaRPr>
          </a:p>
          <a:p>
            <a:pPr algn="just">
              <a:spcBef>
                <a:spcPct val="0"/>
              </a:spcBef>
              <a:buNone/>
            </a:pPr>
            <a:endParaRPr lang="en-US" altLang="en-US" u="sng" dirty="0">
              <a:latin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17452" y="211015"/>
            <a:ext cx="10930596" cy="1856936"/>
          </a:xfrm>
        </p:spPr>
        <p:txBody>
          <a:bodyPr>
            <a:normAutofit fontScale="90000"/>
          </a:bodyPr>
          <a:lstStyle/>
          <a:p>
            <a:pPr>
              <a:spcBef>
                <a:spcPct val="0"/>
              </a:spcBef>
            </a:pPr>
            <a:br>
              <a:rPr lang="en-US" altLang="en-US" sz="2200" b="1" i="1" dirty="0">
                <a:latin typeface="Times New Roman" panose="02020603050405020304" pitchFamily="18" charset="0"/>
              </a:rPr>
            </a:br>
            <a:r>
              <a:rPr lang="en-US" altLang="en-US" sz="2400" b="1" i="1" dirty="0" err="1">
                <a:latin typeface="Times New Roman" panose="02020603050405020304" pitchFamily="18" charset="0"/>
              </a:rPr>
              <a:t>Bước</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nhảy</a:t>
            </a:r>
            <a:r>
              <a:rPr lang="en-US" altLang="en-US" sz="2400" b="1" i="1" dirty="0">
                <a:latin typeface="Times New Roman" panose="02020603050405020304" pitchFamily="18" charset="0"/>
              </a:rPr>
              <a:t>:</a:t>
            </a:r>
            <a:r>
              <a:rPr lang="en-US" altLang="en-US" sz="2400" b="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chuyển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hóa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tất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yếu</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trong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quá</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trình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phát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triển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của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hiện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tượng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nó</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kết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thúc</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một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giai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đoạn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động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phát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triển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đồng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thời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cũng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điểm</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khởi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đầu</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cho</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một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giai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đoạn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mới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gián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đoạn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trong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quá</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trình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động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phát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triển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liên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tục</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của</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sự</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vật</a:t>
            </a:r>
            <a:r>
              <a:rPr lang="en-US" altLang="en-US" sz="2400" i="1" dirty="0">
                <a:latin typeface="Times New Roman" panose="02020603050405020304" pitchFamily="18" charset="0"/>
              </a:rPr>
              <a:t>.</a:t>
            </a:r>
            <a:br>
              <a:rPr lang="en-US" altLang="en-US" sz="2400" i="1" dirty="0">
                <a:latin typeface="Times New Roman" panose="02020603050405020304" pitchFamily="18" charset="0"/>
              </a:rPr>
            </a:br>
            <a:r>
              <a:rPr lang="en-US" altLang="en-US" sz="2400" dirty="0">
                <a:latin typeface="Times New Roman" panose="02020603050405020304" pitchFamily="18" charset="0"/>
              </a:rPr>
              <a:t>-  </a:t>
            </a:r>
            <a:r>
              <a:rPr lang="en-US" altLang="en-US" sz="2400" dirty="0" err="1">
                <a:latin typeface="Times New Roman" panose="02020603050405020304" pitchFamily="18" charset="0"/>
              </a:rPr>
              <a:t>Bước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nhảy</a:t>
            </a:r>
            <a:r>
              <a:rPr lang="en-US" altLang="en-US" sz="2400" dirty="0">
                <a:latin typeface="Times New Roman" panose="02020603050405020304" pitchFamily="18" charset="0"/>
              </a:rPr>
              <a:t> l</a:t>
            </a:r>
            <a:r>
              <a:rPr lang="vi-VN" altLang="en-US" sz="2400" dirty="0">
                <a:latin typeface="Times New Roman" panose="02020603050405020304" pitchFamily="18" charset="0"/>
              </a:rPr>
              <a:t>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kết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thúc</a:t>
            </a:r>
            <a:r>
              <a:rPr lang="en-US" altLang="en-US" sz="2400" dirty="0">
                <a:latin typeface="Times New Roman" panose="02020603050405020304" pitchFamily="18" charset="0"/>
              </a:rPr>
              <a:t> 1 </a:t>
            </a:r>
            <a:r>
              <a:rPr lang="en-US" altLang="en-US" sz="2400" dirty="0" err="1">
                <a:latin typeface="Times New Roman" panose="02020603050405020304" pitchFamily="18" charset="0"/>
              </a:rPr>
              <a:t>giai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đoạn</a:t>
            </a:r>
            <a:r>
              <a:rPr lang="en-US" altLang="en-US" sz="2400" dirty="0">
                <a:latin typeface="Times New Roman" panose="02020603050405020304" pitchFamily="18" charset="0"/>
              </a:rPr>
              <a:t> </a:t>
            </a:r>
            <a:r>
              <a:rPr lang="vi-VN" altLang="en-US" sz="2400" dirty="0">
                <a:latin typeface="Times New Roman" panose="02020603050405020304" pitchFamily="18" charset="0"/>
              </a:rPr>
              <a:t>phát triển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của</a:t>
            </a:r>
            <a:r>
              <a:rPr lang="en-US" altLang="en-US" sz="2400" dirty="0">
                <a:latin typeface="Times New Roman" panose="02020603050405020304" pitchFamily="18" charset="0"/>
              </a:rPr>
              <a:t> </a:t>
            </a:r>
            <a:r>
              <a:rPr lang="vi-VN" altLang="en-US" sz="2400" dirty="0">
                <a:latin typeface="Times New Roman" panose="02020603050405020304" pitchFamily="18" charset="0"/>
              </a:rPr>
              <a:t>sự vật</a:t>
            </a:r>
            <a:r>
              <a:rPr lang="en-US" altLang="en-US" sz="2400" dirty="0">
                <a:latin typeface="Times New Roman" panose="02020603050405020304" pitchFamily="18" charset="0"/>
              </a:rPr>
              <a:t> &amp; </a:t>
            </a:r>
            <a:r>
              <a:rPr lang="en-US" altLang="en-US" sz="2400" dirty="0" err="1">
                <a:latin typeface="Times New Roman" panose="02020603050405020304" pitchFamily="18" charset="0"/>
              </a:rPr>
              <a:t>điểm</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khởi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đầu</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của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một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giai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đoạn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phát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triển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mới</a:t>
            </a:r>
            <a:r>
              <a:rPr lang="en-US" altLang="en-US" sz="2400" dirty="0">
                <a:latin typeface="Times New Roman" panose="02020603050405020304" pitchFamily="18" charset="0"/>
              </a:rPr>
              <a:t>. </a:t>
            </a:r>
            <a:br>
              <a:rPr lang="en-US" altLang="en-US" sz="2400" dirty="0">
                <a:latin typeface="Arial" panose="020B0604020202020204" pitchFamily="34" charset="0"/>
              </a:rPr>
            </a:br>
            <a:endParaRPr lang="en-US" sz="2400" dirty="0"/>
          </a:p>
        </p:txBody>
      </p:sp>
      <p:pic>
        <p:nvPicPr>
          <p:cNvPr id="2050"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8001000" y="1763487"/>
            <a:ext cx="3973285" cy="40168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571500" indent="-571500" algn="just">
              <a:buFont typeface="Wingdings" panose="05000000000000000000" pitchFamily="2" charset="2"/>
              <a:buChar char="Ø"/>
            </a:pPr>
            <a:r>
              <a:rPr lang="en-US" altLang="en-US" sz="3600" b="1" i="1" dirty="0" err="1">
                <a:latin typeface="Times New Roman" panose="02020603050405020304" pitchFamily="18" charset="0"/>
                <a:cs typeface="Times New Roman" panose="02020603050405020304" pitchFamily="18" charset="0"/>
              </a:rPr>
              <a:t>Những</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thay</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đổi</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về</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chất</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dẫn</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đến</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những</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thay</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về</a:t>
            </a:r>
            <a:r>
              <a:rPr lang="en-US" altLang="en-US" sz="3600" b="1" i="1" dirty="0">
                <a:latin typeface="Times New Roman" panose="02020603050405020304" pitchFamily="18" charset="0"/>
                <a:cs typeface="Times New Roman" panose="02020603050405020304" pitchFamily="18" charset="0"/>
              </a:rPr>
              <a:t> </a:t>
            </a:r>
            <a:r>
              <a:rPr lang="en-US" altLang="en-US" sz="3600" b="1" i="1" dirty="0" err="1">
                <a:latin typeface="Times New Roman" panose="02020603050405020304" pitchFamily="18" charset="0"/>
                <a:cs typeface="Times New Roman" panose="02020603050405020304" pitchFamily="18" charset="0"/>
              </a:rPr>
              <a:t>lượng</a:t>
            </a:r>
            <a:r>
              <a:rPr lang="en-US" altLang="en-US" sz="3600" b="1" i="1" dirty="0">
                <a:latin typeface="Times New Roman" panose="02020603050405020304" pitchFamily="18" charset="0"/>
                <a:cs typeface="Times New Roman" panose="02020603050405020304" pitchFamily="18" charset="0"/>
              </a:rPr>
              <a:t>.</a:t>
            </a:r>
            <a:endParaRPr lang="en-US" sz="3600" b="1" i="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Tx/>
              <a:buChar char="-"/>
              <a:defRPr/>
            </a:pP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tác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lượng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của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sự</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vật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p>
            <a:pPr>
              <a:defRPr/>
            </a:pPr>
            <a:r>
              <a:rPr lang="en-US" dirty="0" err="1">
                <a:latin typeface="Times New Roman" panose="02020603050405020304" pitchFamily="18" charset="0"/>
                <a:cs typeface="Times New Roman" panose="02020603050405020304" pitchFamily="18" charset="0"/>
              </a:rPr>
              <a:t>Chất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mới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đổi</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kết</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cấu</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quy</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mô</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trình</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độ</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nhịp</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điệu</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của</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sự</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vận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động</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và</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phát</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triển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của</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sự</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vật</a:t>
            </a:r>
            <a:r>
              <a:rPr lang="en-US" b="1" i="1" dirty="0">
                <a:latin typeface="Times New Roman" panose="02020603050405020304" pitchFamily="18" charset="0"/>
                <a:cs typeface="Times New Roman" panose="02020603050405020304" pitchFamily="18" charset="0"/>
              </a:rPr>
              <a:t>.</a:t>
            </a:r>
            <a:endParaRPr lang="en-US" b="1" i="1" dirty="0">
              <a:latin typeface="Times New Roman" panose="02020603050405020304" pitchFamily="18" charset="0"/>
              <a:cs typeface="Times New Roman" panose="02020603050405020304" pitchFamily="18" charset="0"/>
            </a:endParaRPr>
          </a:p>
          <a:p>
            <a:pPr marL="0" indent="0">
              <a:buNone/>
              <a:defRPr/>
            </a:pPr>
            <a:r>
              <a:rPr lang="en-US" b="1" i="1" u="sng" dirty="0" err="1">
                <a:latin typeface="Times New Roman" panose="02020603050405020304" pitchFamily="18" charset="0"/>
                <a:cs typeface="Times New Roman" panose="02020603050405020304" pitchFamily="18" charset="0"/>
              </a:rPr>
              <a:t>Ví</a:t>
            </a:r>
            <a:r>
              <a:rPr lang="en-US" b="1" i="1" u="sng" dirty="0">
                <a:latin typeface="Times New Roman" panose="02020603050405020304" pitchFamily="18" charset="0"/>
                <a:cs typeface="Times New Roman" panose="02020603050405020304" pitchFamily="18" charset="0"/>
              </a:rPr>
              <a:t> </a:t>
            </a:r>
            <a:r>
              <a:rPr lang="en-US" b="1" i="1" u="sng" dirty="0" err="1">
                <a:latin typeface="Times New Roman" panose="02020603050405020304" pitchFamily="18" charset="0"/>
                <a:cs typeface="Times New Roman" panose="02020603050405020304" pitchFamily="18" charset="0"/>
              </a:rPr>
              <a:t>dụ</a:t>
            </a:r>
            <a:r>
              <a:rPr lang="en-US" i="1" dirty="0">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khi</a:t>
            </a:r>
            <a:r>
              <a:rPr lang="en-US" dirty="0">
                <a:latin typeface="Times New Roman" panose="02020603050405020304" pitchFamily="18" charset="0"/>
                <a:cs typeface="Times New Roman" panose="02020603050405020304" pitchFamily="18" charset="0"/>
              </a:rPr>
              <a:t> SV </a:t>
            </a:r>
            <a:r>
              <a:rPr lang="en-US" dirty="0" err="1">
                <a:latin typeface="Times New Roman" panose="02020603050405020304" pitchFamily="18" charset="0"/>
                <a:cs typeface="Times New Roman" panose="02020603050405020304" pitchFamily="18" charset="0"/>
              </a:rPr>
              <a:t>vượt</a:t>
            </a:r>
            <a:r>
              <a:rPr lang="en-US" dirty="0">
                <a:latin typeface="Times New Roman" panose="02020603050405020304" pitchFamily="18" charset="0"/>
                <a:cs typeface="Times New Roman" panose="02020603050405020304" pitchFamily="18" charset="0"/>
              </a:rPr>
              <a:t> qua </a:t>
            </a:r>
            <a:r>
              <a:rPr lang="en-US" dirty="0" err="1">
                <a:latin typeface="Times New Roman" panose="02020603050405020304" pitchFamily="18" charset="0"/>
                <a:cs typeface="Times New Roman" panose="02020603050405020304" pitchFamily="18" charset="0"/>
              </a:rPr>
              <a:t>điểm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nút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kỳ</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thi</a:t>
            </a:r>
            <a:r>
              <a:rPr lang="en-US" dirty="0">
                <a:latin typeface="Times New Roman" panose="02020603050405020304" pitchFamily="18" charset="0"/>
                <a:cs typeface="Times New Roman" panose="02020603050405020304" pitchFamily="18" charset="0"/>
              </a:rPr>
              <a:t> TN, </a:t>
            </a:r>
            <a:r>
              <a:rPr lang="en-US" dirty="0" err="1">
                <a:latin typeface="Times New Roman" panose="02020603050405020304" pitchFamily="18" charset="0"/>
                <a:cs typeface="Times New Roman" panose="02020603050405020304" pitchFamily="18" charset="0"/>
              </a:rPr>
              <a:t>tức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bước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nhảy</a:t>
            </a:r>
            <a:r>
              <a:rPr lang="en-US" dirty="0">
                <a:latin typeface="Times New Roman" panose="02020603050405020304" pitchFamily="18" charset="0"/>
                <a:cs typeface="Times New Roman" panose="02020603050405020304" pitchFamily="18" charset="0"/>
              </a:rPr>
              <a:t>, SV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nhận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được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bằng</a:t>
            </a:r>
            <a:r>
              <a:rPr lang="en-US" dirty="0">
                <a:latin typeface="Times New Roman" panose="02020603050405020304" pitchFamily="18" charset="0"/>
                <a:cs typeface="Times New Roman" panose="02020603050405020304" pitchFamily="18" charset="0"/>
              </a:rPr>
              <a:t> TN.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hóa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cảu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trước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tạo</a:t>
            </a:r>
            <a:r>
              <a:rPr lang="en-US" dirty="0">
                <a:latin typeface="Times New Roman" panose="02020603050405020304" pitchFamily="18" charset="0"/>
                <a:cs typeface="Times New Roman" panose="02020603050405020304" pitchFamily="18" charset="0"/>
              </a:rPr>
              <a:t> ĐK </a:t>
            </a:r>
            <a:r>
              <a:rPr lang="en-US" dirty="0" err="1">
                <a:latin typeface="Times New Roman" panose="02020603050405020304" pitchFamily="18" charset="0"/>
                <a:cs typeface="Times New Roman" panose="02020603050405020304" pitchFamily="18" charset="0"/>
              </a:rPr>
              <a:t>cho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cấu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mô</a:t>
            </a:r>
            <a:r>
              <a:rPr lang="en-US" dirty="0">
                <a:latin typeface="Times New Roman" panose="02020603050405020304" pitchFamily="18" charset="0"/>
                <a:cs typeface="Times New Roman" panose="02020603050405020304" pitchFamily="18" charset="0"/>
              </a:rPr>
              <a:t> &amp;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tri </a:t>
            </a:r>
            <a:r>
              <a:rPr lang="en-US" dirty="0" err="1">
                <a:latin typeface="Times New Roman" panose="02020603050405020304" pitchFamily="18" charset="0"/>
                <a:cs typeface="Times New Roman" panose="02020603050405020304" pitchFamily="18" charset="0"/>
              </a:rPr>
              <a:t>thức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giúp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họ</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tiến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trình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độ</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cao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hơn</a:t>
            </a: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6732"/>
          </a:xfrm>
        </p:spPr>
        <p:txBody>
          <a:bodyPr>
            <a:normAutofit/>
          </a:bodyPr>
          <a:lstStyle/>
          <a:p>
            <a:pPr marL="457200" indent="-457200" algn="just">
              <a:buFont typeface="Wingdings" panose="05000000000000000000" pitchFamily="2" charset="2"/>
              <a:buChar char="v"/>
            </a:pPr>
            <a:r>
              <a:rPr lang="vi-VN" sz="3200" b="1" dirty="0">
                <a:latin typeface="Times New Roman" panose="02020603050405020304" pitchFamily="18" charset="0"/>
                <a:cs typeface="Times New Roman" panose="02020603050405020304" pitchFamily="18" charset="0"/>
              </a:rPr>
              <a:t>Các hình thức cơ bản của bước nhảy</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78429"/>
            <a:ext cx="10515600" cy="4598534"/>
          </a:xfrm>
        </p:spPr>
        <p:txBody>
          <a:bodyP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4" name="Rectangle 3"/>
          <p:cNvSpPr/>
          <p:nvPr/>
        </p:nvSpPr>
        <p:spPr>
          <a:xfrm>
            <a:off x="1970314" y="1578429"/>
            <a:ext cx="2906486" cy="642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Theo nhịp điệu bước nhảy</a:t>
            </a:r>
            <a:endParaRPr lang="en-US" sz="2000" dirty="0">
              <a:latin typeface="Times New Roman" panose="02020603050405020304" pitchFamily="18" charset="0"/>
              <a:cs typeface="Times New Roman" panose="02020603050405020304" pitchFamily="18" charset="0"/>
            </a:endParaRPr>
          </a:p>
        </p:txBody>
      </p:sp>
      <p:sp>
        <p:nvSpPr>
          <p:cNvPr id="5" name="Rectangle 4"/>
          <p:cNvSpPr/>
          <p:nvPr/>
        </p:nvSpPr>
        <p:spPr>
          <a:xfrm>
            <a:off x="7184571" y="1578429"/>
            <a:ext cx="2819400" cy="642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Theo quy mô bước nhảy</a:t>
            </a:r>
            <a:endParaRPr lang="en-US" sz="2000" dirty="0">
              <a:latin typeface="Times New Roman" panose="02020603050405020304" pitchFamily="18" charset="0"/>
              <a:cs typeface="Times New Roman" panose="02020603050405020304" pitchFamily="18" charset="0"/>
            </a:endParaRPr>
          </a:p>
        </p:txBody>
      </p:sp>
      <p:sp>
        <p:nvSpPr>
          <p:cNvPr id="6" name="Rectangle 5"/>
          <p:cNvSpPr/>
          <p:nvPr/>
        </p:nvSpPr>
        <p:spPr>
          <a:xfrm>
            <a:off x="1404256" y="2819400"/>
            <a:ext cx="1480457"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Bước nhảy đột biến</a:t>
            </a:r>
            <a:endParaRPr lang="en-US" dirty="0">
              <a:latin typeface="Times New Roman" panose="02020603050405020304" pitchFamily="18" charset="0"/>
              <a:cs typeface="Times New Roman" panose="02020603050405020304" pitchFamily="18" charset="0"/>
            </a:endParaRPr>
          </a:p>
        </p:txBody>
      </p:sp>
      <p:sp>
        <p:nvSpPr>
          <p:cNvPr id="7" name="Rectangle 6"/>
          <p:cNvSpPr/>
          <p:nvPr/>
        </p:nvSpPr>
        <p:spPr>
          <a:xfrm>
            <a:off x="3864429" y="2819401"/>
            <a:ext cx="1480457"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Bước nhảy dần dần</a:t>
            </a:r>
            <a:endParaRPr lang="en-US" sz="2000" dirty="0">
              <a:latin typeface="Times New Roman" panose="02020603050405020304" pitchFamily="18" charset="0"/>
              <a:cs typeface="Times New Roman" panose="02020603050405020304" pitchFamily="18" charset="0"/>
            </a:endParaRPr>
          </a:p>
        </p:txBody>
      </p:sp>
      <p:cxnSp>
        <p:nvCxnSpPr>
          <p:cNvPr id="9" name="Straight Arrow Connector 8"/>
          <p:cNvCxnSpPr/>
          <p:nvPr/>
        </p:nvCxnSpPr>
        <p:spPr>
          <a:xfrm flipH="1">
            <a:off x="2090057" y="2220686"/>
            <a:ext cx="1338943" cy="598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endCxn id="7" idx="0"/>
          </p:cNvCxnSpPr>
          <p:nvPr/>
        </p:nvCxnSpPr>
        <p:spPr>
          <a:xfrm>
            <a:off x="3450769" y="2220686"/>
            <a:ext cx="1121231" cy="598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2" name="Rectangle 11"/>
          <p:cNvSpPr/>
          <p:nvPr/>
        </p:nvSpPr>
        <p:spPr>
          <a:xfrm>
            <a:off x="6455229" y="2819400"/>
            <a:ext cx="1480457"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Bước nhảy toàn bộ</a:t>
            </a:r>
            <a:endParaRPr lang="en-US" sz="2000" dirty="0">
              <a:latin typeface="Times New Roman" panose="02020603050405020304" pitchFamily="18" charset="0"/>
              <a:cs typeface="Times New Roman" panose="02020603050405020304" pitchFamily="18" charset="0"/>
            </a:endParaRPr>
          </a:p>
        </p:txBody>
      </p:sp>
      <p:sp>
        <p:nvSpPr>
          <p:cNvPr id="13" name="Rectangle 12"/>
          <p:cNvSpPr/>
          <p:nvPr/>
        </p:nvSpPr>
        <p:spPr>
          <a:xfrm>
            <a:off x="9307288" y="2819401"/>
            <a:ext cx="1480456"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Bước nhảy cụ bộ</a:t>
            </a:r>
            <a:endParaRPr lang="en-US" sz="2000" dirty="0">
              <a:latin typeface="Times New Roman" panose="02020603050405020304" pitchFamily="18" charset="0"/>
              <a:cs typeface="Times New Roman" panose="02020603050405020304" pitchFamily="18" charset="0"/>
            </a:endParaRPr>
          </a:p>
        </p:txBody>
      </p:sp>
      <p:cxnSp>
        <p:nvCxnSpPr>
          <p:cNvPr id="15" name="Straight Arrow Connector 14"/>
          <p:cNvCxnSpPr>
            <a:endCxn id="12" idx="0"/>
          </p:cNvCxnSpPr>
          <p:nvPr/>
        </p:nvCxnSpPr>
        <p:spPr>
          <a:xfrm flipH="1">
            <a:off x="7097485" y="2220686"/>
            <a:ext cx="1567542" cy="59871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endCxn id="13" idx="0"/>
          </p:cNvCxnSpPr>
          <p:nvPr/>
        </p:nvCxnSpPr>
        <p:spPr>
          <a:xfrm>
            <a:off x="8665029" y="2220686"/>
            <a:ext cx="1382487" cy="59871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v"/>
            </a:pPr>
            <a:r>
              <a:rPr lang="en-US" altLang="en-US" sz="3200" b="1" i="1" dirty="0">
                <a:latin typeface="Times New Roman" panose="02020603050405020304" pitchFamily="18" charset="0"/>
              </a:rPr>
              <a:t>Ý </a:t>
            </a:r>
            <a:r>
              <a:rPr lang="en-US" altLang="en-US" sz="3200" b="1" i="1" dirty="0" err="1">
                <a:latin typeface="Times New Roman" panose="02020603050405020304" pitchFamily="18" charset="0"/>
              </a:rPr>
              <a:t>nghĩa</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phương</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pháp</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luận</a:t>
            </a:r>
            <a:endParaRPr lang="en-US" altLang="en-US" sz="3200" b="1" i="1" dirty="0">
              <a:latin typeface="Times New Roman" panose="02020603050405020304" pitchFamily="18" charset="0"/>
            </a:endParaRPr>
          </a:p>
        </p:txBody>
      </p:sp>
      <p:sp>
        <p:nvSpPr>
          <p:cNvPr id="3" name="Content Placeholder 2"/>
          <p:cNvSpPr>
            <a:spLocks noGrp="1"/>
          </p:cNvSpPr>
          <p:nvPr>
            <p:ph idx="1"/>
          </p:nvPr>
        </p:nvSpPr>
        <p:spPr/>
        <p:txBody>
          <a:bodyPr/>
          <a:lstStyle/>
          <a:p>
            <a:pPr algn="just">
              <a:buFontTx/>
              <a:buChar char="-"/>
            </a:pPr>
            <a:r>
              <a:rPr lang="en-US" altLang="en-US" dirty="0" err="1">
                <a:latin typeface="Times New Roman" panose="02020603050405020304" pitchFamily="18" charset="0"/>
              </a:rPr>
              <a:t>Quy</a:t>
            </a:r>
            <a:r>
              <a:rPr lang="en-US" altLang="en-US" dirty="0">
                <a:latin typeface="Times New Roman" panose="02020603050405020304" pitchFamily="18" charset="0"/>
              </a:rPr>
              <a:t> </a:t>
            </a:r>
            <a:r>
              <a:rPr lang="en-US" altLang="en-US" dirty="0" err="1">
                <a:latin typeface="Times New Roman" panose="02020603050405020304" pitchFamily="18" charset="0"/>
              </a:rPr>
              <a:t>luật</a:t>
            </a:r>
            <a:r>
              <a:rPr lang="en-US" altLang="en-US" dirty="0">
                <a:latin typeface="Times New Roman" panose="02020603050405020304" pitchFamily="18" charset="0"/>
              </a:rPr>
              <a:t> </a:t>
            </a:r>
            <a:r>
              <a:rPr lang="en-US" altLang="en-US" dirty="0" err="1">
                <a:latin typeface="Times New Roman" panose="02020603050405020304" pitchFamily="18" charset="0"/>
              </a:rPr>
              <a:t>này</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ý </a:t>
            </a:r>
            <a:r>
              <a:rPr lang="en-US" altLang="en-US" dirty="0" err="1">
                <a:latin typeface="Times New Roman" panose="02020603050405020304" pitchFamily="18" charset="0"/>
              </a:rPr>
              <a:t>nghĩa</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biết</a:t>
            </a:r>
            <a:r>
              <a:rPr lang="en-US" altLang="en-US" dirty="0">
                <a:latin typeface="Times New Roman" panose="02020603050405020304" pitchFamily="18" charset="0"/>
              </a:rPr>
              <a:t> </a:t>
            </a:r>
            <a:r>
              <a:rPr lang="en-US" altLang="en-US" dirty="0" err="1">
                <a:latin typeface="Times New Roman" panose="02020603050405020304" pitchFamily="18" charset="0"/>
              </a:rPr>
              <a:t>từng</a:t>
            </a:r>
            <a:r>
              <a:rPr lang="en-US" altLang="en-US" dirty="0">
                <a:latin typeface="Times New Roman" panose="02020603050405020304" pitchFamily="18" charset="0"/>
              </a:rPr>
              <a:t> </a:t>
            </a:r>
            <a:r>
              <a:rPr lang="en-US" altLang="en-US" dirty="0" err="1">
                <a:latin typeface="Times New Roman" panose="02020603050405020304" pitchFamily="18" charset="0"/>
              </a:rPr>
              <a:t>bước</a:t>
            </a:r>
            <a:r>
              <a:rPr lang="en-US" altLang="en-US" dirty="0">
                <a:latin typeface="Times New Roman" panose="02020603050405020304" pitchFamily="18" charset="0"/>
              </a:rPr>
              <a:t> </a:t>
            </a:r>
            <a:r>
              <a:rPr lang="en-US" altLang="en-US" dirty="0" err="1">
                <a:latin typeface="Times New Roman" panose="02020603050405020304" pitchFamily="18" charset="0"/>
              </a:rPr>
              <a:t>tích</a:t>
            </a:r>
            <a:r>
              <a:rPr lang="en-US" altLang="en-US" dirty="0">
                <a:latin typeface="Times New Roman" panose="02020603050405020304" pitchFamily="18" charset="0"/>
              </a:rPr>
              <a:t> </a:t>
            </a:r>
            <a:r>
              <a:rPr lang="en-US" altLang="en-US" dirty="0" err="1">
                <a:latin typeface="Times New Roman" panose="02020603050405020304" pitchFamily="18" charset="0"/>
              </a:rPr>
              <a:t>lũy</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làm</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đổi</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tránh</a:t>
            </a:r>
            <a:r>
              <a:rPr lang="en-US" altLang="en-US" dirty="0">
                <a:latin typeface="Times New Roman" panose="02020603050405020304" pitchFamily="18" charset="0"/>
              </a:rPr>
              <a:t> </a:t>
            </a:r>
            <a:r>
              <a:rPr lang="en-US" altLang="en-US" dirty="0" err="1">
                <a:latin typeface="Times New Roman" panose="02020603050405020304" pitchFamily="18" charset="0"/>
              </a:rPr>
              <a:t>tư</a:t>
            </a:r>
            <a:r>
              <a:rPr lang="en-US" altLang="en-US" dirty="0">
                <a:latin typeface="Times New Roman" panose="02020603050405020304" pitchFamily="18" charset="0"/>
              </a:rPr>
              <a:t> </a:t>
            </a:r>
            <a:r>
              <a:rPr lang="en-US" altLang="en-US" dirty="0" err="1">
                <a:latin typeface="Times New Roman" panose="02020603050405020304" pitchFamily="18" charset="0"/>
              </a:rPr>
              <a:t>tưởng</a:t>
            </a:r>
            <a:r>
              <a:rPr lang="en-US" altLang="en-US" dirty="0">
                <a:latin typeface="Times New Roman" panose="02020603050405020304" pitchFamily="18" charset="0"/>
              </a:rPr>
              <a:t> </a:t>
            </a:r>
            <a:r>
              <a:rPr lang="en-US" altLang="en-US" dirty="0" err="1">
                <a:latin typeface="Times New Roman" panose="02020603050405020304" pitchFamily="18" charset="0"/>
              </a:rPr>
              <a:t>chủ</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nôn</a:t>
            </a:r>
            <a:r>
              <a:rPr lang="en-US" altLang="en-US" dirty="0">
                <a:latin typeface="Times New Roman" panose="02020603050405020304" pitchFamily="18" charset="0"/>
              </a:rPr>
              <a:t> </a:t>
            </a:r>
            <a:r>
              <a:rPr lang="en-US" altLang="en-US" dirty="0" err="1">
                <a:latin typeface="Times New Roman" panose="02020603050405020304" pitchFamily="18" charset="0"/>
              </a:rPr>
              <a:t>nóng</a:t>
            </a:r>
            <a:r>
              <a:rPr lang="en-US" altLang="en-US" dirty="0">
                <a:latin typeface="Times New Roman" panose="02020603050405020304" pitchFamily="18" charset="0"/>
              </a:rPr>
              <a:t>, </a:t>
            </a:r>
            <a:r>
              <a:rPr lang="en-US" altLang="en-US" dirty="0" err="1">
                <a:latin typeface="Times New Roman" panose="02020603050405020304" pitchFamily="18" charset="0"/>
              </a:rPr>
              <a:t>duy</a:t>
            </a:r>
            <a:r>
              <a:rPr lang="en-US" altLang="en-US" dirty="0">
                <a:latin typeface="Times New Roman" panose="02020603050405020304" pitchFamily="18" charset="0"/>
              </a:rPr>
              <a:t> ý </a:t>
            </a:r>
            <a:r>
              <a:rPr lang="en-US" altLang="en-US" dirty="0" err="1">
                <a:latin typeface="Times New Roman" panose="02020603050405020304" pitchFamily="18" charset="0"/>
              </a:rPr>
              <a:t>trí</a:t>
            </a:r>
            <a:r>
              <a:rPr lang="en-US" altLang="en-US" dirty="0">
                <a:latin typeface="Times New Roman" panose="02020603050405020304" pitchFamily="18" charset="0"/>
              </a:rPr>
              <a:t>, </a:t>
            </a:r>
            <a:r>
              <a:rPr lang="en-US" altLang="en-US" dirty="0" err="1">
                <a:latin typeface="Times New Roman" panose="02020603050405020304" pitchFamily="18" charset="0"/>
              </a:rPr>
              <a:t>đốt</a:t>
            </a:r>
            <a:r>
              <a:rPr lang="en-US" altLang="en-US" dirty="0">
                <a:latin typeface="Times New Roman" panose="02020603050405020304" pitchFamily="18" charset="0"/>
              </a:rPr>
              <a:t> </a:t>
            </a:r>
            <a:r>
              <a:rPr lang="en-US" altLang="en-US" dirty="0" err="1">
                <a:latin typeface="Times New Roman" panose="02020603050405020304" pitchFamily="18" charset="0"/>
              </a:rPr>
              <a:t>cháy</a:t>
            </a:r>
            <a:r>
              <a:rPr lang="en-US" altLang="en-US" dirty="0">
                <a:latin typeface="Times New Roman" panose="02020603050405020304" pitchFamily="18" charset="0"/>
              </a:rPr>
              <a:t> </a:t>
            </a:r>
            <a:r>
              <a:rPr lang="en-US" altLang="en-US" dirty="0" err="1">
                <a:latin typeface="Times New Roman" panose="02020603050405020304" pitchFamily="18" charset="0"/>
              </a:rPr>
              <a:t>giai</a:t>
            </a:r>
            <a:r>
              <a:rPr lang="en-US" altLang="en-US" dirty="0">
                <a:latin typeface="Times New Roman" panose="02020603050405020304" pitchFamily="18" charset="0"/>
              </a:rPr>
              <a:t> </a:t>
            </a:r>
            <a:r>
              <a:rPr lang="en-US" altLang="en-US" dirty="0" err="1">
                <a:latin typeface="Times New Roman" panose="02020603050405020304" pitchFamily="18" charset="0"/>
              </a:rPr>
              <a:t>đoạn</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Khi</a:t>
            </a:r>
            <a:r>
              <a:rPr lang="en-US" altLang="en-US" dirty="0">
                <a:latin typeface="Times New Roman" panose="02020603050405020304" pitchFamily="18" charset="0"/>
              </a:rPr>
              <a:t> </a:t>
            </a:r>
            <a:r>
              <a:rPr lang="en-US" altLang="en-US" dirty="0" err="1">
                <a:latin typeface="Times New Roman" panose="02020603050405020304" pitchFamily="18" charset="0"/>
              </a:rPr>
              <a:t>đã</a:t>
            </a:r>
            <a:r>
              <a:rPr lang="en-US" altLang="en-US" dirty="0">
                <a:latin typeface="Times New Roman" panose="02020603050405020304" pitchFamily="18" charset="0"/>
              </a:rPr>
              <a:t> </a:t>
            </a:r>
            <a:r>
              <a:rPr lang="en-US" altLang="en-US" dirty="0" err="1">
                <a:latin typeface="Times New Roman" panose="02020603050405020304" pitchFamily="18" charset="0"/>
              </a:rPr>
              <a:t>tích</a:t>
            </a:r>
            <a:r>
              <a:rPr lang="en-US" altLang="en-US" dirty="0">
                <a:latin typeface="Times New Roman" panose="02020603050405020304" pitchFamily="18" charset="0"/>
              </a:rPr>
              <a:t> </a:t>
            </a:r>
            <a:r>
              <a:rPr lang="en-US" altLang="en-US" dirty="0" err="1">
                <a:latin typeface="Times New Roman" panose="02020603050405020304" pitchFamily="18" charset="0"/>
              </a:rPr>
              <a:t>lũy</a:t>
            </a:r>
            <a:r>
              <a:rPr lang="en-US" altLang="en-US" dirty="0">
                <a:latin typeface="Times New Roman" panose="02020603050405020304" pitchFamily="18" charset="0"/>
              </a:rPr>
              <a:t> </a:t>
            </a:r>
            <a:r>
              <a:rPr lang="en-US" altLang="en-US" dirty="0" err="1">
                <a:latin typeface="Times New Roman" panose="02020603050405020304" pitchFamily="18" charset="0"/>
              </a:rPr>
              <a:t>đủ</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lượng</a:t>
            </a:r>
            <a:r>
              <a:rPr lang="en-US" altLang="en-US" dirty="0">
                <a:latin typeface="Times New Roman" panose="02020603050405020304" pitchFamily="18" charset="0"/>
              </a:rPr>
              <a:t> </a:t>
            </a:r>
            <a:r>
              <a:rPr lang="en-US" altLang="en-US" dirty="0" err="1">
                <a:latin typeface="Times New Roman" panose="02020603050405020304" pitchFamily="18" charset="0"/>
              </a:rPr>
              <a:t>thì</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quyết</a:t>
            </a:r>
            <a:r>
              <a:rPr lang="en-US" altLang="en-US" dirty="0">
                <a:latin typeface="Times New Roman" panose="02020603050405020304" pitchFamily="18" charset="0"/>
              </a:rPr>
              <a:t> </a:t>
            </a:r>
            <a:r>
              <a:rPr lang="en-US" altLang="en-US" dirty="0" err="1">
                <a:latin typeface="Times New Roman" panose="02020603050405020304" pitchFamily="18" charset="0"/>
              </a:rPr>
              <a:t>tâm</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bước</a:t>
            </a:r>
            <a:r>
              <a:rPr lang="en-US" altLang="en-US" dirty="0">
                <a:latin typeface="Times New Roman" panose="02020603050405020304" pitchFamily="18" charset="0"/>
              </a:rPr>
              <a:t> </a:t>
            </a:r>
            <a:r>
              <a:rPr lang="en-US" altLang="en-US" dirty="0" err="1">
                <a:latin typeface="Times New Roman" panose="02020603050405020304" pitchFamily="18" charset="0"/>
              </a:rPr>
              <a:t>nhảy</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Chống</a:t>
            </a:r>
            <a:r>
              <a:rPr lang="en-US" altLang="en-US" dirty="0">
                <a:latin typeface="Times New Roman" panose="02020603050405020304" pitchFamily="18" charset="0"/>
              </a:rPr>
              <a:t> </a:t>
            </a:r>
            <a:r>
              <a:rPr lang="en-US" altLang="en-US" dirty="0" err="1">
                <a:latin typeface="Times New Roman" panose="02020603050405020304" pitchFamily="18" charset="0"/>
              </a:rPr>
              <a:t>tư</a:t>
            </a:r>
            <a:r>
              <a:rPr lang="en-US" altLang="en-US" dirty="0">
                <a:latin typeface="Times New Roman" panose="02020603050405020304" pitchFamily="18" charset="0"/>
              </a:rPr>
              <a:t> </a:t>
            </a:r>
            <a:r>
              <a:rPr lang="en-US" altLang="en-US" dirty="0" err="1">
                <a:latin typeface="Times New Roman" panose="02020603050405020304" pitchFamily="18" charset="0"/>
              </a:rPr>
              <a:t>tưởng</a:t>
            </a:r>
            <a:r>
              <a:rPr lang="en-US" altLang="en-US" dirty="0">
                <a:latin typeface="Times New Roman" panose="02020603050405020304" pitchFamily="18" charset="0"/>
              </a:rPr>
              <a:t> </a:t>
            </a:r>
            <a:r>
              <a:rPr lang="en-US" altLang="en-US" dirty="0" err="1">
                <a:latin typeface="Times New Roman" panose="02020603050405020304" pitchFamily="18" charset="0"/>
              </a:rPr>
              <a:t>bảo</a:t>
            </a:r>
            <a:r>
              <a:rPr lang="en-US" altLang="en-US" dirty="0">
                <a:latin typeface="Times New Roman" panose="02020603050405020304" pitchFamily="18" charset="0"/>
              </a:rPr>
              <a:t> </a:t>
            </a:r>
            <a:r>
              <a:rPr lang="en-US" altLang="en-US" dirty="0" err="1">
                <a:latin typeface="Times New Roman" panose="02020603050405020304" pitchFamily="18" charset="0"/>
              </a:rPr>
              <a:t>thủ</a:t>
            </a:r>
            <a:r>
              <a:rPr lang="en-US" altLang="en-US" dirty="0">
                <a:latin typeface="Times New Roman" panose="02020603050405020304" pitchFamily="18" charset="0"/>
              </a:rPr>
              <a:t>, </a:t>
            </a:r>
            <a:r>
              <a:rPr lang="en-US" altLang="en-US" dirty="0" err="1">
                <a:latin typeface="Times New Roman" panose="02020603050405020304" pitchFamily="18" charset="0"/>
              </a:rPr>
              <a:t>trì</a:t>
            </a:r>
            <a:r>
              <a:rPr lang="en-US" altLang="en-US" dirty="0">
                <a:latin typeface="Times New Roman" panose="02020603050405020304" pitchFamily="18" charset="0"/>
              </a:rPr>
              <a:t> </a:t>
            </a:r>
            <a:r>
              <a:rPr lang="en-US" altLang="en-US" dirty="0" err="1">
                <a:latin typeface="Times New Roman" panose="02020603050405020304" pitchFamily="18" charset="0"/>
              </a:rPr>
              <a:t>trệ</a:t>
            </a:r>
            <a:r>
              <a:rPr lang="en-US" altLang="en-US" dirty="0">
                <a:latin typeface="Times New Roman" panose="02020603050405020304" pitchFamily="18" charset="0"/>
              </a:rPr>
              <a:t>, </a:t>
            </a:r>
            <a:r>
              <a:rPr lang="en-US" altLang="en-US" dirty="0" err="1">
                <a:latin typeface="Times New Roman" panose="02020603050405020304" pitchFamily="18" charset="0"/>
              </a:rPr>
              <a:t>hữu</a:t>
            </a:r>
            <a:r>
              <a:rPr lang="en-US" altLang="en-US" dirty="0">
                <a:latin typeface="Times New Roman" panose="02020603050405020304" pitchFamily="18" charset="0"/>
              </a:rPr>
              <a:t> </a:t>
            </a:r>
            <a:r>
              <a:rPr lang="en-US" altLang="en-US" dirty="0" err="1">
                <a:latin typeface="Times New Roman" panose="02020603050405020304" pitchFamily="18" charset="0"/>
              </a:rPr>
              <a:t>khuynh</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biết</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linh</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bước</a:t>
            </a:r>
            <a:r>
              <a:rPr lang="en-US" altLang="en-US" dirty="0">
                <a:latin typeface="Times New Roman" panose="02020603050405020304" pitchFamily="18" charset="0"/>
              </a:rPr>
              <a:t> </a:t>
            </a:r>
            <a:r>
              <a:rPr lang="en-US" altLang="en-US" dirty="0" err="1">
                <a:latin typeface="Times New Roman" panose="02020603050405020304" pitchFamily="18" charset="0"/>
              </a:rPr>
              <a:t>nhảy</a:t>
            </a:r>
            <a:endParaRPr lang="en-US" altLang="en-US" dirty="0">
              <a:latin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09708"/>
            <a:ext cx="10515600" cy="1111130"/>
          </a:xfrm>
        </p:spPr>
        <p:txBody>
          <a:bodyPr>
            <a:normAutofit/>
          </a:bodyPr>
          <a:lstStyle/>
          <a:p>
            <a:pPr algn="just"/>
            <a:r>
              <a:rPr lang="en-US" sz="3600" dirty="0">
                <a:latin typeface="Times New Roman" panose="02020603050405020304" pitchFamily="18" charset="0"/>
                <a:cs typeface="Times New Roman" panose="02020603050405020304" pitchFamily="18" charset="0"/>
              </a:rPr>
              <a:t>c.</a:t>
            </a:r>
            <a:r>
              <a:rPr lang="vi-VN" sz="3600" dirty="0">
                <a:latin typeface="Times New Roman" panose="02020603050405020304" pitchFamily="18" charset="0"/>
                <a:cs typeface="Times New Roman" panose="02020603050405020304" pitchFamily="18" charset="0"/>
              </a:rPr>
              <a:t> </a:t>
            </a:r>
            <a:r>
              <a:rPr lang="en-US" altLang="en-US" sz="3600" b="1" i="1" dirty="0">
                <a:latin typeface="Times New Roman" panose="02020603050405020304" pitchFamily="18" charset="0"/>
              </a:rPr>
              <a:t>Quy </a:t>
            </a:r>
            <a:r>
              <a:rPr lang="en-US" altLang="en-US" sz="3600" b="1" i="1" dirty="0" err="1">
                <a:latin typeface="Times New Roman" panose="02020603050405020304" pitchFamily="18" charset="0"/>
              </a:rPr>
              <a:t>luật</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thống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nhất</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và</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đấu</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tranh</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của</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các</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mặt</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đối</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lập</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v"/>
            </a:pPr>
            <a:r>
              <a:rPr lang="en-US" altLang="en-US" b="1" i="1" dirty="0" err="1">
                <a:latin typeface="Times New Roman" panose="02020603050405020304" pitchFamily="18" charset="0"/>
              </a:rPr>
              <a:t>Vai</a:t>
            </a:r>
            <a:r>
              <a:rPr lang="en-US" altLang="en-US" b="1" i="1" dirty="0">
                <a:latin typeface="Times New Roman" panose="02020603050405020304" pitchFamily="18" charset="0"/>
              </a:rPr>
              <a:t> </a:t>
            </a:r>
            <a:r>
              <a:rPr lang="en-US" altLang="en-US" b="1" i="1" dirty="0" err="1">
                <a:latin typeface="Times New Roman" panose="02020603050405020304" pitchFamily="18" charset="0"/>
              </a:rPr>
              <a:t>trò</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của</a:t>
            </a:r>
            <a:r>
              <a:rPr lang="en-US" altLang="en-US" b="1" i="1" dirty="0">
                <a:latin typeface="Times New Roman" panose="02020603050405020304" pitchFamily="18" charset="0"/>
              </a:rPr>
              <a:t> </a:t>
            </a:r>
            <a:r>
              <a:rPr lang="en-US" altLang="en-US" b="1" i="1" dirty="0" err="1">
                <a:latin typeface="Times New Roman" panose="02020603050405020304" pitchFamily="18" charset="0"/>
              </a:rPr>
              <a:t>quy</a:t>
            </a:r>
            <a:r>
              <a:rPr lang="en-US" altLang="en-US" b="1" i="1" dirty="0">
                <a:latin typeface="Times New Roman" panose="02020603050405020304" pitchFamily="18" charset="0"/>
              </a:rPr>
              <a:t> </a:t>
            </a:r>
            <a:r>
              <a:rPr lang="en-US" altLang="en-US" b="1" i="1" dirty="0" err="1">
                <a:latin typeface="Times New Roman" panose="02020603050405020304" pitchFamily="18" charset="0"/>
              </a:rPr>
              <a:t>luật</a:t>
            </a:r>
            <a:r>
              <a:rPr lang="en-US" altLang="en-US" b="1" dirty="0">
                <a:latin typeface="Times New Roman" panose="02020603050405020304" pitchFamily="18" charset="0"/>
              </a:rPr>
              <a:t>:</a:t>
            </a:r>
            <a:endParaRPr lang="en-US" altLang="en-US" dirty="0">
              <a:latin typeface="Times New Roman" panose="02020603050405020304" pitchFamily="18" charset="0"/>
            </a:endParaRPr>
          </a:p>
          <a:p>
            <a:pPr algn="just">
              <a:buNone/>
            </a:pPr>
            <a:r>
              <a:rPr lang="en-US" altLang="en-US" dirty="0">
                <a:latin typeface="Times New Roman" panose="02020603050405020304" pitchFamily="18" charset="0"/>
              </a:rPr>
              <a:t> </a:t>
            </a:r>
            <a:r>
              <a:rPr lang="en-US" altLang="en-US" dirty="0" err="1">
                <a:latin typeface="Times New Roman" panose="02020603050405020304" pitchFamily="18" charset="0"/>
              </a:rPr>
              <a:t>Quy</a:t>
            </a:r>
            <a:r>
              <a:rPr lang="en-US" altLang="en-US" dirty="0">
                <a:latin typeface="Times New Roman" panose="02020603050405020304" pitchFamily="18" charset="0"/>
              </a:rPr>
              <a:t> </a:t>
            </a:r>
            <a:r>
              <a:rPr lang="en-US" altLang="en-US" dirty="0" err="1">
                <a:latin typeface="Times New Roman" panose="02020603050405020304" pitchFamily="18" charset="0"/>
              </a:rPr>
              <a:t>luật</a:t>
            </a:r>
            <a:r>
              <a:rPr lang="en-US" altLang="en-US" dirty="0">
                <a:latin typeface="Times New Roman" panose="02020603050405020304" pitchFamily="18" charset="0"/>
              </a:rPr>
              <a:t> </a:t>
            </a:r>
            <a:r>
              <a:rPr lang="en-US" altLang="en-US" dirty="0" err="1">
                <a:latin typeface="Times New Roman" panose="02020603050405020304" pitchFamily="18" charset="0"/>
              </a:rPr>
              <a:t>thống</a:t>
            </a:r>
            <a:r>
              <a:rPr lang="en-US" altLang="en-US" dirty="0">
                <a:latin typeface="Times New Roman" panose="02020603050405020304" pitchFamily="18" charset="0"/>
              </a:rPr>
              <a:t> </a:t>
            </a:r>
            <a:r>
              <a:rPr lang="en-US" altLang="en-US" dirty="0" err="1">
                <a:latin typeface="Times New Roman" panose="02020603050405020304" pitchFamily="18" charset="0"/>
              </a:rPr>
              <a:t>nhất</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đấu</a:t>
            </a:r>
            <a:r>
              <a:rPr lang="en-US" altLang="en-US" dirty="0">
                <a:latin typeface="Times New Roman" panose="02020603050405020304" pitchFamily="18" charset="0"/>
              </a:rPr>
              <a:t> </a:t>
            </a:r>
            <a:r>
              <a:rPr lang="en-US" altLang="en-US" dirty="0" err="1">
                <a:latin typeface="Times New Roman" panose="02020603050405020304" pitchFamily="18" charset="0"/>
              </a:rPr>
              <a:t>tranh</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mặt</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lập</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hạt</a:t>
            </a:r>
            <a:r>
              <a:rPr lang="en-US" altLang="en-US" dirty="0">
                <a:latin typeface="Times New Roman" panose="02020603050405020304" pitchFamily="18" charset="0"/>
              </a:rPr>
              <a:t> </a:t>
            </a:r>
            <a:r>
              <a:rPr lang="en-US" altLang="en-US" dirty="0" err="1">
                <a:latin typeface="Times New Roman" panose="02020603050405020304" pitchFamily="18" charset="0"/>
              </a:rPr>
              <a:t>nhân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phép</a:t>
            </a:r>
            <a:r>
              <a:rPr lang="en-US" altLang="en-US" dirty="0">
                <a:latin typeface="Times New Roman" panose="02020603050405020304" pitchFamily="18" charset="0"/>
              </a:rPr>
              <a:t> </a:t>
            </a:r>
            <a:r>
              <a:rPr lang="en-US" altLang="en-US" dirty="0" err="1">
                <a:latin typeface="Times New Roman" panose="02020603050405020304" pitchFamily="18" charset="0"/>
              </a:rPr>
              <a:t>biện</a:t>
            </a:r>
            <a:r>
              <a:rPr lang="en-US" altLang="en-US" dirty="0">
                <a:latin typeface="Times New Roman" panose="02020603050405020304" pitchFamily="18" charset="0"/>
              </a:rPr>
              <a:t> </a:t>
            </a:r>
            <a:r>
              <a:rPr lang="en-US" altLang="en-US" dirty="0" err="1">
                <a:latin typeface="Times New Roman" panose="02020603050405020304" pitchFamily="18" charset="0"/>
              </a:rPr>
              <a:t>chứng</a:t>
            </a:r>
            <a:r>
              <a:rPr lang="en-US" altLang="en-US" dirty="0">
                <a:latin typeface="Times New Roman" panose="02020603050405020304" pitchFamily="18" charset="0"/>
              </a:rPr>
              <a:t> &amp;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quy</a:t>
            </a:r>
            <a:r>
              <a:rPr lang="en-US" altLang="en-US" dirty="0">
                <a:latin typeface="Times New Roman" panose="02020603050405020304" pitchFamily="18" charset="0"/>
              </a:rPr>
              <a:t> </a:t>
            </a:r>
            <a:r>
              <a:rPr lang="en-US" altLang="en-US" dirty="0" err="1">
                <a:latin typeface="Times New Roman" panose="02020603050405020304" pitchFamily="18" charset="0"/>
              </a:rPr>
              <a:t>luật</a:t>
            </a:r>
            <a:r>
              <a:rPr lang="en-US" altLang="en-US" dirty="0">
                <a:latin typeface="Times New Roman" panose="02020603050405020304" pitchFamily="18" charset="0"/>
              </a:rPr>
              <a:t> </a:t>
            </a:r>
            <a:r>
              <a:rPr lang="en-US" altLang="en-US" dirty="0" err="1">
                <a:latin typeface="Times New Roman" panose="02020603050405020304" pitchFamily="18" charset="0"/>
              </a:rPr>
              <a:t>cơ</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PBCDV. </a:t>
            </a:r>
            <a:r>
              <a:rPr lang="en-US" altLang="en-US" dirty="0" err="1">
                <a:latin typeface="Times New Roman" panose="02020603050405020304" pitchFamily="18" charset="0"/>
              </a:rPr>
              <a:t>Quy</a:t>
            </a:r>
            <a:r>
              <a:rPr lang="en-US" altLang="en-US" dirty="0">
                <a:latin typeface="Times New Roman" panose="02020603050405020304" pitchFamily="18" charset="0"/>
              </a:rPr>
              <a:t> </a:t>
            </a:r>
            <a:r>
              <a:rPr lang="en-US" altLang="en-US" dirty="0" err="1">
                <a:latin typeface="Times New Roman" panose="02020603050405020304" pitchFamily="18" charset="0"/>
              </a:rPr>
              <a:t>luật</a:t>
            </a:r>
            <a:r>
              <a:rPr lang="en-US" altLang="en-US" dirty="0">
                <a:latin typeface="Times New Roman" panose="02020603050405020304" pitchFamily="18" charset="0"/>
              </a:rPr>
              <a:t> </a:t>
            </a:r>
            <a:r>
              <a:rPr lang="en-US" altLang="en-US" dirty="0" err="1">
                <a:latin typeface="Times New Roman" panose="02020603050405020304" pitchFamily="18" charset="0"/>
              </a:rPr>
              <a:t>này</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b="1" i="1" dirty="0" err="1">
                <a:latin typeface="Times New Roman" panose="02020603050405020304" pitchFamily="18" charset="0"/>
              </a:rPr>
              <a:t>nguồn</a:t>
            </a:r>
            <a:r>
              <a:rPr lang="en-US" altLang="en-US" b="1" i="1" dirty="0">
                <a:latin typeface="Times New Roman" panose="02020603050405020304" pitchFamily="18" charset="0"/>
              </a:rPr>
              <a:t> </a:t>
            </a:r>
            <a:r>
              <a:rPr lang="en-US" altLang="en-US" b="1" i="1" dirty="0" err="1">
                <a:latin typeface="Times New Roman" panose="02020603050405020304" pitchFamily="18" charset="0"/>
              </a:rPr>
              <a:t>gốc</a:t>
            </a:r>
            <a:r>
              <a:rPr lang="en-US" altLang="en-US" b="1" dirty="0">
                <a:latin typeface="Times New Roman" panose="02020603050405020304" pitchFamily="18" charset="0"/>
              </a:rPr>
              <a:t> </a:t>
            </a:r>
            <a:r>
              <a:rPr lang="en-US" altLang="en-US" b="1" dirty="0" err="1">
                <a:latin typeface="Times New Roman" panose="02020603050405020304" pitchFamily="18" charset="0"/>
              </a:rPr>
              <a:t>và</a:t>
            </a:r>
            <a:r>
              <a:rPr lang="en-US" altLang="en-US" b="1" dirty="0">
                <a:latin typeface="Times New Roman" panose="02020603050405020304" pitchFamily="18" charset="0"/>
              </a:rPr>
              <a:t> </a:t>
            </a:r>
            <a:r>
              <a:rPr lang="en-US" altLang="en-US" b="1" i="1" dirty="0" err="1">
                <a:latin typeface="Times New Roman" panose="02020603050405020304" pitchFamily="18" charset="0"/>
              </a:rPr>
              <a:t>động</a:t>
            </a:r>
            <a:r>
              <a:rPr lang="en-US" altLang="en-US" b="1" i="1" dirty="0">
                <a:latin typeface="Times New Roman" panose="02020603050405020304" pitchFamily="18" charset="0"/>
              </a:rPr>
              <a:t> </a:t>
            </a:r>
            <a:r>
              <a:rPr lang="en-US" altLang="en-US" b="1" i="1" dirty="0" err="1">
                <a:latin typeface="Times New Roman" panose="02020603050405020304" pitchFamily="18" charset="0"/>
              </a:rPr>
              <a:t>lực</a:t>
            </a:r>
            <a:r>
              <a:rPr lang="en-US" altLang="en-US" b="1" dirty="0">
                <a:latin typeface="Times New Roman" panose="02020603050405020304" pitchFamily="18" charset="0"/>
              </a:rPr>
              <a:t> </a:t>
            </a:r>
            <a:r>
              <a:rPr lang="en-US" altLang="en-US" dirty="0" err="1">
                <a:latin typeface="Times New Roman" panose="02020603050405020304" pitchFamily="18" charset="0"/>
              </a:rPr>
              <a:t>cơ</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phổ</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mọi</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endParaRPr lang="en-US" altLang="en-US" dirty="0">
              <a:latin typeface="Times New Roman" panose="02020603050405020304" pitchFamily="18" charset="0"/>
            </a:endParaRPr>
          </a:p>
          <a:p>
            <a:pPr algn="just">
              <a:buNone/>
            </a:pPr>
            <a:r>
              <a:rPr lang="en-US" altLang="en-US" sz="2400" b="1" dirty="0">
                <a:latin typeface="Times New Roman" panose="02020603050405020304" pitchFamily="18" charset="0"/>
              </a:rPr>
              <a:t>     </a:t>
            </a:r>
            <a:endParaRPr lang="en-US" altLang="en-US" sz="2400" b="1" dirty="0">
              <a:latin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22850" y="196949"/>
            <a:ext cx="11350282" cy="1308294"/>
          </a:xfrm>
        </p:spPr>
        <p:txBody>
          <a:bodyPr>
            <a:normAutofit/>
          </a:bodyPr>
          <a:lstStyle/>
          <a:p>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Mâu</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thuẫn</a:t>
            </a:r>
            <a:r>
              <a:rPr lang="en-US" altLang="en-US" sz="2400" b="1" dirty="0">
                <a:latin typeface="Times New Roman" panose="02020603050405020304" pitchFamily="18" charset="0"/>
              </a:rPr>
              <a:t> </a:t>
            </a:r>
            <a:r>
              <a:rPr lang="en-US" altLang="en-US" sz="2400" dirty="0" err="1">
                <a:latin typeface="Times New Roman" panose="02020603050405020304" pitchFamily="18" charset="0"/>
              </a:rPr>
              <a:t>dùng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để</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chỉ</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mối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liên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hệ</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thống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nhất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đấu</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tranh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và</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chuyển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hóa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giữa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các</a:t>
            </a:r>
            <a:r>
              <a:rPr lang="en-US" altLang="en-US" sz="2400" dirty="0">
                <a:latin typeface="Times New Roman" panose="02020603050405020304" pitchFamily="18" charset="0"/>
              </a:rPr>
              <a:t> </a:t>
            </a:r>
            <a:r>
              <a:rPr lang="en-US" altLang="en-US" sz="2400" i="1" dirty="0" err="1">
                <a:latin typeface="Times New Roman" panose="02020603050405020304" pitchFamily="18" charset="0"/>
              </a:rPr>
              <a:t>mặt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đối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lập</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của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mỗi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sự</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vật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hiện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tượng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hoặc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giữa</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các</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sự</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vật</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hiện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tượng</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với</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nhau</a:t>
            </a:r>
            <a:r>
              <a:rPr lang="en-US" altLang="en-US" sz="2400" dirty="0">
                <a:latin typeface="Times New Roman" panose="02020603050405020304" pitchFamily="18" charset="0"/>
              </a:rPr>
              <a:t>.     </a:t>
            </a:r>
            <a:br>
              <a:rPr lang="en-US" altLang="en-US" sz="2400" dirty="0">
                <a:latin typeface="Times New Roman" panose="02020603050405020304" pitchFamily="18" charset="0"/>
              </a:rPr>
            </a:br>
            <a:r>
              <a:rPr lang="en-US" altLang="en-US" sz="2400" dirty="0">
                <a:latin typeface="Times New Roman" panose="02020603050405020304" pitchFamily="18" charset="0"/>
              </a:rPr>
              <a:t>- </a:t>
            </a:r>
            <a:r>
              <a:rPr lang="en-US" altLang="en-US" sz="2400" dirty="0" err="1">
                <a:latin typeface="Times New Roman" panose="02020603050405020304" pitchFamily="18" charset="0"/>
              </a:rPr>
              <a:t>Nhân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tố</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tạo</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thành</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mâu</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thuẫn</a:t>
            </a:r>
            <a:r>
              <a:rPr lang="en-US" altLang="en-US" sz="2400" dirty="0">
                <a:latin typeface="Times New Roman" panose="02020603050405020304" pitchFamily="18" charset="0"/>
              </a:rPr>
              <a:t> </a:t>
            </a:r>
            <a:r>
              <a:rPr lang="en-US" altLang="en-US" sz="2400" dirty="0" err="1">
                <a:latin typeface="Times New Roman" panose="02020603050405020304" pitchFamily="18" charset="0"/>
              </a:rPr>
              <a:t>là</a:t>
            </a:r>
            <a:r>
              <a:rPr lang="en-US" altLang="en-US" sz="2400" dirty="0">
                <a:latin typeface="Times New Roman" panose="02020603050405020304" pitchFamily="18" charset="0"/>
              </a:rPr>
              <a:t> </a:t>
            </a:r>
            <a:r>
              <a:rPr lang="en-US" altLang="en-US" sz="2400" i="1" dirty="0" err="1">
                <a:latin typeface="Times New Roman" panose="02020603050405020304" pitchFamily="18" charset="0"/>
              </a:rPr>
              <a:t>mặt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đối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lập</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22850" y="1505243"/>
            <a:ext cx="11350282" cy="5155807"/>
          </a:xfrm>
        </p:spPr>
        <p:txBody>
          <a:bodyPr>
            <a:normAutofit/>
          </a:bodyPr>
          <a:lstStyle/>
          <a:p>
            <a:pPr algn="just">
              <a:buFont typeface="Wingdings" panose="05000000000000000000" pitchFamily="2" charset="2"/>
              <a:buChar char="v"/>
            </a:pPr>
            <a:r>
              <a:rPr lang="en-US" altLang="en-US" sz="2400" i="1" dirty="0" err="1">
                <a:latin typeface="Times New Roman" panose="02020603050405020304" pitchFamily="18" charset="0"/>
              </a:rPr>
              <a:t>Mặt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đối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lập</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là</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những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mặt</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có</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những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đặc</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điểm</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những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thuộc</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tính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những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tính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quy</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định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có</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khuynh</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hướng</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biến</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đổi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trái</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ngược</a:t>
            </a:r>
            <a:r>
              <a:rPr lang="en-US" altLang="en-US" sz="2400" i="1" dirty="0">
                <a:latin typeface="Times New Roman" panose="02020603050405020304" pitchFamily="18" charset="0"/>
              </a:rPr>
              <a:t> </a:t>
            </a:r>
            <a:r>
              <a:rPr lang="en-US" altLang="en-US" sz="2400" i="1" dirty="0" err="1">
                <a:latin typeface="Times New Roman" panose="02020603050405020304" pitchFamily="18" charset="0"/>
              </a:rPr>
              <a:t>nhau</a:t>
            </a:r>
            <a:endParaRPr lang="en-US" altLang="en-US" sz="2400" i="1" dirty="0">
              <a:latin typeface="Times New Roman" panose="02020603050405020304" pitchFamily="18" charset="0"/>
            </a:endParaRPr>
          </a:p>
          <a:p>
            <a:pPr algn="just"/>
            <a:endParaRPr lang="en-US" sz="2000" b="1"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1153551" y="3151164"/>
            <a:ext cx="1252024" cy="2560320"/>
          </a:xfrm>
          <a:prstGeom prst="roundRect">
            <a:avLst>
              <a:gd name="adj" fmla="val 16667"/>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200" dirty="0" err="1">
                <a:solidFill>
                  <a:schemeClr val="tx1"/>
                </a:solidFill>
                <a:latin typeface="Times New Roman" panose="02020603050405020304" pitchFamily="18" charset="0"/>
              </a:rPr>
              <a:t>Các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mặt</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đối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lập</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5" name="Rectangle 4"/>
          <p:cNvSpPr/>
          <p:nvPr/>
        </p:nvSpPr>
        <p:spPr>
          <a:xfrm rot="10800000" flipH="1" flipV="1">
            <a:off x="3559126" y="2412607"/>
            <a:ext cx="7596553" cy="71230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Nằm</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trong</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sự</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liên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hệ</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tác</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động</a:t>
            </a:r>
            <a:r>
              <a:rPr lang="en-US" altLang="en-US" sz="2200" dirty="0">
                <a:solidFill>
                  <a:schemeClr val="tx1"/>
                </a:solidFill>
                <a:latin typeface="Times New Roman" panose="02020603050405020304" pitchFamily="18" charset="0"/>
              </a:rPr>
              <a:t> qua </a:t>
            </a:r>
            <a:r>
              <a:rPr lang="en-US" altLang="en-US" sz="2200" dirty="0" err="1">
                <a:solidFill>
                  <a:schemeClr val="tx1"/>
                </a:solidFill>
                <a:latin typeface="Times New Roman" panose="02020603050405020304" pitchFamily="18" charset="0"/>
              </a:rPr>
              <a:t>lại</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lẫn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nhau</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tạo</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thành</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mâu</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thuẫn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biện</a:t>
            </a:r>
            <a:r>
              <a:rPr lang="en-US" altLang="en-US" sz="2200" dirty="0">
                <a:solidFill>
                  <a:schemeClr val="tx1"/>
                </a:solidFill>
                <a:latin typeface="Times New Roman" panose="02020603050405020304" pitchFamily="18" charset="0"/>
              </a:rPr>
              <a:t> </a:t>
            </a:r>
            <a:r>
              <a:rPr lang="en-US" altLang="en-US" sz="2200" dirty="0" err="1">
                <a:solidFill>
                  <a:schemeClr val="tx1"/>
                </a:solidFill>
                <a:latin typeface="Times New Roman" panose="02020603050405020304" pitchFamily="18" charset="0"/>
              </a:rPr>
              <a:t>chứng</a:t>
            </a:r>
            <a:endParaRPr lang="en-US" sz="2200" dirty="0">
              <a:solidFill>
                <a:schemeClr val="tx1"/>
              </a:solidFill>
              <a:latin typeface="Times New Roman" panose="02020603050405020304" pitchFamily="18" charset="0"/>
              <a:cs typeface="Times New Roman" panose="02020603050405020304" pitchFamily="18" charset="0"/>
            </a:endParaRPr>
          </a:p>
        </p:txBody>
      </p:sp>
      <p:sp>
        <p:nvSpPr>
          <p:cNvPr id="6" name="Rectangle 5"/>
          <p:cNvSpPr/>
          <p:nvPr/>
        </p:nvSpPr>
        <p:spPr>
          <a:xfrm rot="10800000" flipH="1" flipV="1">
            <a:off x="3559127" y="3263705"/>
            <a:ext cx="7596551" cy="71230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en-US" sz="2200" dirty="0">
              <a:solidFill>
                <a:schemeClr val="tx1"/>
              </a:solidFill>
              <a:latin typeface="Times New Roman" panose="02020603050405020304" pitchFamily="18" charset="0"/>
              <a:cs typeface="Times New Roman" panose="02020603050405020304" pitchFamily="18" charset="0"/>
            </a:endParaRPr>
          </a:p>
          <a:p>
            <a:pPr algn="just"/>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Vừa</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thống</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nhất</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với</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nhau</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lại</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vừa</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đấu</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tranh</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với</a:t>
            </a:r>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dirty="0" err="1">
                <a:solidFill>
                  <a:schemeClr val="tx1"/>
                </a:solidFill>
                <a:latin typeface="Times New Roman" panose="02020603050405020304" pitchFamily="18" charset="0"/>
                <a:cs typeface="Times New Roman" panose="02020603050405020304" pitchFamily="18" charset="0"/>
              </a:rPr>
              <a:t>nhau</a:t>
            </a:r>
            <a:br>
              <a:rPr lang="en-US" altLang="en-US" sz="1800" dirty="0">
                <a:latin typeface="Times New Roman" panose="02020603050405020304" pitchFamily="18" charset="0"/>
                <a:cs typeface="Times New Roman" panose="02020603050405020304" pitchFamily="18" charset="0"/>
              </a:rPr>
            </a:br>
            <a:endParaRPr lang="en-US" dirty="0"/>
          </a:p>
        </p:txBody>
      </p:sp>
      <p:cxnSp>
        <p:nvCxnSpPr>
          <p:cNvPr id="8" name="Straight Arrow Connector 7"/>
          <p:cNvCxnSpPr>
            <a:stCxn id="4" idx="3"/>
            <a:endCxn id="5" idx="1"/>
          </p:cNvCxnSpPr>
          <p:nvPr/>
        </p:nvCxnSpPr>
        <p:spPr>
          <a:xfrm flipV="1">
            <a:off x="2405575" y="2768758"/>
            <a:ext cx="1153551" cy="166256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0" name="Straight Arrow Connector 9"/>
          <p:cNvCxnSpPr>
            <a:stCxn id="4" idx="3"/>
            <a:endCxn id="6" idx="1"/>
          </p:cNvCxnSpPr>
          <p:nvPr/>
        </p:nvCxnSpPr>
        <p:spPr>
          <a:xfrm flipV="1">
            <a:off x="2405575" y="3619857"/>
            <a:ext cx="1153552" cy="81146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23" name="Rectangle 22"/>
          <p:cNvSpPr/>
          <p:nvPr/>
        </p:nvSpPr>
        <p:spPr>
          <a:xfrm>
            <a:off x="3559127" y="4114805"/>
            <a:ext cx="8110023" cy="123795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ltLang="en-US" sz="2000" i="1" dirty="0">
              <a:solidFill>
                <a:schemeClr val="tx1"/>
              </a:solidFill>
              <a:latin typeface="Times New Roman" panose="02020603050405020304" pitchFamily="18" charset="0"/>
              <a:cs typeface="Times New Roman" panose="02020603050405020304" pitchFamily="18" charset="0"/>
            </a:endParaRPr>
          </a:p>
          <a:p>
            <a:pPr marL="342900" indent="-342900" algn="just">
              <a:buFont typeface="Wingdings" panose="05000000000000000000" pitchFamily="2" charset="2"/>
              <a:buChar char="v"/>
            </a:pPr>
            <a:r>
              <a:rPr lang="en-US" altLang="en-US" sz="2200" i="1" dirty="0" err="1">
                <a:solidFill>
                  <a:schemeClr val="tx1"/>
                </a:solidFill>
                <a:latin typeface="Times New Roman" panose="02020603050405020304" pitchFamily="18" charset="0"/>
                <a:cs typeface="Times New Roman" panose="02020603050405020304" pitchFamily="18" charset="0"/>
              </a:rPr>
              <a:t>Sự</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thống</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nhất</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của</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các</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mặt</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đối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lập</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là</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sự</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nương</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tựa</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vào</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nhau</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không</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tách</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rời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nhau</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giữa</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các</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mặt</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đối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lập</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sự</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tồn</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tại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của</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mặt</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này</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phải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lấy</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sự</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tồn</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tại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của</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mặt</a:t>
            </a:r>
            <a:r>
              <a:rPr lang="en-US" altLang="en-US" sz="2200" i="1" dirty="0">
                <a:solidFill>
                  <a:schemeClr val="tx1"/>
                </a:solidFill>
                <a:latin typeface="Times New Roman" panose="02020603050405020304" pitchFamily="18" charset="0"/>
                <a:cs typeface="Times New Roman" panose="02020603050405020304" pitchFamily="18" charset="0"/>
              </a:rPr>
              <a:t> kia </a:t>
            </a:r>
            <a:r>
              <a:rPr lang="en-US" altLang="en-US" sz="2200" i="1" dirty="0" err="1">
                <a:solidFill>
                  <a:schemeClr val="tx1"/>
                </a:solidFill>
                <a:latin typeface="Times New Roman" panose="02020603050405020304" pitchFamily="18" charset="0"/>
                <a:cs typeface="Times New Roman" panose="02020603050405020304" pitchFamily="18" charset="0"/>
              </a:rPr>
              <a:t>làm</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tiền</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đề</a:t>
            </a:r>
            <a:r>
              <a:rPr lang="en-US" altLang="en-US" sz="2200" i="1" dirty="0">
                <a:solidFill>
                  <a:schemeClr val="tx1"/>
                </a:solidFill>
                <a:latin typeface="Times New Roman" panose="02020603050405020304" pitchFamily="18" charset="0"/>
                <a:cs typeface="Times New Roman" panose="02020603050405020304" pitchFamily="18" charset="0"/>
              </a:rPr>
              <a:t>.</a:t>
            </a:r>
            <a:endParaRPr lang="en-US" altLang="en-US" sz="2200" i="1" dirty="0">
              <a:solidFill>
                <a:schemeClr val="tx1"/>
              </a:solidFill>
              <a:latin typeface="Times New Roman" panose="02020603050405020304" pitchFamily="18" charset="0"/>
              <a:cs typeface="Times New Roman" panose="02020603050405020304" pitchFamily="18" charset="0"/>
            </a:endParaRPr>
          </a:p>
          <a:p>
            <a:pPr algn="ctr"/>
            <a:endParaRPr lang="en-US" sz="2200" dirty="0">
              <a:latin typeface="Times New Roman" panose="02020603050405020304" pitchFamily="18" charset="0"/>
              <a:cs typeface="Times New Roman" panose="02020603050405020304" pitchFamily="18" charset="0"/>
            </a:endParaRPr>
          </a:p>
        </p:txBody>
      </p:sp>
      <p:sp>
        <p:nvSpPr>
          <p:cNvPr id="30" name="Rectangle 29"/>
          <p:cNvSpPr/>
          <p:nvPr/>
        </p:nvSpPr>
        <p:spPr>
          <a:xfrm>
            <a:off x="3559126" y="5435291"/>
            <a:ext cx="8110022" cy="1237953"/>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altLang="en-US" sz="2200" dirty="0">
                <a:solidFill>
                  <a:schemeClr val="tx1"/>
                </a:solidFill>
                <a:latin typeface="Times New Roman" panose="02020603050405020304" pitchFamily="18" charset="0"/>
                <a:cs typeface="Times New Roman" panose="02020603050405020304" pitchFamily="18" charset="0"/>
              </a:rPr>
              <a:t>- </a:t>
            </a:r>
            <a:r>
              <a:rPr lang="en-US" altLang="en-US" sz="2200" i="1" dirty="0">
                <a:solidFill>
                  <a:schemeClr val="tx1"/>
                </a:solidFill>
                <a:latin typeface="Times New Roman" panose="02020603050405020304" pitchFamily="18" charset="0"/>
                <a:cs typeface="Times New Roman" panose="02020603050405020304" pitchFamily="18" charset="0"/>
              </a:rPr>
              <a:t>Đ</a:t>
            </a:r>
            <a:r>
              <a:rPr lang="vi-VN" altLang="en-US" sz="2200" i="1" dirty="0">
                <a:solidFill>
                  <a:schemeClr val="tx1"/>
                </a:solidFill>
                <a:latin typeface="Times New Roman" panose="02020603050405020304" pitchFamily="18" charset="0"/>
                <a:cs typeface="Times New Roman" panose="02020603050405020304" pitchFamily="18" charset="0"/>
              </a:rPr>
              <a:t>ấu tranh</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của</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các</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mặt</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đối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lập</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là</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sự</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tác</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động</a:t>
            </a:r>
            <a:r>
              <a:rPr lang="en-US" altLang="en-US" sz="2200" i="1" dirty="0">
                <a:solidFill>
                  <a:schemeClr val="tx1"/>
                </a:solidFill>
                <a:latin typeface="Times New Roman" panose="02020603050405020304" pitchFamily="18" charset="0"/>
                <a:cs typeface="Times New Roman" panose="02020603050405020304" pitchFamily="18" charset="0"/>
              </a:rPr>
              <a:t> qua </a:t>
            </a:r>
            <a:r>
              <a:rPr lang="en-US" altLang="en-US" sz="2200" i="1" dirty="0" err="1">
                <a:solidFill>
                  <a:schemeClr val="tx1"/>
                </a:solidFill>
                <a:latin typeface="Times New Roman" panose="02020603050405020304" pitchFamily="18" charset="0"/>
                <a:cs typeface="Times New Roman" panose="02020603050405020304" pitchFamily="18" charset="0"/>
              </a:rPr>
              <a:t>lại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theo</a:t>
            </a:r>
            <a:r>
              <a:rPr lang="en-US" altLang="en-US" sz="2200" i="1" dirty="0">
                <a:solidFill>
                  <a:schemeClr val="tx1"/>
                </a:solidFill>
                <a:latin typeface="Times New Roman" panose="02020603050405020304" pitchFamily="18" charset="0"/>
                <a:cs typeface="Times New Roman" panose="02020603050405020304" pitchFamily="18" charset="0"/>
              </a:rPr>
              <a:t> xu </a:t>
            </a:r>
            <a:r>
              <a:rPr lang="en-US" altLang="en-US" sz="2200" i="1" dirty="0" err="1">
                <a:solidFill>
                  <a:schemeClr val="tx1"/>
                </a:solidFill>
                <a:latin typeface="Times New Roman" panose="02020603050405020304" pitchFamily="18" charset="0"/>
                <a:cs typeface="Times New Roman" panose="02020603050405020304" pitchFamily="18" charset="0"/>
              </a:rPr>
              <a:t>hướng</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bài</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trừ</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và</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phủ</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định</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lẫn</a:t>
            </a:r>
            <a:r>
              <a:rPr lang="en-US" altLang="en-US" sz="2200" i="1" dirty="0">
                <a:solidFill>
                  <a:schemeClr val="tx1"/>
                </a:solidFill>
                <a:latin typeface="Times New Roman" panose="02020603050405020304" pitchFamily="18" charset="0"/>
                <a:cs typeface="Times New Roman" panose="02020603050405020304" pitchFamily="18" charset="0"/>
              </a:rPr>
              <a:t> </a:t>
            </a:r>
            <a:r>
              <a:rPr lang="en-US" altLang="en-US" sz="2200" i="1" dirty="0" err="1">
                <a:solidFill>
                  <a:schemeClr val="tx1"/>
                </a:solidFill>
                <a:latin typeface="Times New Roman" panose="02020603050405020304" pitchFamily="18" charset="0"/>
                <a:cs typeface="Times New Roman" panose="02020603050405020304" pitchFamily="18" charset="0"/>
              </a:rPr>
              <a:t>nhau</a:t>
            </a:r>
            <a:endParaRPr lang="en-US" sz="2200" dirty="0">
              <a:solidFill>
                <a:schemeClr val="tx1"/>
              </a:solidFill>
              <a:latin typeface="Times New Roman" panose="02020603050405020304" pitchFamily="18" charset="0"/>
              <a:cs typeface="Times New Roman" panose="02020603050405020304" pitchFamily="18" charset="0"/>
            </a:endParaRPr>
          </a:p>
        </p:txBody>
      </p:sp>
      <p:cxnSp>
        <p:nvCxnSpPr>
          <p:cNvPr id="40" name="Straight Arrow Connector 39"/>
          <p:cNvCxnSpPr>
            <a:stCxn id="4" idx="3"/>
            <a:endCxn id="23" idx="1"/>
          </p:cNvCxnSpPr>
          <p:nvPr/>
        </p:nvCxnSpPr>
        <p:spPr>
          <a:xfrm>
            <a:off x="2405575" y="4431324"/>
            <a:ext cx="1153552" cy="302457"/>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42" name="Straight Arrow Connector 41"/>
          <p:cNvCxnSpPr>
            <a:stCxn id="4" idx="3"/>
            <a:endCxn id="30" idx="1"/>
          </p:cNvCxnSpPr>
          <p:nvPr/>
        </p:nvCxnSpPr>
        <p:spPr>
          <a:xfrm>
            <a:off x="2405575" y="4431324"/>
            <a:ext cx="1153551" cy="162294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06475"/>
          </a:xfrm>
        </p:spPr>
        <p:txBody>
          <a:bodyPr>
            <a:normAutofit/>
          </a:bodyPr>
          <a:lstStyle/>
          <a:p>
            <a:pPr marL="457200" indent="-457200">
              <a:buFont typeface="Wingdings" panose="05000000000000000000" pitchFamily="2" charset="2"/>
              <a:buChar char="v"/>
            </a:pPr>
            <a:r>
              <a:rPr lang="en-US" sz="3200" b="1" i="1" dirty="0" err="1">
                <a:latin typeface="Times New Roman" panose="02020603050405020304" pitchFamily="18" charset="0"/>
              </a:rPr>
              <a:t>Mâu</a:t>
            </a:r>
            <a:r>
              <a:rPr lang="en-US" sz="3200" b="1" i="1" dirty="0">
                <a:latin typeface="Times New Roman" panose="02020603050405020304" pitchFamily="18" charset="0"/>
              </a:rPr>
              <a:t> </a:t>
            </a:r>
            <a:r>
              <a:rPr lang="en-US" sz="3200" b="1" i="1" dirty="0" err="1">
                <a:latin typeface="Times New Roman" panose="02020603050405020304" pitchFamily="18" charset="0"/>
              </a:rPr>
              <a:t>thuẫn</a:t>
            </a:r>
            <a:r>
              <a:rPr lang="en-US" sz="3200" b="1" i="1" dirty="0">
                <a:latin typeface="Times New Roman" panose="02020603050405020304" pitchFamily="18" charset="0"/>
              </a:rPr>
              <a:t> </a:t>
            </a:r>
            <a:r>
              <a:rPr lang="en-US" sz="3200" b="1" i="1" dirty="0" err="1">
                <a:latin typeface="Times New Roman" panose="02020603050405020304" pitchFamily="18" charset="0"/>
              </a:rPr>
              <a:t>là</a:t>
            </a:r>
            <a:r>
              <a:rPr lang="en-US" sz="3200" b="1" i="1" dirty="0">
                <a:latin typeface="Times New Roman" panose="02020603050405020304" pitchFamily="18" charset="0"/>
              </a:rPr>
              <a:t> </a:t>
            </a:r>
            <a:r>
              <a:rPr lang="en-US" sz="3200" b="1" i="1" dirty="0" err="1">
                <a:latin typeface="Times New Roman" panose="02020603050405020304" pitchFamily="18" charset="0"/>
              </a:rPr>
              <a:t>nguồn</a:t>
            </a:r>
            <a:r>
              <a:rPr lang="en-US" sz="3200" b="1" i="1" dirty="0">
                <a:latin typeface="Times New Roman" panose="02020603050405020304" pitchFamily="18" charset="0"/>
              </a:rPr>
              <a:t> </a:t>
            </a:r>
            <a:r>
              <a:rPr lang="en-US" sz="3200" b="1" i="1" dirty="0" err="1">
                <a:latin typeface="Times New Roman" panose="02020603050405020304" pitchFamily="18" charset="0"/>
              </a:rPr>
              <a:t>gốc</a:t>
            </a:r>
            <a:r>
              <a:rPr lang="en-US" sz="3200" b="1" i="1" dirty="0">
                <a:latin typeface="Times New Roman" panose="02020603050405020304" pitchFamily="18" charset="0"/>
              </a:rPr>
              <a:t> </a:t>
            </a:r>
            <a:r>
              <a:rPr lang="en-US" sz="3200" b="1" i="1" dirty="0" err="1">
                <a:latin typeface="Times New Roman" panose="02020603050405020304" pitchFamily="18" charset="0"/>
              </a:rPr>
              <a:t>của</a:t>
            </a:r>
            <a:r>
              <a:rPr lang="en-US" sz="3200" b="1" i="1" dirty="0">
                <a:latin typeface="Times New Roman" panose="02020603050405020304" pitchFamily="18" charset="0"/>
              </a:rPr>
              <a:t> </a:t>
            </a:r>
            <a:r>
              <a:rPr lang="en-US" sz="3200" b="1" i="1" dirty="0" err="1">
                <a:latin typeface="Times New Roman" panose="02020603050405020304" pitchFamily="18" charset="0"/>
              </a:rPr>
              <a:t>sự</a:t>
            </a:r>
            <a:r>
              <a:rPr lang="en-US" sz="3200" b="1" i="1" dirty="0">
                <a:latin typeface="Times New Roman" panose="02020603050405020304" pitchFamily="18" charset="0"/>
              </a:rPr>
              <a:t> </a:t>
            </a:r>
            <a:r>
              <a:rPr lang="en-US" sz="3200" b="1" i="1" dirty="0" err="1">
                <a:latin typeface="Times New Roman" panose="02020603050405020304" pitchFamily="18" charset="0"/>
              </a:rPr>
              <a:t>vận</a:t>
            </a:r>
            <a:r>
              <a:rPr lang="en-US" sz="3200" b="1" i="1" dirty="0">
                <a:latin typeface="Times New Roman" panose="02020603050405020304" pitchFamily="18" charset="0"/>
              </a:rPr>
              <a:t> </a:t>
            </a:r>
            <a:r>
              <a:rPr lang="en-US" sz="3200" b="1" i="1" dirty="0" err="1">
                <a:latin typeface="Times New Roman" panose="02020603050405020304" pitchFamily="18" charset="0"/>
              </a:rPr>
              <a:t>động</a:t>
            </a:r>
            <a:r>
              <a:rPr lang="en-US" sz="3200" b="1" i="1" dirty="0">
                <a:latin typeface="Times New Roman" panose="02020603050405020304" pitchFamily="18" charset="0"/>
              </a:rPr>
              <a:t> &amp; </a:t>
            </a:r>
            <a:r>
              <a:rPr lang="en-US" sz="3200" b="1" i="1" dirty="0" err="1">
                <a:latin typeface="Times New Roman" panose="02020603050405020304" pitchFamily="18" charset="0"/>
              </a:rPr>
              <a:t>phát</a:t>
            </a:r>
            <a:r>
              <a:rPr lang="en-US" sz="3200" b="1" i="1" dirty="0">
                <a:latin typeface="Times New Roman" panose="02020603050405020304" pitchFamily="18" charset="0"/>
              </a:rPr>
              <a:t> </a:t>
            </a:r>
            <a:r>
              <a:rPr lang="en-US" sz="3200" b="1" i="1" dirty="0" err="1">
                <a:latin typeface="Times New Roman" panose="02020603050405020304" pitchFamily="18" charset="0"/>
              </a:rPr>
              <a:t>triển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371600"/>
            <a:ext cx="10515600" cy="4805363"/>
          </a:xfrm>
        </p:spPr>
        <p:txBody>
          <a:bodyPr/>
          <a:lstStyle/>
          <a:p>
            <a:pPr algn="just">
              <a:buFontTx/>
              <a:buChar char="-"/>
              <a:defRPr/>
            </a:pPr>
            <a:r>
              <a:rPr lang="en-US" dirty="0" err="1">
                <a:latin typeface="Times New Roman" panose="02020603050405020304" pitchFamily="18" charset="0"/>
              </a:rPr>
              <a:t>Mâu</a:t>
            </a:r>
            <a:r>
              <a:rPr lang="en-US" dirty="0">
                <a:latin typeface="Times New Roman" panose="02020603050405020304" pitchFamily="18" charset="0"/>
              </a:rPr>
              <a:t> </a:t>
            </a:r>
            <a:r>
              <a:rPr lang="en-US" dirty="0" err="1">
                <a:latin typeface="Times New Roman" panose="02020603050405020304" pitchFamily="18" charset="0"/>
              </a:rPr>
              <a:t>thuẫn</a:t>
            </a:r>
            <a:r>
              <a:rPr lang="en-US" dirty="0">
                <a:latin typeface="Times New Roman" panose="02020603050405020304" pitchFamily="18" charset="0"/>
              </a:rPr>
              <a:t> </a:t>
            </a:r>
            <a:r>
              <a:rPr lang="vi-VN" dirty="0">
                <a:latin typeface="Times New Roman" panose="02020603050405020304" pitchFamily="18" charset="0"/>
              </a:rPr>
              <a:t>biện chứng bao hàm cả “sự thống nhất” lẫn “đấu tranh” của </a:t>
            </a:r>
            <a:r>
              <a:rPr lang="en-US" dirty="0" err="1">
                <a:latin typeface="Times New Roman" panose="02020603050405020304" pitchFamily="18" charset="0"/>
              </a:rPr>
              <a:t>các</a:t>
            </a:r>
            <a:r>
              <a:rPr lang="en-US" dirty="0">
                <a:latin typeface="Times New Roman" panose="02020603050405020304" pitchFamily="18" charset="0"/>
              </a:rPr>
              <a:t> </a:t>
            </a:r>
            <a:r>
              <a:rPr lang="en-US" dirty="0" err="1">
                <a:latin typeface="Times New Roman" panose="02020603050405020304" pitchFamily="18" charset="0"/>
              </a:rPr>
              <a:t>mặt</a:t>
            </a:r>
            <a:r>
              <a:rPr lang="en-US" dirty="0">
                <a:latin typeface="Times New Roman" panose="02020603050405020304" pitchFamily="18" charset="0"/>
              </a:rPr>
              <a:t> </a:t>
            </a:r>
            <a:r>
              <a:rPr lang="en-US" dirty="0" err="1">
                <a:latin typeface="Times New Roman" panose="02020603050405020304" pitchFamily="18" charset="0"/>
              </a:rPr>
              <a:t>đối</a:t>
            </a:r>
            <a:r>
              <a:rPr lang="en-US" dirty="0">
                <a:latin typeface="Times New Roman" panose="02020603050405020304" pitchFamily="18" charset="0"/>
              </a:rPr>
              <a:t> </a:t>
            </a:r>
            <a:r>
              <a:rPr lang="en-US" dirty="0" err="1">
                <a:latin typeface="Times New Roman" panose="02020603050405020304" pitchFamily="18" charset="0"/>
              </a:rPr>
              <a:t>lập</a:t>
            </a:r>
            <a:r>
              <a:rPr lang="en-US" dirty="0">
                <a:latin typeface="Times New Roman" panose="02020603050405020304" pitchFamily="18" charset="0"/>
              </a:rPr>
              <a:t> </a:t>
            </a:r>
            <a:endParaRPr lang="vi-VN" dirty="0">
              <a:latin typeface="Times New Roman" panose="02020603050405020304" pitchFamily="18" charset="0"/>
            </a:endParaRPr>
          </a:p>
          <a:p>
            <a:pPr algn="just">
              <a:buFontTx/>
              <a:buChar char="-"/>
              <a:defRPr/>
            </a:pPr>
            <a:r>
              <a:rPr lang="en-US" dirty="0" err="1">
                <a:latin typeface="Times New Roman" panose="02020603050405020304" pitchFamily="18" charset="0"/>
              </a:rPr>
              <a:t>Đó</a:t>
            </a:r>
            <a:r>
              <a:rPr lang="en-US" dirty="0">
                <a:latin typeface="Times New Roman" panose="02020603050405020304" pitchFamily="18" charset="0"/>
              </a:rPr>
              <a:t> </a:t>
            </a:r>
            <a:r>
              <a:rPr lang="en-US" dirty="0" err="1">
                <a:latin typeface="Times New Roman" panose="02020603050405020304" pitchFamily="18" charset="0"/>
              </a:rPr>
              <a:t>là</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tác</a:t>
            </a:r>
            <a:r>
              <a:rPr lang="en-US" dirty="0">
                <a:latin typeface="Times New Roman" panose="02020603050405020304" pitchFamily="18" charset="0"/>
              </a:rPr>
              <a:t> </a:t>
            </a:r>
            <a:r>
              <a:rPr lang="en-US" dirty="0" err="1">
                <a:latin typeface="Times New Roman" panose="02020603050405020304" pitchFamily="18" charset="0"/>
              </a:rPr>
              <a:t>động</a:t>
            </a:r>
            <a:r>
              <a:rPr lang="en-US" dirty="0">
                <a:latin typeface="Times New Roman" panose="02020603050405020304" pitchFamily="18" charset="0"/>
              </a:rPr>
              <a:t> qua </a:t>
            </a:r>
            <a:r>
              <a:rPr lang="en-US" dirty="0" err="1">
                <a:latin typeface="Times New Roman" panose="02020603050405020304" pitchFamily="18" charset="0"/>
              </a:rPr>
              <a:t>lại</a:t>
            </a:r>
            <a:r>
              <a:rPr lang="en-US" dirty="0">
                <a:latin typeface="Times New Roman" panose="02020603050405020304" pitchFamily="18" charset="0"/>
              </a:rPr>
              <a:t> </a:t>
            </a:r>
            <a:r>
              <a:rPr lang="en-US" dirty="0" err="1">
                <a:latin typeface="Times New Roman" panose="02020603050405020304" pitchFamily="18" charset="0"/>
              </a:rPr>
              <a:t>của</a:t>
            </a:r>
            <a:r>
              <a:rPr lang="en-US" dirty="0">
                <a:latin typeface="Times New Roman" panose="02020603050405020304" pitchFamily="18" charset="0"/>
              </a:rPr>
              <a:t> 2 </a:t>
            </a:r>
            <a:r>
              <a:rPr lang="en-US" dirty="0" err="1">
                <a:latin typeface="Times New Roman" panose="02020603050405020304" pitchFamily="18" charset="0"/>
              </a:rPr>
              <a:t>mặt</a:t>
            </a:r>
            <a:r>
              <a:rPr lang="en-US" dirty="0">
                <a:latin typeface="Times New Roman" panose="02020603050405020304" pitchFamily="18" charset="0"/>
              </a:rPr>
              <a:t> </a:t>
            </a:r>
            <a:r>
              <a:rPr lang="en-US" dirty="0" err="1">
                <a:latin typeface="Times New Roman" panose="02020603050405020304" pitchFamily="18" charset="0"/>
              </a:rPr>
              <a:t>đối</a:t>
            </a:r>
            <a:r>
              <a:rPr lang="en-US" dirty="0">
                <a:latin typeface="Times New Roman" panose="02020603050405020304" pitchFamily="18" charset="0"/>
              </a:rPr>
              <a:t> </a:t>
            </a:r>
            <a:r>
              <a:rPr lang="en-US" dirty="0" err="1">
                <a:latin typeface="Times New Roman" panose="02020603050405020304" pitchFamily="18" charset="0"/>
              </a:rPr>
              <a:t>lập</a:t>
            </a:r>
            <a:r>
              <a:rPr lang="en-US" dirty="0">
                <a:latin typeface="Times New Roman" panose="02020603050405020304" pitchFamily="18" charset="0"/>
              </a:rPr>
              <a:t> </a:t>
            </a:r>
            <a:r>
              <a:rPr lang="en-US" dirty="0" err="1">
                <a:latin typeface="Times New Roman" panose="02020603050405020304" pitchFamily="18" charset="0"/>
              </a:rPr>
              <a:t>là</a:t>
            </a:r>
            <a:r>
              <a:rPr lang="en-US" dirty="0">
                <a:latin typeface="Times New Roman" panose="02020603050405020304" pitchFamily="18" charset="0"/>
              </a:rPr>
              <a:t> </a:t>
            </a:r>
            <a:r>
              <a:rPr lang="en-US" dirty="0" err="1">
                <a:latin typeface="Times New Roman" panose="02020603050405020304" pitchFamily="18" charset="0"/>
              </a:rPr>
              <a:t>nguyên</a:t>
            </a:r>
            <a:r>
              <a:rPr lang="en-US" dirty="0">
                <a:latin typeface="Times New Roman" panose="02020603050405020304" pitchFamily="18" charset="0"/>
              </a:rPr>
              <a:t> </a:t>
            </a:r>
            <a:r>
              <a:rPr lang="en-US" dirty="0" err="1">
                <a:latin typeface="Times New Roman" panose="02020603050405020304" pitchFamily="18" charset="0"/>
              </a:rPr>
              <a:t>nhân</a:t>
            </a:r>
            <a:r>
              <a:rPr lang="en-US" dirty="0">
                <a:latin typeface="Times New Roman" panose="02020603050405020304" pitchFamily="18" charset="0"/>
              </a:rPr>
              <a:t> </a:t>
            </a:r>
            <a:r>
              <a:rPr lang="en-US" dirty="0" err="1">
                <a:latin typeface="Times New Roman" panose="02020603050405020304" pitchFamily="18" charset="0"/>
              </a:rPr>
              <a:t>chính</a:t>
            </a:r>
            <a:r>
              <a:rPr lang="en-US" dirty="0">
                <a:latin typeface="Times New Roman" panose="02020603050405020304" pitchFamily="18" charset="0"/>
              </a:rPr>
              <a:t> </a:t>
            </a:r>
            <a:r>
              <a:rPr lang="en-US" dirty="0" err="1">
                <a:latin typeface="Times New Roman" panose="02020603050405020304" pitchFamily="18" charset="0"/>
              </a:rPr>
              <a:t>của</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vận</a:t>
            </a:r>
            <a:r>
              <a:rPr lang="en-US" dirty="0">
                <a:latin typeface="Times New Roman" panose="02020603050405020304" pitchFamily="18" charset="0"/>
              </a:rPr>
              <a:t> </a:t>
            </a:r>
            <a:r>
              <a:rPr lang="en-US" dirty="0" err="1">
                <a:latin typeface="Times New Roman" panose="02020603050405020304" pitchFamily="18" charset="0"/>
              </a:rPr>
              <a:t>động</a:t>
            </a:r>
            <a:r>
              <a:rPr lang="en-US" dirty="0">
                <a:latin typeface="Times New Roman" panose="02020603050405020304" pitchFamily="18" charset="0"/>
              </a:rPr>
              <a:t> </a:t>
            </a:r>
            <a:r>
              <a:rPr lang="en-US" dirty="0" err="1">
                <a:latin typeface="Times New Roman" panose="02020603050405020304" pitchFamily="18" charset="0"/>
              </a:rPr>
              <a:t>của</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vật</a:t>
            </a:r>
            <a:r>
              <a:rPr lang="en-US" dirty="0">
                <a:latin typeface="Times New Roman" panose="02020603050405020304" pitchFamily="18" charset="0"/>
              </a:rPr>
              <a:t>.</a:t>
            </a:r>
            <a:endParaRPr lang="en-US" dirty="0">
              <a:latin typeface="Times New Roman" panose="02020603050405020304" pitchFamily="18" charset="0"/>
            </a:endParaRPr>
          </a:p>
          <a:p>
            <a:pPr algn="just">
              <a:defRPr/>
            </a:pPr>
            <a:r>
              <a:rPr lang="en-US" dirty="0" err="1">
                <a:latin typeface="Times New Roman" panose="02020603050405020304" pitchFamily="18" charset="0"/>
              </a:rPr>
              <a:t>Trong</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tác</a:t>
            </a:r>
            <a:r>
              <a:rPr lang="en-US" dirty="0">
                <a:latin typeface="Times New Roman" panose="02020603050405020304" pitchFamily="18" charset="0"/>
              </a:rPr>
              <a:t> </a:t>
            </a:r>
            <a:r>
              <a:rPr lang="en-US" dirty="0" err="1">
                <a:latin typeface="Times New Roman" panose="02020603050405020304" pitchFamily="18" charset="0"/>
              </a:rPr>
              <a:t>động</a:t>
            </a:r>
            <a:r>
              <a:rPr lang="en-US" dirty="0">
                <a:latin typeface="Times New Roman" panose="02020603050405020304" pitchFamily="18" charset="0"/>
              </a:rPr>
              <a:t> </a:t>
            </a:r>
            <a:r>
              <a:rPr lang="en-US" dirty="0" err="1">
                <a:latin typeface="Times New Roman" panose="02020603050405020304" pitchFamily="18" charset="0"/>
              </a:rPr>
              <a:t>lẫn</a:t>
            </a:r>
            <a:r>
              <a:rPr lang="en-US" dirty="0">
                <a:latin typeface="Times New Roman" panose="02020603050405020304" pitchFamily="18" charset="0"/>
              </a:rPr>
              <a:t> </a:t>
            </a:r>
            <a:r>
              <a:rPr lang="en-US" dirty="0" err="1">
                <a:latin typeface="Times New Roman" panose="02020603050405020304" pitchFamily="18" charset="0"/>
              </a:rPr>
              <a:t>nhau</a:t>
            </a:r>
            <a:r>
              <a:rPr lang="en-US" dirty="0">
                <a:latin typeface="Times New Roman" panose="02020603050405020304" pitchFamily="18" charset="0"/>
              </a:rPr>
              <a:t>, </a:t>
            </a:r>
            <a:r>
              <a:rPr lang="en-US" dirty="0" err="1">
                <a:latin typeface="Times New Roman" panose="02020603050405020304" pitchFamily="18" charset="0"/>
              </a:rPr>
              <a:t>cả</a:t>
            </a:r>
            <a:r>
              <a:rPr lang="en-US" dirty="0">
                <a:latin typeface="Times New Roman" panose="02020603050405020304" pitchFamily="18" charset="0"/>
              </a:rPr>
              <a:t> 2 </a:t>
            </a:r>
            <a:r>
              <a:rPr lang="en-US" dirty="0" err="1">
                <a:latin typeface="Times New Roman" panose="02020603050405020304" pitchFamily="18" charset="0"/>
              </a:rPr>
              <a:t>mặt</a:t>
            </a:r>
            <a:r>
              <a:rPr lang="en-US" dirty="0">
                <a:latin typeface="Times New Roman" panose="02020603050405020304" pitchFamily="18" charset="0"/>
              </a:rPr>
              <a:t> </a:t>
            </a:r>
            <a:r>
              <a:rPr lang="en-US" dirty="0" err="1">
                <a:latin typeface="Times New Roman" panose="02020603050405020304" pitchFamily="18" charset="0"/>
              </a:rPr>
              <a:t>đối</a:t>
            </a:r>
            <a:r>
              <a:rPr lang="en-US" dirty="0">
                <a:latin typeface="Times New Roman" panose="02020603050405020304" pitchFamily="18" charset="0"/>
              </a:rPr>
              <a:t> </a:t>
            </a:r>
            <a:r>
              <a:rPr lang="en-US" dirty="0" err="1">
                <a:latin typeface="Times New Roman" panose="02020603050405020304" pitchFamily="18" charset="0"/>
              </a:rPr>
              <a:t>lập</a:t>
            </a:r>
            <a:r>
              <a:rPr lang="en-US" dirty="0">
                <a:latin typeface="Times New Roman" panose="02020603050405020304" pitchFamily="18" charset="0"/>
              </a:rPr>
              <a:t> </a:t>
            </a:r>
            <a:r>
              <a:rPr lang="en-US" dirty="0" err="1">
                <a:latin typeface="Times New Roman" panose="02020603050405020304" pitchFamily="18" charset="0"/>
              </a:rPr>
              <a:t>đều</a:t>
            </a:r>
            <a:r>
              <a:rPr lang="en-US" dirty="0">
                <a:latin typeface="Times New Roman" panose="02020603050405020304" pitchFamily="18" charset="0"/>
              </a:rPr>
              <a:t> </a:t>
            </a:r>
            <a:r>
              <a:rPr lang="en-US" dirty="0" err="1">
                <a:latin typeface="Times New Roman" panose="02020603050405020304" pitchFamily="18" charset="0"/>
              </a:rPr>
              <a:t>biến</a:t>
            </a:r>
            <a:r>
              <a:rPr lang="en-US" dirty="0">
                <a:latin typeface="Times New Roman" panose="02020603050405020304" pitchFamily="18" charset="0"/>
              </a:rPr>
              <a:t> </a:t>
            </a:r>
            <a:r>
              <a:rPr lang="en-US" dirty="0" err="1">
                <a:latin typeface="Times New Roman" panose="02020603050405020304" pitchFamily="18" charset="0"/>
              </a:rPr>
              <a:t>đổi</a:t>
            </a:r>
            <a:r>
              <a:rPr lang="en-US" dirty="0">
                <a:latin typeface="Times New Roman" panose="02020603050405020304" pitchFamily="18" charset="0"/>
              </a:rPr>
              <a:t> </a:t>
            </a:r>
            <a:r>
              <a:rPr lang="en-US" dirty="0" err="1">
                <a:latin typeface="Times New Roman" panose="02020603050405020304" pitchFamily="18" charset="0"/>
              </a:rPr>
              <a:t>mâu</a:t>
            </a:r>
            <a:r>
              <a:rPr lang="en-US" dirty="0">
                <a:latin typeface="Times New Roman" panose="02020603050405020304" pitchFamily="18" charset="0"/>
              </a:rPr>
              <a:t> </a:t>
            </a:r>
            <a:r>
              <a:rPr lang="en-US" dirty="0" err="1">
                <a:latin typeface="Times New Roman" panose="02020603050405020304" pitchFamily="18" charset="0"/>
              </a:rPr>
              <a:t>thuẫn</a:t>
            </a:r>
            <a:r>
              <a:rPr lang="en-US" dirty="0">
                <a:latin typeface="Times New Roman" panose="02020603050405020304" pitchFamily="18" charset="0"/>
              </a:rPr>
              <a:t> </a:t>
            </a:r>
            <a:r>
              <a:rPr lang="en-US" dirty="0" err="1">
                <a:latin typeface="Times New Roman" panose="02020603050405020304" pitchFamily="18" charset="0"/>
              </a:rPr>
              <a:t>được</a:t>
            </a:r>
            <a:r>
              <a:rPr lang="en-US" dirty="0">
                <a:latin typeface="Times New Roman" panose="02020603050405020304" pitchFamily="18" charset="0"/>
              </a:rPr>
              <a:t> </a:t>
            </a:r>
            <a:r>
              <a:rPr lang="en-US" dirty="0" err="1">
                <a:latin typeface="Times New Roman" panose="02020603050405020304" pitchFamily="18" charset="0"/>
              </a:rPr>
              <a:t>giải</a:t>
            </a:r>
            <a:r>
              <a:rPr lang="en-US" dirty="0">
                <a:latin typeface="Times New Roman" panose="02020603050405020304" pitchFamily="18" charset="0"/>
              </a:rPr>
              <a:t> </a:t>
            </a:r>
            <a:r>
              <a:rPr lang="en-US" dirty="0" err="1">
                <a:latin typeface="Times New Roman" panose="02020603050405020304" pitchFamily="18" charset="0"/>
              </a:rPr>
              <a:t>quyết</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vật</a:t>
            </a:r>
            <a:r>
              <a:rPr lang="en-US" dirty="0">
                <a:latin typeface="Times New Roman" panose="02020603050405020304" pitchFamily="18" charset="0"/>
              </a:rPr>
              <a:t> </a:t>
            </a:r>
            <a:r>
              <a:rPr lang="en-US" dirty="0" err="1">
                <a:latin typeface="Times New Roman" panose="02020603050405020304" pitchFamily="18" charset="0"/>
              </a:rPr>
              <a:t>cũ</a:t>
            </a:r>
            <a:r>
              <a:rPr lang="en-US" dirty="0">
                <a:latin typeface="Times New Roman" panose="02020603050405020304" pitchFamily="18" charset="0"/>
              </a:rPr>
              <a:t> </a:t>
            </a:r>
            <a:r>
              <a:rPr lang="en-US" dirty="0" err="1">
                <a:latin typeface="Times New Roman" panose="02020603050405020304" pitchFamily="18" charset="0"/>
              </a:rPr>
              <a:t>mất</a:t>
            </a:r>
            <a:r>
              <a:rPr lang="en-US" dirty="0">
                <a:latin typeface="Times New Roman" panose="02020603050405020304" pitchFamily="18" charset="0"/>
              </a:rPr>
              <a:t> </a:t>
            </a:r>
            <a:r>
              <a:rPr lang="en-US" dirty="0" err="1">
                <a:latin typeface="Times New Roman" panose="02020603050405020304" pitchFamily="18" charset="0"/>
              </a:rPr>
              <a:t>đi</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vật</a:t>
            </a:r>
            <a:r>
              <a:rPr lang="en-US" dirty="0">
                <a:latin typeface="Times New Roman" panose="02020603050405020304" pitchFamily="18" charset="0"/>
              </a:rPr>
              <a:t> </a:t>
            </a:r>
            <a:r>
              <a:rPr lang="en-US" dirty="0" err="1">
                <a:latin typeface="Times New Roman" panose="02020603050405020304" pitchFamily="18" charset="0"/>
              </a:rPr>
              <a:t>mới</a:t>
            </a:r>
            <a:r>
              <a:rPr lang="en-US" dirty="0">
                <a:latin typeface="Times New Roman" panose="02020603050405020304" pitchFamily="18" charset="0"/>
              </a:rPr>
              <a:t> </a:t>
            </a:r>
            <a:r>
              <a:rPr lang="en-US" dirty="0" err="1">
                <a:latin typeface="Times New Roman" panose="02020603050405020304" pitchFamily="18" charset="0"/>
              </a:rPr>
              <a:t>ra</a:t>
            </a:r>
            <a:r>
              <a:rPr lang="en-US" dirty="0">
                <a:latin typeface="Times New Roman" panose="02020603050405020304" pitchFamily="18" charset="0"/>
              </a:rPr>
              <a:t> </a:t>
            </a:r>
            <a:r>
              <a:rPr lang="en-US" dirty="0" err="1">
                <a:latin typeface="Times New Roman" panose="02020603050405020304" pitchFamily="18" charset="0"/>
              </a:rPr>
              <a:t>đời</a:t>
            </a:r>
            <a:r>
              <a:rPr lang="en-US" dirty="0">
                <a:latin typeface="Times New Roman" panose="02020603050405020304" pitchFamily="18" charset="0"/>
              </a:rPr>
              <a:t>.</a:t>
            </a:r>
            <a:endParaRPr lang="en-US" dirty="0">
              <a:latin typeface="Times New Roman" panose="02020603050405020304" pitchFamily="18" charset="0"/>
            </a:endParaRPr>
          </a:p>
          <a:p>
            <a:pPr algn="just">
              <a:defRPr/>
            </a:pP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vận</a:t>
            </a:r>
            <a:r>
              <a:rPr lang="en-US" dirty="0">
                <a:latin typeface="Times New Roman" panose="02020603050405020304" pitchFamily="18" charset="0"/>
              </a:rPr>
              <a:t> </a:t>
            </a:r>
            <a:r>
              <a:rPr lang="en-US" dirty="0" err="1">
                <a:latin typeface="Times New Roman" panose="02020603050405020304" pitchFamily="18" charset="0"/>
              </a:rPr>
              <a:t>động</a:t>
            </a:r>
            <a:r>
              <a:rPr lang="en-US" dirty="0">
                <a:latin typeface="Times New Roman" panose="02020603050405020304" pitchFamily="18" charset="0"/>
              </a:rPr>
              <a:t> &amp; PT </a:t>
            </a:r>
            <a:r>
              <a:rPr lang="en-US" dirty="0" err="1">
                <a:latin typeface="Times New Roman" panose="02020603050405020304" pitchFamily="18" charset="0"/>
              </a:rPr>
              <a:t>là</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thống</a:t>
            </a:r>
            <a:r>
              <a:rPr lang="en-US" dirty="0">
                <a:latin typeface="Times New Roman" panose="02020603050405020304" pitchFamily="18" charset="0"/>
              </a:rPr>
              <a:t> </a:t>
            </a:r>
            <a:r>
              <a:rPr lang="en-US" dirty="0" err="1">
                <a:latin typeface="Times New Roman" panose="02020603050405020304" pitchFamily="18" charset="0"/>
              </a:rPr>
              <a:t>nhất</a:t>
            </a:r>
            <a:r>
              <a:rPr lang="en-US" dirty="0">
                <a:latin typeface="Times New Roman" panose="02020603050405020304" pitchFamily="18" charset="0"/>
              </a:rPr>
              <a:t> </a:t>
            </a:r>
            <a:r>
              <a:rPr lang="en-US" dirty="0" err="1">
                <a:latin typeface="Times New Roman" panose="02020603050405020304" pitchFamily="18" charset="0"/>
              </a:rPr>
              <a:t>giữa</a:t>
            </a:r>
            <a:r>
              <a:rPr lang="en-US" dirty="0">
                <a:latin typeface="Times New Roman" panose="02020603050405020304" pitchFamily="18" charset="0"/>
              </a:rPr>
              <a:t> </a:t>
            </a:r>
            <a:r>
              <a:rPr lang="en-US" dirty="0" err="1">
                <a:latin typeface="Times New Roman" panose="02020603050405020304" pitchFamily="18" charset="0"/>
              </a:rPr>
              <a:t>liên</a:t>
            </a:r>
            <a:r>
              <a:rPr lang="en-US" dirty="0">
                <a:latin typeface="Times New Roman" panose="02020603050405020304" pitchFamily="18" charset="0"/>
              </a:rPr>
              <a:t> </a:t>
            </a:r>
            <a:r>
              <a:rPr lang="en-US" dirty="0" err="1">
                <a:latin typeface="Times New Roman" panose="02020603050405020304" pitchFamily="18" charset="0"/>
              </a:rPr>
              <a:t>tục</a:t>
            </a:r>
            <a:r>
              <a:rPr lang="en-US" dirty="0">
                <a:latin typeface="Times New Roman" panose="02020603050405020304" pitchFamily="18" charset="0"/>
              </a:rPr>
              <a:t> &amp; </a:t>
            </a:r>
            <a:r>
              <a:rPr lang="en-US" dirty="0" err="1">
                <a:latin typeface="Times New Roman" panose="02020603050405020304" pitchFamily="18" charset="0"/>
              </a:rPr>
              <a:t>gián</a:t>
            </a:r>
            <a:r>
              <a:rPr lang="en-US" dirty="0">
                <a:latin typeface="Times New Roman" panose="02020603050405020304" pitchFamily="18" charset="0"/>
              </a:rPr>
              <a:t> </a:t>
            </a:r>
            <a:r>
              <a:rPr lang="en-US" dirty="0" err="1">
                <a:latin typeface="Times New Roman" panose="02020603050405020304" pitchFamily="18" charset="0"/>
              </a:rPr>
              <a:t>đoạn</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liên</a:t>
            </a:r>
            <a:r>
              <a:rPr lang="en-US" dirty="0">
                <a:latin typeface="Times New Roman" panose="02020603050405020304" pitchFamily="18" charset="0"/>
              </a:rPr>
              <a:t> </a:t>
            </a:r>
            <a:r>
              <a:rPr lang="en-US" dirty="0" err="1">
                <a:latin typeface="Times New Roman" panose="02020603050405020304" pitchFamily="18" charset="0"/>
              </a:rPr>
              <a:t>tục</a:t>
            </a:r>
            <a:r>
              <a:rPr lang="en-US" dirty="0">
                <a:latin typeface="Times New Roman" panose="02020603050405020304" pitchFamily="18" charset="0"/>
              </a:rPr>
              <a:t> </a:t>
            </a:r>
            <a:r>
              <a:rPr lang="en-US" dirty="0" err="1">
                <a:latin typeface="Times New Roman" panose="02020603050405020304" pitchFamily="18" charset="0"/>
              </a:rPr>
              <a:t>là</a:t>
            </a:r>
            <a:r>
              <a:rPr lang="en-US" dirty="0">
                <a:latin typeface="Times New Roman" panose="02020603050405020304" pitchFamily="18" charset="0"/>
              </a:rPr>
              <a:t> do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thống</a:t>
            </a:r>
            <a:r>
              <a:rPr lang="en-US" dirty="0">
                <a:latin typeface="Times New Roman" panose="02020603050405020304" pitchFamily="18" charset="0"/>
              </a:rPr>
              <a:t> </a:t>
            </a:r>
            <a:r>
              <a:rPr lang="en-US" dirty="0" err="1">
                <a:latin typeface="Times New Roman" panose="02020603050405020304" pitchFamily="18" charset="0"/>
              </a:rPr>
              <a:t>nhất</a:t>
            </a:r>
            <a:r>
              <a:rPr lang="en-US" dirty="0">
                <a:latin typeface="Times New Roman" panose="02020603050405020304" pitchFamily="18" charset="0"/>
              </a:rPr>
              <a:t> </a:t>
            </a:r>
            <a:r>
              <a:rPr lang="en-US" dirty="0" err="1">
                <a:latin typeface="Times New Roman" panose="02020603050405020304" pitchFamily="18" charset="0"/>
              </a:rPr>
              <a:t>giữa</a:t>
            </a:r>
            <a:r>
              <a:rPr lang="en-US" dirty="0">
                <a:latin typeface="Times New Roman" panose="02020603050405020304" pitchFamily="18" charset="0"/>
              </a:rPr>
              <a:t> </a:t>
            </a:r>
            <a:r>
              <a:rPr lang="en-US" dirty="0" err="1">
                <a:latin typeface="Times New Roman" panose="02020603050405020304" pitchFamily="18" charset="0"/>
              </a:rPr>
              <a:t>các</a:t>
            </a:r>
            <a:r>
              <a:rPr lang="en-US" dirty="0">
                <a:latin typeface="Times New Roman" panose="02020603050405020304" pitchFamily="18" charset="0"/>
              </a:rPr>
              <a:t> </a:t>
            </a:r>
            <a:r>
              <a:rPr lang="en-US" dirty="0" err="1">
                <a:latin typeface="Times New Roman" panose="02020603050405020304" pitchFamily="18" charset="0"/>
              </a:rPr>
              <a:t>mặt</a:t>
            </a:r>
            <a:r>
              <a:rPr lang="en-US" dirty="0">
                <a:latin typeface="Times New Roman" panose="02020603050405020304" pitchFamily="18" charset="0"/>
              </a:rPr>
              <a:t> </a:t>
            </a:r>
            <a:r>
              <a:rPr lang="en-US" dirty="0" err="1">
                <a:latin typeface="Times New Roman" panose="02020603050405020304" pitchFamily="18" charset="0"/>
              </a:rPr>
              <a:t>đối</a:t>
            </a:r>
            <a:r>
              <a:rPr lang="en-US" dirty="0">
                <a:latin typeface="Times New Roman" panose="02020603050405020304" pitchFamily="18" charset="0"/>
              </a:rPr>
              <a:t> </a:t>
            </a:r>
            <a:r>
              <a:rPr lang="en-US" dirty="0" err="1">
                <a:latin typeface="Times New Roman" panose="02020603050405020304" pitchFamily="18" charset="0"/>
              </a:rPr>
              <a:t>lậptạo</a:t>
            </a:r>
            <a:r>
              <a:rPr lang="en-US" dirty="0">
                <a:latin typeface="Times New Roman" panose="02020603050405020304" pitchFamily="18" charset="0"/>
              </a:rPr>
              <a:t> </a:t>
            </a:r>
            <a:r>
              <a:rPr lang="en-US" dirty="0" err="1">
                <a:latin typeface="Times New Roman" panose="02020603050405020304" pitchFamily="18" charset="0"/>
              </a:rPr>
              <a:t>nên</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gián</a:t>
            </a:r>
            <a:r>
              <a:rPr lang="en-US" dirty="0">
                <a:latin typeface="Times New Roman" panose="02020603050405020304" pitchFamily="18" charset="0"/>
              </a:rPr>
              <a:t> </a:t>
            </a:r>
            <a:r>
              <a:rPr lang="en-US" dirty="0" err="1">
                <a:latin typeface="Times New Roman" panose="02020603050405020304" pitchFamily="18" charset="0"/>
              </a:rPr>
              <a:t>đoạn</a:t>
            </a:r>
            <a:r>
              <a:rPr lang="en-US" dirty="0">
                <a:latin typeface="Times New Roman" panose="02020603050405020304" pitchFamily="18" charset="0"/>
              </a:rPr>
              <a:t> </a:t>
            </a:r>
            <a:r>
              <a:rPr lang="en-US" dirty="0" err="1">
                <a:latin typeface="Times New Roman" panose="02020603050405020304" pitchFamily="18" charset="0"/>
              </a:rPr>
              <a:t>là</a:t>
            </a:r>
            <a:r>
              <a:rPr lang="en-US" dirty="0">
                <a:latin typeface="Times New Roman" panose="02020603050405020304" pitchFamily="18" charset="0"/>
              </a:rPr>
              <a:t> do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đấu</a:t>
            </a:r>
            <a:r>
              <a:rPr lang="en-US" dirty="0">
                <a:latin typeface="Times New Roman" panose="02020603050405020304" pitchFamily="18" charset="0"/>
              </a:rPr>
              <a:t> </a:t>
            </a:r>
            <a:r>
              <a:rPr lang="en-US" dirty="0" err="1">
                <a:latin typeface="Times New Roman" panose="02020603050405020304" pitchFamily="18" charset="0"/>
              </a:rPr>
              <a:t>tranh</a:t>
            </a:r>
            <a:r>
              <a:rPr lang="en-US" dirty="0">
                <a:latin typeface="Times New Roman" panose="02020603050405020304" pitchFamily="18" charset="0"/>
              </a:rPr>
              <a:t> </a:t>
            </a:r>
            <a:r>
              <a:rPr lang="en-US" dirty="0" err="1">
                <a:latin typeface="Times New Roman" panose="02020603050405020304" pitchFamily="18" charset="0"/>
              </a:rPr>
              <a:t>giữa</a:t>
            </a:r>
            <a:r>
              <a:rPr lang="en-US" dirty="0">
                <a:latin typeface="Times New Roman" panose="02020603050405020304" pitchFamily="18" charset="0"/>
              </a:rPr>
              <a:t> </a:t>
            </a:r>
            <a:r>
              <a:rPr lang="en-US" dirty="0" err="1">
                <a:latin typeface="Times New Roman" panose="02020603050405020304" pitchFamily="18" charset="0"/>
              </a:rPr>
              <a:t>các</a:t>
            </a:r>
            <a:r>
              <a:rPr lang="en-US" dirty="0">
                <a:latin typeface="Times New Roman" panose="02020603050405020304" pitchFamily="18" charset="0"/>
              </a:rPr>
              <a:t> </a:t>
            </a:r>
            <a:r>
              <a:rPr lang="en-US" dirty="0" err="1">
                <a:latin typeface="Times New Roman" panose="02020603050405020304" pitchFamily="18" charset="0"/>
              </a:rPr>
              <a:t>mặt</a:t>
            </a:r>
            <a:r>
              <a:rPr lang="en-US" dirty="0">
                <a:latin typeface="Times New Roman" panose="02020603050405020304" pitchFamily="18" charset="0"/>
              </a:rPr>
              <a:t> </a:t>
            </a:r>
            <a:r>
              <a:rPr lang="en-US" dirty="0" err="1">
                <a:latin typeface="Times New Roman" panose="02020603050405020304" pitchFamily="18" charset="0"/>
              </a:rPr>
              <a:t>đối</a:t>
            </a:r>
            <a:r>
              <a:rPr lang="en-US" dirty="0">
                <a:latin typeface="Times New Roman" panose="02020603050405020304" pitchFamily="18" charset="0"/>
              </a:rPr>
              <a:t> </a:t>
            </a:r>
            <a:r>
              <a:rPr lang="en-US" dirty="0" err="1">
                <a:latin typeface="Times New Roman" panose="02020603050405020304" pitchFamily="18" charset="0"/>
              </a:rPr>
              <a:t>lập</a:t>
            </a:r>
            <a:r>
              <a:rPr lang="en-US" dirty="0">
                <a:latin typeface="Times New Roman" panose="02020603050405020304" pitchFamily="18" charset="0"/>
              </a:rPr>
              <a:t> </a:t>
            </a:r>
            <a:r>
              <a:rPr lang="en-US" dirty="0" err="1">
                <a:latin typeface="Times New Roman" panose="02020603050405020304" pitchFamily="18" charset="0"/>
              </a:rPr>
              <a:t>tạo</a:t>
            </a:r>
            <a:r>
              <a:rPr lang="en-US" dirty="0">
                <a:latin typeface="Times New Roman" panose="02020603050405020304" pitchFamily="18" charset="0"/>
              </a:rPr>
              <a:t> </a:t>
            </a:r>
            <a:r>
              <a:rPr lang="en-US" dirty="0" err="1">
                <a:latin typeface="Times New Roman" panose="02020603050405020304" pitchFamily="18" charset="0"/>
              </a:rPr>
              <a:t>thành</a:t>
            </a:r>
            <a:r>
              <a:rPr lang="en-US" dirty="0">
                <a:latin typeface="Times New Roman" panose="02020603050405020304" pitchFamily="18" charset="0"/>
              </a:rPr>
              <a:t>. Cho </a:t>
            </a:r>
            <a:r>
              <a:rPr lang="en-US" dirty="0" err="1">
                <a:latin typeface="Times New Roman" panose="02020603050405020304" pitchFamily="18" charset="0"/>
              </a:rPr>
              <a:t>nên</a:t>
            </a:r>
            <a:r>
              <a:rPr lang="en-US" dirty="0">
                <a:latin typeface="Times New Roman" panose="02020603050405020304" pitchFamily="18" charset="0"/>
              </a:rPr>
              <a:t>, </a:t>
            </a:r>
            <a:r>
              <a:rPr lang="en-US" dirty="0" err="1">
                <a:latin typeface="Times New Roman" panose="02020603050405020304" pitchFamily="18" charset="0"/>
              </a:rPr>
              <a:t>cả</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thống</a:t>
            </a:r>
            <a:r>
              <a:rPr lang="en-US" dirty="0">
                <a:latin typeface="Times New Roman" panose="02020603050405020304" pitchFamily="18" charset="0"/>
              </a:rPr>
              <a:t> </a:t>
            </a:r>
            <a:r>
              <a:rPr lang="en-US" dirty="0" err="1">
                <a:latin typeface="Times New Roman" panose="02020603050405020304" pitchFamily="18" charset="0"/>
              </a:rPr>
              <a:t>nhất</a:t>
            </a:r>
            <a:r>
              <a:rPr lang="en-US" dirty="0">
                <a:latin typeface="Times New Roman" panose="02020603050405020304" pitchFamily="18" charset="0"/>
              </a:rPr>
              <a:t> &amp; </a:t>
            </a:r>
            <a:r>
              <a:rPr lang="en-US" dirty="0" err="1">
                <a:latin typeface="Times New Roman" panose="02020603050405020304" pitchFamily="18" charset="0"/>
              </a:rPr>
              <a:t>đấu</a:t>
            </a:r>
            <a:r>
              <a:rPr lang="en-US" dirty="0">
                <a:latin typeface="Times New Roman" panose="02020603050405020304" pitchFamily="18" charset="0"/>
              </a:rPr>
              <a:t> </a:t>
            </a:r>
            <a:r>
              <a:rPr lang="en-US" dirty="0" err="1">
                <a:latin typeface="Times New Roman" panose="02020603050405020304" pitchFamily="18" charset="0"/>
              </a:rPr>
              <a:t>tranh</a:t>
            </a:r>
            <a:r>
              <a:rPr lang="en-US" dirty="0">
                <a:latin typeface="Times New Roman" panose="02020603050405020304" pitchFamily="18" charset="0"/>
              </a:rPr>
              <a:t> </a:t>
            </a:r>
            <a:r>
              <a:rPr lang="en-US" dirty="0" err="1">
                <a:latin typeface="Times New Roman" panose="02020603050405020304" pitchFamily="18" charset="0"/>
              </a:rPr>
              <a:t>giữa</a:t>
            </a:r>
            <a:r>
              <a:rPr lang="en-US" dirty="0">
                <a:latin typeface="Times New Roman" panose="02020603050405020304" pitchFamily="18" charset="0"/>
              </a:rPr>
              <a:t> </a:t>
            </a:r>
            <a:r>
              <a:rPr lang="en-US" dirty="0" err="1">
                <a:latin typeface="Times New Roman" panose="02020603050405020304" pitchFamily="18" charset="0"/>
              </a:rPr>
              <a:t>các</a:t>
            </a:r>
            <a:r>
              <a:rPr lang="en-US" dirty="0">
                <a:latin typeface="Times New Roman" panose="02020603050405020304" pitchFamily="18" charset="0"/>
              </a:rPr>
              <a:t> </a:t>
            </a:r>
            <a:r>
              <a:rPr lang="en-US" dirty="0" err="1">
                <a:latin typeface="Times New Roman" panose="02020603050405020304" pitchFamily="18" charset="0"/>
              </a:rPr>
              <a:t>mặt</a:t>
            </a:r>
            <a:r>
              <a:rPr lang="en-US" dirty="0">
                <a:latin typeface="Times New Roman" panose="02020603050405020304" pitchFamily="18" charset="0"/>
              </a:rPr>
              <a:t> </a:t>
            </a:r>
            <a:r>
              <a:rPr lang="en-US" dirty="0" err="1">
                <a:latin typeface="Times New Roman" panose="02020603050405020304" pitchFamily="18" charset="0"/>
              </a:rPr>
              <a:t>đối</a:t>
            </a:r>
            <a:r>
              <a:rPr lang="en-US" dirty="0">
                <a:latin typeface="Times New Roman" panose="02020603050405020304" pitchFamily="18" charset="0"/>
              </a:rPr>
              <a:t> </a:t>
            </a:r>
            <a:r>
              <a:rPr lang="en-US" dirty="0" err="1">
                <a:latin typeface="Times New Roman" panose="02020603050405020304" pitchFamily="18" charset="0"/>
              </a:rPr>
              <a:t>lập</a:t>
            </a:r>
            <a:r>
              <a:rPr lang="en-US" dirty="0">
                <a:latin typeface="Times New Roman" panose="02020603050405020304" pitchFamily="18" charset="0"/>
              </a:rPr>
              <a:t> </a:t>
            </a:r>
            <a:r>
              <a:rPr lang="en-US" dirty="0" err="1">
                <a:latin typeface="Times New Roman" panose="02020603050405020304" pitchFamily="18" charset="0"/>
              </a:rPr>
              <a:t>đều</a:t>
            </a:r>
            <a:r>
              <a:rPr lang="en-US" dirty="0">
                <a:latin typeface="Times New Roman" panose="02020603050405020304" pitchFamily="18" charset="0"/>
              </a:rPr>
              <a:t> </a:t>
            </a:r>
            <a:r>
              <a:rPr lang="en-US" dirty="0" err="1">
                <a:latin typeface="Times New Roman" panose="02020603050405020304" pitchFamily="18" charset="0"/>
              </a:rPr>
              <a:t>có</a:t>
            </a:r>
            <a:r>
              <a:rPr lang="en-US" dirty="0">
                <a:latin typeface="Times New Roman" panose="02020603050405020304" pitchFamily="18" charset="0"/>
              </a:rPr>
              <a:t> </a:t>
            </a:r>
            <a:r>
              <a:rPr lang="en-US" dirty="0" err="1">
                <a:latin typeface="Times New Roman" panose="02020603050405020304" pitchFamily="18" charset="0"/>
              </a:rPr>
              <a:t>vai</a:t>
            </a:r>
            <a:r>
              <a:rPr lang="en-US" dirty="0">
                <a:latin typeface="Times New Roman" panose="02020603050405020304" pitchFamily="18" charset="0"/>
              </a:rPr>
              <a:t> </a:t>
            </a:r>
            <a:r>
              <a:rPr lang="en-US" dirty="0" err="1">
                <a:latin typeface="Times New Roman" panose="02020603050405020304" pitchFamily="18" charset="0"/>
              </a:rPr>
              <a:t>trò</a:t>
            </a:r>
            <a:r>
              <a:rPr lang="en-US" dirty="0">
                <a:latin typeface="Times New Roman" panose="02020603050405020304" pitchFamily="18" charset="0"/>
              </a:rPr>
              <a:t> </a:t>
            </a:r>
            <a:r>
              <a:rPr lang="en-US" dirty="0" err="1">
                <a:latin typeface="Times New Roman" panose="02020603050405020304" pitchFamily="18" charset="0"/>
              </a:rPr>
              <a:t>quan</a:t>
            </a:r>
            <a:r>
              <a:rPr lang="en-US" dirty="0">
                <a:latin typeface="Times New Roman" panose="02020603050405020304" pitchFamily="18" charset="0"/>
              </a:rPr>
              <a:t> </a:t>
            </a:r>
            <a:r>
              <a:rPr lang="en-US" dirty="0" err="1">
                <a:latin typeface="Times New Roman" panose="02020603050405020304" pitchFamily="18" charset="0"/>
              </a:rPr>
              <a:t>trọng</a:t>
            </a:r>
            <a:r>
              <a:rPr lang="en-US" dirty="0">
                <a:latin typeface="Times New Roman" panose="02020603050405020304" pitchFamily="18" charset="0"/>
              </a:rPr>
              <a:t>  </a:t>
            </a:r>
            <a:endParaRPr lang="en-US" dirty="0">
              <a:latin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34332"/>
          </a:xfrm>
        </p:spPr>
        <p:txBody>
          <a:bodyPr>
            <a:normAutofit fontScale="90000"/>
          </a:bodyPr>
          <a:lstStyle/>
          <a:p>
            <a:pPr marL="571500" indent="-571500">
              <a:buFont typeface="Wingdings" panose="05000000000000000000" pitchFamily="2" charset="2"/>
              <a:buChar char="v"/>
            </a:pPr>
            <a:r>
              <a:rPr lang="en-US" altLang="en-US" sz="3200" b="1" dirty="0" err="1">
                <a:latin typeface="Times New Roman" panose="02020603050405020304" pitchFamily="18" charset="0"/>
                <a:cs typeface="Times New Roman" panose="02020603050405020304" pitchFamily="18" charset="0"/>
              </a:rPr>
              <a:t>Phân</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loại</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mâu</a:t>
            </a:r>
            <a:r>
              <a:rPr lang="en-US" altLang="en-US" sz="3200" b="1" dirty="0">
                <a:latin typeface="Times New Roman" panose="02020603050405020304" pitchFamily="18" charset="0"/>
                <a:cs typeface="Times New Roman" panose="02020603050405020304" pitchFamily="18" charset="0"/>
              </a:rPr>
              <a:t> </a:t>
            </a:r>
            <a:r>
              <a:rPr lang="en-US" altLang="en-US" sz="3200" b="1" dirty="0" err="1">
                <a:latin typeface="Times New Roman" panose="02020603050405020304" pitchFamily="18" charset="0"/>
                <a:cs typeface="Times New Roman" panose="02020603050405020304" pitchFamily="18" charset="0"/>
              </a:rPr>
              <a:t>thuẫn</a:t>
            </a:r>
            <a:r>
              <a:rPr lang="en-US" altLang="en-US" sz="3600" dirty="0">
                <a:latin typeface="Times New Roman" panose="02020603050405020304" pitchFamily="18" charset="0"/>
                <a:cs typeface="Times New Roman" panose="02020603050405020304" pitchFamily="18" charset="0"/>
              </a:rPr>
              <a:t>:</a:t>
            </a:r>
            <a:br>
              <a:rPr lang="en-US" altLang="en-US" sz="36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40971"/>
            <a:ext cx="10515600" cy="4935992"/>
          </a:xfrm>
        </p:spPr>
        <p:txBody>
          <a:bodyPr/>
          <a:lstStyle/>
          <a:p>
            <a:endParaRPr lang="en-US" dirty="0"/>
          </a:p>
        </p:txBody>
      </p:sp>
      <p:sp>
        <p:nvSpPr>
          <p:cNvPr id="5" name="Rectangle 4"/>
          <p:cNvSpPr/>
          <p:nvPr/>
        </p:nvSpPr>
        <p:spPr>
          <a:xfrm>
            <a:off x="1273629" y="2764520"/>
            <a:ext cx="1001484" cy="112168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b="1" dirty="0">
                <a:latin typeface="Times New Roman" panose="02020603050405020304" pitchFamily="18" charset="0"/>
                <a:cs typeface="Times New Roman" panose="02020603050405020304" pitchFamily="18" charset="0"/>
              </a:rPr>
              <a:t>Căn cứ</a:t>
            </a:r>
            <a:endParaRPr lang="en-US" sz="2000" b="1" dirty="0">
              <a:latin typeface="Times New Roman" panose="02020603050405020304" pitchFamily="18" charset="0"/>
              <a:cs typeface="Times New Roman" panose="02020603050405020304" pitchFamily="18" charset="0"/>
            </a:endParaRPr>
          </a:p>
        </p:txBody>
      </p:sp>
      <p:sp>
        <p:nvSpPr>
          <p:cNvPr id="6" name="Rectangle 5"/>
          <p:cNvSpPr/>
          <p:nvPr/>
        </p:nvSpPr>
        <p:spPr>
          <a:xfrm>
            <a:off x="3254828" y="1125292"/>
            <a:ext cx="1861457" cy="9098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Quan hệ đối với sự vật </a:t>
            </a:r>
            <a:r>
              <a:rPr lang="vi-VN" dirty="0">
                <a:latin typeface="Times New Roman" panose="02020603050405020304" pitchFamily="18" charset="0"/>
                <a:cs typeface="Times New Roman" panose="02020603050405020304" pitchFamily="18" charset="0"/>
              </a:rPr>
              <a:t>được</a:t>
            </a:r>
            <a:r>
              <a:rPr lang="vi-VN" sz="2000" dirty="0">
                <a:latin typeface="Times New Roman" panose="02020603050405020304" pitchFamily="18" charset="0"/>
                <a:cs typeface="Times New Roman" panose="02020603050405020304" pitchFamily="18" charset="0"/>
              </a:rPr>
              <a:t> xem xét</a:t>
            </a:r>
            <a:endParaRPr lang="en-US"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3254828" y="2321614"/>
            <a:ext cx="1861457" cy="108922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Ý nghĩa đối với sự vật tồn tại và phát triền của SV</a:t>
            </a:r>
            <a:endParaRPr lang="en-US" dirty="0">
              <a:latin typeface="Times New Roman" panose="02020603050405020304" pitchFamily="18" charset="0"/>
              <a:cs typeface="Times New Roman" panose="02020603050405020304" pitchFamily="18" charset="0"/>
            </a:endParaRPr>
          </a:p>
        </p:txBody>
      </p:sp>
      <p:sp>
        <p:nvSpPr>
          <p:cNvPr id="8" name="Rectangle 7"/>
          <p:cNvSpPr/>
          <p:nvPr/>
        </p:nvSpPr>
        <p:spPr>
          <a:xfrm>
            <a:off x="3254828" y="3712027"/>
            <a:ext cx="1861457" cy="6966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sz="2000" dirty="0">
                <a:latin typeface="Times New Roman" panose="02020603050405020304" pitchFamily="18" charset="0"/>
                <a:cs typeface="Times New Roman" panose="02020603050405020304" pitchFamily="18" charset="0"/>
              </a:rPr>
              <a:t>Vai trò của mâu thuẫn</a:t>
            </a:r>
            <a:endParaRPr lang="en-US" sz="2000" dirty="0">
              <a:latin typeface="Times New Roman" panose="02020603050405020304" pitchFamily="18" charset="0"/>
              <a:cs typeface="Times New Roman" panose="02020603050405020304" pitchFamily="18" charset="0"/>
            </a:endParaRPr>
          </a:p>
        </p:txBody>
      </p:sp>
      <p:sp>
        <p:nvSpPr>
          <p:cNvPr id="9" name="Rectangle: Rounded Corners 8"/>
          <p:cNvSpPr/>
          <p:nvPr/>
        </p:nvSpPr>
        <p:spPr>
          <a:xfrm>
            <a:off x="6096001" y="810989"/>
            <a:ext cx="2242456" cy="53340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bên trong</a:t>
            </a:r>
            <a:endParaRPr lang="en-US" dirty="0">
              <a:latin typeface="Times New Roman" panose="02020603050405020304" pitchFamily="18" charset="0"/>
              <a:cs typeface="Times New Roman" panose="02020603050405020304" pitchFamily="18" charset="0"/>
            </a:endParaRPr>
          </a:p>
        </p:txBody>
      </p:sp>
      <p:sp>
        <p:nvSpPr>
          <p:cNvPr id="10" name="Rectangle: Rounded Corners 9"/>
          <p:cNvSpPr/>
          <p:nvPr/>
        </p:nvSpPr>
        <p:spPr>
          <a:xfrm>
            <a:off x="6096001" y="1545321"/>
            <a:ext cx="2242456" cy="4898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bên ngoài</a:t>
            </a:r>
            <a:endParaRPr lang="en-US" dirty="0"/>
          </a:p>
        </p:txBody>
      </p:sp>
      <p:sp>
        <p:nvSpPr>
          <p:cNvPr id="12" name="Rectangle: Rounded Corners 11"/>
          <p:cNvSpPr/>
          <p:nvPr/>
        </p:nvSpPr>
        <p:spPr>
          <a:xfrm>
            <a:off x="6096000" y="2296895"/>
            <a:ext cx="2242457" cy="4131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cơ bản</a:t>
            </a:r>
            <a:endParaRPr lang="en-US" dirty="0"/>
          </a:p>
        </p:txBody>
      </p:sp>
      <p:sp>
        <p:nvSpPr>
          <p:cNvPr id="13" name="Rectangle: Rounded Corners 12"/>
          <p:cNvSpPr/>
          <p:nvPr/>
        </p:nvSpPr>
        <p:spPr>
          <a:xfrm>
            <a:off x="6096000" y="2797168"/>
            <a:ext cx="2710543" cy="48985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không cơ bản</a:t>
            </a:r>
            <a:endParaRPr lang="en-US" dirty="0"/>
          </a:p>
        </p:txBody>
      </p:sp>
      <p:sp>
        <p:nvSpPr>
          <p:cNvPr id="14" name="Rectangle: Rounded Corners 13"/>
          <p:cNvSpPr/>
          <p:nvPr/>
        </p:nvSpPr>
        <p:spPr>
          <a:xfrm>
            <a:off x="6096000" y="3548743"/>
            <a:ext cx="2242456" cy="4245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chủ yếu</a:t>
            </a:r>
            <a:endParaRPr lang="en-US" dirty="0"/>
          </a:p>
        </p:txBody>
      </p:sp>
      <p:sp>
        <p:nvSpPr>
          <p:cNvPr id="15" name="Rectangle: Rounded Corners 14"/>
          <p:cNvSpPr/>
          <p:nvPr/>
        </p:nvSpPr>
        <p:spPr>
          <a:xfrm>
            <a:off x="6096000" y="4114802"/>
            <a:ext cx="2242456" cy="424542"/>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thứ yếu</a:t>
            </a:r>
            <a:endParaRPr lang="en-US" dirty="0"/>
          </a:p>
        </p:txBody>
      </p:sp>
      <p:sp>
        <p:nvSpPr>
          <p:cNvPr id="16" name="Rectangle 15"/>
          <p:cNvSpPr/>
          <p:nvPr/>
        </p:nvSpPr>
        <p:spPr>
          <a:xfrm>
            <a:off x="3254827" y="5159829"/>
            <a:ext cx="1861457" cy="696685"/>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Tính chất của các quan hệ lợi ích</a:t>
            </a:r>
            <a:endParaRPr lang="en-US" dirty="0">
              <a:latin typeface="Times New Roman" panose="02020603050405020304" pitchFamily="18" charset="0"/>
              <a:cs typeface="Times New Roman" panose="02020603050405020304" pitchFamily="18" charset="0"/>
            </a:endParaRPr>
          </a:p>
        </p:txBody>
      </p:sp>
      <p:sp>
        <p:nvSpPr>
          <p:cNvPr id="17" name="Rectangle: Rounded Corners 16"/>
          <p:cNvSpPr/>
          <p:nvPr/>
        </p:nvSpPr>
        <p:spPr>
          <a:xfrm>
            <a:off x="6095999" y="4739800"/>
            <a:ext cx="2242455" cy="572879"/>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đối kháng</a:t>
            </a:r>
            <a:endParaRPr lang="en-US" dirty="0"/>
          </a:p>
        </p:txBody>
      </p:sp>
      <p:sp>
        <p:nvSpPr>
          <p:cNvPr id="18" name="Rectangle: Rounded Corners 17"/>
          <p:cNvSpPr/>
          <p:nvPr/>
        </p:nvSpPr>
        <p:spPr>
          <a:xfrm>
            <a:off x="6095998" y="5534006"/>
            <a:ext cx="2852059" cy="57149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Mâu thuẫn không đối kháng</a:t>
            </a:r>
            <a:endParaRPr lang="en-US" dirty="0"/>
          </a:p>
        </p:txBody>
      </p:sp>
      <p:cxnSp>
        <p:nvCxnSpPr>
          <p:cNvPr id="20" name="Straight Arrow Connector 19"/>
          <p:cNvCxnSpPr>
            <a:endCxn id="6" idx="1"/>
          </p:cNvCxnSpPr>
          <p:nvPr/>
        </p:nvCxnSpPr>
        <p:spPr>
          <a:xfrm flipV="1">
            <a:off x="2275113" y="1580234"/>
            <a:ext cx="979715" cy="180476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2" name="Straight Arrow Connector 21"/>
          <p:cNvCxnSpPr>
            <a:stCxn id="5" idx="3"/>
            <a:endCxn id="7" idx="1"/>
          </p:cNvCxnSpPr>
          <p:nvPr/>
        </p:nvCxnSpPr>
        <p:spPr>
          <a:xfrm flipV="1">
            <a:off x="2275113" y="2866225"/>
            <a:ext cx="979715" cy="45913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4" name="Straight Arrow Connector 23"/>
          <p:cNvCxnSpPr/>
          <p:nvPr/>
        </p:nvCxnSpPr>
        <p:spPr>
          <a:xfrm>
            <a:off x="2296883" y="3325360"/>
            <a:ext cx="979714" cy="78944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p:cNvCxnSpPr>
            <a:stCxn id="6" idx="3"/>
            <a:endCxn id="9" idx="1"/>
          </p:cNvCxnSpPr>
          <p:nvPr/>
        </p:nvCxnSpPr>
        <p:spPr>
          <a:xfrm flipV="1">
            <a:off x="5116285" y="1077690"/>
            <a:ext cx="979716" cy="50254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0" name="Straight Arrow Connector 29"/>
          <p:cNvCxnSpPr/>
          <p:nvPr/>
        </p:nvCxnSpPr>
        <p:spPr>
          <a:xfrm>
            <a:off x="5116284" y="1649183"/>
            <a:ext cx="979714" cy="16283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2" name="Straight Arrow Connector 31"/>
          <p:cNvCxnSpPr>
            <a:endCxn id="12" idx="1"/>
          </p:cNvCxnSpPr>
          <p:nvPr/>
        </p:nvCxnSpPr>
        <p:spPr>
          <a:xfrm flipV="1">
            <a:off x="5116282" y="2503493"/>
            <a:ext cx="979718" cy="25603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4" name="Straight Arrow Connector 33"/>
          <p:cNvCxnSpPr>
            <a:endCxn id="13" idx="1"/>
          </p:cNvCxnSpPr>
          <p:nvPr/>
        </p:nvCxnSpPr>
        <p:spPr>
          <a:xfrm>
            <a:off x="5116284" y="2759527"/>
            <a:ext cx="979716" cy="282569"/>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6" name="Straight Arrow Connector 35"/>
          <p:cNvCxnSpPr>
            <a:stCxn id="8" idx="3"/>
            <a:endCxn id="14" idx="1"/>
          </p:cNvCxnSpPr>
          <p:nvPr/>
        </p:nvCxnSpPr>
        <p:spPr>
          <a:xfrm flipV="1">
            <a:off x="5116285" y="3761015"/>
            <a:ext cx="979715" cy="29935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8" name="Straight Arrow Connector 37"/>
          <p:cNvCxnSpPr>
            <a:stCxn id="8" idx="3"/>
            <a:endCxn id="15" idx="1"/>
          </p:cNvCxnSpPr>
          <p:nvPr/>
        </p:nvCxnSpPr>
        <p:spPr>
          <a:xfrm>
            <a:off x="5116285" y="4060369"/>
            <a:ext cx="979715" cy="26670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p:cNvCxnSpPr>
            <a:stCxn id="16" idx="3"/>
            <a:endCxn id="17" idx="1"/>
          </p:cNvCxnSpPr>
          <p:nvPr/>
        </p:nvCxnSpPr>
        <p:spPr>
          <a:xfrm flipV="1">
            <a:off x="5116284" y="5026240"/>
            <a:ext cx="979715" cy="48193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2" name="Straight Arrow Connector 41"/>
          <p:cNvCxnSpPr>
            <a:endCxn id="18" idx="1"/>
          </p:cNvCxnSpPr>
          <p:nvPr/>
        </p:nvCxnSpPr>
        <p:spPr>
          <a:xfrm>
            <a:off x="5116282" y="5534006"/>
            <a:ext cx="979716" cy="32250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44" name="Straight Arrow Connector 43"/>
          <p:cNvCxnSpPr>
            <a:stCxn id="5" idx="3"/>
            <a:endCxn id="16" idx="1"/>
          </p:cNvCxnSpPr>
          <p:nvPr/>
        </p:nvCxnSpPr>
        <p:spPr>
          <a:xfrm>
            <a:off x="2275113" y="3325360"/>
            <a:ext cx="979714" cy="218281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18654"/>
            <a:ext cx="10515600" cy="961505"/>
          </a:xfrm>
        </p:spPr>
        <p:txBody>
          <a:bodyPr>
            <a:normAutofit/>
          </a:bodyPr>
          <a:lstStyle/>
          <a:p>
            <a:pPr marL="571500" indent="-571500">
              <a:buFont typeface="Wingdings" panose="05000000000000000000" pitchFamily="2" charset="2"/>
              <a:buChar char="v"/>
            </a:pPr>
            <a:r>
              <a:rPr lang="en-US" altLang="en-US" sz="3600" b="1" i="1" dirty="0">
                <a:latin typeface="Times New Roman" panose="02020603050405020304" pitchFamily="18" charset="0"/>
              </a:rPr>
              <a:t>Ý </a:t>
            </a:r>
            <a:r>
              <a:rPr lang="en-US" altLang="en-US" sz="3600" b="1" i="1" dirty="0" err="1">
                <a:latin typeface="Times New Roman" panose="02020603050405020304" pitchFamily="18" charset="0"/>
              </a:rPr>
              <a:t>nghĩa</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phương</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pháp</a:t>
            </a:r>
            <a:r>
              <a:rPr lang="en-US" altLang="en-US" sz="3600" b="1" i="1" dirty="0">
                <a:latin typeface="Times New Roman" panose="02020603050405020304" pitchFamily="18" charset="0"/>
              </a:rPr>
              <a:t> </a:t>
            </a:r>
            <a:r>
              <a:rPr lang="en-US" altLang="en-US" sz="3600" b="1" i="1" dirty="0" err="1">
                <a:latin typeface="Times New Roman" panose="02020603050405020304" pitchFamily="18" charset="0"/>
              </a:rPr>
              <a:t>luận</a:t>
            </a:r>
            <a:endParaRPr lang="en-US" altLang="en-US" sz="3600" b="1" i="1" dirty="0">
              <a:latin typeface="Times New Roman" panose="02020603050405020304" pitchFamily="18" charset="0"/>
            </a:endParaRPr>
          </a:p>
        </p:txBody>
      </p:sp>
      <p:sp>
        <p:nvSpPr>
          <p:cNvPr id="3" name="Content Placeholder 2"/>
          <p:cNvSpPr>
            <a:spLocks noGrp="1"/>
          </p:cNvSpPr>
          <p:nvPr>
            <p:ph idx="1"/>
          </p:nvPr>
        </p:nvSpPr>
        <p:spPr>
          <a:xfrm>
            <a:off x="581891" y="928254"/>
            <a:ext cx="11028218" cy="5611091"/>
          </a:xfrm>
        </p:spPr>
        <p:txBody>
          <a:bodyPr>
            <a:noAutofit/>
          </a:bodyPr>
          <a:lstStyle/>
          <a:p>
            <a:pPr algn="just"/>
            <a:endParaRPr lang="en-US" altLang="en-US" dirty="0">
              <a:latin typeface="Times New Roman" panose="02020603050405020304" pitchFamily="18" charset="0"/>
            </a:endParaRPr>
          </a:p>
          <a:p>
            <a:pPr algn="just"/>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mâu</a:t>
            </a:r>
            <a:r>
              <a:rPr lang="en-US" altLang="en-US" dirty="0">
                <a:latin typeface="Times New Roman" panose="02020603050405020304" pitchFamily="18" charset="0"/>
              </a:rPr>
              <a:t> </a:t>
            </a:r>
            <a:r>
              <a:rPr lang="en-US" altLang="en-US" dirty="0" err="1">
                <a:latin typeface="Times New Roman" panose="02020603050405020304" pitchFamily="18" charset="0"/>
              </a:rPr>
              <a:t>thuẫn</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dirty="0" err="1">
                <a:latin typeface="Times New Roman" panose="02020603050405020304" pitchFamily="18" charset="0"/>
              </a:rPr>
              <a:t>khách</a:t>
            </a:r>
            <a:r>
              <a:rPr lang="en-US" altLang="en-US" dirty="0">
                <a:latin typeface="Times New Roman" panose="02020603050405020304" pitchFamily="18" charset="0"/>
              </a:rPr>
              <a:t> </a:t>
            </a:r>
            <a:r>
              <a:rPr lang="en-US" altLang="en-US"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phổ</a:t>
            </a:r>
            <a:r>
              <a:rPr lang="en-US" altLang="en-US" dirty="0">
                <a:latin typeface="Times New Roman" panose="02020603050405020304" pitchFamily="18" charset="0"/>
              </a:rPr>
              <a:t> </a:t>
            </a:r>
            <a:r>
              <a:rPr lang="en-US" altLang="en-US" dirty="0" err="1">
                <a:latin typeface="Times New Roman" panose="02020603050405020304" pitchFamily="18" charset="0"/>
              </a:rPr>
              <a:t>biến</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nguồn</a:t>
            </a:r>
            <a:r>
              <a:rPr lang="en-US" altLang="en-US" dirty="0">
                <a:latin typeface="Times New Roman" panose="02020603050405020304" pitchFamily="18" charset="0"/>
              </a:rPr>
              <a:t> </a:t>
            </a:r>
            <a:r>
              <a:rPr lang="en-US" altLang="en-US" dirty="0" err="1">
                <a:latin typeface="Times New Roman" panose="02020603050405020304" pitchFamily="18" charset="0"/>
              </a:rPr>
              <a:t>gốc</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lực</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vì</a:t>
            </a:r>
            <a:r>
              <a:rPr lang="en-US" altLang="en-US" dirty="0">
                <a:latin typeface="Times New Roman" panose="02020603050405020304" pitchFamily="18" charset="0"/>
              </a:rPr>
              <a:t> </a:t>
            </a:r>
            <a:r>
              <a:rPr lang="en-US" altLang="en-US" dirty="0" err="1">
                <a:latin typeface="Times New Roman" panose="02020603050405020304" pitchFamily="18" charset="0"/>
              </a:rPr>
              <a:t>vậy</a:t>
            </a:r>
            <a:r>
              <a:rPr lang="en-US" altLang="en-US" dirty="0">
                <a:latin typeface="Times New Roman" panose="02020603050405020304" pitchFamily="18" charset="0"/>
              </a:rPr>
              <a:t>, </a:t>
            </a:r>
            <a:r>
              <a:rPr lang="en-US" altLang="en-US" dirty="0" err="1">
                <a:latin typeface="Times New Roman" panose="02020603050405020304" pitchFamily="18" charset="0"/>
              </a:rPr>
              <a:t>muốn</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tôn</a:t>
            </a:r>
            <a:r>
              <a:rPr lang="en-US" altLang="en-US" dirty="0">
                <a:latin typeface="Times New Roman" panose="02020603050405020304" pitchFamily="18" charset="0"/>
              </a:rPr>
              <a:t> </a:t>
            </a:r>
            <a:r>
              <a:rPr lang="en-US" altLang="en-US" dirty="0" err="1">
                <a:latin typeface="Times New Roman" panose="02020603050405020304" pitchFamily="18" charset="0"/>
              </a:rPr>
              <a:t>trọng</a:t>
            </a:r>
            <a:r>
              <a:rPr lang="en-US" altLang="en-US" dirty="0">
                <a:latin typeface="Times New Roman" panose="02020603050405020304" pitchFamily="18" charset="0"/>
              </a:rPr>
              <a:t> </a:t>
            </a:r>
            <a:r>
              <a:rPr lang="en-US" altLang="en-US" dirty="0" err="1">
                <a:latin typeface="Times New Roman" panose="02020603050405020304" pitchFamily="18" charset="0"/>
              </a:rPr>
              <a:t>mâu</a:t>
            </a:r>
            <a:r>
              <a:rPr lang="en-US" altLang="en-US" dirty="0">
                <a:latin typeface="Times New Roman" panose="02020603050405020304" pitchFamily="18" charset="0"/>
              </a:rPr>
              <a:t> </a:t>
            </a:r>
            <a:r>
              <a:rPr lang="en-US" altLang="en-US" dirty="0" err="1">
                <a:latin typeface="Times New Roman" panose="02020603050405020304" pitchFamily="18" charset="0"/>
              </a:rPr>
              <a:t>thuẫn</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mâu</a:t>
            </a:r>
            <a:r>
              <a:rPr lang="en-US" altLang="en-US" dirty="0">
                <a:latin typeface="Times New Roman" panose="02020603050405020304" pitchFamily="18" charset="0"/>
              </a:rPr>
              <a:t> </a:t>
            </a:r>
            <a:r>
              <a:rPr lang="en-US" altLang="en-US" dirty="0" err="1">
                <a:latin typeface="Times New Roman" panose="02020603050405020304" pitchFamily="18" charset="0"/>
              </a:rPr>
              <a:t>thuẫn</a:t>
            </a:r>
            <a:r>
              <a:rPr lang="en-US" altLang="en-US" dirty="0">
                <a:latin typeface="Times New Roman" panose="02020603050405020304" pitchFamily="18" charset="0"/>
              </a:rPr>
              <a:t>, </a:t>
            </a:r>
            <a:r>
              <a:rPr lang="en-US" altLang="en-US" dirty="0" err="1">
                <a:latin typeface="Times New Roman" panose="02020603050405020304" pitchFamily="18" charset="0"/>
              </a:rPr>
              <a:t>phân</a:t>
            </a:r>
            <a:r>
              <a:rPr lang="en-US" altLang="en-US" dirty="0">
                <a:latin typeface="Times New Roman" panose="02020603050405020304" pitchFamily="18" charset="0"/>
              </a:rPr>
              <a:t> </a:t>
            </a:r>
            <a:r>
              <a:rPr lang="en-US" altLang="en-US" dirty="0" err="1">
                <a:latin typeface="Times New Roman" panose="02020603050405020304" pitchFamily="18" charset="0"/>
              </a:rPr>
              <a:t>tích</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mặt</a:t>
            </a:r>
            <a:r>
              <a:rPr lang="en-US" altLang="en-US" dirty="0">
                <a:latin typeface="Times New Roman" panose="02020603050405020304" pitchFamily="18" charset="0"/>
              </a:rPr>
              <a:t> </a:t>
            </a:r>
            <a:r>
              <a:rPr lang="en-US" altLang="en-US"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lập</a:t>
            </a:r>
            <a:r>
              <a:rPr lang="en-US" altLang="en-US" dirty="0">
                <a:latin typeface="Times New Roman" panose="02020603050405020304" pitchFamily="18" charset="0"/>
              </a:rPr>
              <a:t>, </a:t>
            </a:r>
            <a:r>
              <a:rPr lang="en-US" altLang="en-US" dirty="0" err="1">
                <a:latin typeface="Times New Roman" panose="02020603050405020304" pitchFamily="18" charset="0"/>
              </a:rPr>
              <a:t>nắm</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bản</a:t>
            </a:r>
            <a:r>
              <a:rPr lang="en-US" altLang="en-US" dirty="0">
                <a:latin typeface="Times New Roman" panose="02020603050405020304" pitchFamily="18" charset="0"/>
              </a:rPr>
              <a:t> </a:t>
            </a:r>
            <a:r>
              <a:rPr lang="en-US" altLang="en-US" dirty="0" err="1">
                <a:latin typeface="Times New Roman" panose="02020603050405020304" pitchFamily="18" charset="0"/>
              </a:rPr>
              <a:t>chất</a:t>
            </a:r>
            <a:r>
              <a:rPr lang="en-US" altLang="en-US" dirty="0">
                <a:latin typeface="Times New Roman" panose="02020603050405020304" pitchFamily="18" charset="0"/>
              </a:rPr>
              <a:t>, </a:t>
            </a:r>
            <a:r>
              <a:rPr lang="en-US" altLang="en-US" dirty="0" err="1">
                <a:latin typeface="Times New Roman" panose="02020603050405020304" pitchFamily="18" charset="0"/>
              </a:rPr>
              <a:t>nguồn</a:t>
            </a:r>
            <a:r>
              <a:rPr lang="en-US" altLang="en-US" dirty="0">
                <a:latin typeface="Times New Roman" panose="02020603050405020304" pitchFamily="18" charset="0"/>
              </a:rPr>
              <a:t> </a:t>
            </a:r>
            <a:r>
              <a:rPr lang="en-US" altLang="en-US" dirty="0" err="1">
                <a:latin typeface="Times New Roman" panose="02020603050405020304" pitchFamily="18" charset="0"/>
              </a:rPr>
              <a:t>gốc</a:t>
            </a:r>
            <a:r>
              <a:rPr lang="en-US" altLang="en-US" dirty="0">
                <a:latin typeface="Times New Roman" panose="02020603050405020304" pitchFamily="18" charset="0"/>
              </a:rPr>
              <a:t>, </a:t>
            </a:r>
            <a:r>
              <a:rPr lang="en-US" altLang="en-US" dirty="0" err="1">
                <a:latin typeface="Times New Roman" panose="02020603050405020304" pitchFamily="18" charset="0"/>
              </a:rPr>
              <a:t>khuynh</a:t>
            </a:r>
            <a:r>
              <a:rPr lang="en-US" altLang="en-US" dirty="0">
                <a:latin typeface="Times New Roman" panose="02020603050405020304" pitchFamily="18" charset="0"/>
              </a:rPr>
              <a:t> </a:t>
            </a:r>
            <a:r>
              <a:rPr lang="en-US" altLang="en-US" dirty="0" err="1">
                <a:latin typeface="Times New Roman" panose="02020603050405020304" pitchFamily="18" charset="0"/>
              </a:rPr>
              <a:t>hướng</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r>
              <a:rPr lang="en-US" altLang="en-US" dirty="0" err="1">
                <a:latin typeface="Times New Roman" panose="02020603050405020304" pitchFamily="18" charset="0"/>
                <a:cs typeface="Times New Roman" panose="02020603050405020304" pitchFamily="18" charset="0"/>
              </a:rPr>
              <a:t>Đối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hoạt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động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tiễn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thì</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định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đúng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mùi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thuẫn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tìm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ra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&amp; </a:t>
            </a:r>
            <a:r>
              <a:rPr lang="en-US" altLang="en-US" dirty="0" err="1">
                <a:latin typeface="Times New Roman" panose="02020603050405020304" pitchFamily="18" charset="0"/>
                <a:cs typeface="Times New Roman" panose="02020603050405020304" pitchFamily="18" charset="0"/>
              </a:rPr>
              <a:t>lực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lượng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thuẫn</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a:r>
              <a:rPr lang="en-US" altLang="en-US" dirty="0" err="1">
                <a:latin typeface="Times New Roman" panose="02020603050405020304" pitchFamily="18" charset="0"/>
                <a:cs typeface="Times New Roman" panose="02020603050405020304" pitchFamily="18" charset="0"/>
              </a:rPr>
              <a:t>Mâu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thuẫn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chỉ</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điều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mùi</a:t>
            </a:r>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pPr algn="just"/>
            <a:r>
              <a:rPr lang="en-US" altLang="en-US" dirty="0" err="1">
                <a:latin typeface="Times New Roman" panose="02020603050405020304" pitchFamily="18" charset="0"/>
                <a:cs typeface="Times New Roman" panose="02020603050405020304" pitchFamily="18" charset="0"/>
              </a:rPr>
              <a:t>Mâu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thuẫn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chỉ</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được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bằng</a:t>
            </a:r>
            <a:r>
              <a:rPr lang="en-US" altLang="en-US" dirty="0">
                <a:latin typeface="Times New Roman" panose="02020603050405020304" pitchFamily="18" charset="0"/>
                <a:cs typeface="Times New Roman" panose="02020603050405020304" pitchFamily="18" charset="0"/>
              </a:rPr>
              <a:t> con </a:t>
            </a:r>
            <a:r>
              <a:rPr lang="en-US" altLang="en-US" dirty="0" err="1">
                <a:latin typeface="Times New Roman" panose="02020603050405020304" pitchFamily="18" charset="0"/>
                <a:cs typeface="Times New Roman" panose="02020603050405020304" pitchFamily="18" charset="0"/>
              </a:rPr>
              <a:t>đường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đấu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tranh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dưới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những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thức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cụ</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thể</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r>
              <a:rPr lang="en-US" altLang="en-US" dirty="0">
                <a:latin typeface="Times New Roman" panose="02020603050405020304" pitchFamily="18" charset="0"/>
                <a:cs typeface="Times New Roman" panose="02020603050405020304" pitchFamily="18" charset="0"/>
              </a:rPr>
              <a:t>. </a:t>
            </a:r>
            <a:endParaRPr lang="en-US" altLang="en-US" dirty="0">
              <a:latin typeface="Times New Roman" panose="02020603050405020304" pitchFamily="18" charset="0"/>
              <a:cs typeface="Times New Roman" panose="02020603050405020304" pitchFamily="18" charset="0"/>
            </a:endParaRPr>
          </a:p>
          <a:p>
            <a:pPr algn="just"/>
            <a:r>
              <a:rPr lang="en-US" altLang="en-US" dirty="0" err="1">
                <a:latin typeface="Times New Roman" panose="02020603050405020304" pitchFamily="18" charset="0"/>
                <a:cs typeface="Times New Roman" panose="02020603050405020304" pitchFamily="18" charset="0"/>
              </a:rPr>
              <a:t>Đối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với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mâu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thuẫn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cần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có</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phương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giải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quyết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khác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nhau</a:t>
            </a:r>
            <a:r>
              <a:rPr lang="en-US" altLang="en-US" dirty="0">
                <a:latin typeface="Times New Roman" panose="02020603050405020304" pitchFamily="18" charset="0"/>
                <a:cs typeface="Times New Roman" panose="02020603050405020304" pitchFamily="18" charset="0"/>
              </a:rPr>
              <a:t>.</a:t>
            </a:r>
            <a:br>
              <a:rPr lang="en-US" altLang="en-US" dirty="0">
                <a:latin typeface="Times New Roman" panose="02020603050405020304" pitchFamily="18" charset="0"/>
                <a:cs typeface="Times New Roman" panose="02020603050405020304" pitchFamily="18" charset="0"/>
              </a:rPr>
            </a:b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37202"/>
          </a:xfrm>
        </p:spPr>
        <p:txBody>
          <a:bodyPr>
            <a:normAutofit/>
          </a:bodyPr>
          <a:lstStyle/>
          <a:p>
            <a:pPr algn="just"/>
            <a:r>
              <a:rPr lang="en-US" altLang="en-US" sz="3200" b="1" i="1" dirty="0">
                <a:latin typeface="Times New Roman" panose="02020603050405020304" pitchFamily="18" charset="0"/>
              </a:rPr>
              <a:t>c.</a:t>
            </a:r>
            <a:r>
              <a:rPr lang="vi-VN" altLang="en-US" sz="3200" b="1" i="1" dirty="0">
                <a:latin typeface="Times New Roman" panose="02020603050405020304" pitchFamily="18" charset="0"/>
              </a:rPr>
              <a:t> </a:t>
            </a:r>
            <a:r>
              <a:rPr lang="en-US" altLang="en-US" sz="3200" b="1" i="1" dirty="0">
                <a:latin typeface="Times New Roman" panose="02020603050405020304" pitchFamily="18" charset="0"/>
              </a:rPr>
              <a:t>Quy </a:t>
            </a:r>
            <a:r>
              <a:rPr lang="en-US" altLang="en-US" sz="3200" b="1" i="1" dirty="0" err="1">
                <a:latin typeface="Times New Roman" panose="02020603050405020304" pitchFamily="18" charset="0"/>
              </a:rPr>
              <a:t>luật</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phủ</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định</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của</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phủ</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định</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buFont typeface="Wingdings" panose="05000000000000000000" pitchFamily="2" charset="2"/>
              <a:buChar char="v"/>
            </a:pPr>
            <a:r>
              <a:rPr lang="en-US" altLang="en-US" b="1" i="1" dirty="0" err="1">
                <a:latin typeface="Times New Roman" panose="02020603050405020304" pitchFamily="18" charset="0"/>
              </a:rPr>
              <a:t>Vai</a:t>
            </a:r>
            <a:r>
              <a:rPr lang="en-US" altLang="en-US" b="1" i="1" dirty="0">
                <a:latin typeface="Times New Roman" panose="02020603050405020304" pitchFamily="18" charset="0"/>
              </a:rPr>
              <a:t> </a:t>
            </a:r>
            <a:r>
              <a:rPr lang="en-US" altLang="en-US" b="1" i="1" dirty="0" err="1">
                <a:latin typeface="Times New Roman" panose="02020603050405020304" pitchFamily="18" charset="0"/>
              </a:rPr>
              <a:t>trò</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của</a:t>
            </a:r>
            <a:r>
              <a:rPr lang="en-US" altLang="en-US" b="1" i="1" dirty="0">
                <a:latin typeface="Times New Roman" panose="02020603050405020304" pitchFamily="18" charset="0"/>
              </a:rPr>
              <a:t> </a:t>
            </a:r>
            <a:r>
              <a:rPr lang="en-US" altLang="en-US" b="1" i="1" dirty="0" err="1">
                <a:latin typeface="Times New Roman" panose="02020603050405020304" pitchFamily="18" charset="0"/>
              </a:rPr>
              <a:t>quy</a:t>
            </a:r>
            <a:r>
              <a:rPr lang="en-US" altLang="en-US" b="1" i="1" dirty="0">
                <a:latin typeface="Times New Roman" panose="02020603050405020304" pitchFamily="18" charset="0"/>
              </a:rPr>
              <a:t> </a:t>
            </a:r>
            <a:r>
              <a:rPr lang="en-US" altLang="en-US" b="1" i="1" dirty="0" err="1">
                <a:latin typeface="Times New Roman" panose="02020603050405020304" pitchFamily="18" charset="0"/>
              </a:rPr>
              <a:t>luật</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marL="0" indent="0">
              <a:buNone/>
            </a:pPr>
            <a:br>
              <a:rPr lang="en-US" altLang="en-US" dirty="0">
                <a:latin typeface="Times New Roman" panose="02020603050405020304" pitchFamily="18" charset="0"/>
              </a:rPr>
            </a:b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i="1" dirty="0" err="1">
                <a:latin typeface="Times New Roman" panose="02020603050405020304" pitchFamily="18" charset="0"/>
              </a:rPr>
              <a:t>khuynh</a:t>
            </a:r>
            <a:r>
              <a:rPr lang="en-US" altLang="en-US" i="1" dirty="0">
                <a:latin typeface="Times New Roman" panose="02020603050405020304" pitchFamily="18" charset="0"/>
              </a:rPr>
              <a:t> </a:t>
            </a:r>
            <a:r>
              <a:rPr lang="en-US" altLang="en-US" i="1" dirty="0" err="1">
                <a:latin typeface="Times New Roman" panose="02020603050405020304" pitchFamily="18" charset="0"/>
              </a:rPr>
              <a:t>hướng</a:t>
            </a:r>
            <a:r>
              <a:rPr lang="en-US" altLang="en-US" i="1"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i="1"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vật</a:t>
            </a:r>
            <a:r>
              <a:rPr lang="en-US" altLang="en-US" dirty="0">
                <a:latin typeface="Times New Roman" panose="02020603050405020304" pitchFamily="18" charset="0"/>
              </a:rPr>
              <a:t>, </a:t>
            </a:r>
            <a:r>
              <a:rPr lang="en-US" altLang="en-US" dirty="0" err="1">
                <a:latin typeface="Times New Roman" panose="02020603050405020304" pitchFamily="18" charset="0"/>
              </a:rPr>
              <a:t>hiện</a:t>
            </a:r>
            <a:r>
              <a:rPr lang="en-US" altLang="en-US" dirty="0">
                <a:latin typeface="Times New Roman" panose="02020603050405020304" pitchFamily="18" charset="0"/>
              </a:rPr>
              <a:t> </a:t>
            </a:r>
            <a:r>
              <a:rPr lang="en-US" altLang="en-US" dirty="0" err="1">
                <a:latin typeface="Times New Roman" panose="02020603050405020304" pitchFamily="18" charset="0"/>
              </a:rPr>
              <a:t>tượng</a:t>
            </a:r>
            <a:r>
              <a:rPr lang="en-US" altLang="en-US" dirty="0">
                <a:latin typeface="Times New Roman" panose="02020603050405020304" pitchFamily="18" charset="0"/>
              </a:rPr>
              <a:t> </a:t>
            </a:r>
            <a:r>
              <a:rPr lang="en-US" altLang="en-US" dirty="0" err="1">
                <a:latin typeface="Times New Roman" panose="02020603050405020304" pitchFamily="18" charset="0"/>
              </a:rPr>
              <a:t>đi</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thấp</a:t>
            </a:r>
            <a:r>
              <a:rPr lang="en-US" altLang="en-US" dirty="0">
                <a:latin typeface="Times New Roman" panose="02020603050405020304" pitchFamily="18" charset="0"/>
              </a:rPr>
              <a:t> </a:t>
            </a:r>
            <a:r>
              <a:rPr lang="en-US" altLang="en-US" dirty="0" err="1">
                <a:latin typeface="Times New Roman" panose="02020603050405020304" pitchFamily="18" charset="0"/>
              </a:rPr>
              <a:t>đến</a:t>
            </a:r>
            <a:r>
              <a:rPr lang="en-US" altLang="en-US" dirty="0">
                <a:latin typeface="Times New Roman" panose="02020603050405020304" pitchFamily="18" charset="0"/>
              </a:rPr>
              <a:t> </a:t>
            </a:r>
            <a:r>
              <a:rPr lang="en-US" altLang="en-US" dirty="0" err="1">
                <a:latin typeface="Times New Roman" panose="02020603050405020304" pitchFamily="18" charset="0"/>
              </a:rPr>
              <a:t>cao</a:t>
            </a:r>
            <a:r>
              <a:rPr lang="en-US" altLang="en-US" dirty="0">
                <a:latin typeface="Times New Roman" panose="02020603050405020304" pitchFamily="18" charset="0"/>
              </a:rPr>
              <a:t>, </a:t>
            </a:r>
            <a:r>
              <a:rPr lang="en-US" altLang="en-US" dirty="0" err="1">
                <a:latin typeface="Times New Roman" panose="02020603050405020304" pitchFamily="18" charset="0"/>
              </a:rPr>
              <a:t>từ</a:t>
            </a:r>
            <a:r>
              <a:rPr lang="en-US" altLang="en-US" dirty="0">
                <a:latin typeface="Times New Roman" panose="02020603050405020304" pitchFamily="18" charset="0"/>
              </a:rPr>
              <a:t> </a:t>
            </a:r>
            <a:r>
              <a:rPr lang="en-US" altLang="en-US" dirty="0" err="1">
                <a:latin typeface="Times New Roman" panose="02020603050405020304" pitchFamily="18" charset="0"/>
              </a:rPr>
              <a:t>chưa</a:t>
            </a:r>
            <a:r>
              <a:rPr lang="en-US" altLang="en-US" dirty="0">
                <a:latin typeface="Times New Roman" panose="02020603050405020304" pitchFamily="18" charset="0"/>
              </a:rPr>
              <a:t> </a:t>
            </a:r>
            <a:r>
              <a:rPr lang="en-US" altLang="en-US" dirty="0" err="1">
                <a:latin typeface="Times New Roman" panose="02020603050405020304" pitchFamily="18" charset="0"/>
              </a:rPr>
              <a:t>tiến</a:t>
            </a:r>
            <a:r>
              <a:rPr lang="en-US" altLang="en-US" dirty="0">
                <a:latin typeface="Times New Roman" panose="02020603050405020304" pitchFamily="18" charset="0"/>
              </a:rPr>
              <a:t> </a:t>
            </a:r>
            <a:r>
              <a:rPr lang="en-US" altLang="en-US" dirty="0" err="1">
                <a:latin typeface="Times New Roman" panose="02020603050405020304" pitchFamily="18" charset="0"/>
              </a:rPr>
              <a:t>bộ</a:t>
            </a:r>
            <a:r>
              <a:rPr lang="en-US" altLang="en-US" dirty="0">
                <a:latin typeface="Times New Roman" panose="02020603050405020304" pitchFamily="18" charset="0"/>
              </a:rPr>
              <a:t> </a:t>
            </a:r>
            <a:r>
              <a:rPr lang="en-US" altLang="en-US" dirty="0" err="1">
                <a:latin typeface="Times New Roman" panose="02020603050405020304" pitchFamily="18" charset="0"/>
              </a:rPr>
              <a:t>đến</a:t>
            </a:r>
            <a:r>
              <a:rPr lang="en-US" altLang="en-US" dirty="0">
                <a:latin typeface="Times New Roman" panose="02020603050405020304" pitchFamily="18" charset="0"/>
              </a:rPr>
              <a:t> </a:t>
            </a:r>
            <a:r>
              <a:rPr lang="en-US" altLang="en-US" dirty="0" err="1">
                <a:latin typeface="Times New Roman" panose="02020603050405020304" pitchFamily="18" charset="0"/>
              </a:rPr>
              <a:t>tiến</a:t>
            </a:r>
            <a:r>
              <a:rPr lang="en-US" altLang="en-US" dirty="0">
                <a:latin typeface="Times New Roman" panose="02020603050405020304" pitchFamily="18" charset="0"/>
              </a:rPr>
              <a:t> </a:t>
            </a:r>
            <a:r>
              <a:rPr lang="en-US" altLang="en-US" dirty="0" err="1">
                <a:latin typeface="Times New Roman" panose="02020603050405020304" pitchFamily="18" charset="0"/>
              </a:rPr>
              <a:t>bộ</a:t>
            </a:r>
            <a:r>
              <a:rPr lang="en-US" altLang="en-US" dirty="0">
                <a:latin typeface="Times New Roman" panose="02020603050405020304" pitchFamily="18" charset="0"/>
              </a:rPr>
              <a:t>. </a:t>
            </a:r>
            <a:r>
              <a:rPr lang="en-US" altLang="en-US" dirty="0" err="1">
                <a:latin typeface="Times New Roman" panose="02020603050405020304" pitchFamily="18" charset="0"/>
              </a:rPr>
              <a:t>Hình</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&amp;</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diễn</a:t>
            </a:r>
            <a:r>
              <a:rPr lang="en-US" altLang="en-US" dirty="0">
                <a:latin typeface="Times New Roman" panose="02020603050405020304" pitchFamily="18" charset="0"/>
              </a:rPr>
              <a:t> </a:t>
            </a:r>
            <a:r>
              <a:rPr lang="en-US" altLang="en-US" dirty="0" err="1">
                <a:latin typeface="Times New Roman" panose="02020603050405020304" pitchFamily="18" charset="0"/>
              </a:rPr>
              <a:t>ra</a:t>
            </a:r>
            <a:r>
              <a:rPr lang="en-US" altLang="en-US" dirty="0">
                <a:latin typeface="Times New Roman" panose="02020603050405020304" pitchFamily="18" charset="0"/>
              </a:rPr>
              <a:t> </a:t>
            </a:r>
            <a:r>
              <a:rPr lang="en-US" altLang="en-US" dirty="0" err="1">
                <a:latin typeface="Times New Roman" panose="02020603050405020304" pitchFamily="18" charset="0"/>
              </a:rPr>
              <a:t>theo</a:t>
            </a:r>
            <a:r>
              <a:rPr lang="en-US" altLang="en-US" dirty="0">
                <a:latin typeface="Times New Roman" panose="02020603050405020304" pitchFamily="18" charset="0"/>
              </a:rPr>
              <a:t> </a:t>
            </a:r>
            <a:r>
              <a:rPr lang="en-US" altLang="en-US" dirty="0" err="1">
                <a:latin typeface="Times New Roman" panose="02020603050405020304" pitchFamily="18" charset="0"/>
              </a:rPr>
              <a:t>quy</a:t>
            </a:r>
            <a:r>
              <a:rPr lang="en-US" altLang="en-US" dirty="0">
                <a:latin typeface="Times New Roman" panose="02020603050405020304" pitchFamily="18" charset="0"/>
              </a:rPr>
              <a:t> </a:t>
            </a:r>
            <a:r>
              <a:rPr lang="en-US" altLang="en-US" dirty="0" err="1">
                <a:latin typeface="Times New Roman" panose="02020603050405020304" pitchFamily="18" charset="0"/>
              </a:rPr>
              <a:t>luật</a:t>
            </a:r>
            <a:r>
              <a:rPr lang="en-US" altLang="en-US" dirty="0">
                <a:latin typeface="Times New Roman" panose="02020603050405020304" pitchFamily="18" charset="0"/>
              </a:rPr>
              <a:t> </a:t>
            </a:r>
            <a:r>
              <a:rPr lang="en-US" altLang="en-US" dirty="0" err="1">
                <a:latin typeface="Times New Roman" panose="02020603050405020304" pitchFamily="18" charset="0"/>
              </a:rPr>
              <a:t>này</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theo</a:t>
            </a:r>
            <a:r>
              <a:rPr lang="en-US" altLang="en-US" dirty="0">
                <a:latin typeface="Times New Roman" panose="02020603050405020304" pitchFamily="18" charset="0"/>
              </a:rPr>
              <a:t> con </a:t>
            </a:r>
            <a:r>
              <a:rPr lang="en-US" altLang="en-US" dirty="0" err="1">
                <a:latin typeface="Times New Roman" panose="02020603050405020304" pitchFamily="18" charset="0"/>
              </a:rPr>
              <a:t>đường</a:t>
            </a:r>
            <a:r>
              <a:rPr lang="en-US" altLang="en-US" dirty="0">
                <a:latin typeface="Times New Roman" panose="02020603050405020304" pitchFamily="18" charset="0"/>
              </a:rPr>
              <a:t> </a:t>
            </a:r>
            <a:r>
              <a:rPr lang="en-US" altLang="en-US" dirty="0" err="1">
                <a:latin typeface="Times New Roman" panose="02020603050405020304" pitchFamily="18" charset="0"/>
              </a:rPr>
              <a:t>xoáy</a:t>
            </a:r>
            <a:r>
              <a:rPr lang="en-US" altLang="en-US" dirty="0">
                <a:latin typeface="Times New Roman" panose="02020603050405020304" pitchFamily="18" charset="0"/>
              </a:rPr>
              <a:t> </a:t>
            </a:r>
            <a:r>
              <a:rPr lang="en-US" altLang="en-US" dirty="0" err="1">
                <a:latin typeface="Times New Roman" panose="02020603050405020304" pitchFamily="18" charset="0"/>
              </a:rPr>
              <a:t>ốc</a:t>
            </a:r>
            <a:r>
              <a:rPr lang="en-US" altLang="en-US" dirty="0">
                <a:latin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32509"/>
            <a:ext cx="10515600" cy="997527"/>
          </a:xfrm>
        </p:spPr>
        <p:txBody>
          <a:bodyPr>
            <a:normAutofit/>
          </a:bodyPr>
          <a:lstStyle/>
          <a:p>
            <a:pPr marL="533400" indent="-533400" algn="just">
              <a:buFont typeface="Arial" panose="020B0604020202020204" pitchFamily="34" charset="0"/>
              <a:buChar char="•"/>
              <a:defRPr/>
            </a:pPr>
            <a:r>
              <a:rPr lang="en-US" altLang="en-US" sz="3200" i="1" dirty="0">
                <a:latin typeface="Times New Roman" panose="02020603050405020304" pitchFamily="18" charset="0"/>
              </a:rPr>
              <a:t>“</a:t>
            </a:r>
            <a:r>
              <a:rPr lang="en-US" altLang="en-US" sz="3200" i="1" dirty="0" err="1">
                <a:latin typeface="Times New Roman" panose="02020603050405020304" pitchFamily="18" charset="0"/>
              </a:rPr>
              <a:t>Phủ</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định</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là</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sự</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thay</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thế</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sự</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vật</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này</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bằng</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sự</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vật</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khác</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trong</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quá</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trình</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vận</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động</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và</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phát</a:t>
            </a:r>
            <a:r>
              <a:rPr lang="en-US" altLang="en-US" sz="3200" i="1" dirty="0">
                <a:latin typeface="Times New Roman" panose="02020603050405020304" pitchFamily="18" charset="0"/>
              </a:rPr>
              <a:t> </a:t>
            </a:r>
            <a:r>
              <a:rPr lang="en-US" altLang="en-US" sz="3200" i="1" dirty="0" err="1">
                <a:latin typeface="Times New Roman" panose="02020603050405020304" pitchFamily="18" charset="0"/>
              </a:rPr>
              <a:t>triển</a:t>
            </a:r>
            <a:endParaRPr lang="en-US" altLang="en-US" sz="3200" i="1" dirty="0">
              <a:latin typeface="Times New Roman" panose="02020603050405020304" pitchFamily="18" charset="0"/>
            </a:endParaRPr>
          </a:p>
        </p:txBody>
      </p:sp>
      <p:sp>
        <p:nvSpPr>
          <p:cNvPr id="3" name="Content Placeholder 2"/>
          <p:cNvSpPr>
            <a:spLocks noGrp="1"/>
          </p:cNvSpPr>
          <p:nvPr>
            <p:ph idx="1"/>
          </p:nvPr>
        </p:nvSpPr>
        <p:spPr>
          <a:xfrm>
            <a:off x="838200" y="1454727"/>
            <a:ext cx="10515600" cy="4722236"/>
          </a:xfrm>
        </p:spPr>
        <p:txBody>
          <a:bodyPr/>
          <a:lstStyle/>
          <a:p>
            <a:pPr marL="0" indent="0" algn="just">
              <a:buNone/>
              <a:defRPr/>
            </a:pPr>
            <a:endParaRPr lang="en-US" altLang="en-US" i="1" dirty="0">
              <a:latin typeface="Times New Roman" panose="02020603050405020304" pitchFamily="18" charset="0"/>
            </a:endParaRPr>
          </a:p>
        </p:txBody>
      </p:sp>
      <p:pic>
        <p:nvPicPr>
          <p:cNvPr id="4" name="Picture 7" descr="收麦子0A"/>
          <p:cNvPicPr>
            <a:picLocks noChangeAspect="1" noChangeArrowheads="1"/>
          </p:cNvPicPr>
          <p:nvPr/>
        </p:nvPicPr>
        <p:blipFill>
          <a:blip r:embed="rId1">
            <a:extLst>
              <a:ext uri="{28A0092B-C50C-407E-A947-70E740481C1C}">
                <a14:useLocalDpi xmlns:a14="http://schemas.microsoft.com/office/drawing/2010/main" val="0"/>
              </a:ext>
            </a:extLst>
          </a:blip>
          <a:srcRect l="12743" t="8115" r="9381" b="10907"/>
          <a:stretch>
            <a:fillRect/>
          </a:stretch>
        </p:blipFill>
        <p:spPr bwMode="auto">
          <a:xfrm>
            <a:off x="838200" y="1981200"/>
            <a:ext cx="4149436" cy="419576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pic>
        <p:nvPicPr>
          <p:cNvPr id="5" name="Picture 8" descr="联合收割机0A"/>
          <p:cNvPicPr>
            <a:picLocks noChangeAspect="1" noChangeArrowheads="1"/>
          </p:cNvPicPr>
          <p:nvPr/>
        </p:nvPicPr>
        <p:blipFill>
          <a:blip r:embed="rId2">
            <a:extLst>
              <a:ext uri="{28A0092B-C50C-407E-A947-70E740481C1C}">
                <a14:useLocalDpi xmlns:a14="http://schemas.microsoft.com/office/drawing/2010/main" val="0"/>
              </a:ext>
            </a:extLst>
          </a:blip>
          <a:srcRect l="2998" t="6767" r="5530"/>
          <a:stretch>
            <a:fillRect/>
          </a:stretch>
        </p:blipFill>
        <p:spPr bwMode="auto">
          <a:xfrm>
            <a:off x="7051964" y="1981200"/>
            <a:ext cx="4301836" cy="4195762"/>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6" name="Line 9"/>
          <p:cNvSpPr>
            <a:spLocks noChangeShapeType="1"/>
          </p:cNvSpPr>
          <p:nvPr/>
        </p:nvSpPr>
        <p:spPr bwMode="auto">
          <a:xfrm flipH="1" flipV="1">
            <a:off x="4987636" y="4031672"/>
            <a:ext cx="2064328" cy="27710"/>
          </a:xfrm>
          <a:prstGeom prst="line">
            <a:avLst/>
          </a:prstGeom>
          <a:noFill/>
          <a:ln w="57150">
            <a:solidFill>
              <a:schemeClr val="folHlink"/>
            </a:solidFill>
            <a:rou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7" name="Line 10"/>
          <p:cNvSpPr>
            <a:spLocks noChangeShapeType="1"/>
          </p:cNvSpPr>
          <p:nvPr/>
        </p:nvSpPr>
        <p:spPr bwMode="auto">
          <a:xfrm>
            <a:off x="4973782" y="4946073"/>
            <a:ext cx="2078182" cy="41559"/>
          </a:xfrm>
          <a:prstGeom prst="line">
            <a:avLst/>
          </a:prstGeom>
          <a:noFill/>
          <a:ln w="57150">
            <a:solidFill>
              <a:srgbClr val="FF0000"/>
            </a:solidFill>
            <a:round/>
            <a:tailEnd type="triangle" w="med" len="med"/>
          </a:ln>
          <a:effectLst>
            <a:outerShdw dist="35921" dir="2700000" algn="ctr" rotWithShape="0">
              <a:schemeClr val="bg2"/>
            </a:outerShdw>
          </a:effectLst>
          <a:extLst>
            <a:ext uri="{909E8E84-426E-40DD-AFC4-6F175D3DCCD1}">
              <a14:hiddenFill xmlns:a14="http://schemas.microsoft.com/office/drawing/2010/main">
                <a:noFill/>
              </a14:hiddenFill>
            </a:ext>
          </a:extLst>
        </p:spPr>
        <p:txBody>
          <a:bodyPr wrap="none" anchor="ctr"/>
          <a:lstStyle/>
          <a:p>
            <a:endParaRPr lang="en-US"/>
          </a:p>
        </p:txBody>
      </p:sp>
      <p:sp>
        <p:nvSpPr>
          <p:cNvPr id="9" name="Rectangle 8"/>
          <p:cNvSpPr/>
          <p:nvPr/>
        </p:nvSpPr>
        <p:spPr>
          <a:xfrm flipH="1">
            <a:off x="5264725" y="3574473"/>
            <a:ext cx="1413163" cy="3325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PHỦ ĐỊNH</a:t>
            </a:r>
            <a:endParaRPr lang="en-US" dirty="0">
              <a:solidFill>
                <a:schemeClr val="tx1"/>
              </a:solidFill>
              <a:latin typeface="Times New Roman" panose="02020603050405020304" pitchFamily="18" charset="0"/>
              <a:cs typeface="Times New Roman" panose="02020603050405020304" pitchFamily="18" charset="0"/>
            </a:endParaRPr>
          </a:p>
        </p:txBody>
      </p:sp>
      <p:sp>
        <p:nvSpPr>
          <p:cNvPr id="10" name="Rectangle 9"/>
          <p:cNvSpPr/>
          <p:nvPr/>
        </p:nvSpPr>
        <p:spPr>
          <a:xfrm rot="10800000" flipV="1">
            <a:off x="5126182" y="5112323"/>
            <a:ext cx="1648690" cy="34636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PHÁT TRIỂN</a:t>
            </a:r>
            <a:endParaRPr lang="en-US"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9"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0-#ppt_w/2"/>
                                          </p:val>
                                        </p:tav>
                                        <p:tav tm="100000">
                                          <p:val>
                                            <p:strVal val="#ppt_x"/>
                                          </p:val>
                                        </p:tav>
                                      </p:tavLst>
                                    </p:anim>
                                    <p:anim calcmode="lin" valueType="num">
                                      <p:cBhvr additive="base">
                                        <p:cTn id="8" dur="500" fill="hold"/>
                                        <p:tgtEl>
                                          <p:spTgt spid="4"/>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3" fill="hold"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0-#ppt_h/2"/>
                                          </p:val>
                                        </p:tav>
                                        <p:tav tm="100000">
                                          <p:val>
                                            <p:strVal val="#ppt_y"/>
                                          </p:val>
                                        </p:tav>
                                      </p:tavLst>
                                    </p:anim>
                                  </p:childTnLst>
                                </p:cTn>
                              </p:par>
                            </p:childTnLst>
                          </p:cTn>
                        </p:par>
                        <p:par>
                          <p:cTn id="14" fill="hold">
                            <p:stCondLst>
                              <p:cond delay="1000"/>
                            </p:stCondLst>
                            <p:childTnLst>
                              <p:par>
                                <p:cTn id="15" presetID="17" presetClass="entr" presetSubtype="2" fill="hold"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ppt_x</p:attrName>
                                        </p:attrNameLst>
                                      </p:cBhvr>
                                      <p:tavLst>
                                        <p:tav tm="0">
                                          <p:val>
                                            <p:strVal val="#ppt_x+#ppt_w/2"/>
                                          </p:val>
                                        </p:tav>
                                        <p:tav tm="100000">
                                          <p:val>
                                            <p:strVal val="#ppt_x"/>
                                          </p:val>
                                        </p:tav>
                                      </p:tavLst>
                                    </p:anim>
                                    <p:anim calcmode="lin" valueType="num">
                                      <p:cBhvr>
                                        <p:cTn id="18" dur="500" fill="hold"/>
                                        <p:tgtEl>
                                          <p:spTgt spid="6"/>
                                        </p:tgtEl>
                                        <p:attrNameLst>
                                          <p:attrName>ppt_y</p:attrName>
                                        </p:attrNameLst>
                                      </p:cBhvr>
                                      <p:tavLst>
                                        <p:tav tm="0">
                                          <p:val>
                                            <p:strVal val="#ppt_y"/>
                                          </p:val>
                                        </p:tav>
                                        <p:tav tm="100000">
                                          <p:val>
                                            <p:strVal val="#ppt_y"/>
                                          </p:val>
                                        </p:tav>
                                      </p:tavLst>
                                    </p:anim>
                                    <p:anim calcmode="lin" valueType="num">
                                      <p:cBhvr>
                                        <p:cTn id="19" dur="500" fill="hold"/>
                                        <p:tgtEl>
                                          <p:spTgt spid="6"/>
                                        </p:tgtEl>
                                        <p:attrNameLst>
                                          <p:attrName>ppt_w</p:attrName>
                                        </p:attrNameLst>
                                      </p:cBhvr>
                                      <p:tavLst>
                                        <p:tav tm="0">
                                          <p:val>
                                            <p:fltVal val="0"/>
                                          </p:val>
                                        </p:tav>
                                        <p:tav tm="100000">
                                          <p:val>
                                            <p:strVal val="#ppt_w"/>
                                          </p:val>
                                        </p:tav>
                                      </p:tavLst>
                                    </p:anim>
                                    <p:anim calcmode="lin" valueType="num">
                                      <p:cBhvr>
                                        <p:cTn id="20" dur="500" fill="hold"/>
                                        <p:tgtEl>
                                          <p:spTgt spid="6"/>
                                        </p:tgtEl>
                                        <p:attrNameLst>
                                          <p:attrName>ppt_h</p:attrName>
                                        </p:attrNameLst>
                                      </p:cBhvr>
                                      <p:tavLst>
                                        <p:tav tm="0">
                                          <p:val>
                                            <p:strVal val="#ppt_h"/>
                                          </p:val>
                                        </p:tav>
                                        <p:tav tm="100000">
                                          <p:val>
                                            <p:strVal val="#ppt_h"/>
                                          </p:val>
                                        </p:tav>
                                      </p:tavLst>
                                    </p:anim>
                                  </p:childTnLst>
                                </p:cTn>
                              </p:par>
                            </p:childTnLst>
                          </p:cTn>
                        </p:par>
                        <p:par>
                          <p:cTn id="21" fill="hold">
                            <p:stCondLst>
                              <p:cond delay="1500"/>
                            </p:stCondLst>
                            <p:childTnLst>
                              <p:par>
                                <p:cTn id="22" presetID="17" presetClass="entr" presetSubtype="8" fill="hold" nodeType="afterEffect">
                                  <p:stCondLst>
                                    <p:cond delay="0"/>
                                  </p:stCondLst>
                                  <p:childTnLst>
                                    <p:set>
                                      <p:cBhvr>
                                        <p:cTn id="23" dur="1" fill="hold">
                                          <p:stCondLst>
                                            <p:cond delay="0"/>
                                          </p:stCondLst>
                                        </p:cTn>
                                        <p:tgtEl>
                                          <p:spTgt spid="7"/>
                                        </p:tgtEl>
                                        <p:attrNameLst>
                                          <p:attrName>style.visibility</p:attrName>
                                        </p:attrNameLst>
                                      </p:cBhvr>
                                      <p:to>
                                        <p:strVal val="visible"/>
                                      </p:to>
                                    </p:set>
                                    <p:anim calcmode="lin" valueType="num">
                                      <p:cBhvr>
                                        <p:cTn id="24" dur="500" fill="hold"/>
                                        <p:tgtEl>
                                          <p:spTgt spid="7"/>
                                        </p:tgtEl>
                                        <p:attrNameLst>
                                          <p:attrName>ppt_x</p:attrName>
                                        </p:attrNameLst>
                                      </p:cBhvr>
                                      <p:tavLst>
                                        <p:tav tm="0">
                                          <p:val>
                                            <p:strVal val="#ppt_x-#ppt_w/2"/>
                                          </p:val>
                                        </p:tav>
                                        <p:tav tm="100000">
                                          <p:val>
                                            <p:strVal val="#ppt_x"/>
                                          </p:val>
                                        </p:tav>
                                      </p:tavLst>
                                    </p:anim>
                                    <p:anim calcmode="lin" valueType="num">
                                      <p:cBhvr>
                                        <p:cTn id="25" dur="500" fill="hold"/>
                                        <p:tgtEl>
                                          <p:spTgt spid="7"/>
                                        </p:tgtEl>
                                        <p:attrNameLst>
                                          <p:attrName>ppt_y</p:attrName>
                                        </p:attrNameLst>
                                      </p:cBhvr>
                                      <p:tavLst>
                                        <p:tav tm="0">
                                          <p:val>
                                            <p:strVal val="#ppt_y"/>
                                          </p:val>
                                        </p:tav>
                                        <p:tav tm="100000">
                                          <p:val>
                                            <p:strVal val="#ppt_y"/>
                                          </p:val>
                                        </p:tav>
                                      </p:tavLst>
                                    </p:anim>
                                    <p:anim calcmode="lin" valueType="num">
                                      <p:cBhvr>
                                        <p:cTn id="26" dur="500" fill="hold"/>
                                        <p:tgtEl>
                                          <p:spTgt spid="7"/>
                                        </p:tgtEl>
                                        <p:attrNameLst>
                                          <p:attrName>ppt_w</p:attrName>
                                        </p:attrNameLst>
                                      </p:cBhvr>
                                      <p:tavLst>
                                        <p:tav tm="0">
                                          <p:val>
                                            <p:fltVal val="0"/>
                                          </p:val>
                                        </p:tav>
                                        <p:tav tm="100000">
                                          <p:val>
                                            <p:strVal val="#ppt_w"/>
                                          </p:val>
                                        </p:tav>
                                      </p:tavLst>
                                    </p:anim>
                                    <p:anim calcmode="lin" valueType="num">
                                      <p:cBhvr>
                                        <p:cTn id="27" dur="500" fill="hold"/>
                                        <p:tgtEl>
                                          <p:spTgt spid="7"/>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br>
              <a:rPr lang="vi-VN" altLang="en-US" sz="2800" i="1" dirty="0">
                <a:latin typeface="Times New Roman" panose="02020603050405020304" pitchFamily="18" charset="0"/>
              </a:rPr>
            </a:br>
            <a:r>
              <a:rPr lang="en-US" altLang="en-US" sz="2800" b="1" i="1" dirty="0" err="1">
                <a:latin typeface="Times New Roman" panose="02020603050405020304" pitchFamily="18" charset="0"/>
              </a:rPr>
              <a:t>Phủ</a:t>
            </a:r>
            <a:r>
              <a:rPr lang="en-US" altLang="en-US" sz="2800" b="1" i="1" dirty="0">
                <a:latin typeface="Times New Roman" panose="02020603050405020304" pitchFamily="18" charset="0"/>
              </a:rPr>
              <a:t> </a:t>
            </a:r>
            <a:r>
              <a:rPr lang="en-US" altLang="en-US" sz="2800" b="1" i="1" dirty="0" err="1">
                <a:latin typeface="Times New Roman" panose="02020603050405020304" pitchFamily="18" charset="0"/>
              </a:rPr>
              <a:t>định</a:t>
            </a:r>
            <a:r>
              <a:rPr lang="en-US" altLang="en-US" sz="2800" b="1" i="1" dirty="0">
                <a:latin typeface="Times New Roman" panose="02020603050405020304" pitchFamily="18" charset="0"/>
              </a:rPr>
              <a:t> </a:t>
            </a:r>
            <a:r>
              <a:rPr lang="en-US" altLang="en-US" sz="2800" b="1" i="1" dirty="0" err="1">
                <a:latin typeface="Times New Roman" panose="02020603050405020304" pitchFamily="18" charset="0"/>
              </a:rPr>
              <a:t>biện</a:t>
            </a:r>
            <a:r>
              <a:rPr lang="en-US" altLang="en-US" sz="2800" b="1" i="1" dirty="0">
                <a:latin typeface="Times New Roman" panose="02020603050405020304" pitchFamily="18" charset="0"/>
              </a:rPr>
              <a:t> </a:t>
            </a:r>
            <a:r>
              <a:rPr lang="en-US" altLang="en-US" sz="2800" b="1" i="1" dirty="0" err="1">
                <a:latin typeface="Times New Roman" panose="02020603050405020304" pitchFamily="18" charset="0"/>
              </a:rPr>
              <a:t>chứng</a:t>
            </a:r>
            <a:r>
              <a:rPr lang="en-US" altLang="en-US" sz="2800" i="1" dirty="0" err="1">
                <a:latin typeface="Times New Roman" panose="02020603050405020304" pitchFamily="18" charset="0"/>
              </a:rPr>
              <a:t>là</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phạm</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trù</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triết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học</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dùng</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để</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chỉ</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phủ</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định</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thân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là</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mắt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khâu</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trong</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quá</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trình</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dẫn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tới</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ra</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đời</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vật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mới</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tiến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bộ</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hơn</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sự</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vật</a:t>
            </a:r>
            <a:r>
              <a:rPr lang="en-US" altLang="en-US" sz="2800" i="1" dirty="0">
                <a:latin typeface="Times New Roman" panose="02020603050405020304" pitchFamily="18" charset="0"/>
              </a:rPr>
              <a:t> </a:t>
            </a:r>
            <a:r>
              <a:rPr lang="en-US" altLang="en-US" sz="2800" i="1" dirty="0" err="1">
                <a:latin typeface="Times New Roman" panose="02020603050405020304" pitchFamily="18" charset="0"/>
              </a:rPr>
              <a:t>cũ</a:t>
            </a:r>
            <a:br>
              <a:rPr lang="en-US" altLang="en-US" sz="2800" i="1" dirty="0">
                <a:latin typeface="Times New Roman" panose="02020603050405020304" pitchFamily="18" charset="0"/>
              </a:rPr>
            </a:br>
            <a:endParaRPr lang="en-US" sz="2800" dirty="0">
              <a:latin typeface="Times New Roman" panose="02020603050405020304" pitchFamily="18" charset="0"/>
              <a:cs typeface="Times New Roman" panose="02020603050405020304" pitchFamily="18" charset="0"/>
            </a:endParaRPr>
          </a:p>
        </p:txBody>
      </p:sp>
      <p:pic>
        <p:nvPicPr>
          <p:cNvPr id="2050" name="Picture 2" descr="Minh Họa Vectơ Của Sơ Đồ Vòng Đời Của Bướm Hình minh họa Sẵn có - Tải xuống  Hình ảnh Ngay bây giờ - Con bướm, Vòng đời, Egg - Food"/>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026229" y="1850571"/>
            <a:ext cx="6281057" cy="438694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264275"/>
          </a:xfrm>
        </p:spPr>
        <p:txBody>
          <a:bodyPr/>
          <a:lstStyle/>
          <a:p>
            <a:endParaRPr lang="en-US" dirty="0"/>
          </a:p>
        </p:txBody>
      </p:sp>
      <p:sp>
        <p:nvSpPr>
          <p:cNvPr id="3" name="Rectangle 2"/>
          <p:cNvSpPr/>
          <p:nvPr/>
        </p:nvSpPr>
        <p:spPr>
          <a:xfrm>
            <a:off x="914401" y="2220685"/>
            <a:ext cx="1393370" cy="268877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2400" b="1" dirty="0" err="1">
                <a:latin typeface="Times New Roman" panose="02020603050405020304" pitchFamily="18" charset="0"/>
                <a:cs typeface="Times New Roman" panose="02020603050405020304" pitchFamily="18" charset="0"/>
              </a:rPr>
              <a:t>Đặc</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trưng</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cơ</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bản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của</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phủ</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định</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biện</a:t>
            </a:r>
            <a:r>
              <a:rPr lang="en-US" altLang="en-US" sz="2400" b="1" dirty="0">
                <a:latin typeface="Times New Roman" panose="02020603050405020304" pitchFamily="18" charset="0"/>
                <a:cs typeface="Times New Roman" panose="02020603050405020304" pitchFamily="18" charset="0"/>
              </a:rPr>
              <a:t> </a:t>
            </a:r>
            <a:r>
              <a:rPr lang="en-US" altLang="en-US" sz="2400" b="1" dirty="0" err="1">
                <a:latin typeface="Times New Roman" panose="02020603050405020304" pitchFamily="18" charset="0"/>
                <a:cs typeface="Times New Roman" panose="02020603050405020304" pitchFamily="18" charset="0"/>
              </a:rPr>
              <a:t>chứng</a:t>
            </a:r>
            <a:endParaRPr lang="en-US" sz="2400" b="1" dirty="0">
              <a:latin typeface="Times New Roman" panose="02020603050405020304" pitchFamily="18" charset="0"/>
              <a:cs typeface="Times New Roman" panose="02020603050405020304" pitchFamily="18" charset="0"/>
            </a:endParaRPr>
          </a:p>
        </p:txBody>
      </p:sp>
      <p:sp>
        <p:nvSpPr>
          <p:cNvPr id="4" name="Rectangle: Rounded Corners 3"/>
          <p:cNvSpPr/>
          <p:nvPr/>
        </p:nvSpPr>
        <p:spPr>
          <a:xfrm>
            <a:off x="3516085" y="1600200"/>
            <a:ext cx="1099457" cy="14369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2000" dirty="0" err="1">
                <a:latin typeface="Times New Roman" panose="02020603050405020304" pitchFamily="18" charset="0"/>
                <a:cs typeface="Times New Roman" panose="02020603050405020304" pitchFamily="18" charset="0"/>
              </a:rPr>
              <a:t>Tính</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khách</a:t>
            </a:r>
            <a:r>
              <a:rPr lang="vi-VN" altLang="en-US" sz="2000" dirty="0">
                <a:latin typeface="Times New Roman" panose="02020603050405020304" pitchFamily="18" charset="0"/>
                <a:cs typeface="Times New Roman" panose="02020603050405020304" pitchFamily="18" charset="0"/>
              </a:rPr>
              <a:t> quan</a:t>
            </a:r>
            <a:endParaRPr lang="en-US" sz="2000" dirty="0"/>
          </a:p>
        </p:txBody>
      </p:sp>
      <p:sp>
        <p:nvSpPr>
          <p:cNvPr id="5" name="Rectangle: Rounded Corners 4"/>
          <p:cNvSpPr/>
          <p:nvPr/>
        </p:nvSpPr>
        <p:spPr>
          <a:xfrm>
            <a:off x="3516085" y="3820886"/>
            <a:ext cx="1099457" cy="143691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altLang="en-US" sz="2000">
                <a:latin typeface="Times New Roman" panose="02020603050405020304" pitchFamily="18" charset="0"/>
                <a:cs typeface="Times New Roman" panose="02020603050405020304" pitchFamily="18" charset="0"/>
              </a:rPr>
              <a:t>Tính kế thừa</a:t>
            </a:r>
            <a:endParaRPr lang="en-US" sz="2000"/>
          </a:p>
        </p:txBody>
      </p:sp>
      <p:sp>
        <p:nvSpPr>
          <p:cNvPr id="6" name="Rectangle 5"/>
          <p:cNvSpPr/>
          <p:nvPr/>
        </p:nvSpPr>
        <p:spPr>
          <a:xfrm>
            <a:off x="4615542" y="1600200"/>
            <a:ext cx="5606144" cy="14369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altLang="en-US" sz="2000" dirty="0">
                <a:latin typeface="Times New Roman" panose="02020603050405020304" pitchFamily="18" charset="0"/>
                <a:cs typeface="Times New Roman" panose="02020603050405020304" pitchFamily="18" charset="0"/>
              </a:rPr>
              <a:t>N</a:t>
            </a:r>
            <a:r>
              <a:rPr lang="en-US" altLang="en-US" sz="2000" dirty="0" err="1">
                <a:latin typeface="Times New Roman" panose="02020603050405020304" pitchFamily="18" charset="0"/>
                <a:cs typeface="Times New Roman" panose="02020603050405020304" pitchFamily="18" charset="0"/>
              </a:rPr>
              <a:t>guyên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nhân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của</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sự</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phủ</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định</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nằm</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ngay</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bên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trong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sự</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vật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Đó</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là</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kết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quả</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giải</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quyết</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những</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mâu</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thuẫn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bên</a:t>
            </a: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trong</a:t>
            </a:r>
            <a:r>
              <a:rPr lang="en-US" altLang="en-US" sz="2000" dirty="0">
                <a:latin typeface="Times New Roman" panose="02020603050405020304" pitchFamily="18" charset="0"/>
                <a:cs typeface="Times New Roman" panose="02020603050405020304" pitchFamily="18" charset="0"/>
              </a:rPr>
              <a:t>.</a:t>
            </a:r>
            <a:endParaRPr lang="en-US" altLang="en-US" sz="2000" dirty="0">
              <a:latin typeface="Times New Roman" panose="02020603050405020304" pitchFamily="18" charset="0"/>
              <a:cs typeface="Times New Roman" panose="02020603050405020304" pitchFamily="18" charset="0"/>
            </a:endParaRPr>
          </a:p>
        </p:txBody>
      </p:sp>
      <p:sp>
        <p:nvSpPr>
          <p:cNvPr id="7" name="Rectangle 6"/>
          <p:cNvSpPr/>
          <p:nvPr/>
        </p:nvSpPr>
        <p:spPr>
          <a:xfrm>
            <a:off x="4615542" y="3820886"/>
            <a:ext cx="5606144" cy="14369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altLang="en-US" sz="2000">
                <a:latin typeface="Times New Roman" panose="02020603050405020304" pitchFamily="18" charset="0"/>
                <a:cs typeface="Times New Roman" panose="02020603050405020304" pitchFamily="18" charset="0"/>
              </a:rPr>
              <a:t>PĐBC là kết quả của sự PT tự thân của sự vật, nên nó không thể là sự thủ tiêu, sự phá hủy hoàn toàn cái cũ. Cái mới chỉ có thể ra đời trên nền tảng cái cũ</a:t>
            </a:r>
            <a:endParaRPr lang="en-US" sz="2000"/>
          </a:p>
        </p:txBody>
      </p:sp>
      <p:cxnSp>
        <p:nvCxnSpPr>
          <p:cNvPr id="9" name="Straight Arrow Connector 8"/>
          <p:cNvCxnSpPr>
            <a:stCxn id="3" idx="3"/>
          </p:cNvCxnSpPr>
          <p:nvPr/>
        </p:nvCxnSpPr>
        <p:spPr>
          <a:xfrm flipV="1">
            <a:off x="2307771" y="2220685"/>
            <a:ext cx="1208314" cy="1344386"/>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1" name="Straight Arrow Connector 10"/>
          <p:cNvCxnSpPr>
            <a:endCxn id="5" idx="1"/>
          </p:cNvCxnSpPr>
          <p:nvPr/>
        </p:nvCxnSpPr>
        <p:spPr>
          <a:xfrm>
            <a:off x="2307771" y="3624943"/>
            <a:ext cx="1208314" cy="9144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30630"/>
            <a:ext cx="10515600" cy="729342"/>
          </a:xfrm>
        </p:spPr>
        <p:txBody>
          <a:bodyPr>
            <a:normAutofit/>
          </a:bodyPr>
          <a:lstStyle/>
          <a:p>
            <a:pPr marL="457200" indent="-457200" algn="just">
              <a:buFont typeface="Wingdings" panose="05000000000000000000" pitchFamily="2" charset="2"/>
              <a:buChar char="v"/>
            </a:pPr>
            <a:r>
              <a:rPr lang="en-US" sz="3200" b="1" i="1" dirty="0" err="1">
                <a:latin typeface="Times New Roman" panose="02020603050405020304" pitchFamily="18" charset="0"/>
              </a:rPr>
              <a:t>Nội</a:t>
            </a:r>
            <a:r>
              <a:rPr lang="en-US" sz="3200" b="1" i="1" dirty="0">
                <a:latin typeface="Times New Roman" panose="02020603050405020304" pitchFamily="18" charset="0"/>
              </a:rPr>
              <a:t> dung </a:t>
            </a:r>
            <a:r>
              <a:rPr lang="en-US" sz="3200" b="1" i="1" dirty="0" err="1">
                <a:latin typeface="Times New Roman" panose="02020603050405020304" pitchFamily="18" charset="0"/>
              </a:rPr>
              <a:t>của</a:t>
            </a:r>
            <a:r>
              <a:rPr lang="en-US" sz="3200" b="1" i="1" dirty="0">
                <a:latin typeface="Times New Roman" panose="02020603050405020304" pitchFamily="18" charset="0"/>
              </a:rPr>
              <a:t> </a:t>
            </a:r>
            <a:r>
              <a:rPr lang="en-US" sz="3200" b="1" i="1" dirty="0" err="1">
                <a:latin typeface="Times New Roman" panose="02020603050405020304" pitchFamily="18" charset="0"/>
              </a:rPr>
              <a:t>quy</a:t>
            </a:r>
            <a:r>
              <a:rPr lang="en-US" sz="3200" b="1" i="1" dirty="0">
                <a:latin typeface="Times New Roman" panose="02020603050405020304" pitchFamily="18" charset="0"/>
              </a:rPr>
              <a:t> </a:t>
            </a:r>
            <a:r>
              <a:rPr lang="en-US" sz="3200" b="1" i="1" dirty="0" err="1">
                <a:latin typeface="Times New Roman" panose="02020603050405020304" pitchFamily="18" charset="0"/>
              </a:rPr>
              <a:t>luật</a:t>
            </a:r>
            <a:r>
              <a:rPr lang="en-US" sz="3200" b="1" i="1" dirty="0">
                <a:latin typeface="Times New Roman" panose="02020603050405020304" pitchFamily="18" charset="0"/>
              </a:rPr>
              <a:t> </a:t>
            </a:r>
            <a:r>
              <a:rPr lang="en-US" sz="3200" b="1" i="1" dirty="0" err="1">
                <a:latin typeface="Times New Roman" panose="02020603050405020304" pitchFamily="18" charset="0"/>
              </a:rPr>
              <a:t>Phủ</a:t>
            </a:r>
            <a:r>
              <a:rPr lang="en-US" sz="3200" b="1" i="1" dirty="0">
                <a:latin typeface="Times New Roman" panose="02020603050405020304" pitchFamily="18" charset="0"/>
              </a:rPr>
              <a:t> </a:t>
            </a:r>
            <a:r>
              <a:rPr lang="en-US" sz="3200" b="1" i="1" dirty="0" err="1">
                <a:latin typeface="Times New Roman" panose="02020603050405020304" pitchFamily="18" charset="0"/>
              </a:rPr>
              <a:t>định</a:t>
            </a:r>
            <a:r>
              <a:rPr lang="en-US" sz="3200" b="1" i="1" dirty="0">
                <a:latin typeface="Times New Roman" panose="02020603050405020304" pitchFamily="18" charset="0"/>
              </a:rPr>
              <a:t> </a:t>
            </a:r>
            <a:r>
              <a:rPr lang="en-US" sz="3200" b="1" i="1" dirty="0" err="1">
                <a:latin typeface="Times New Roman" panose="02020603050405020304" pitchFamily="18" charset="0"/>
              </a:rPr>
              <a:t>của</a:t>
            </a:r>
            <a:r>
              <a:rPr lang="en-US" sz="3200" b="1" i="1" dirty="0">
                <a:latin typeface="Times New Roman" panose="02020603050405020304" pitchFamily="18" charset="0"/>
              </a:rPr>
              <a:t> </a:t>
            </a:r>
            <a:r>
              <a:rPr lang="en-US" sz="3200" b="1" i="1" dirty="0" err="1">
                <a:latin typeface="Times New Roman" panose="02020603050405020304" pitchFamily="18" charset="0"/>
              </a:rPr>
              <a:t>phủ</a:t>
            </a:r>
            <a:r>
              <a:rPr lang="en-US" sz="3200" b="1" i="1" dirty="0">
                <a:latin typeface="Times New Roman" panose="02020603050405020304" pitchFamily="18" charset="0"/>
              </a:rPr>
              <a:t> </a:t>
            </a:r>
            <a:r>
              <a:rPr lang="en-US" sz="3200" b="1" i="1" dirty="0" err="1">
                <a:latin typeface="Times New Roman" panose="02020603050405020304" pitchFamily="18" charset="0"/>
              </a:rPr>
              <a:t>định</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381965" y="968830"/>
            <a:ext cx="11296891" cy="5758540"/>
          </a:xfrm>
        </p:spPr>
        <p:txBody>
          <a:bodyPr>
            <a:normAutofit fontScale="62500" lnSpcReduction="20000"/>
          </a:bodyPr>
          <a:lstStyle/>
          <a:p>
            <a:pPr algn="just">
              <a:lnSpc>
                <a:spcPct val="80000"/>
              </a:lnSpc>
              <a:buFontTx/>
              <a:buChar char="-"/>
              <a:defRPr/>
            </a:pPr>
            <a:endParaRPr lang="vi-VN" dirty="0">
              <a:latin typeface="Times New Roman" panose="02020603050405020304" pitchFamily="18" charset="0"/>
            </a:endParaRPr>
          </a:p>
          <a:p>
            <a:pPr algn="just">
              <a:lnSpc>
                <a:spcPct val="120000"/>
              </a:lnSpc>
              <a:buFontTx/>
              <a:buChar char="-"/>
              <a:defRPr/>
            </a:pPr>
            <a:r>
              <a:rPr lang="vi-VN" sz="3200" dirty="0">
                <a:latin typeface="Times New Roman" panose="02020603050405020304" pitchFamily="18" charset="0"/>
              </a:rPr>
              <a:t>Sự vật ra đời và tồn tại đã khẳng định chính nó, trong quá trình vận động những nhân tố mới xuất hiện, thay thế nhân tố cũ, PĐBC diễn ra.</a:t>
            </a:r>
            <a:endParaRPr lang="vi-VN" sz="3200" dirty="0">
              <a:latin typeface="Times New Roman" panose="02020603050405020304" pitchFamily="18" charset="0"/>
            </a:endParaRPr>
          </a:p>
          <a:p>
            <a:pPr algn="just">
              <a:lnSpc>
                <a:spcPct val="120000"/>
              </a:lnSpc>
              <a:buFontTx/>
              <a:buChar char="-"/>
              <a:defRPr/>
            </a:pPr>
            <a:r>
              <a:rPr lang="vi-VN" sz="3200" dirty="0">
                <a:latin typeface="Times New Roman" panose="02020603050405020304" pitchFamily="18" charset="0"/>
              </a:rPr>
              <a:t>PĐBC là sự thống nhất giữa lọc bỏ và bảo tồn. Do đó thông qua mỗi lần PĐBC sự vật sẽ ngày càng phát triển.</a:t>
            </a:r>
            <a:endParaRPr lang="vi-VN" sz="3200" dirty="0">
              <a:latin typeface="Times New Roman" panose="02020603050405020304" pitchFamily="18" charset="0"/>
            </a:endParaRPr>
          </a:p>
          <a:p>
            <a:pPr algn="just">
              <a:lnSpc>
                <a:spcPct val="120000"/>
              </a:lnSpc>
              <a:buFontTx/>
              <a:buChar char="-"/>
              <a:defRPr/>
            </a:pPr>
            <a:r>
              <a:rPr lang="vi-VN" sz="3200" dirty="0">
                <a:latin typeface="Times New Roman" panose="02020603050405020304" pitchFamily="18" charset="0"/>
              </a:rPr>
              <a:t>Chu kỳ PĐ thường diễn ra nhiều hơn 2 lần.</a:t>
            </a:r>
            <a:endParaRPr lang="vi-VN" sz="3200" dirty="0">
              <a:latin typeface="Times New Roman" panose="02020603050405020304" pitchFamily="18" charset="0"/>
            </a:endParaRPr>
          </a:p>
          <a:p>
            <a:pPr algn="just">
              <a:lnSpc>
                <a:spcPct val="120000"/>
              </a:lnSpc>
              <a:buFontTx/>
              <a:buChar char="-"/>
              <a:defRPr/>
            </a:pPr>
            <a:r>
              <a:rPr lang="vi-VN" sz="3200" dirty="0">
                <a:latin typeface="Times New Roman" panose="02020603050405020304" pitchFamily="18" charset="0"/>
              </a:rPr>
              <a:t>Sự phát triển không diễn ra theo đường thẳng mà theo đường</a:t>
            </a:r>
            <a:r>
              <a:rPr lang="en-US" sz="3200" dirty="0">
                <a:latin typeface="Times New Roman" panose="02020603050405020304" pitchFamily="18" charset="0"/>
              </a:rPr>
              <a:t> </a:t>
            </a:r>
            <a:r>
              <a:rPr lang="vi-VN" sz="3200" dirty="0">
                <a:latin typeface="Times New Roman" panose="02020603050405020304" pitchFamily="18" charset="0"/>
              </a:rPr>
              <a:t>“</a:t>
            </a:r>
            <a:r>
              <a:rPr lang="en-US" sz="3200" dirty="0" err="1">
                <a:latin typeface="Times New Roman" panose="02020603050405020304" pitchFamily="18" charset="0"/>
              </a:rPr>
              <a:t>xoáy</a:t>
            </a:r>
            <a:r>
              <a:rPr lang="en-US" sz="3200" dirty="0">
                <a:latin typeface="Times New Roman" panose="02020603050405020304" pitchFamily="18" charset="0"/>
              </a:rPr>
              <a:t> </a:t>
            </a:r>
            <a:r>
              <a:rPr lang="en-US" sz="3200" dirty="0" err="1">
                <a:latin typeface="Times New Roman" panose="02020603050405020304" pitchFamily="18" charset="0"/>
              </a:rPr>
              <a:t>ốc</a:t>
            </a:r>
            <a:r>
              <a:rPr lang="vi-VN" sz="3200" dirty="0">
                <a:latin typeface="Times New Roman" panose="02020603050405020304" pitchFamily="18" charset="0"/>
              </a:rPr>
              <a:t>”. </a:t>
            </a:r>
            <a:endParaRPr lang="en-US" sz="3200" dirty="0">
              <a:latin typeface="Times New Roman" panose="02020603050405020304" pitchFamily="18" charset="0"/>
            </a:endParaRPr>
          </a:p>
          <a:p>
            <a:pPr algn="just">
              <a:lnSpc>
                <a:spcPct val="120000"/>
              </a:lnSpc>
              <a:defRPr/>
            </a:pPr>
            <a:r>
              <a:rPr lang="en-US" sz="3200" dirty="0" err="1">
                <a:latin typeface="Times New Roman" panose="02020603050405020304" pitchFamily="18" charset="0"/>
              </a:rPr>
              <a:t>Mỗi</a:t>
            </a:r>
            <a:r>
              <a:rPr lang="en-US" sz="3200" dirty="0">
                <a:latin typeface="Times New Roman" panose="02020603050405020304" pitchFamily="18" charset="0"/>
              </a:rPr>
              <a:t> </a:t>
            </a:r>
            <a:r>
              <a:rPr lang="en-US" sz="3200" dirty="0" err="1">
                <a:latin typeface="Times New Roman" panose="02020603050405020304" pitchFamily="18" charset="0"/>
              </a:rPr>
              <a:t>lần</a:t>
            </a:r>
            <a:r>
              <a:rPr lang="en-US" sz="3200" dirty="0">
                <a:latin typeface="Times New Roman" panose="02020603050405020304" pitchFamily="18" charset="0"/>
              </a:rPr>
              <a:t> </a:t>
            </a:r>
            <a:r>
              <a:rPr lang="en-US" sz="3200" dirty="0" err="1">
                <a:latin typeface="Times New Roman" panose="02020603050405020304" pitchFamily="18" charset="0"/>
              </a:rPr>
              <a:t>phủ</a:t>
            </a:r>
            <a:r>
              <a:rPr lang="en-US" sz="3200" dirty="0">
                <a:latin typeface="Times New Roman" panose="02020603050405020304" pitchFamily="18" charset="0"/>
              </a:rPr>
              <a:t> </a:t>
            </a:r>
            <a:r>
              <a:rPr lang="en-US" sz="3200" dirty="0" err="1">
                <a:latin typeface="Times New Roman" panose="02020603050405020304" pitchFamily="18" charset="0"/>
              </a:rPr>
              <a:t>định</a:t>
            </a:r>
            <a:r>
              <a:rPr lang="en-US" sz="3200" dirty="0">
                <a:latin typeface="Times New Roman" panose="02020603050405020304" pitchFamily="18" charset="0"/>
              </a:rPr>
              <a:t> </a:t>
            </a:r>
            <a:r>
              <a:rPr lang="en-US" sz="3200" dirty="0" err="1">
                <a:latin typeface="Times New Roman" panose="02020603050405020304" pitchFamily="18" charset="0"/>
              </a:rPr>
              <a:t>là</a:t>
            </a:r>
            <a:r>
              <a:rPr lang="en-US" sz="3200" dirty="0">
                <a:latin typeface="Times New Roman" panose="02020603050405020304" pitchFamily="18" charset="0"/>
              </a:rPr>
              <a:t> </a:t>
            </a:r>
            <a:r>
              <a:rPr lang="en-US" sz="3200" dirty="0" err="1">
                <a:latin typeface="Times New Roman" panose="02020603050405020304" pitchFamily="18" charset="0"/>
              </a:rPr>
              <a:t>kết</a:t>
            </a:r>
            <a:r>
              <a:rPr lang="en-US" sz="3200" dirty="0">
                <a:latin typeface="Times New Roman" panose="02020603050405020304" pitchFamily="18" charset="0"/>
              </a:rPr>
              <a:t> </a:t>
            </a:r>
            <a:r>
              <a:rPr lang="en-US" sz="3200" dirty="0" err="1">
                <a:latin typeface="Times New Roman" panose="02020603050405020304" pitchFamily="18" charset="0"/>
              </a:rPr>
              <a:t>quả</a:t>
            </a:r>
            <a:r>
              <a:rPr lang="en-US" sz="3200" dirty="0">
                <a:latin typeface="Times New Roman" panose="02020603050405020304" pitchFamily="18" charset="0"/>
              </a:rPr>
              <a:t> ĐT &amp; </a:t>
            </a:r>
            <a:r>
              <a:rPr lang="en-US" sz="3200" dirty="0" err="1">
                <a:latin typeface="Times New Roman" panose="02020603050405020304" pitchFamily="18" charset="0"/>
              </a:rPr>
              <a:t>chuyển</a:t>
            </a:r>
            <a:r>
              <a:rPr lang="en-US" sz="3200" dirty="0">
                <a:latin typeface="Times New Roman" panose="02020603050405020304" pitchFamily="18" charset="0"/>
              </a:rPr>
              <a:t> </a:t>
            </a:r>
            <a:r>
              <a:rPr lang="en-US" sz="3200" dirty="0" err="1">
                <a:latin typeface="Times New Roman" panose="02020603050405020304" pitchFamily="18" charset="0"/>
              </a:rPr>
              <a:t>hóa</a:t>
            </a:r>
            <a:r>
              <a:rPr lang="en-US" sz="3200" dirty="0">
                <a:latin typeface="Times New Roman" panose="02020603050405020304" pitchFamily="18" charset="0"/>
              </a:rPr>
              <a:t> </a:t>
            </a:r>
            <a:r>
              <a:rPr lang="en-US" sz="3200" dirty="0" err="1">
                <a:latin typeface="Times New Roman" panose="02020603050405020304" pitchFamily="18" charset="0"/>
              </a:rPr>
              <a:t>của</a:t>
            </a:r>
            <a:r>
              <a:rPr lang="en-US" sz="3200" dirty="0">
                <a:latin typeface="Times New Roman" panose="02020603050405020304" pitchFamily="18" charset="0"/>
              </a:rPr>
              <a:t> </a:t>
            </a:r>
            <a:r>
              <a:rPr lang="en-US" sz="3200" dirty="0" err="1">
                <a:latin typeface="Times New Roman" panose="02020603050405020304" pitchFamily="18" charset="0"/>
              </a:rPr>
              <a:t>các</a:t>
            </a:r>
            <a:r>
              <a:rPr lang="en-US" sz="3200" dirty="0">
                <a:latin typeface="Times New Roman" panose="02020603050405020304" pitchFamily="18" charset="0"/>
              </a:rPr>
              <a:t> </a:t>
            </a:r>
            <a:r>
              <a:rPr lang="en-US" sz="3200" dirty="0" err="1">
                <a:latin typeface="Times New Roman" panose="02020603050405020304" pitchFamily="18" charset="0"/>
              </a:rPr>
              <a:t>mặt</a:t>
            </a:r>
            <a:r>
              <a:rPr lang="en-US" sz="3200" dirty="0">
                <a:latin typeface="Times New Roman" panose="02020603050405020304" pitchFamily="18" charset="0"/>
              </a:rPr>
              <a:t> </a:t>
            </a:r>
            <a:r>
              <a:rPr lang="en-US" sz="3200" dirty="0" err="1">
                <a:latin typeface="Times New Roman" panose="02020603050405020304" pitchFamily="18" charset="0"/>
              </a:rPr>
              <a:t>đối</a:t>
            </a:r>
            <a:r>
              <a:rPr lang="en-US" sz="3200" dirty="0">
                <a:latin typeface="Times New Roman" panose="02020603050405020304" pitchFamily="18" charset="0"/>
              </a:rPr>
              <a:t> </a:t>
            </a:r>
            <a:r>
              <a:rPr lang="en-US" sz="3200" dirty="0" err="1">
                <a:latin typeface="Times New Roman" panose="02020603050405020304" pitchFamily="18" charset="0"/>
              </a:rPr>
              <a:t>lập</a:t>
            </a:r>
            <a:r>
              <a:rPr lang="en-US" sz="3200" dirty="0">
                <a:latin typeface="Times New Roman" panose="02020603050405020304" pitchFamily="18" charset="0"/>
              </a:rPr>
              <a:t> </a:t>
            </a:r>
            <a:r>
              <a:rPr lang="en-US" sz="3200" dirty="0" err="1">
                <a:latin typeface="Times New Roman" panose="02020603050405020304" pitchFamily="18" charset="0"/>
              </a:rPr>
              <a:t>trong</a:t>
            </a:r>
            <a:r>
              <a:rPr lang="en-US" sz="3200" dirty="0">
                <a:latin typeface="Times New Roman" panose="02020603050405020304" pitchFamily="18" charset="0"/>
              </a:rPr>
              <a:t> </a:t>
            </a:r>
            <a:r>
              <a:rPr lang="en-US" sz="3200" dirty="0" err="1">
                <a:latin typeface="Times New Roman" panose="02020603050405020304" pitchFamily="18" charset="0"/>
              </a:rPr>
              <a:t>bản</a:t>
            </a:r>
            <a:r>
              <a:rPr lang="en-US" sz="3200" dirty="0">
                <a:latin typeface="Times New Roman" panose="02020603050405020304" pitchFamily="18" charset="0"/>
              </a:rPr>
              <a:t> </a:t>
            </a:r>
            <a:r>
              <a:rPr lang="en-US" sz="3200" dirty="0" err="1">
                <a:latin typeface="Times New Roman" panose="02020603050405020304" pitchFamily="18" charset="0"/>
              </a:rPr>
              <a:t>thân</a:t>
            </a:r>
            <a:r>
              <a:rPr lang="en-US" sz="3200" dirty="0">
                <a:latin typeface="Times New Roman" panose="02020603050405020304" pitchFamily="18" charset="0"/>
              </a:rPr>
              <a:t> </a:t>
            </a:r>
            <a:r>
              <a:rPr lang="en-US" sz="3200" dirty="0" err="1">
                <a:latin typeface="Times New Roman" panose="02020603050405020304" pitchFamily="18" charset="0"/>
              </a:rPr>
              <a:t>sự</a:t>
            </a:r>
            <a:r>
              <a:rPr lang="en-US" sz="3200" dirty="0">
                <a:latin typeface="Times New Roman" panose="02020603050405020304" pitchFamily="18" charset="0"/>
              </a:rPr>
              <a:t> </a:t>
            </a:r>
            <a:r>
              <a:rPr lang="en-US" sz="3200" dirty="0" err="1">
                <a:latin typeface="Times New Roman" panose="02020603050405020304" pitchFamily="18" charset="0"/>
              </a:rPr>
              <a:t>vật</a:t>
            </a:r>
            <a:r>
              <a:rPr lang="en-US" sz="3200" dirty="0">
                <a:latin typeface="Times New Roman" panose="02020603050405020304" pitchFamily="18" charset="0"/>
              </a:rPr>
              <a:t> </a:t>
            </a:r>
            <a:r>
              <a:rPr lang="en-US" sz="3200" dirty="0" err="1">
                <a:latin typeface="Times New Roman" panose="02020603050405020304" pitchFamily="18" charset="0"/>
              </a:rPr>
              <a:t>hiện</a:t>
            </a:r>
            <a:r>
              <a:rPr lang="en-US" sz="3200" dirty="0">
                <a:latin typeface="Times New Roman" panose="02020603050405020304" pitchFamily="18" charset="0"/>
              </a:rPr>
              <a:t> </a:t>
            </a:r>
            <a:r>
              <a:rPr lang="en-US" sz="3200" dirty="0" err="1">
                <a:latin typeface="Times New Roman" panose="02020603050405020304" pitchFamily="18" charset="0"/>
              </a:rPr>
              <a:t>tượng</a:t>
            </a:r>
            <a:r>
              <a:rPr lang="en-US" sz="3200" dirty="0">
                <a:latin typeface="Times New Roman" panose="02020603050405020304" pitchFamily="18" charset="0"/>
              </a:rPr>
              <a:t> </a:t>
            </a:r>
            <a:r>
              <a:rPr lang="en-US" sz="3200" dirty="0" err="1">
                <a:latin typeface="Times New Roman" panose="02020603050405020304" pitchFamily="18" charset="0"/>
              </a:rPr>
              <a:t>giữa</a:t>
            </a:r>
            <a:r>
              <a:rPr lang="en-US" sz="3200" dirty="0">
                <a:latin typeface="Times New Roman" panose="02020603050405020304" pitchFamily="18" charset="0"/>
              </a:rPr>
              <a:t> </a:t>
            </a:r>
            <a:r>
              <a:rPr lang="en-US" sz="3200" dirty="0" err="1">
                <a:latin typeface="Times New Roman" panose="02020603050405020304" pitchFamily="18" charset="0"/>
              </a:rPr>
              <a:t>mặt</a:t>
            </a:r>
            <a:r>
              <a:rPr lang="en-US" sz="3200" dirty="0">
                <a:latin typeface="Times New Roman" panose="02020603050405020304" pitchFamily="18" charset="0"/>
              </a:rPr>
              <a:t> </a:t>
            </a:r>
            <a:r>
              <a:rPr lang="en-US" sz="3200" dirty="0" err="1">
                <a:latin typeface="Times New Roman" panose="02020603050405020304" pitchFamily="18" charset="0"/>
              </a:rPr>
              <a:t>khẳng</a:t>
            </a:r>
            <a:r>
              <a:rPr lang="en-US" sz="3200" dirty="0">
                <a:latin typeface="Times New Roman" panose="02020603050405020304" pitchFamily="18" charset="0"/>
              </a:rPr>
              <a:t> </a:t>
            </a:r>
            <a:r>
              <a:rPr lang="en-US" sz="3200" dirty="0" err="1">
                <a:latin typeface="Times New Roman" panose="02020603050405020304" pitchFamily="18" charset="0"/>
              </a:rPr>
              <a:t>định</a:t>
            </a:r>
            <a:r>
              <a:rPr lang="en-US" sz="3200" dirty="0">
                <a:latin typeface="Times New Roman" panose="02020603050405020304" pitchFamily="18" charset="0"/>
              </a:rPr>
              <a:t> &amp; </a:t>
            </a:r>
            <a:r>
              <a:rPr lang="en-US" sz="3200" dirty="0" err="1">
                <a:latin typeface="Times New Roman" panose="02020603050405020304" pitchFamily="18" charset="0"/>
              </a:rPr>
              <a:t>phủ</a:t>
            </a:r>
            <a:r>
              <a:rPr lang="en-US" sz="3200" dirty="0">
                <a:latin typeface="Times New Roman" panose="02020603050405020304" pitchFamily="18" charset="0"/>
              </a:rPr>
              <a:t> </a:t>
            </a:r>
            <a:r>
              <a:rPr lang="en-US" sz="3200" dirty="0" err="1">
                <a:latin typeface="Times New Roman" panose="02020603050405020304" pitchFamily="18" charset="0"/>
              </a:rPr>
              <a:t>định</a:t>
            </a:r>
            <a:r>
              <a:rPr lang="en-US" sz="3200" dirty="0">
                <a:latin typeface="Times New Roman" panose="02020603050405020304" pitchFamily="18" charset="0"/>
              </a:rPr>
              <a:t>.</a:t>
            </a:r>
            <a:endParaRPr lang="en-US" sz="3200" dirty="0">
              <a:latin typeface="Times New Roman" panose="02020603050405020304" pitchFamily="18" charset="0"/>
            </a:endParaRPr>
          </a:p>
          <a:p>
            <a:pPr algn="just">
              <a:lnSpc>
                <a:spcPct val="120000"/>
              </a:lnSpc>
              <a:defRPr/>
            </a:pPr>
            <a:r>
              <a:rPr lang="en-US" sz="3200" dirty="0" err="1">
                <a:latin typeface="Times New Roman" panose="02020603050405020304" pitchFamily="18" charset="0"/>
              </a:rPr>
              <a:t>Sự</a:t>
            </a:r>
            <a:r>
              <a:rPr lang="en-US" sz="3200" dirty="0">
                <a:latin typeface="Times New Roman" panose="02020603050405020304" pitchFamily="18" charset="0"/>
              </a:rPr>
              <a:t> PĐ </a:t>
            </a:r>
            <a:r>
              <a:rPr lang="en-US" sz="3200" dirty="0" err="1">
                <a:latin typeface="Times New Roman" panose="02020603050405020304" pitchFamily="18" charset="0"/>
              </a:rPr>
              <a:t>thứ</a:t>
            </a:r>
            <a:r>
              <a:rPr lang="en-US" sz="3200" dirty="0">
                <a:latin typeface="Times New Roman" panose="02020603050405020304" pitchFamily="18" charset="0"/>
              </a:rPr>
              <a:t> </a:t>
            </a:r>
            <a:r>
              <a:rPr lang="en-US" sz="3200" dirty="0" err="1">
                <a:latin typeface="Times New Roman" panose="02020603050405020304" pitchFamily="18" charset="0"/>
              </a:rPr>
              <a:t>nhất</a:t>
            </a:r>
            <a:r>
              <a:rPr lang="en-US" sz="3200" dirty="0">
                <a:latin typeface="Times New Roman" panose="02020603050405020304" pitchFamily="18" charset="0"/>
              </a:rPr>
              <a:t> </a:t>
            </a:r>
            <a:r>
              <a:rPr lang="en-US" sz="3200" dirty="0" err="1">
                <a:latin typeface="Times New Roman" panose="02020603050405020304" pitchFamily="18" charset="0"/>
              </a:rPr>
              <a:t>được</a:t>
            </a:r>
            <a:r>
              <a:rPr lang="en-US" sz="3200" dirty="0">
                <a:latin typeface="Times New Roman" panose="02020603050405020304" pitchFamily="18" charset="0"/>
              </a:rPr>
              <a:t> </a:t>
            </a:r>
            <a:r>
              <a:rPr lang="en-US" sz="3200" dirty="0" err="1">
                <a:latin typeface="Times New Roman" panose="02020603050405020304" pitchFamily="18" charset="0"/>
              </a:rPr>
              <a:t>thực</a:t>
            </a:r>
            <a:r>
              <a:rPr lang="en-US" sz="3200" dirty="0">
                <a:latin typeface="Times New Roman" panose="02020603050405020304" pitchFamily="18" charset="0"/>
              </a:rPr>
              <a:t> </a:t>
            </a:r>
            <a:r>
              <a:rPr lang="en-US" sz="3200" dirty="0" err="1">
                <a:latin typeface="Times New Roman" panose="02020603050405020304" pitchFamily="18" charset="0"/>
              </a:rPr>
              <a:t>hiện</a:t>
            </a:r>
            <a:r>
              <a:rPr lang="en-US" sz="3200" dirty="0">
                <a:latin typeface="Times New Roman" panose="02020603050405020304" pitchFamily="18" charset="0"/>
              </a:rPr>
              <a:t> </a:t>
            </a:r>
            <a:r>
              <a:rPr lang="en-US" sz="3200" dirty="0" err="1">
                <a:latin typeface="Times New Roman" panose="02020603050405020304" pitchFamily="18" charset="0"/>
              </a:rPr>
              <a:t>sẽ</a:t>
            </a:r>
            <a:r>
              <a:rPr lang="en-US" sz="3200" dirty="0">
                <a:latin typeface="Times New Roman" panose="02020603050405020304" pitchFamily="18" charset="0"/>
              </a:rPr>
              <a:t> </a:t>
            </a:r>
            <a:r>
              <a:rPr lang="en-US" sz="3200" dirty="0" err="1">
                <a:latin typeface="Times New Roman" panose="02020603050405020304" pitchFamily="18" charset="0"/>
              </a:rPr>
              <a:t>làm</a:t>
            </a:r>
            <a:r>
              <a:rPr lang="en-US" sz="3200" dirty="0">
                <a:latin typeface="Times New Roman" panose="02020603050405020304" pitchFamily="18" charset="0"/>
              </a:rPr>
              <a:t> </a:t>
            </a:r>
            <a:r>
              <a:rPr lang="en-US" sz="3200" dirty="0" err="1">
                <a:latin typeface="Times New Roman" panose="02020603050405020304" pitchFamily="18" charset="0"/>
              </a:rPr>
              <a:t>cho</a:t>
            </a:r>
            <a:r>
              <a:rPr lang="en-US" sz="3200" dirty="0">
                <a:latin typeface="Times New Roman" panose="02020603050405020304" pitchFamily="18" charset="0"/>
              </a:rPr>
              <a:t> </a:t>
            </a:r>
            <a:r>
              <a:rPr lang="en-US" sz="3200" dirty="0" err="1">
                <a:latin typeface="Times New Roman" panose="02020603050405020304" pitchFamily="18" charset="0"/>
              </a:rPr>
              <a:t>sự</a:t>
            </a:r>
            <a:r>
              <a:rPr lang="en-US" sz="3200" dirty="0">
                <a:latin typeface="Times New Roman" panose="02020603050405020304" pitchFamily="18" charset="0"/>
              </a:rPr>
              <a:t> </a:t>
            </a:r>
            <a:r>
              <a:rPr lang="en-US" sz="3200" dirty="0" err="1">
                <a:latin typeface="Times New Roman" panose="02020603050405020304" pitchFamily="18" charset="0"/>
              </a:rPr>
              <a:t>vật</a:t>
            </a:r>
            <a:r>
              <a:rPr lang="en-US" sz="3200" dirty="0">
                <a:latin typeface="Times New Roman" panose="02020603050405020304" pitchFamily="18" charset="0"/>
              </a:rPr>
              <a:t> </a:t>
            </a:r>
            <a:r>
              <a:rPr lang="en-US" sz="3200" dirty="0" err="1">
                <a:latin typeface="Times New Roman" panose="02020603050405020304" pitchFamily="18" charset="0"/>
              </a:rPr>
              <a:t>cũ</a:t>
            </a:r>
            <a:r>
              <a:rPr lang="en-US" sz="3200" dirty="0">
                <a:latin typeface="Times New Roman" panose="02020603050405020304" pitchFamily="18" charset="0"/>
              </a:rPr>
              <a:t> </a:t>
            </a:r>
            <a:r>
              <a:rPr lang="en-US" sz="3200" dirty="0" err="1">
                <a:latin typeface="Times New Roman" panose="02020603050405020304" pitchFamily="18" charset="0"/>
              </a:rPr>
              <a:t>chuyển</a:t>
            </a:r>
            <a:r>
              <a:rPr lang="en-US" sz="3200" dirty="0">
                <a:latin typeface="Times New Roman" panose="02020603050405020304" pitchFamily="18" charset="0"/>
              </a:rPr>
              <a:t> </a:t>
            </a:r>
            <a:r>
              <a:rPr lang="en-US" sz="3200" dirty="0" err="1">
                <a:latin typeface="Times New Roman" panose="02020603050405020304" pitchFamily="18" charset="0"/>
              </a:rPr>
              <a:t>thành</a:t>
            </a:r>
            <a:r>
              <a:rPr lang="en-US" sz="3200" dirty="0">
                <a:latin typeface="Times New Roman" panose="02020603050405020304" pitchFamily="18" charset="0"/>
              </a:rPr>
              <a:t> </a:t>
            </a:r>
            <a:r>
              <a:rPr lang="en-US" sz="3200" dirty="0" err="1">
                <a:latin typeface="Times New Roman" panose="02020603050405020304" pitchFamily="18" charset="0"/>
              </a:rPr>
              <a:t>cái</a:t>
            </a:r>
            <a:r>
              <a:rPr lang="en-US" sz="3200" dirty="0">
                <a:latin typeface="Times New Roman" panose="02020603050405020304" pitchFamily="18" charset="0"/>
              </a:rPr>
              <a:t> </a:t>
            </a:r>
            <a:r>
              <a:rPr lang="en-US" sz="3200" dirty="0" err="1">
                <a:latin typeface="Times New Roman" panose="02020603050405020304" pitchFamily="18" charset="0"/>
              </a:rPr>
              <a:t>đối</a:t>
            </a:r>
            <a:r>
              <a:rPr lang="en-US" sz="3200" dirty="0">
                <a:latin typeface="Times New Roman" panose="02020603050405020304" pitchFamily="18" charset="0"/>
              </a:rPr>
              <a:t> </a:t>
            </a:r>
            <a:r>
              <a:rPr lang="en-US" sz="3200" dirty="0" err="1">
                <a:latin typeface="Times New Roman" panose="02020603050405020304" pitchFamily="18" charset="0"/>
              </a:rPr>
              <a:t>lập</a:t>
            </a:r>
            <a:r>
              <a:rPr lang="en-US" sz="3200" dirty="0">
                <a:latin typeface="Times New Roman" panose="02020603050405020304" pitchFamily="18" charset="0"/>
              </a:rPr>
              <a:t> </a:t>
            </a:r>
            <a:r>
              <a:rPr lang="en-US" sz="3200" dirty="0" err="1">
                <a:latin typeface="Times New Roman" panose="02020603050405020304" pitchFamily="18" charset="0"/>
              </a:rPr>
              <a:t>với</a:t>
            </a:r>
            <a:r>
              <a:rPr lang="en-US" sz="3200" dirty="0">
                <a:latin typeface="Times New Roman" panose="02020603050405020304" pitchFamily="18" charset="0"/>
              </a:rPr>
              <a:t> </a:t>
            </a:r>
            <a:r>
              <a:rPr lang="en-US" sz="3200" dirty="0" err="1">
                <a:latin typeface="Times New Roman" panose="02020603050405020304" pitchFamily="18" charset="0"/>
              </a:rPr>
              <a:t>mình</a:t>
            </a:r>
            <a:endParaRPr lang="en-US" sz="3200" dirty="0">
              <a:latin typeface="Times New Roman" panose="02020603050405020304" pitchFamily="18" charset="0"/>
            </a:endParaRPr>
          </a:p>
          <a:p>
            <a:pPr algn="just">
              <a:lnSpc>
                <a:spcPct val="120000"/>
              </a:lnSpc>
              <a:defRPr/>
            </a:pPr>
            <a:r>
              <a:rPr lang="en-US" altLang="en-US" sz="3200" dirty="0">
                <a:latin typeface="Times New Roman" panose="02020603050405020304" pitchFamily="18" charset="0"/>
                <a:cs typeface="Times New Roman" panose="02020603050405020304" pitchFamily="18" charset="0"/>
              </a:rPr>
              <a:t>Sau </a:t>
            </a:r>
            <a:r>
              <a:rPr lang="en-US" altLang="en-US" sz="3200" dirty="0" err="1">
                <a:latin typeface="Times New Roman" panose="02020603050405020304" pitchFamily="18" charset="0"/>
                <a:cs typeface="Times New Roman" panose="02020603050405020304" pitchFamily="18" charset="0"/>
              </a:rPr>
              <a:t>những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lần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phủ</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định</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tiếp</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theo</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sự</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vật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mới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sẽ</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ra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đời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dường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như</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trở</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lại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với</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cái</a:t>
            </a:r>
            <a:r>
              <a:rPr lang="en-US" altLang="en-US" sz="3200" dirty="0">
                <a:latin typeface="Times New Roman" panose="02020603050405020304" pitchFamily="18" charset="0"/>
                <a:cs typeface="Times New Roman" panose="02020603050405020304" pitchFamily="18" charset="0"/>
              </a:rPr>
              <a:t> ban </a:t>
            </a:r>
            <a:r>
              <a:rPr lang="en-US" altLang="en-US" sz="3200" dirty="0" err="1">
                <a:latin typeface="Times New Roman" panose="02020603050405020304" pitchFamily="18" charset="0"/>
                <a:cs typeface="Times New Roman" panose="02020603050405020304" pitchFamily="18" charset="0"/>
              </a:rPr>
              <a:t>đầu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nhưng</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trên</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cơ</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sở</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cao</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hơn</a:t>
            </a:r>
            <a:r>
              <a:rPr lang="en-US" altLang="en-US" sz="3200" dirty="0">
                <a:latin typeface="Times New Roman" panose="02020603050405020304" pitchFamily="18" charset="0"/>
                <a:cs typeface="Times New Roman" panose="02020603050405020304" pitchFamily="18" charset="0"/>
              </a:rPr>
              <a:t>.</a:t>
            </a:r>
            <a:endParaRPr lang="vi-VN" altLang="en-US" sz="3200" dirty="0">
              <a:latin typeface="Times New Roman" panose="02020603050405020304" pitchFamily="18" charset="0"/>
              <a:cs typeface="Times New Roman" panose="02020603050405020304" pitchFamily="18" charset="0"/>
            </a:endParaRPr>
          </a:p>
          <a:p>
            <a:pPr marL="0" indent="0" algn="just">
              <a:lnSpc>
                <a:spcPct val="120000"/>
              </a:lnSpc>
              <a:buNone/>
              <a:defRPr/>
            </a:pPr>
            <a:r>
              <a:rPr lang="vi-VN" altLang="en-US" sz="3200" dirty="0">
                <a:latin typeface="Times New Roman" panose="02020603050405020304" pitchFamily="18" charset="0"/>
                <a:cs typeface="Times New Roman" panose="02020603050405020304" pitchFamily="18" charset="0"/>
              </a:rPr>
              <a:t>=˃Sự phát triển theo đường “xoáy ốc” là biểu thị rõ ràng, đầy đủ của: </a:t>
            </a:r>
            <a:r>
              <a:rPr lang="vi-VN" sz="3200" dirty="0">
                <a:latin typeface="Times New Roman" panose="02020603050405020304" pitchFamily="18" charset="0"/>
              </a:rPr>
              <a:t>tính kế thừa, tính lặp lại, tính tiến lên</a:t>
            </a:r>
            <a:endParaRPr lang="vi-VN" sz="3200" dirty="0">
              <a:latin typeface="Times New Roman" panose="02020603050405020304" pitchFamily="18" charset="0"/>
            </a:endParaRPr>
          </a:p>
          <a:p>
            <a:pPr marL="0" indent="0" algn="just">
              <a:lnSpc>
                <a:spcPct val="80000"/>
              </a:lnSpc>
              <a:buNone/>
              <a:defRPr/>
            </a:pPr>
            <a:br>
              <a:rPr lang="en-US" altLang="en-US" sz="3200"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3" name="Rectangle: Rounded Corners 2"/>
          <p:cNvSpPr/>
          <p:nvPr/>
        </p:nvSpPr>
        <p:spPr>
          <a:xfrm>
            <a:off x="936172" y="326571"/>
            <a:ext cx="9013372" cy="1262743"/>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Quy luật PĐ của PĐ nêu lên mối liên hệ, sự kế thừa giữa cái khẳng định và cái phủ định, nhờ đó phủ định biện chứng là điều kiện cho sự phát triển; nó bảo tồn nội dung tích cực của các giai đoạn trước và bổ sung thêm những thuộc tính mới làm cho sự phát triển đi theo đường “xoáy ốc”</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3004458" y="1698171"/>
            <a:ext cx="8196942" cy="91440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fontAlgn="base">
              <a:buFont typeface="Wingdings" panose="05000000000000000000" pitchFamily="2" charset="2"/>
              <a:buChar char="v"/>
            </a:pPr>
            <a:r>
              <a:rPr lang="vi-VN" b="1" i="1" dirty="0">
                <a:solidFill>
                  <a:srgbClr val="000000"/>
                </a:solidFill>
                <a:effectLst/>
                <a:latin typeface="Times New Roman" panose="02020603050405020304" pitchFamily="18" charset="0"/>
                <a:cs typeface="Times New Roman" panose="02020603050405020304" pitchFamily="18" charset="0"/>
              </a:rPr>
              <a:t>VÍ DỤ</a:t>
            </a:r>
            <a:endParaRPr lang="vi-VN" b="1" i="1" dirty="0">
              <a:solidFill>
                <a:srgbClr val="000000"/>
              </a:solidFill>
              <a:effectLst/>
              <a:latin typeface="Times New Roman" panose="02020603050405020304" pitchFamily="18" charset="0"/>
              <a:cs typeface="Times New Roman" panose="02020603050405020304" pitchFamily="18" charset="0"/>
            </a:endParaRPr>
          </a:p>
          <a:p>
            <a:pPr algn="just" fontAlgn="base"/>
            <a:r>
              <a:rPr lang="vi-VN" b="0" i="0" dirty="0">
                <a:solidFill>
                  <a:srgbClr val="000000"/>
                </a:solidFill>
                <a:effectLst/>
                <a:latin typeface="Times New Roman" panose="02020603050405020304" pitchFamily="18" charset="0"/>
                <a:cs typeface="Times New Roman" panose="02020603050405020304" pitchFamily="18" charset="0"/>
              </a:rPr>
              <a:t>- Một quả trứng là sự khẳng định ban đầu (trong điều kiện được ấp). Phủ định lần 1 tạo ra gà mái con. Sau đó phủ định lần 2 (gà mái con lớn lên)sinh ra nhiều quả trứng.</a:t>
            </a:r>
            <a:endParaRPr lang="vi-VN" b="0" i="0" dirty="0">
              <a:solidFill>
                <a:srgbClr val="000000"/>
              </a:solidFill>
              <a:effectLst/>
              <a:latin typeface="Times New Roman" panose="02020603050405020304" pitchFamily="18" charset="0"/>
              <a:cs typeface="Times New Roman" panose="02020603050405020304" pitchFamily="18" charset="0"/>
            </a:endParaRPr>
          </a:p>
        </p:txBody>
      </p:sp>
      <p:pic>
        <p:nvPicPr>
          <p:cNvPr id="3076" name="Picture 4" descr="Sơ Đồ Hiển Thị Vòng Đời Của Gà Hình minh họa Sẵn có - Tải xuống Hình ảnh  Ngay bây giờ - Vòng đời, Gà, Cuộc sống mới"/>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0743" y="2960914"/>
            <a:ext cx="6270170" cy="35705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sz="3200" b="1" u="sng" dirty="0" err="1">
                <a:latin typeface="Times New Roman" panose="02020603050405020304" pitchFamily="18" charset="0"/>
                <a:cs typeface="Times New Roman" panose="02020603050405020304" pitchFamily="18" charset="0"/>
              </a:rPr>
              <a:t>Ví</a:t>
            </a:r>
            <a:r>
              <a:rPr lang="en-US" altLang="en-US" sz="3200" b="1" u="sng" dirty="0">
                <a:latin typeface="Times New Roman" panose="02020603050405020304" pitchFamily="18" charset="0"/>
                <a:cs typeface="Times New Roman" panose="02020603050405020304" pitchFamily="18" charset="0"/>
              </a:rPr>
              <a:t> </a:t>
            </a:r>
            <a:r>
              <a:rPr lang="en-US" altLang="en-US" sz="3200" b="1" u="sng" dirty="0" err="1">
                <a:latin typeface="Times New Roman" panose="02020603050405020304" pitchFamily="18" charset="0"/>
                <a:cs typeface="Times New Roman" panose="02020603050405020304" pitchFamily="18" charset="0"/>
              </a:rPr>
              <a:t>dụ</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Hạt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lúa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Cây</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lúa</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Nhiều</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hạt</a:t>
            </a:r>
            <a:r>
              <a:rPr lang="en-US" altLang="en-US" sz="3200" dirty="0">
                <a:latin typeface="Times New Roman" panose="02020603050405020304" pitchFamily="18" charset="0"/>
                <a:cs typeface="Times New Roman" panose="02020603050405020304" pitchFamily="18" charset="0"/>
              </a:rPr>
              <a:t> </a:t>
            </a:r>
            <a:r>
              <a:rPr lang="en-US" altLang="en-US" sz="3200" dirty="0" err="1">
                <a:latin typeface="Times New Roman" panose="02020603050405020304" pitchFamily="18" charset="0"/>
                <a:cs typeface="Times New Roman" panose="02020603050405020304" pitchFamily="18" charset="0"/>
              </a:rPr>
              <a:t>lúa</a:t>
            </a:r>
            <a:br>
              <a:rPr lang="en-US" altLang="en-US" sz="3200" dirty="0">
                <a:latin typeface="Times New Roman" panose="02020603050405020304" pitchFamily="18" charset="0"/>
                <a:cs typeface="Times New Roman" panose="02020603050405020304" pitchFamily="18" charset="0"/>
              </a:rPr>
            </a:br>
            <a:r>
              <a:rPr lang="en-US" altLang="en-US" sz="3200" i="1" dirty="0">
                <a:latin typeface="Times New Roman" panose="02020603050405020304" pitchFamily="18" charset="0"/>
                <a:cs typeface="Times New Roman" panose="02020603050405020304" pitchFamily="18" charset="0"/>
              </a:rPr>
              <a:t>             (KĐ)             (</a:t>
            </a:r>
            <a:r>
              <a:rPr lang="en-US" altLang="en-US" sz="3200" i="1" dirty="0" err="1">
                <a:latin typeface="Times New Roman" panose="02020603050405020304" pitchFamily="18" charset="0"/>
                <a:cs typeface="Times New Roman" panose="02020603050405020304" pitchFamily="18" charset="0"/>
              </a:rPr>
              <a:t>PĐlần</a:t>
            </a:r>
            <a:r>
              <a:rPr lang="en-US" altLang="en-US" sz="3200" i="1" dirty="0">
                <a:latin typeface="Times New Roman" panose="02020603050405020304" pitchFamily="18" charset="0"/>
                <a:cs typeface="Times New Roman" panose="02020603050405020304" pitchFamily="18" charset="0"/>
              </a:rPr>
              <a:t> 1)              (PĐ2 – PĐ </a:t>
            </a:r>
            <a:r>
              <a:rPr lang="en-US" altLang="en-US" sz="3200" i="1" dirty="0" err="1">
                <a:latin typeface="Times New Roman" panose="02020603050405020304" pitchFamily="18" charset="0"/>
                <a:cs typeface="Times New Roman" panose="02020603050405020304" pitchFamily="18" charset="0"/>
              </a:rPr>
              <a:t>của</a:t>
            </a:r>
            <a:r>
              <a:rPr lang="en-US" altLang="en-US" sz="3200" i="1" dirty="0">
                <a:latin typeface="Times New Roman" panose="02020603050405020304" pitchFamily="18" charset="0"/>
                <a:cs typeface="Times New Roman" panose="02020603050405020304" pitchFamily="18" charset="0"/>
              </a:rPr>
              <a:t> PĐ)</a:t>
            </a:r>
            <a:br>
              <a:rPr lang="en-US" altLang="en-US" sz="3200" i="1" dirty="0">
                <a:latin typeface="Times New Roman" panose="02020603050405020304" pitchFamily="18" charset="0"/>
                <a:cs typeface="Times New Roman" panose="02020603050405020304" pitchFamily="18" charset="0"/>
              </a:rPr>
            </a:b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r>
              <a:rPr lang="en-US" altLang="en-US" u="sng" dirty="0" err="1">
                <a:latin typeface="Times New Roman" panose="02020603050405020304" pitchFamily="18" charset="0"/>
                <a:cs typeface="Times New Roman" panose="02020603050405020304" pitchFamily="18" charset="0"/>
              </a:rPr>
              <a:t>Như</a:t>
            </a:r>
            <a:r>
              <a:rPr lang="en-US" altLang="en-US" u="sng" dirty="0">
                <a:latin typeface="Times New Roman" panose="02020603050405020304" pitchFamily="18" charset="0"/>
                <a:cs typeface="Times New Roman" panose="02020603050405020304" pitchFamily="18" charset="0"/>
              </a:rPr>
              <a:t> </a:t>
            </a:r>
            <a:r>
              <a:rPr lang="en-US" altLang="en-US" u="sng" dirty="0" err="1">
                <a:latin typeface="Times New Roman" panose="02020603050405020304" pitchFamily="18" charset="0"/>
                <a:cs typeface="Times New Roman" panose="02020603050405020304" pitchFamily="18" charset="0"/>
              </a:rPr>
              <a:t>vậy</a:t>
            </a:r>
            <a:r>
              <a:rPr lang="en-US" altLang="en-US" u="sng"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đặc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quan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trọng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PT </a:t>
            </a:r>
            <a:r>
              <a:rPr lang="en-US" altLang="en-US" dirty="0" err="1">
                <a:latin typeface="Times New Roman" panose="02020603050405020304" pitchFamily="18" charset="0"/>
                <a:cs typeface="Times New Roman" panose="02020603050405020304" pitchFamily="18" charset="0"/>
              </a:rPr>
              <a:t>biện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chứng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thông</a:t>
            </a:r>
            <a:r>
              <a:rPr lang="en-US" altLang="en-US" dirty="0">
                <a:latin typeface="Times New Roman" panose="02020603050405020304" pitchFamily="18" charset="0"/>
                <a:cs typeface="Times New Roman" panose="02020603050405020304" pitchFamily="18" charset="0"/>
              </a:rPr>
              <a:t> qua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PĐ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PĐ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dường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như</a:t>
            </a:r>
            <a:r>
              <a:rPr lang="en-US" altLang="en-US" dirty="0">
                <a:latin typeface="Times New Roman" panose="02020603050405020304" pitchFamily="18" charset="0"/>
                <a:cs typeface="Times New Roman" panose="02020603050405020304" pitchFamily="18" charset="0"/>
              </a:rPr>
              <a:t> quay </a:t>
            </a:r>
            <a:r>
              <a:rPr lang="en-US" altLang="en-US" dirty="0" err="1">
                <a:latin typeface="Times New Roman" panose="02020603050405020304" pitchFamily="18" charset="0"/>
                <a:cs typeface="Times New Roman" panose="02020603050405020304" pitchFamily="18" charset="0"/>
              </a:rPr>
              <a:t>lại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xuất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ban </a:t>
            </a:r>
            <a:r>
              <a:rPr lang="en-US" altLang="en-US" dirty="0" err="1">
                <a:latin typeface="Times New Roman" panose="02020603050405020304" pitchFamily="18" charset="0"/>
                <a:cs typeface="Times New Roman" panose="02020603050405020304" pitchFamily="18" charset="0"/>
              </a:rPr>
              <a:t>đầu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nhưng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lai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cao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hơn</a:t>
            </a:r>
            <a:endParaRPr lang="en-US" altLang="en-US" dirty="0">
              <a:latin typeface="Times New Roman" panose="02020603050405020304" pitchFamily="18" charset="0"/>
              <a:cs typeface="Times New Roman" panose="02020603050405020304" pitchFamily="18" charset="0"/>
            </a:endParaRPr>
          </a:p>
          <a:p>
            <a:pPr algn="just"/>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PĐ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PĐ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giai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đoạn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kết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thúc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1 </a:t>
            </a:r>
            <a:r>
              <a:rPr lang="en-US" altLang="en-US" dirty="0" err="1">
                <a:latin typeface="Times New Roman" panose="02020603050405020304" pitchFamily="18" charset="0"/>
                <a:cs typeface="Times New Roman" panose="02020603050405020304" pitchFamily="18" charset="0"/>
              </a:rPr>
              <a:t>sự</a:t>
            </a:r>
            <a:r>
              <a:rPr lang="en-US" altLang="en-US" dirty="0">
                <a:latin typeface="Times New Roman" panose="02020603050405020304" pitchFamily="18" charset="0"/>
                <a:cs typeface="Times New Roman" panose="02020603050405020304" pitchFamily="18" charset="0"/>
              </a:rPr>
              <a:t> PT, </a:t>
            </a:r>
            <a:r>
              <a:rPr lang="en-US" altLang="en-US" dirty="0" err="1">
                <a:latin typeface="Times New Roman" panose="02020603050405020304" pitchFamily="18" charset="0"/>
                <a:cs typeface="Times New Roman" panose="02020603050405020304" pitchFamily="18" charset="0"/>
              </a:rPr>
              <a:t>nhưng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lại</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là</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điểm</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xuất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phát</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1 </a:t>
            </a:r>
            <a:r>
              <a:rPr lang="en-US" altLang="en-US" dirty="0" err="1">
                <a:latin typeface="Times New Roman" panose="02020603050405020304" pitchFamily="18" charset="0"/>
                <a:cs typeface="Times New Roman" panose="02020603050405020304" pitchFamily="18" charset="0"/>
              </a:rPr>
              <a:t>chu</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kỳ</a:t>
            </a:r>
            <a:r>
              <a:rPr lang="en-US" altLang="en-US" dirty="0">
                <a:latin typeface="Times New Roman" panose="02020603050405020304" pitchFamily="18" charset="0"/>
                <a:cs typeface="Times New Roman" panose="02020603050405020304" pitchFamily="18" charset="0"/>
              </a:rPr>
              <a:t> PT </a:t>
            </a:r>
            <a:r>
              <a:rPr lang="en-US" altLang="en-US" dirty="0" err="1">
                <a:latin typeface="Times New Roman" panose="02020603050405020304" pitchFamily="18" charset="0"/>
                <a:cs typeface="Times New Roman" panose="02020603050405020304" pitchFamily="18" charset="0"/>
              </a:rPr>
              <a:t>tiếp</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theo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tạo</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nên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đường</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xoáy</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ốc</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của</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quá</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trình</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vận</a:t>
            </a:r>
            <a:r>
              <a:rPr lang="en-US" altLang="en-US" dirty="0">
                <a:latin typeface="Times New Roman" panose="02020603050405020304" pitchFamily="18" charset="0"/>
                <a:cs typeface="Times New Roman" panose="02020603050405020304" pitchFamily="18" charset="0"/>
              </a:rPr>
              <a:t> </a:t>
            </a:r>
            <a:r>
              <a:rPr lang="en-US" altLang="en-US" dirty="0" err="1">
                <a:latin typeface="Times New Roman" panose="02020603050405020304" pitchFamily="18" charset="0"/>
                <a:cs typeface="Times New Roman" panose="02020603050405020304" pitchFamily="18" charset="0"/>
              </a:rPr>
              <a:t>động</a:t>
            </a:r>
            <a:r>
              <a:rPr lang="en-US" altLang="en-US" dirty="0">
                <a:latin typeface="Times New Roman" panose="02020603050405020304" pitchFamily="18" charset="0"/>
                <a:cs typeface="Times New Roman" panose="02020603050405020304" pitchFamily="18" charset="0"/>
              </a:rPr>
              <a:t> &amp; PT</a:t>
            </a:r>
            <a:r>
              <a:rPr lang="en-US" altLang="en-US" i="1"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cs typeface="Times New Roman" panose="02020603050405020304" pitchFamily="18" charset="0"/>
            </a:endParaRPr>
          </a:p>
        </p:txBody>
      </p:sp>
      <p:cxnSp>
        <p:nvCxnSpPr>
          <p:cNvPr id="5" name="Straight Arrow Connector 4"/>
          <p:cNvCxnSpPr/>
          <p:nvPr/>
        </p:nvCxnSpPr>
        <p:spPr>
          <a:xfrm>
            <a:off x="3269673" y="651164"/>
            <a:ext cx="90054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a:off x="5527964" y="651164"/>
            <a:ext cx="1634836"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marL="457200" indent="-457200">
              <a:buFont typeface="Wingdings" panose="05000000000000000000" pitchFamily="2" charset="2"/>
              <a:buChar char="v"/>
            </a:pPr>
            <a:r>
              <a:rPr lang="en-US" altLang="en-US" sz="3200" b="1" i="1" dirty="0">
                <a:latin typeface="Times New Roman" panose="02020603050405020304" pitchFamily="18" charset="0"/>
              </a:rPr>
              <a:t>Ý </a:t>
            </a:r>
            <a:r>
              <a:rPr lang="en-US" altLang="en-US" sz="3200" b="1" i="1" dirty="0" err="1">
                <a:latin typeface="Times New Roman" panose="02020603050405020304" pitchFamily="18" charset="0"/>
              </a:rPr>
              <a:t>nghĩa</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phương</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pháp</a:t>
            </a:r>
            <a:r>
              <a:rPr lang="en-US" altLang="en-US" sz="3200" b="1" i="1" dirty="0">
                <a:latin typeface="Times New Roman" panose="02020603050405020304" pitchFamily="18" charset="0"/>
              </a:rPr>
              <a:t> </a:t>
            </a:r>
            <a:r>
              <a:rPr lang="en-US" altLang="en-US" sz="3200" b="1" i="1" dirty="0" err="1">
                <a:latin typeface="Times New Roman" panose="02020603050405020304" pitchFamily="18" charset="0"/>
              </a:rPr>
              <a:t>luận</a:t>
            </a:r>
            <a:endParaRPr lang="en-US" sz="32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marL="274320" indent="-274320" algn="just">
              <a:buNone/>
              <a:defRPr/>
            </a:pPr>
            <a:r>
              <a:rPr lang="en-US" dirty="0">
                <a:latin typeface="Times New Roman" panose="02020603050405020304" pitchFamily="18" charset="0"/>
              </a:rPr>
              <a:t>- Qui </a:t>
            </a:r>
            <a:r>
              <a:rPr lang="en-US" dirty="0" err="1">
                <a:latin typeface="Times New Roman" panose="02020603050405020304" pitchFamily="18" charset="0"/>
              </a:rPr>
              <a:t>luật</a:t>
            </a:r>
            <a:r>
              <a:rPr lang="en-US" dirty="0">
                <a:latin typeface="Times New Roman" panose="02020603050405020304" pitchFamily="18" charset="0"/>
              </a:rPr>
              <a:t> </a:t>
            </a:r>
            <a:r>
              <a:rPr lang="en-US" dirty="0" err="1">
                <a:latin typeface="Times New Roman" panose="02020603050405020304" pitchFamily="18" charset="0"/>
              </a:rPr>
              <a:t>này</a:t>
            </a:r>
            <a:r>
              <a:rPr lang="en-US" dirty="0">
                <a:latin typeface="Times New Roman" panose="02020603050405020304" pitchFamily="18" charset="0"/>
              </a:rPr>
              <a:t> </a:t>
            </a:r>
            <a:r>
              <a:rPr lang="en-US" dirty="0" err="1">
                <a:latin typeface="Times New Roman" panose="02020603050405020304" pitchFamily="18" charset="0"/>
              </a:rPr>
              <a:t>là</a:t>
            </a:r>
            <a:r>
              <a:rPr lang="en-US" dirty="0">
                <a:latin typeface="Times New Roman" panose="02020603050405020304" pitchFamily="18" charset="0"/>
              </a:rPr>
              <a:t> </a:t>
            </a:r>
            <a:r>
              <a:rPr lang="en-US" dirty="0" err="1">
                <a:latin typeface="Times New Roman" panose="02020603050405020304" pitchFamily="18" charset="0"/>
              </a:rPr>
              <a:t>cơ</a:t>
            </a:r>
            <a:r>
              <a:rPr lang="en-US" dirty="0">
                <a:latin typeface="Times New Roman" panose="02020603050405020304" pitchFamily="18" charset="0"/>
              </a:rPr>
              <a:t> </a:t>
            </a:r>
            <a:r>
              <a:rPr lang="en-US" dirty="0" err="1">
                <a:latin typeface="Times New Roman" panose="02020603050405020304" pitchFamily="18" charset="0"/>
              </a:rPr>
              <a:t>sở</a:t>
            </a:r>
            <a:r>
              <a:rPr lang="en-US" dirty="0">
                <a:latin typeface="Times New Roman" panose="02020603050405020304" pitchFamily="18" charset="0"/>
              </a:rPr>
              <a:t> PPL </a:t>
            </a:r>
            <a:r>
              <a:rPr lang="en-US" dirty="0" err="1">
                <a:latin typeface="Times New Roman" panose="02020603050405020304" pitchFamily="18" charset="0"/>
              </a:rPr>
              <a:t>để</a:t>
            </a:r>
            <a:r>
              <a:rPr lang="en-US" dirty="0">
                <a:latin typeface="Times New Roman" panose="02020603050405020304" pitchFamily="18" charset="0"/>
              </a:rPr>
              <a:t> </a:t>
            </a:r>
            <a:r>
              <a:rPr lang="en-US" dirty="0" err="1">
                <a:latin typeface="Times New Roman" panose="02020603050405020304" pitchFamily="18" charset="0"/>
              </a:rPr>
              <a:t>hiểu</a:t>
            </a:r>
            <a:r>
              <a:rPr lang="en-US" dirty="0">
                <a:latin typeface="Times New Roman" panose="02020603050405020304" pitchFamily="18" charset="0"/>
              </a:rPr>
              <a:t> </a:t>
            </a:r>
            <a:r>
              <a:rPr lang="en-US" dirty="0" err="1">
                <a:latin typeface="Times New Roman" panose="02020603050405020304" pitchFamily="18" charset="0"/>
              </a:rPr>
              <a:t>sự</a:t>
            </a:r>
            <a:r>
              <a:rPr lang="en-US" dirty="0">
                <a:latin typeface="Times New Roman" panose="02020603050405020304" pitchFamily="18" charset="0"/>
              </a:rPr>
              <a:t> </a:t>
            </a:r>
            <a:r>
              <a:rPr lang="en-US" dirty="0" err="1">
                <a:latin typeface="Times New Roman" panose="02020603050405020304" pitchFamily="18" charset="0"/>
              </a:rPr>
              <a:t>ra</a:t>
            </a:r>
            <a:r>
              <a:rPr lang="en-US" dirty="0">
                <a:latin typeface="Times New Roman" panose="02020603050405020304" pitchFamily="18" charset="0"/>
              </a:rPr>
              <a:t> </a:t>
            </a:r>
            <a:r>
              <a:rPr lang="en-US" dirty="0" err="1">
                <a:latin typeface="Times New Roman" panose="02020603050405020304" pitchFamily="18" charset="0"/>
              </a:rPr>
              <a:t>đời</a:t>
            </a:r>
            <a:r>
              <a:rPr lang="en-US" dirty="0">
                <a:latin typeface="Times New Roman" panose="02020603050405020304" pitchFamily="18" charset="0"/>
              </a:rPr>
              <a:t> </a:t>
            </a:r>
            <a:r>
              <a:rPr lang="en-US" dirty="0" err="1">
                <a:latin typeface="Times New Roman" panose="02020603050405020304" pitchFamily="18" charset="0"/>
              </a:rPr>
              <a:t>cái</a:t>
            </a:r>
            <a:r>
              <a:rPr lang="en-US" dirty="0">
                <a:latin typeface="Times New Roman" panose="02020603050405020304" pitchFamily="18" charset="0"/>
              </a:rPr>
              <a:t> </a:t>
            </a:r>
            <a:r>
              <a:rPr lang="en-US" dirty="0" err="1">
                <a:latin typeface="Times New Roman" panose="02020603050405020304" pitchFamily="18" charset="0"/>
              </a:rPr>
              <a:t>mới</a:t>
            </a:r>
            <a:r>
              <a:rPr lang="en-US" dirty="0">
                <a:latin typeface="Times New Roman" panose="02020603050405020304" pitchFamily="18" charset="0"/>
              </a:rPr>
              <a:t> </a:t>
            </a:r>
            <a:r>
              <a:rPr lang="en-US" dirty="0" err="1">
                <a:latin typeface="Times New Roman" panose="02020603050405020304" pitchFamily="18" charset="0"/>
              </a:rPr>
              <a:t>vì</a:t>
            </a:r>
            <a:r>
              <a:rPr lang="en-US" dirty="0">
                <a:latin typeface="Times New Roman" panose="02020603050405020304" pitchFamily="18" charset="0"/>
              </a:rPr>
              <a:t> </a:t>
            </a:r>
            <a:r>
              <a:rPr lang="en-US" dirty="0" err="1">
                <a:latin typeface="Times New Roman" panose="02020603050405020304" pitchFamily="18" charset="0"/>
              </a:rPr>
              <a:t>vậy</a:t>
            </a:r>
            <a:r>
              <a:rPr lang="en-US" dirty="0">
                <a:latin typeface="Times New Roman" panose="02020603050405020304" pitchFamily="18" charset="0"/>
              </a:rPr>
              <a:t> </a:t>
            </a:r>
            <a:r>
              <a:rPr lang="en-US" dirty="0" err="1">
                <a:latin typeface="Times New Roman" panose="02020603050405020304" pitchFamily="18" charset="0"/>
              </a:rPr>
              <a:t>cần</a:t>
            </a:r>
            <a:r>
              <a:rPr lang="en-US" dirty="0">
                <a:latin typeface="Times New Roman" panose="02020603050405020304" pitchFamily="18" charset="0"/>
              </a:rPr>
              <a:t> </a:t>
            </a:r>
            <a:r>
              <a:rPr lang="en-US" dirty="0" err="1">
                <a:latin typeface="Times New Roman" panose="02020603050405020304" pitchFamily="18" charset="0"/>
              </a:rPr>
              <a:t>phải</a:t>
            </a:r>
            <a:r>
              <a:rPr lang="en-US" dirty="0">
                <a:latin typeface="Times New Roman" panose="02020603050405020304" pitchFamily="18" charset="0"/>
              </a:rPr>
              <a:t> </a:t>
            </a:r>
            <a:r>
              <a:rPr lang="en-US" dirty="0" err="1">
                <a:latin typeface="Times New Roman" panose="02020603050405020304" pitchFamily="18" charset="0"/>
              </a:rPr>
              <a:t>chống</a:t>
            </a:r>
            <a:r>
              <a:rPr lang="en-US" dirty="0">
                <a:latin typeface="Times New Roman" panose="02020603050405020304" pitchFamily="18" charset="0"/>
              </a:rPr>
              <a:t> </a:t>
            </a:r>
            <a:r>
              <a:rPr lang="en-US" dirty="0" err="1">
                <a:latin typeface="Times New Roman" panose="02020603050405020304" pitchFamily="18" charset="0"/>
              </a:rPr>
              <a:t>thái</a:t>
            </a:r>
            <a:r>
              <a:rPr lang="en-US" dirty="0">
                <a:latin typeface="Times New Roman" panose="02020603050405020304" pitchFamily="18" charset="0"/>
              </a:rPr>
              <a:t> </a:t>
            </a:r>
            <a:r>
              <a:rPr lang="en-US" dirty="0" err="1">
                <a:latin typeface="Times New Roman" panose="02020603050405020304" pitchFamily="18" charset="0"/>
              </a:rPr>
              <a:t>độ</a:t>
            </a:r>
            <a:r>
              <a:rPr lang="en-US" dirty="0">
                <a:latin typeface="Times New Roman" panose="02020603050405020304" pitchFamily="18" charset="0"/>
              </a:rPr>
              <a:t> PĐ </a:t>
            </a:r>
            <a:r>
              <a:rPr lang="en-US" dirty="0" err="1">
                <a:latin typeface="Times New Roman" panose="02020603050405020304" pitchFamily="18" charset="0"/>
              </a:rPr>
              <a:t>sạch</a:t>
            </a:r>
            <a:r>
              <a:rPr lang="en-US" dirty="0">
                <a:latin typeface="Times New Roman" panose="02020603050405020304" pitchFamily="18" charset="0"/>
              </a:rPr>
              <a:t> </a:t>
            </a:r>
            <a:r>
              <a:rPr lang="en-US" dirty="0" err="1">
                <a:latin typeface="Times New Roman" panose="02020603050405020304" pitchFamily="18" charset="0"/>
              </a:rPr>
              <a:t>trơn</a:t>
            </a:r>
            <a:endParaRPr lang="en-US" dirty="0">
              <a:latin typeface="Times New Roman" panose="02020603050405020304" pitchFamily="18" charset="0"/>
            </a:endParaRPr>
          </a:p>
          <a:p>
            <a:pPr algn="just">
              <a:buFontTx/>
              <a:buChar char="-"/>
              <a:defRPr/>
            </a:pPr>
            <a:r>
              <a:rPr lang="en-US" dirty="0" err="1">
                <a:latin typeface="Times New Roman" panose="02020603050405020304" pitchFamily="18" charset="0"/>
              </a:rPr>
              <a:t>Trong</a:t>
            </a:r>
            <a:r>
              <a:rPr lang="en-US" dirty="0">
                <a:latin typeface="Times New Roman" panose="02020603050405020304" pitchFamily="18" charset="0"/>
              </a:rPr>
              <a:t> </a:t>
            </a:r>
            <a:r>
              <a:rPr lang="en-US" dirty="0" err="1">
                <a:latin typeface="Times New Roman" panose="02020603050405020304" pitchFamily="18" charset="0"/>
              </a:rPr>
              <a:t>hoạt</a:t>
            </a:r>
            <a:r>
              <a:rPr lang="en-US" dirty="0">
                <a:latin typeface="Times New Roman" panose="02020603050405020304" pitchFamily="18" charset="0"/>
              </a:rPr>
              <a:t> </a:t>
            </a:r>
            <a:r>
              <a:rPr lang="en-US" dirty="0" err="1">
                <a:latin typeface="Times New Roman" panose="02020603050405020304" pitchFamily="18" charset="0"/>
              </a:rPr>
              <a:t>động</a:t>
            </a:r>
            <a:r>
              <a:rPr lang="en-US" dirty="0">
                <a:latin typeface="Times New Roman" panose="02020603050405020304" pitchFamily="18" charset="0"/>
              </a:rPr>
              <a:t> </a:t>
            </a:r>
            <a:r>
              <a:rPr lang="en-US" dirty="0" err="1">
                <a:latin typeface="Times New Roman" panose="02020603050405020304" pitchFamily="18" charset="0"/>
              </a:rPr>
              <a:t>chúng</a:t>
            </a:r>
            <a:r>
              <a:rPr lang="en-US" dirty="0">
                <a:latin typeface="Times New Roman" panose="02020603050405020304" pitchFamily="18" charset="0"/>
              </a:rPr>
              <a:t> ta </a:t>
            </a:r>
            <a:r>
              <a:rPr lang="en-US" dirty="0" err="1">
                <a:latin typeface="Times New Roman" panose="02020603050405020304" pitchFamily="18" charset="0"/>
              </a:rPr>
              <a:t>phải</a:t>
            </a:r>
            <a:r>
              <a:rPr lang="en-US" dirty="0">
                <a:latin typeface="Times New Roman" panose="02020603050405020304" pitchFamily="18" charset="0"/>
              </a:rPr>
              <a:t> </a:t>
            </a:r>
            <a:r>
              <a:rPr lang="en-US" dirty="0" err="1">
                <a:latin typeface="Times New Roman" panose="02020603050405020304" pitchFamily="18" charset="0"/>
              </a:rPr>
              <a:t>biết</a:t>
            </a:r>
            <a:r>
              <a:rPr lang="en-US" dirty="0">
                <a:latin typeface="Times New Roman" panose="02020603050405020304" pitchFamily="18" charset="0"/>
              </a:rPr>
              <a:t> </a:t>
            </a:r>
            <a:r>
              <a:rPr lang="en-US" dirty="0" err="1">
                <a:latin typeface="Times New Roman" panose="02020603050405020304" pitchFamily="18" charset="0"/>
              </a:rPr>
              <a:t>phát</a:t>
            </a:r>
            <a:r>
              <a:rPr lang="en-US" dirty="0">
                <a:latin typeface="Times New Roman" panose="02020603050405020304" pitchFamily="18" charset="0"/>
              </a:rPr>
              <a:t> </a:t>
            </a:r>
            <a:r>
              <a:rPr lang="en-US" dirty="0" err="1">
                <a:latin typeface="Times New Roman" panose="02020603050405020304" pitchFamily="18" charset="0"/>
              </a:rPr>
              <a:t>triển</a:t>
            </a:r>
            <a:r>
              <a:rPr lang="en-US" dirty="0">
                <a:latin typeface="Times New Roman" panose="02020603050405020304" pitchFamily="18" charset="0"/>
              </a:rPr>
              <a:t> &amp; </a:t>
            </a:r>
            <a:r>
              <a:rPr lang="en-US" dirty="0" err="1">
                <a:latin typeface="Times New Roman" panose="02020603050405020304" pitchFamily="18" charset="0"/>
              </a:rPr>
              <a:t>quý</a:t>
            </a:r>
            <a:r>
              <a:rPr lang="en-US" dirty="0">
                <a:latin typeface="Times New Roman" panose="02020603050405020304" pitchFamily="18" charset="0"/>
              </a:rPr>
              <a:t> </a:t>
            </a:r>
            <a:r>
              <a:rPr lang="en-US" dirty="0" err="1">
                <a:latin typeface="Times New Roman" panose="02020603050405020304" pitchFamily="18" charset="0"/>
              </a:rPr>
              <a:t>trọng</a:t>
            </a:r>
            <a:r>
              <a:rPr lang="en-US" dirty="0">
                <a:latin typeface="Times New Roman" panose="02020603050405020304" pitchFamily="18" charset="0"/>
              </a:rPr>
              <a:t> </a:t>
            </a:r>
            <a:r>
              <a:rPr lang="en-US" dirty="0" err="1">
                <a:latin typeface="Times New Roman" panose="02020603050405020304" pitchFamily="18" charset="0"/>
              </a:rPr>
              <a:t>cái</a:t>
            </a:r>
            <a:r>
              <a:rPr lang="en-US" dirty="0">
                <a:latin typeface="Times New Roman" panose="02020603050405020304" pitchFamily="18" charset="0"/>
              </a:rPr>
              <a:t> </a:t>
            </a:r>
            <a:r>
              <a:rPr lang="en-US" dirty="0" err="1">
                <a:latin typeface="Times New Roman" panose="02020603050405020304" pitchFamily="18" charset="0"/>
              </a:rPr>
              <a:t>mới</a:t>
            </a:r>
            <a:r>
              <a:rPr lang="en-US" dirty="0">
                <a:latin typeface="Times New Roman" panose="02020603050405020304" pitchFamily="18" charset="0"/>
              </a:rPr>
              <a:t>, </a:t>
            </a:r>
            <a:r>
              <a:rPr lang="en-US" dirty="0" err="1">
                <a:latin typeface="Times New Roman" panose="02020603050405020304" pitchFamily="18" charset="0"/>
              </a:rPr>
              <a:t>tạo</a:t>
            </a:r>
            <a:r>
              <a:rPr lang="en-US" dirty="0">
                <a:latin typeface="Times New Roman" panose="02020603050405020304" pitchFamily="18" charset="0"/>
              </a:rPr>
              <a:t> </a:t>
            </a:r>
            <a:r>
              <a:rPr lang="en-US" dirty="0" err="1">
                <a:latin typeface="Times New Roman" panose="02020603050405020304" pitchFamily="18" charset="0"/>
              </a:rPr>
              <a:t>đk</a:t>
            </a:r>
            <a:r>
              <a:rPr lang="en-US" dirty="0">
                <a:latin typeface="Times New Roman" panose="02020603050405020304" pitchFamily="18" charset="0"/>
              </a:rPr>
              <a:t> </a:t>
            </a:r>
            <a:r>
              <a:rPr lang="en-US" dirty="0" err="1">
                <a:latin typeface="Times New Roman" panose="02020603050405020304" pitchFamily="18" charset="0"/>
              </a:rPr>
              <a:t>cho</a:t>
            </a:r>
            <a:r>
              <a:rPr lang="en-US" dirty="0">
                <a:latin typeface="Times New Roman" panose="02020603050405020304" pitchFamily="18" charset="0"/>
              </a:rPr>
              <a:t> </a:t>
            </a:r>
            <a:r>
              <a:rPr lang="en-US" dirty="0" err="1">
                <a:latin typeface="Times New Roman" panose="02020603050405020304" pitchFamily="18" charset="0"/>
              </a:rPr>
              <a:t>cái</a:t>
            </a:r>
            <a:r>
              <a:rPr lang="en-US" dirty="0">
                <a:latin typeface="Times New Roman" panose="02020603050405020304" pitchFamily="18" charset="0"/>
              </a:rPr>
              <a:t> </a:t>
            </a:r>
            <a:r>
              <a:rPr lang="en-US" dirty="0" err="1">
                <a:latin typeface="Times New Roman" panose="02020603050405020304" pitchFamily="18" charset="0"/>
              </a:rPr>
              <a:t>mới</a:t>
            </a:r>
            <a:r>
              <a:rPr lang="en-US" dirty="0">
                <a:latin typeface="Times New Roman" panose="02020603050405020304" pitchFamily="18" charset="0"/>
              </a:rPr>
              <a:t> PT.</a:t>
            </a:r>
            <a:endParaRPr lang="en-US" dirty="0">
              <a:latin typeface="Times New Roman" panose="02020603050405020304" pitchFamily="18" charset="0"/>
            </a:endParaRPr>
          </a:p>
          <a:p>
            <a:pPr algn="just">
              <a:buFontTx/>
              <a:buChar char="-"/>
              <a:defRPr/>
            </a:pPr>
            <a:r>
              <a:rPr lang="en-US" dirty="0" err="1">
                <a:latin typeface="Times New Roman" panose="02020603050405020304" pitchFamily="18" charset="0"/>
              </a:rPr>
              <a:t>Chúng</a:t>
            </a:r>
            <a:r>
              <a:rPr lang="en-US" dirty="0">
                <a:latin typeface="Times New Roman" panose="02020603050405020304" pitchFamily="18" charset="0"/>
              </a:rPr>
              <a:t> ta </a:t>
            </a:r>
            <a:r>
              <a:rPr lang="en-US" dirty="0" err="1">
                <a:latin typeface="Times New Roman" panose="02020603050405020304" pitchFamily="18" charset="0"/>
              </a:rPr>
              <a:t>phải</a:t>
            </a:r>
            <a:r>
              <a:rPr lang="en-US" dirty="0">
                <a:latin typeface="Times New Roman" panose="02020603050405020304" pitchFamily="18" charset="0"/>
              </a:rPr>
              <a:t> </a:t>
            </a:r>
            <a:r>
              <a:rPr lang="en-US" dirty="0" err="1">
                <a:latin typeface="Times New Roman" panose="02020603050405020304" pitchFamily="18" charset="0"/>
              </a:rPr>
              <a:t>biết</a:t>
            </a:r>
            <a:r>
              <a:rPr lang="en-US" dirty="0">
                <a:latin typeface="Times New Roman" panose="02020603050405020304" pitchFamily="18" charset="0"/>
              </a:rPr>
              <a:t> </a:t>
            </a:r>
            <a:r>
              <a:rPr lang="en-US" dirty="0" err="1">
                <a:latin typeface="Times New Roman" panose="02020603050405020304" pitchFamily="18" charset="0"/>
              </a:rPr>
              <a:t>sàng</a:t>
            </a:r>
            <a:r>
              <a:rPr lang="en-US" dirty="0">
                <a:latin typeface="Times New Roman" panose="02020603050405020304" pitchFamily="18" charset="0"/>
              </a:rPr>
              <a:t> </a:t>
            </a:r>
            <a:r>
              <a:rPr lang="en-US" dirty="0" err="1">
                <a:latin typeface="Times New Roman" panose="02020603050405020304" pitchFamily="18" charset="0"/>
              </a:rPr>
              <a:t>lọc</a:t>
            </a:r>
            <a:r>
              <a:rPr lang="en-US" dirty="0">
                <a:latin typeface="Times New Roman" panose="02020603050405020304" pitchFamily="18" charset="0"/>
              </a:rPr>
              <a:t> </a:t>
            </a:r>
            <a:r>
              <a:rPr lang="en-US" dirty="0" err="1">
                <a:latin typeface="Times New Roman" panose="02020603050405020304" pitchFamily="18" charset="0"/>
              </a:rPr>
              <a:t>giữ</a:t>
            </a:r>
            <a:r>
              <a:rPr lang="en-US" dirty="0">
                <a:latin typeface="Times New Roman" panose="02020603050405020304" pitchFamily="18" charset="0"/>
              </a:rPr>
              <a:t> </a:t>
            </a:r>
            <a:r>
              <a:rPr lang="en-US" dirty="0" err="1">
                <a:latin typeface="Times New Roman" panose="02020603050405020304" pitchFamily="18" charset="0"/>
              </a:rPr>
              <a:t>lại</a:t>
            </a:r>
            <a:r>
              <a:rPr lang="en-US" dirty="0">
                <a:latin typeface="Times New Roman" panose="02020603050405020304" pitchFamily="18" charset="0"/>
              </a:rPr>
              <a:t> </a:t>
            </a:r>
            <a:r>
              <a:rPr lang="en-US" dirty="0" err="1">
                <a:latin typeface="Times New Roman" panose="02020603050405020304" pitchFamily="18" charset="0"/>
              </a:rPr>
              <a:t>những</a:t>
            </a:r>
            <a:r>
              <a:rPr lang="en-US" dirty="0">
                <a:latin typeface="Times New Roman" panose="02020603050405020304" pitchFamily="18" charset="0"/>
              </a:rPr>
              <a:t> </a:t>
            </a:r>
            <a:r>
              <a:rPr lang="en-US" dirty="0" err="1">
                <a:latin typeface="Times New Roman" panose="02020603050405020304" pitchFamily="18" charset="0"/>
              </a:rPr>
              <a:t>gì</a:t>
            </a:r>
            <a:r>
              <a:rPr lang="en-US" dirty="0">
                <a:latin typeface="Times New Roman" panose="02020603050405020304" pitchFamily="18" charset="0"/>
              </a:rPr>
              <a:t> </a:t>
            </a:r>
            <a:r>
              <a:rPr lang="en-US" dirty="0" err="1">
                <a:latin typeface="Times New Roman" panose="02020603050405020304" pitchFamily="18" charset="0"/>
              </a:rPr>
              <a:t>tích</a:t>
            </a:r>
            <a:r>
              <a:rPr lang="en-US" dirty="0">
                <a:latin typeface="Times New Roman" panose="02020603050405020304" pitchFamily="18" charset="0"/>
              </a:rPr>
              <a:t> </a:t>
            </a:r>
            <a:r>
              <a:rPr lang="en-US" dirty="0" err="1">
                <a:latin typeface="Times New Roman" panose="02020603050405020304" pitchFamily="18" charset="0"/>
              </a:rPr>
              <a:t>cực</a:t>
            </a:r>
            <a:r>
              <a:rPr lang="en-US" dirty="0">
                <a:latin typeface="Times New Roman" panose="02020603050405020304" pitchFamily="18" charset="0"/>
              </a:rPr>
              <a:t> </a:t>
            </a:r>
            <a:r>
              <a:rPr lang="en-US" dirty="0" err="1">
                <a:latin typeface="Times New Roman" panose="02020603050405020304" pitchFamily="18" charset="0"/>
              </a:rPr>
              <a:t>của</a:t>
            </a:r>
            <a:r>
              <a:rPr lang="en-US" dirty="0">
                <a:latin typeface="Times New Roman" panose="02020603050405020304" pitchFamily="18" charset="0"/>
              </a:rPr>
              <a:t> </a:t>
            </a:r>
            <a:r>
              <a:rPr lang="en-US" dirty="0" err="1">
                <a:latin typeface="Times New Roman" panose="02020603050405020304" pitchFamily="18" charset="0"/>
              </a:rPr>
              <a:t>cái</a:t>
            </a:r>
            <a:r>
              <a:rPr lang="en-US" dirty="0">
                <a:latin typeface="Times New Roman" panose="02020603050405020304" pitchFamily="18" charset="0"/>
              </a:rPr>
              <a:t> </a:t>
            </a:r>
            <a:r>
              <a:rPr lang="en-US" dirty="0" err="1">
                <a:latin typeface="Times New Roman" panose="02020603050405020304" pitchFamily="18" charset="0"/>
              </a:rPr>
              <a:t>cũ</a:t>
            </a:r>
            <a:r>
              <a:rPr lang="en-US" dirty="0">
                <a:latin typeface="Times New Roman" panose="02020603050405020304" pitchFamily="18" charset="0"/>
              </a:rPr>
              <a:t>, </a:t>
            </a:r>
            <a:r>
              <a:rPr lang="en-US" dirty="0" err="1">
                <a:latin typeface="Times New Roman" panose="02020603050405020304" pitchFamily="18" charset="0"/>
              </a:rPr>
              <a:t>biết</a:t>
            </a:r>
            <a:r>
              <a:rPr lang="en-US" dirty="0">
                <a:latin typeface="Times New Roman" panose="02020603050405020304" pitchFamily="18" charset="0"/>
              </a:rPr>
              <a:t> </a:t>
            </a:r>
            <a:r>
              <a:rPr lang="en-US" dirty="0" err="1">
                <a:latin typeface="Times New Roman" panose="02020603050405020304" pitchFamily="18" charset="0"/>
              </a:rPr>
              <a:t>cải</a:t>
            </a:r>
            <a:r>
              <a:rPr lang="en-US" dirty="0">
                <a:latin typeface="Times New Roman" panose="02020603050405020304" pitchFamily="18" charset="0"/>
              </a:rPr>
              <a:t> </a:t>
            </a:r>
            <a:r>
              <a:rPr lang="en-US" dirty="0" err="1">
                <a:latin typeface="Times New Roman" panose="02020603050405020304" pitchFamily="18" charset="0"/>
              </a:rPr>
              <a:t>tạo</a:t>
            </a:r>
            <a:r>
              <a:rPr lang="en-US" dirty="0">
                <a:latin typeface="Times New Roman" panose="02020603050405020304" pitchFamily="18" charset="0"/>
              </a:rPr>
              <a:t> </a:t>
            </a:r>
            <a:r>
              <a:rPr lang="en-US" dirty="0" err="1">
                <a:latin typeface="Times New Roman" panose="02020603050405020304" pitchFamily="18" charset="0"/>
              </a:rPr>
              <a:t>cái</a:t>
            </a:r>
            <a:r>
              <a:rPr lang="en-US" dirty="0">
                <a:latin typeface="Times New Roman" panose="02020603050405020304" pitchFamily="18" charset="0"/>
              </a:rPr>
              <a:t> </a:t>
            </a:r>
            <a:r>
              <a:rPr lang="en-US" dirty="0" err="1">
                <a:latin typeface="Times New Roman" panose="02020603050405020304" pitchFamily="18" charset="0"/>
              </a:rPr>
              <a:t>cũ</a:t>
            </a:r>
            <a:r>
              <a:rPr lang="en-US" dirty="0">
                <a:latin typeface="Times New Roman" panose="02020603050405020304" pitchFamily="18" charset="0"/>
              </a:rPr>
              <a:t> </a:t>
            </a:r>
            <a:r>
              <a:rPr lang="en-US" dirty="0" err="1">
                <a:latin typeface="Times New Roman" panose="02020603050405020304" pitchFamily="18" charset="0"/>
              </a:rPr>
              <a:t>cho</a:t>
            </a:r>
            <a:r>
              <a:rPr lang="en-US" dirty="0">
                <a:latin typeface="Times New Roman" panose="02020603050405020304" pitchFamily="18" charset="0"/>
              </a:rPr>
              <a:t> </a:t>
            </a:r>
            <a:r>
              <a:rPr lang="en-US" dirty="0" err="1">
                <a:latin typeface="Times New Roman" panose="02020603050405020304" pitchFamily="18" charset="0"/>
              </a:rPr>
              <a:t>phù</a:t>
            </a:r>
            <a:r>
              <a:rPr lang="en-US" dirty="0">
                <a:latin typeface="Times New Roman" panose="02020603050405020304" pitchFamily="18" charset="0"/>
              </a:rPr>
              <a:t> </a:t>
            </a:r>
            <a:r>
              <a:rPr lang="en-US" dirty="0" err="1">
                <a:latin typeface="Times New Roman" panose="02020603050405020304" pitchFamily="18" charset="0"/>
              </a:rPr>
              <a:t>hợp</a:t>
            </a:r>
            <a:r>
              <a:rPr lang="en-US" dirty="0">
                <a:latin typeface="Times New Roman" panose="02020603050405020304" pitchFamily="18" charset="0"/>
              </a:rPr>
              <a:t> </a:t>
            </a:r>
            <a:r>
              <a:rPr lang="en-US" dirty="0" err="1">
                <a:latin typeface="Times New Roman" panose="02020603050405020304" pitchFamily="18" charset="0"/>
              </a:rPr>
              <a:t>với</a:t>
            </a:r>
            <a:r>
              <a:rPr lang="en-US" dirty="0">
                <a:latin typeface="Times New Roman" panose="02020603050405020304" pitchFamily="18" charset="0"/>
              </a:rPr>
              <a:t> </a:t>
            </a:r>
            <a:r>
              <a:rPr lang="en-US" dirty="0" err="1">
                <a:latin typeface="Times New Roman" panose="02020603050405020304" pitchFamily="18" charset="0"/>
              </a:rPr>
              <a:t>những</a:t>
            </a:r>
            <a:r>
              <a:rPr lang="en-US" dirty="0">
                <a:latin typeface="Times New Roman" panose="02020603050405020304" pitchFamily="18" charset="0"/>
              </a:rPr>
              <a:t> ĐK </a:t>
            </a:r>
            <a:r>
              <a:rPr lang="en-US" dirty="0" err="1">
                <a:latin typeface="Times New Roman" panose="02020603050405020304" pitchFamily="18" charset="0"/>
              </a:rPr>
              <a:t>mới</a:t>
            </a:r>
            <a:r>
              <a:rPr lang="en-US" dirty="0">
                <a:latin typeface="Times New Roman" panose="02020603050405020304" pitchFamily="18" charset="0"/>
              </a:rPr>
              <a:t>.</a:t>
            </a:r>
            <a:endParaRPr lang="en-US" dirty="0">
              <a:latin typeface="Times New Roman" panose="02020603050405020304" pitchFamily="18" charset="0"/>
            </a:endParaRPr>
          </a:p>
          <a:p>
            <a:pPr algn="just">
              <a:buFontTx/>
              <a:buChar char="-"/>
              <a:defRPr/>
            </a:pPr>
            <a:r>
              <a:rPr lang="en-US" dirty="0" err="1">
                <a:latin typeface="Times New Roman" panose="02020603050405020304" pitchFamily="18" charset="0"/>
              </a:rPr>
              <a:t>Chống</a:t>
            </a:r>
            <a:r>
              <a:rPr lang="en-US" dirty="0">
                <a:latin typeface="Times New Roman" panose="02020603050405020304" pitchFamily="18" charset="0"/>
              </a:rPr>
              <a:t> </a:t>
            </a:r>
            <a:r>
              <a:rPr lang="en-US" dirty="0" err="1">
                <a:latin typeface="Times New Roman" panose="02020603050405020304" pitchFamily="18" charset="0"/>
              </a:rPr>
              <a:t>thái</a:t>
            </a:r>
            <a:r>
              <a:rPr lang="en-US" dirty="0">
                <a:latin typeface="Times New Roman" panose="02020603050405020304" pitchFamily="18" charset="0"/>
              </a:rPr>
              <a:t> </a:t>
            </a:r>
            <a:r>
              <a:rPr lang="en-US" dirty="0" err="1">
                <a:latin typeface="Times New Roman" panose="02020603050405020304" pitchFamily="18" charset="0"/>
              </a:rPr>
              <a:t>độ</a:t>
            </a:r>
            <a:r>
              <a:rPr lang="en-US" dirty="0">
                <a:latin typeface="Times New Roman" panose="02020603050405020304" pitchFamily="18" charset="0"/>
              </a:rPr>
              <a:t> </a:t>
            </a:r>
            <a:r>
              <a:rPr lang="en-US" dirty="0" err="1">
                <a:latin typeface="Times New Roman" panose="02020603050405020304" pitchFamily="18" charset="0"/>
              </a:rPr>
              <a:t>hư</a:t>
            </a:r>
            <a:r>
              <a:rPr lang="en-US" dirty="0">
                <a:latin typeface="Times New Roman" panose="02020603050405020304" pitchFamily="18" charset="0"/>
              </a:rPr>
              <a:t> </a:t>
            </a:r>
            <a:r>
              <a:rPr lang="en-US" dirty="0" err="1">
                <a:latin typeface="Times New Roman" panose="02020603050405020304" pitchFamily="18" charset="0"/>
              </a:rPr>
              <a:t>vô</a:t>
            </a:r>
            <a:r>
              <a:rPr lang="en-US" dirty="0">
                <a:latin typeface="Times New Roman" panose="02020603050405020304" pitchFamily="18" charset="0"/>
              </a:rPr>
              <a:t> </a:t>
            </a:r>
            <a:r>
              <a:rPr lang="en-US" dirty="0" err="1">
                <a:latin typeface="Times New Roman" panose="02020603050405020304" pitchFamily="18" charset="0"/>
              </a:rPr>
              <a:t>chủ</a:t>
            </a:r>
            <a:r>
              <a:rPr lang="en-US" dirty="0">
                <a:latin typeface="Times New Roman" panose="02020603050405020304" pitchFamily="18" charset="0"/>
              </a:rPr>
              <a:t> </a:t>
            </a:r>
            <a:r>
              <a:rPr lang="en-US" dirty="0" err="1">
                <a:latin typeface="Times New Roman" panose="02020603050405020304" pitchFamily="18" charset="0"/>
              </a:rPr>
              <a:t>nghĩa</a:t>
            </a:r>
            <a:r>
              <a:rPr lang="en-US" dirty="0">
                <a:latin typeface="Times New Roman" panose="02020603050405020304" pitchFamily="18" charset="0"/>
              </a:rPr>
              <a:t> </a:t>
            </a:r>
            <a:r>
              <a:rPr lang="en-US" dirty="0" err="1">
                <a:latin typeface="Times New Roman" panose="02020603050405020304" pitchFamily="18" charset="0"/>
              </a:rPr>
              <a:t>trong</a:t>
            </a:r>
            <a:r>
              <a:rPr lang="en-US" dirty="0">
                <a:latin typeface="Times New Roman" panose="02020603050405020304" pitchFamily="18" charset="0"/>
              </a:rPr>
              <a:t> </a:t>
            </a:r>
            <a:r>
              <a:rPr lang="en-US" dirty="0" err="1">
                <a:latin typeface="Times New Roman" panose="02020603050405020304" pitchFamily="18" charset="0"/>
              </a:rPr>
              <a:t>quá</a:t>
            </a:r>
            <a:r>
              <a:rPr lang="en-US" dirty="0">
                <a:latin typeface="Times New Roman" panose="02020603050405020304" pitchFamily="18" charset="0"/>
              </a:rPr>
              <a:t> </a:t>
            </a:r>
            <a:r>
              <a:rPr lang="en-US" dirty="0" err="1">
                <a:latin typeface="Times New Roman" panose="02020603050405020304" pitchFamily="18" charset="0"/>
              </a:rPr>
              <a:t>trình</a:t>
            </a:r>
            <a:r>
              <a:rPr lang="en-US" dirty="0">
                <a:latin typeface="Times New Roman" panose="02020603050405020304" pitchFamily="18" charset="0"/>
              </a:rPr>
              <a:t> </a:t>
            </a:r>
            <a:r>
              <a:rPr lang="en-US" dirty="0" err="1">
                <a:latin typeface="Times New Roman" panose="02020603050405020304" pitchFamily="18" charset="0"/>
              </a:rPr>
              <a:t>đánh</a:t>
            </a:r>
            <a:r>
              <a:rPr lang="en-US" dirty="0">
                <a:latin typeface="Times New Roman" panose="02020603050405020304" pitchFamily="18" charset="0"/>
              </a:rPr>
              <a:t> </a:t>
            </a:r>
            <a:r>
              <a:rPr lang="en-US" dirty="0" err="1">
                <a:latin typeface="Times New Roman" panose="02020603050405020304" pitchFamily="18" charset="0"/>
              </a:rPr>
              <a:t>giá</a:t>
            </a:r>
            <a:r>
              <a:rPr lang="en-US" dirty="0">
                <a:latin typeface="Times New Roman" panose="02020603050405020304" pitchFamily="18" charset="0"/>
              </a:rPr>
              <a:t> </a:t>
            </a:r>
            <a:r>
              <a:rPr lang="en-US" dirty="0" err="1">
                <a:latin typeface="Times New Roman" panose="02020603050405020304" pitchFamily="18" charset="0"/>
              </a:rPr>
              <a:t>quá</a:t>
            </a:r>
            <a:r>
              <a:rPr lang="en-US" dirty="0">
                <a:latin typeface="Times New Roman" panose="02020603050405020304" pitchFamily="18" charset="0"/>
              </a:rPr>
              <a:t> </a:t>
            </a:r>
            <a:r>
              <a:rPr lang="en-US" dirty="0" err="1">
                <a:latin typeface="Times New Roman" panose="02020603050405020304" pitchFamily="18" charset="0"/>
              </a:rPr>
              <a:t>khứ</a:t>
            </a:r>
            <a:r>
              <a:rPr lang="en-US" dirty="0">
                <a:latin typeface="Times New Roman" panose="02020603050405020304" pitchFamily="18" charset="0"/>
              </a:rPr>
              <a:t>, </a:t>
            </a:r>
            <a:r>
              <a:rPr lang="en-US" dirty="0" err="1">
                <a:latin typeface="Times New Roman" panose="02020603050405020304" pitchFamily="18" charset="0"/>
              </a:rPr>
              <a:t>chống</a:t>
            </a:r>
            <a:r>
              <a:rPr lang="en-US" dirty="0">
                <a:latin typeface="Times New Roman" panose="02020603050405020304" pitchFamily="18" charset="0"/>
              </a:rPr>
              <a:t> </a:t>
            </a:r>
            <a:r>
              <a:rPr lang="en-US" dirty="0" err="1">
                <a:latin typeface="Times New Roman" panose="02020603050405020304" pitchFamily="18" charset="0"/>
              </a:rPr>
              <a:t>thái</a:t>
            </a:r>
            <a:r>
              <a:rPr lang="en-US" dirty="0">
                <a:latin typeface="Times New Roman" panose="02020603050405020304" pitchFamily="18" charset="0"/>
              </a:rPr>
              <a:t> </a:t>
            </a:r>
            <a:r>
              <a:rPr lang="en-US" dirty="0" err="1">
                <a:latin typeface="Times New Roman" panose="02020603050405020304" pitchFamily="18" charset="0"/>
              </a:rPr>
              <a:t>độ</a:t>
            </a:r>
            <a:r>
              <a:rPr lang="en-US" dirty="0">
                <a:latin typeface="Times New Roman" panose="02020603050405020304" pitchFamily="18" charset="0"/>
              </a:rPr>
              <a:t> </a:t>
            </a:r>
            <a:r>
              <a:rPr lang="en-US" dirty="0" err="1">
                <a:latin typeface="Times New Roman" panose="02020603050405020304" pitchFamily="18" charset="0"/>
              </a:rPr>
              <a:t>bảo</a:t>
            </a:r>
            <a:r>
              <a:rPr lang="en-US" dirty="0">
                <a:latin typeface="Times New Roman" panose="02020603050405020304" pitchFamily="18" charset="0"/>
              </a:rPr>
              <a:t> </a:t>
            </a:r>
            <a:r>
              <a:rPr lang="en-US" dirty="0" err="1">
                <a:latin typeface="Times New Roman" panose="02020603050405020304" pitchFamily="18" charset="0"/>
              </a:rPr>
              <a:t>thủ</a:t>
            </a:r>
            <a:r>
              <a:rPr lang="en-US" dirty="0">
                <a:latin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endParaRPr lang="en-US" dirty="0">
              <a:latin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33165"/>
            <a:ext cx="10515600" cy="781229"/>
          </a:xfrm>
        </p:spPr>
        <p:txBody>
          <a:bodyPr>
            <a:normAutofit/>
          </a:bodyPr>
          <a:lstStyle/>
          <a:p>
            <a:r>
              <a:rPr lang="en-US" sz="3200" b="1" dirty="0">
                <a:solidFill>
                  <a:srgbClr val="002060"/>
                </a:solidFill>
                <a:latin typeface="Times New Roman" panose="02020603050405020304" pitchFamily="18" charset="0"/>
                <a:cs typeface="Times New Roman" panose="02020603050405020304" pitchFamily="18" charset="0"/>
                <a:sym typeface="+mn-ea"/>
              </a:rPr>
              <a:t>III. LÝ LUẬN NHẬN THỨC</a:t>
            </a:r>
            <a:endParaRPr lang="en-US" sz="3200" dirty="0">
              <a:solidFill>
                <a:srgbClr val="00206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99457"/>
            <a:ext cx="10515600" cy="5077506"/>
          </a:xfrm>
        </p:spPr>
        <p:txBody>
          <a:bodyPr>
            <a:normAutofit/>
          </a:bodyPr>
          <a:lstStyle/>
          <a:p>
            <a:pPr marL="457200" indent="-457200" algn="just">
              <a:buAutoNum type="arabicPeriod"/>
            </a:pPr>
            <a:r>
              <a:rPr lang="vi-VN" sz="2000" b="1" dirty="0">
                <a:solidFill>
                  <a:srgbClr val="FF0000"/>
                </a:solidFill>
                <a:latin typeface="Times New Roman" panose="02020603050405020304" pitchFamily="18" charset="0"/>
                <a:cs typeface="Times New Roman" panose="02020603050405020304" pitchFamily="18" charset="0"/>
              </a:rPr>
              <a:t>Bản chất của nhận thức và vai trò của thực tiễn đối với nhận thức</a:t>
            </a:r>
            <a:endParaRPr lang="vi-VN" sz="2000" b="1" dirty="0">
              <a:solidFill>
                <a:srgbClr val="FF0000"/>
              </a:solidFill>
              <a:latin typeface="Times New Roman" panose="02020603050405020304" pitchFamily="18" charset="0"/>
              <a:cs typeface="Times New Roman" panose="02020603050405020304" pitchFamily="18" charset="0"/>
            </a:endParaRPr>
          </a:p>
          <a:p>
            <a:pPr marL="457200" indent="-457200" algn="just">
              <a:buAutoNum type="alphaLcPeriod"/>
            </a:pPr>
            <a:r>
              <a:rPr lang="vi-VN" sz="2000" b="1" dirty="0">
                <a:solidFill>
                  <a:srgbClr val="FF0000"/>
                </a:solidFill>
                <a:latin typeface="Times New Roman" panose="02020603050405020304" pitchFamily="18" charset="0"/>
                <a:cs typeface="Times New Roman" panose="02020603050405020304" pitchFamily="18" charset="0"/>
              </a:rPr>
              <a:t>Bản chất của nhận thức </a:t>
            </a:r>
            <a:endParaRPr lang="vi-VN" sz="2000" b="1"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vi-VN" sz="2000" dirty="0">
                <a:latin typeface="Times New Roman" panose="02020603050405020304" pitchFamily="18" charset="0"/>
                <a:cs typeface="Times New Roman" panose="02020603050405020304" pitchFamily="18" charset="0"/>
              </a:rPr>
              <a:t>Quan niệm về nhận thức của các trào lưu triết học trước Mac</a:t>
            </a:r>
            <a:endParaRPr lang="vi-VN"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4" name="Rectangle 3"/>
          <p:cNvSpPr/>
          <p:nvPr/>
        </p:nvSpPr>
        <p:spPr>
          <a:xfrm>
            <a:off x="1317171" y="2699658"/>
            <a:ext cx="1034143" cy="1371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Quan niệm của CNDT</a:t>
            </a:r>
            <a:endParaRPr lang="en-US" dirty="0">
              <a:latin typeface="Times New Roman" panose="02020603050405020304" pitchFamily="18" charset="0"/>
              <a:cs typeface="Times New Roman" panose="02020603050405020304" pitchFamily="18" charset="0"/>
            </a:endParaRPr>
          </a:p>
        </p:txBody>
      </p:sp>
      <p:sp>
        <p:nvSpPr>
          <p:cNvPr id="5" name="Rectangle 4"/>
          <p:cNvSpPr/>
          <p:nvPr/>
        </p:nvSpPr>
        <p:spPr>
          <a:xfrm>
            <a:off x="2830285" y="2329544"/>
            <a:ext cx="1360715" cy="7402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CNDT khách quan</a:t>
            </a: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2830285" y="3516081"/>
            <a:ext cx="1360715" cy="7402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CNDT chủ quan</a:t>
            </a:r>
            <a:endParaRPr lang="en-US"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4191000" y="2329542"/>
            <a:ext cx="3810002" cy="74022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Nhận thức là sự “hồi tưởng lại” của linh hồn bất tử</a:t>
            </a:r>
            <a:endParaRPr lang="en-US" dirty="0"/>
          </a:p>
        </p:txBody>
      </p:sp>
      <p:sp>
        <p:nvSpPr>
          <p:cNvPr id="8" name="Rectangle: Rounded Corners 7"/>
          <p:cNvSpPr/>
          <p:nvPr/>
        </p:nvSpPr>
        <p:spPr>
          <a:xfrm>
            <a:off x="4191000" y="3516081"/>
            <a:ext cx="3810002" cy="74022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Nhận thức chỉ là sự phức hợp những cảm giác của con người</a:t>
            </a:r>
            <a:endParaRPr lang="en-US" dirty="0">
              <a:latin typeface="Times New Roman" panose="02020603050405020304" pitchFamily="18" charset="0"/>
              <a:cs typeface="Times New Roman" panose="02020603050405020304" pitchFamily="18" charset="0"/>
            </a:endParaRPr>
          </a:p>
        </p:txBody>
      </p:sp>
      <p:sp>
        <p:nvSpPr>
          <p:cNvPr id="13" name="Rectangle: Rounded Corners 12"/>
          <p:cNvSpPr/>
          <p:nvPr/>
        </p:nvSpPr>
        <p:spPr>
          <a:xfrm>
            <a:off x="1317171" y="4517570"/>
            <a:ext cx="9470572" cy="740228"/>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Những người theo thuyết hoài nghi, Nghi ngờ khả năng nhận thức của con người, tuy còn hạn chế nhưng có yếu tố tích cực</a:t>
            </a:r>
            <a:endParaRPr lang="en-US" dirty="0">
              <a:latin typeface="Times New Roman" panose="02020603050405020304" pitchFamily="18" charset="0"/>
              <a:cs typeface="Times New Roman" panose="02020603050405020304" pitchFamily="18" charset="0"/>
            </a:endParaRPr>
          </a:p>
        </p:txBody>
      </p:sp>
      <p:cxnSp>
        <p:nvCxnSpPr>
          <p:cNvPr id="15" name="Straight Arrow Connector 14"/>
          <p:cNvCxnSpPr>
            <a:stCxn id="4" idx="3"/>
            <a:endCxn id="5" idx="1"/>
          </p:cNvCxnSpPr>
          <p:nvPr/>
        </p:nvCxnSpPr>
        <p:spPr>
          <a:xfrm flipV="1">
            <a:off x="2351314" y="2699658"/>
            <a:ext cx="478971" cy="68580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p:cNvCxnSpPr>
            <a:stCxn id="4" idx="3"/>
            <a:endCxn id="6" idx="1"/>
          </p:cNvCxnSpPr>
          <p:nvPr/>
        </p:nvCxnSpPr>
        <p:spPr>
          <a:xfrm>
            <a:off x="2351314" y="3385458"/>
            <a:ext cx="478971" cy="50073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9" name="Rectangle: Rounded Corners 18"/>
          <p:cNvSpPr/>
          <p:nvPr/>
        </p:nvSpPr>
        <p:spPr>
          <a:xfrm>
            <a:off x="2830285" y="5519060"/>
            <a:ext cx="8697686" cy="102801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dirty="0">
                <a:latin typeface="Times New Roman" panose="02020603050405020304" pitchFamily="18" charset="0"/>
                <a:cs typeface="Times New Roman" panose="02020603050405020304" pitchFamily="18" charset="0"/>
              </a:rPr>
              <a:t>CNDV thừa nhận khả năng nhận thức được thế giới của con người, coi nhận thức là sự phản ánh hiện thực khách quan vào trong đầu óc của con người.</a:t>
            </a: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4" name="Title 3"/>
          <p:cNvSpPr>
            <a:spLocks noGrp="1"/>
          </p:cNvSpPr>
          <p:nvPr>
            <p:ph type="title"/>
          </p:nvPr>
        </p:nvSpPr>
        <p:spPr>
          <a:xfrm>
            <a:off x="838200" y="365125"/>
            <a:ext cx="10515600" cy="654095"/>
          </a:xfrm>
        </p:spPr>
        <p:txBody>
          <a:bodyPr>
            <a:normAutofit fontScale="90000"/>
          </a:bodyPr>
          <a:lstStyle/>
          <a:p>
            <a:pPr algn="l"/>
            <a:br>
              <a:rPr lang="en-US" sz="3200" b="1" dirty="0">
                <a:latin typeface="Times New Roman" panose="02020603050405020304" pitchFamily="18" charset="0"/>
                <a:cs typeface="Times New Roman" panose="02020603050405020304" pitchFamily="18" charset="0"/>
                <a:sym typeface="+mn-ea"/>
              </a:rPr>
            </a:br>
            <a:br>
              <a:rPr lang="vi-VN" sz="3200" b="1" dirty="0">
                <a:latin typeface="Times New Roman" panose="02020603050405020304" pitchFamily="18" charset="0"/>
                <a:cs typeface="Times New Roman" panose="02020603050405020304" pitchFamily="18" charset="0"/>
                <a:sym typeface="+mn-ea"/>
              </a:rPr>
            </a:br>
            <a:r>
              <a:rPr lang="vi-VN" sz="3200" b="1" dirty="0">
                <a:latin typeface="Times New Roman" panose="02020603050405020304" pitchFamily="18" charset="0"/>
                <a:cs typeface="Times New Roman" panose="02020603050405020304" pitchFamily="18" charset="0"/>
                <a:sym typeface="+mn-ea"/>
              </a:rPr>
              <a:t>b. Quan niệm về bản chất nhận thức  của CN DVBC</a:t>
            </a:r>
            <a:br>
              <a:rPr lang="vi-VN" sz="3200" b="1" dirty="0">
                <a:latin typeface="Times New Roman" panose="02020603050405020304" pitchFamily="18" charset="0"/>
                <a:cs typeface="Times New Roman" panose="02020603050405020304" pitchFamily="18" charset="0"/>
                <a:sym typeface="+mn-ea"/>
              </a:rPr>
            </a:br>
            <a:br>
              <a:rPr lang="vi-VN" sz="3200" b="1" dirty="0">
                <a:latin typeface="Times New Roman" panose="02020603050405020304" pitchFamily="18" charset="0"/>
                <a:cs typeface="Times New Roman" panose="02020603050405020304" pitchFamily="18" charset="0"/>
                <a:sym typeface="+mn-ea"/>
              </a:rPr>
            </a:br>
            <a:endParaRPr lang="en-US" sz="3200" dirty="0">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838200" y="1130300"/>
            <a:ext cx="10515600" cy="5046980"/>
          </a:xfrm>
        </p:spPr>
        <p:txBody>
          <a:bodyPr/>
          <a:lstStyle/>
          <a:p>
            <a:pPr marL="0" indent="0">
              <a:buNone/>
            </a:pPr>
            <a:endParaRPr lang="en-US" dirty="0">
              <a:latin typeface="Times New Roman" panose="02020603050405020304" pitchFamily="18" charset="0"/>
              <a:cs typeface="Times New Roman" panose="02020603050405020304" pitchFamily="18" charset="0"/>
            </a:endParaRPr>
          </a:p>
        </p:txBody>
      </p:sp>
      <p:sp>
        <p:nvSpPr>
          <p:cNvPr id="2" name="Rectangle 1"/>
          <p:cNvSpPr/>
          <p:nvPr/>
        </p:nvSpPr>
        <p:spPr>
          <a:xfrm>
            <a:off x="1284514" y="1701211"/>
            <a:ext cx="1665515" cy="2805476"/>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vi-VN" dirty="0">
                <a:latin typeface="Times New Roman" panose="02020603050405020304" pitchFamily="18" charset="0"/>
                <a:cs typeface="Times New Roman" panose="02020603050405020304" pitchFamily="18" charset="0"/>
              </a:rPr>
              <a:t>C. Mac và Lênin đã xây dựng nên học thuyết về nhận thức</a:t>
            </a:r>
            <a:endParaRPr lang="en-US" dirty="0">
              <a:latin typeface="Times New Roman" panose="02020603050405020304" pitchFamily="18" charset="0"/>
              <a:cs typeface="Times New Roman" panose="02020603050405020304" pitchFamily="18" charset="0"/>
            </a:endParaRPr>
          </a:p>
        </p:txBody>
      </p:sp>
      <p:sp>
        <p:nvSpPr>
          <p:cNvPr id="3" name="Rectangle: Rounded Corners 2"/>
          <p:cNvSpPr/>
          <p:nvPr/>
        </p:nvSpPr>
        <p:spPr>
          <a:xfrm>
            <a:off x="3820886" y="1019221"/>
            <a:ext cx="5290457" cy="91249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vi-VN" dirty="0">
              <a:latin typeface="Times New Roman" panose="02020603050405020304" pitchFamily="18" charset="0"/>
              <a:cs typeface="Times New Roman" panose="02020603050405020304" pitchFamily="18" charset="0"/>
            </a:endParaRPr>
          </a:p>
          <a:p>
            <a:pPr algn="just"/>
            <a:r>
              <a:rPr lang="vi-VN" sz="2000" dirty="0">
                <a:latin typeface="Times New Roman" panose="02020603050405020304" pitchFamily="18" charset="0"/>
                <a:cs typeface="Times New Roman" panose="02020603050405020304" pitchFamily="18" charset="0"/>
              </a:rPr>
              <a:t>- Khẳng định khả năng nhận thức thế giới của con người</a:t>
            </a:r>
            <a:endParaRPr lang="en-US" dirty="0">
              <a:latin typeface="Times New Roman" panose="02020603050405020304" pitchFamily="18" charset="0"/>
              <a:cs typeface="Times New Roman" panose="02020603050405020304" pitchFamily="18" charset="0"/>
            </a:endParaRPr>
          </a:p>
        </p:txBody>
      </p:sp>
      <p:sp>
        <p:nvSpPr>
          <p:cNvPr id="6" name="Rectangle: Rounded Corners 5"/>
          <p:cNvSpPr/>
          <p:nvPr/>
        </p:nvSpPr>
        <p:spPr>
          <a:xfrm>
            <a:off x="3820886" y="2042795"/>
            <a:ext cx="5627914" cy="945264"/>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sz="2000" dirty="0">
                <a:latin typeface="Times New Roman" panose="02020603050405020304" pitchFamily="18" charset="0"/>
                <a:cs typeface="Times New Roman" panose="02020603050405020304" pitchFamily="18" charset="0"/>
              </a:rPr>
              <a:t>- Nhận thức là sự phản ánh hiện thực khách quan vào bộ óc người</a:t>
            </a:r>
            <a:endParaRPr lang="en-US" sz="3200" dirty="0">
              <a:latin typeface="Times New Roman" panose="02020603050405020304" pitchFamily="18" charset="0"/>
              <a:cs typeface="Times New Roman" panose="02020603050405020304" pitchFamily="18" charset="0"/>
            </a:endParaRPr>
          </a:p>
        </p:txBody>
      </p:sp>
      <p:sp>
        <p:nvSpPr>
          <p:cNvPr id="7" name="Rectangle: Rounded Corners 6"/>
          <p:cNvSpPr/>
          <p:nvPr/>
        </p:nvSpPr>
        <p:spPr>
          <a:xfrm>
            <a:off x="3820886" y="3099139"/>
            <a:ext cx="5627914" cy="91730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endParaRPr lang="vi-VN" dirty="0">
              <a:latin typeface="Times New Roman" panose="02020603050405020304" pitchFamily="18" charset="0"/>
              <a:cs typeface="Times New Roman" panose="02020603050405020304" pitchFamily="18" charset="0"/>
            </a:endParaRPr>
          </a:p>
          <a:p>
            <a:pPr marL="285750" indent="-285750" algn="just">
              <a:buFontTx/>
              <a:buChar char="-"/>
            </a:pPr>
            <a:r>
              <a:rPr lang="vi-VN" sz="2000" dirty="0">
                <a:latin typeface="Times New Roman" panose="02020603050405020304" pitchFamily="18" charset="0"/>
                <a:cs typeface="Times New Roman" panose="02020603050405020304" pitchFamily="18" charset="0"/>
              </a:rPr>
              <a:t>Nhận thức là quá trình biện chứng có vận động và phát triển</a:t>
            </a:r>
            <a:endParaRPr lang="vi-VN" sz="2000" dirty="0">
              <a:latin typeface="Times New Roman" panose="02020603050405020304" pitchFamily="18" charset="0"/>
              <a:cs typeface="Times New Roman" panose="02020603050405020304" pitchFamily="18" charset="0"/>
            </a:endParaRPr>
          </a:p>
          <a:p>
            <a:pPr marL="285750" indent="-285750" algn="just">
              <a:buFontTx/>
              <a:buChar char="-"/>
            </a:pPr>
            <a:endParaRPr lang="en-US" dirty="0">
              <a:latin typeface="Times New Roman" panose="02020603050405020304" pitchFamily="18" charset="0"/>
              <a:cs typeface="Times New Roman" panose="02020603050405020304" pitchFamily="18" charset="0"/>
            </a:endParaRPr>
          </a:p>
        </p:txBody>
      </p:sp>
      <p:sp>
        <p:nvSpPr>
          <p:cNvPr id="8" name="Rectangle: Rounded Corners 7"/>
          <p:cNvSpPr/>
          <p:nvPr/>
        </p:nvSpPr>
        <p:spPr>
          <a:xfrm>
            <a:off x="3820886" y="4143907"/>
            <a:ext cx="7532914" cy="912497"/>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pPr>
            <a:r>
              <a:rPr lang="vi-VN" altLang="en-US" sz="2000" dirty="0">
                <a:latin typeface="Times New Roman" panose="02020603050405020304" pitchFamily="18" charset="0"/>
                <a:cs typeface="Times New Roman" panose="02020603050405020304" pitchFamily="18" charset="0"/>
              </a:rPr>
              <a:t> </a:t>
            </a:r>
            <a:r>
              <a:rPr lang="vi-VN" sz="2000" dirty="0">
                <a:latin typeface="Times New Roman" panose="02020603050405020304" pitchFamily="18" charset="0"/>
                <a:cs typeface="Times New Roman" panose="02020603050405020304" pitchFamily="18" charset="0"/>
              </a:rPr>
              <a:t>Nhận thức là quá trình tác động biện chứng giữa chủ thể và khách thể</a:t>
            </a:r>
            <a:endParaRPr lang="en-US" altLang="en-US" sz="2000" dirty="0">
              <a:latin typeface="Times New Roman" panose="02020603050405020304" pitchFamily="18" charset="0"/>
              <a:cs typeface="Times New Roman" panose="02020603050405020304" pitchFamily="18" charset="0"/>
            </a:endParaRPr>
          </a:p>
        </p:txBody>
      </p:sp>
      <p:cxnSp>
        <p:nvCxnSpPr>
          <p:cNvPr id="10" name="Straight Arrow Connector 9"/>
          <p:cNvCxnSpPr>
            <a:stCxn id="2" idx="3"/>
            <a:endCxn id="3" idx="1"/>
          </p:cNvCxnSpPr>
          <p:nvPr/>
        </p:nvCxnSpPr>
        <p:spPr>
          <a:xfrm flipV="1">
            <a:off x="2950029" y="1475469"/>
            <a:ext cx="870857" cy="162848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2" idx="3"/>
            <a:endCxn id="6" idx="1"/>
          </p:cNvCxnSpPr>
          <p:nvPr/>
        </p:nvCxnSpPr>
        <p:spPr>
          <a:xfrm flipV="1">
            <a:off x="2950029" y="2515427"/>
            <a:ext cx="870857" cy="588522"/>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p:cNvCxnSpPr>
            <a:stCxn id="2" idx="3"/>
            <a:endCxn id="7" idx="1"/>
          </p:cNvCxnSpPr>
          <p:nvPr/>
        </p:nvCxnSpPr>
        <p:spPr>
          <a:xfrm>
            <a:off x="2950029" y="3103949"/>
            <a:ext cx="870857" cy="45384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35" name="Straight Arrow Connector 34"/>
          <p:cNvCxnSpPr>
            <a:stCxn id="2" idx="3"/>
            <a:endCxn id="8" idx="1"/>
          </p:cNvCxnSpPr>
          <p:nvPr/>
        </p:nvCxnSpPr>
        <p:spPr>
          <a:xfrm>
            <a:off x="2950029" y="3103949"/>
            <a:ext cx="870857" cy="149620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6" name="Rectangle 35"/>
          <p:cNvSpPr/>
          <p:nvPr/>
        </p:nvSpPr>
        <p:spPr>
          <a:xfrm>
            <a:off x="1284514" y="5546646"/>
            <a:ext cx="8948057" cy="97580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Ø"/>
            </a:pPr>
            <a:r>
              <a:rPr lang="vi-VN" sz="2000" i="1" dirty="0">
                <a:latin typeface="Times New Roman" panose="02020603050405020304" pitchFamily="18" charset="0"/>
                <a:cs typeface="Times New Roman" panose="02020603050405020304" pitchFamily="18" charset="0"/>
              </a:rPr>
              <a:t>Về bản chất, nhận thức là quá trình phản ánh tích cực, tự giác và sáng tạo thế giới khách quan vào bộ óc người trên cơ sở thực tiễn</a:t>
            </a:r>
            <a:endParaRPr lang="en-US" sz="2000"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886732"/>
          </a:xfrm>
        </p:spPr>
        <p:txBody>
          <a:bodyPr>
            <a:normAutofit/>
          </a:bodyPr>
          <a:lstStyle/>
          <a:p>
            <a:pPr algn="just"/>
            <a:r>
              <a:rPr lang="vi-VN" sz="3200" b="1" dirty="0">
                <a:latin typeface="Times New Roman" panose="02020603050405020304" pitchFamily="18" charset="0"/>
                <a:cs typeface="Times New Roman" panose="02020603050405020304" pitchFamily="18" charset="0"/>
              </a:rPr>
              <a:t>2. Thực tiễn và vai trò của thực tiễn đối với nhận thức</a:t>
            </a:r>
            <a:endParaRPr lang="en-US" sz="32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251858"/>
            <a:ext cx="10515600" cy="4925105"/>
          </a:xfrm>
        </p:spPr>
        <p:txBody>
          <a:bodyPr>
            <a:normAutofit/>
          </a:bodyPr>
          <a:lstStyle/>
          <a:p>
            <a:pPr marL="457200" indent="-457200" algn="just">
              <a:buAutoNum type="alphaLcPeriod"/>
            </a:pPr>
            <a:r>
              <a:rPr lang="vi-VN" sz="2400" b="1" dirty="0">
                <a:latin typeface="Times New Roman" panose="02020603050405020304" pitchFamily="18" charset="0"/>
                <a:cs typeface="Times New Roman" panose="02020603050405020304" pitchFamily="18" charset="0"/>
              </a:rPr>
              <a:t>Phạm trù thực tiễn</a:t>
            </a:r>
            <a:endParaRPr lang="vi-VN" sz="2400" b="1" dirty="0">
              <a:latin typeface="Times New Roman" panose="02020603050405020304" pitchFamily="18" charset="0"/>
              <a:cs typeface="Times New Roman" panose="02020603050405020304" pitchFamily="18" charset="0"/>
            </a:endParaRPr>
          </a:p>
          <a:p>
            <a:pPr algn="just">
              <a:buFontTx/>
              <a:buChar char="-"/>
            </a:pPr>
            <a:r>
              <a:rPr lang="en-US" altLang="en-US" i="1" dirty="0" err="1">
                <a:latin typeface="Times New Roman" panose="02020603050405020304" pitchFamily="18" charset="0"/>
              </a:rPr>
              <a:t>Thực</a:t>
            </a:r>
            <a:r>
              <a:rPr lang="en-US" altLang="en-US" i="1" dirty="0">
                <a:latin typeface="Times New Roman" panose="02020603050405020304" pitchFamily="18" charset="0"/>
              </a:rPr>
              <a:t> </a:t>
            </a:r>
            <a:r>
              <a:rPr lang="en-US" altLang="en-US" i="1" dirty="0" err="1">
                <a:latin typeface="Times New Roman" panose="02020603050405020304" pitchFamily="18" charset="0"/>
              </a:rPr>
              <a:t>tiễn</a:t>
            </a:r>
            <a:r>
              <a:rPr lang="en-US" altLang="en-US" dirty="0">
                <a:latin typeface="Times New Roman" panose="02020603050405020304" pitchFamily="18" charset="0"/>
              </a:rPr>
              <a:t> </a:t>
            </a:r>
            <a:r>
              <a:rPr lang="en-US" altLang="en-US" i="1" dirty="0" err="1">
                <a:latin typeface="Times New Roman" panose="02020603050405020304" pitchFamily="18" charset="0"/>
              </a:rPr>
              <a:t>là</a:t>
            </a:r>
            <a:r>
              <a:rPr lang="en-US" altLang="en-US" i="1" dirty="0">
                <a:latin typeface="Times New Roman" panose="02020603050405020304" pitchFamily="18" charset="0"/>
              </a:rPr>
              <a:t> </a:t>
            </a:r>
            <a:r>
              <a:rPr lang="en-US" altLang="en-US" i="1" dirty="0" err="1">
                <a:latin typeface="Times New Roman" panose="02020603050405020304" pitchFamily="18" charset="0"/>
              </a:rPr>
              <a:t>toàn</a:t>
            </a:r>
            <a:r>
              <a:rPr lang="en-US" altLang="en-US" i="1" dirty="0">
                <a:latin typeface="Times New Roman" panose="02020603050405020304" pitchFamily="18" charset="0"/>
              </a:rPr>
              <a:t> </a:t>
            </a:r>
            <a:r>
              <a:rPr lang="en-US" altLang="en-US" i="1" dirty="0" err="1">
                <a:latin typeface="Times New Roman" panose="02020603050405020304" pitchFamily="18" charset="0"/>
              </a:rPr>
              <a:t>bộ</a:t>
            </a:r>
            <a:r>
              <a:rPr lang="en-US" altLang="en-US" i="1" dirty="0">
                <a:latin typeface="Times New Roman" panose="02020603050405020304" pitchFamily="18" charset="0"/>
              </a:rPr>
              <a:t> </a:t>
            </a:r>
            <a:r>
              <a:rPr lang="en-US" altLang="en-US" i="1" dirty="0" err="1">
                <a:latin typeface="Times New Roman" panose="02020603050405020304" pitchFamily="18" charset="0"/>
              </a:rPr>
              <a:t>hoạt</a:t>
            </a:r>
            <a:r>
              <a:rPr lang="en-US" altLang="en-US" i="1" dirty="0">
                <a:latin typeface="Times New Roman" panose="02020603050405020304" pitchFamily="18" charset="0"/>
              </a:rPr>
              <a:t> </a:t>
            </a:r>
            <a:r>
              <a:rPr lang="en-US" altLang="en-US" i="1" dirty="0" err="1">
                <a:latin typeface="Times New Roman" panose="02020603050405020304" pitchFamily="18" charset="0"/>
              </a:rPr>
              <a:t>động</a:t>
            </a:r>
            <a:r>
              <a:rPr lang="en-US" altLang="en-US" i="1" dirty="0">
                <a:latin typeface="Times New Roman" panose="02020603050405020304" pitchFamily="18" charset="0"/>
              </a:rPr>
              <a:t> </a:t>
            </a:r>
            <a:r>
              <a:rPr lang="en-US" altLang="en-US" i="1" dirty="0" err="1">
                <a:latin typeface="Times New Roman" panose="02020603050405020304" pitchFamily="18" charset="0"/>
              </a:rPr>
              <a:t>vật</a:t>
            </a:r>
            <a:r>
              <a:rPr lang="en-US" altLang="en-US" i="1" dirty="0">
                <a:latin typeface="Times New Roman" panose="02020603050405020304" pitchFamily="18" charset="0"/>
              </a:rPr>
              <a:t> </a:t>
            </a:r>
            <a:r>
              <a:rPr lang="en-US" altLang="en-US" i="1" dirty="0" err="1">
                <a:latin typeface="Times New Roman" panose="02020603050405020304" pitchFamily="18" charset="0"/>
              </a:rPr>
              <a:t>chất</a:t>
            </a:r>
            <a:r>
              <a:rPr lang="en-US" altLang="en-US" i="1" dirty="0">
                <a:latin typeface="Times New Roman" panose="02020603050405020304" pitchFamily="18" charset="0"/>
              </a:rPr>
              <a:t> </a:t>
            </a:r>
            <a:r>
              <a:rPr lang="en-US" altLang="en-US" i="1" dirty="0" err="1">
                <a:latin typeface="Times New Roman" panose="02020603050405020304" pitchFamily="18" charset="0"/>
              </a:rPr>
              <a:t>có</a:t>
            </a:r>
            <a:r>
              <a:rPr lang="en-US" altLang="en-US" i="1" dirty="0">
                <a:latin typeface="Times New Roman" panose="02020603050405020304" pitchFamily="18" charset="0"/>
              </a:rPr>
              <a:t> </a:t>
            </a:r>
            <a:r>
              <a:rPr lang="en-US" altLang="en-US" i="1" dirty="0" err="1">
                <a:latin typeface="Times New Roman" panose="02020603050405020304" pitchFamily="18" charset="0"/>
              </a:rPr>
              <a:t>mục</a:t>
            </a:r>
            <a:r>
              <a:rPr lang="en-US" altLang="en-US" i="1" dirty="0">
                <a:latin typeface="Times New Roman" panose="02020603050405020304" pitchFamily="18" charset="0"/>
              </a:rPr>
              <a:t> </a:t>
            </a:r>
            <a:r>
              <a:rPr lang="en-US" altLang="en-US" i="1" dirty="0" err="1">
                <a:latin typeface="Times New Roman" panose="02020603050405020304" pitchFamily="18" charset="0"/>
              </a:rPr>
              <a:t>đích</a:t>
            </a:r>
            <a:r>
              <a:rPr lang="en-US" altLang="en-US" i="1" dirty="0">
                <a:latin typeface="Times New Roman" panose="02020603050405020304" pitchFamily="18" charset="0"/>
              </a:rPr>
              <a:t>, </a:t>
            </a:r>
            <a:r>
              <a:rPr lang="en-US" altLang="en-US" i="1" dirty="0" err="1">
                <a:latin typeface="Times New Roman" panose="02020603050405020304" pitchFamily="18" charset="0"/>
              </a:rPr>
              <a:t>mang</a:t>
            </a:r>
            <a:r>
              <a:rPr lang="en-US" altLang="en-US" i="1" dirty="0">
                <a:latin typeface="Times New Roman" panose="02020603050405020304" pitchFamily="18" charset="0"/>
              </a:rPr>
              <a:t> </a:t>
            </a:r>
            <a:r>
              <a:rPr lang="en-US" altLang="en-US" i="1" dirty="0" err="1">
                <a:latin typeface="Times New Roman" panose="02020603050405020304" pitchFamily="18" charset="0"/>
              </a:rPr>
              <a:t>tính</a:t>
            </a:r>
            <a:r>
              <a:rPr lang="en-US" altLang="en-US" i="1" dirty="0">
                <a:latin typeface="Times New Roman" panose="02020603050405020304" pitchFamily="18" charset="0"/>
              </a:rPr>
              <a:t> </a:t>
            </a:r>
            <a:r>
              <a:rPr lang="en-US" altLang="en-US" i="1" dirty="0" err="1">
                <a:latin typeface="Times New Roman" panose="02020603050405020304" pitchFamily="18" charset="0"/>
              </a:rPr>
              <a:t>lịch</a:t>
            </a:r>
            <a:r>
              <a:rPr lang="en-US" altLang="en-US" i="1" dirty="0">
                <a:latin typeface="Times New Roman" panose="02020603050405020304" pitchFamily="18" charset="0"/>
              </a:rPr>
              <a:t> </a:t>
            </a:r>
            <a:r>
              <a:rPr lang="en-US" altLang="en-US" i="1" dirty="0" err="1">
                <a:latin typeface="Times New Roman" panose="02020603050405020304" pitchFamily="18" charset="0"/>
              </a:rPr>
              <a:t>sử</a:t>
            </a:r>
            <a:r>
              <a:rPr lang="en-US" altLang="en-US" i="1" dirty="0">
                <a:latin typeface="Times New Roman" panose="02020603050405020304" pitchFamily="18" charset="0"/>
              </a:rPr>
              <a:t> - </a:t>
            </a:r>
            <a:r>
              <a:rPr lang="en-US" altLang="en-US" i="1" dirty="0" err="1">
                <a:latin typeface="Times New Roman" panose="02020603050405020304" pitchFamily="18" charset="0"/>
              </a:rPr>
              <a:t>xã</a:t>
            </a:r>
            <a:r>
              <a:rPr lang="en-US" altLang="en-US" i="1" dirty="0">
                <a:latin typeface="Times New Roman" panose="02020603050405020304" pitchFamily="18" charset="0"/>
              </a:rPr>
              <a:t> </a:t>
            </a:r>
            <a:r>
              <a:rPr lang="en-US" altLang="en-US" i="1" dirty="0" err="1">
                <a:latin typeface="Times New Roman" panose="02020603050405020304" pitchFamily="18" charset="0"/>
              </a:rPr>
              <a:t>hội</a:t>
            </a:r>
            <a:r>
              <a:rPr lang="en-US" altLang="en-US" i="1" dirty="0">
                <a:latin typeface="Times New Roman" panose="02020603050405020304" pitchFamily="18" charset="0"/>
              </a:rPr>
              <a:t> </a:t>
            </a:r>
            <a:r>
              <a:rPr lang="en-US" altLang="en-US" i="1" dirty="0" err="1">
                <a:latin typeface="Times New Roman" panose="02020603050405020304" pitchFamily="18" charset="0"/>
              </a:rPr>
              <a:t>của</a:t>
            </a:r>
            <a:r>
              <a:rPr lang="en-US" altLang="en-US" i="1" dirty="0">
                <a:latin typeface="Times New Roman" panose="02020603050405020304" pitchFamily="18" charset="0"/>
              </a:rPr>
              <a:t> con </a:t>
            </a:r>
            <a:r>
              <a:rPr lang="en-US" altLang="en-US" i="1" dirty="0" err="1">
                <a:latin typeface="Times New Roman" panose="02020603050405020304" pitchFamily="18" charset="0"/>
              </a:rPr>
              <a:t>người</a:t>
            </a:r>
            <a:r>
              <a:rPr lang="en-US" altLang="en-US" i="1" dirty="0">
                <a:latin typeface="Times New Roman" panose="02020603050405020304" pitchFamily="18" charset="0"/>
              </a:rPr>
              <a:t> </a:t>
            </a:r>
            <a:r>
              <a:rPr lang="en-US" altLang="en-US" i="1" dirty="0" err="1">
                <a:latin typeface="Times New Roman" panose="02020603050405020304" pitchFamily="18" charset="0"/>
              </a:rPr>
              <a:t>nhằm</a:t>
            </a:r>
            <a:r>
              <a:rPr lang="en-US" altLang="en-US" i="1" dirty="0">
                <a:latin typeface="Times New Roman" panose="02020603050405020304" pitchFamily="18" charset="0"/>
              </a:rPr>
              <a:t> </a:t>
            </a:r>
            <a:r>
              <a:rPr lang="en-US" altLang="en-US" i="1" dirty="0" err="1">
                <a:latin typeface="Times New Roman" panose="02020603050405020304" pitchFamily="18" charset="0"/>
              </a:rPr>
              <a:t>cải</a:t>
            </a:r>
            <a:r>
              <a:rPr lang="en-US" altLang="en-US" i="1" dirty="0">
                <a:latin typeface="Times New Roman" panose="02020603050405020304" pitchFamily="18" charset="0"/>
              </a:rPr>
              <a:t> </a:t>
            </a:r>
            <a:r>
              <a:rPr lang="en-US" altLang="en-US" i="1" dirty="0" err="1">
                <a:latin typeface="Times New Roman" panose="02020603050405020304" pitchFamily="18" charset="0"/>
              </a:rPr>
              <a:t>biến</a:t>
            </a:r>
            <a:r>
              <a:rPr lang="en-US" altLang="en-US" i="1" dirty="0">
                <a:latin typeface="Times New Roman" panose="02020603050405020304" pitchFamily="18" charset="0"/>
              </a:rPr>
              <a:t> </a:t>
            </a:r>
            <a:r>
              <a:rPr lang="en-US" altLang="en-US" i="1" dirty="0" err="1">
                <a:latin typeface="Times New Roman" panose="02020603050405020304" pitchFamily="18" charset="0"/>
              </a:rPr>
              <a:t>tự</a:t>
            </a:r>
            <a:r>
              <a:rPr lang="en-US" altLang="en-US" i="1" dirty="0">
                <a:latin typeface="Times New Roman" panose="02020603050405020304" pitchFamily="18" charset="0"/>
              </a:rPr>
              <a:t> </a:t>
            </a:r>
            <a:r>
              <a:rPr lang="en-US" altLang="en-US" i="1" dirty="0" err="1">
                <a:latin typeface="Times New Roman" panose="02020603050405020304" pitchFamily="18" charset="0"/>
              </a:rPr>
              <a:t>nhiên</a:t>
            </a:r>
            <a:r>
              <a:rPr lang="en-US" altLang="en-US" i="1" dirty="0">
                <a:latin typeface="Times New Roman" panose="02020603050405020304" pitchFamily="18" charset="0"/>
              </a:rPr>
              <a:t> </a:t>
            </a:r>
            <a:r>
              <a:rPr lang="en-US" altLang="en-US" i="1" dirty="0" err="1">
                <a:latin typeface="Times New Roman" panose="02020603050405020304" pitchFamily="18" charset="0"/>
              </a:rPr>
              <a:t>và</a:t>
            </a:r>
            <a:r>
              <a:rPr lang="en-US" altLang="en-US" i="1" dirty="0">
                <a:latin typeface="Times New Roman" panose="02020603050405020304" pitchFamily="18" charset="0"/>
              </a:rPr>
              <a:t> </a:t>
            </a:r>
            <a:r>
              <a:rPr lang="en-US" altLang="en-US" i="1" dirty="0" err="1">
                <a:latin typeface="Times New Roman" panose="02020603050405020304" pitchFamily="18" charset="0"/>
              </a:rPr>
              <a:t>xã</a:t>
            </a:r>
            <a:r>
              <a:rPr lang="en-US" altLang="en-US" i="1" dirty="0">
                <a:latin typeface="Times New Roman" panose="02020603050405020304" pitchFamily="18" charset="0"/>
              </a:rPr>
              <a:t> </a:t>
            </a:r>
            <a:r>
              <a:rPr lang="en-US" altLang="en-US" i="1" dirty="0" err="1">
                <a:latin typeface="Times New Roman" panose="02020603050405020304" pitchFamily="18" charset="0"/>
              </a:rPr>
              <a:t>hội</a:t>
            </a:r>
            <a:r>
              <a:rPr lang="en-US" altLang="en-US" dirty="0">
                <a:latin typeface="Times New Roman" panose="02020603050405020304" pitchFamily="18" charset="0"/>
              </a:rPr>
              <a:t>. </a:t>
            </a:r>
            <a:endParaRPr lang="vi-VN" altLang="en-US" dirty="0">
              <a:latin typeface="Times New Roman" panose="02020603050405020304" pitchFamily="18" charset="0"/>
            </a:endParaRPr>
          </a:p>
          <a:p>
            <a:pPr algn="just">
              <a:buFontTx/>
              <a:buChar char="-"/>
            </a:pPr>
            <a:r>
              <a:rPr lang="vi-VN" altLang="en-US" dirty="0">
                <a:latin typeface="Times New Roman" panose="02020603050405020304" pitchFamily="18" charset="0"/>
              </a:rPr>
              <a:t>Các dạng hoạt động thực tiến</a:t>
            </a:r>
            <a:endParaRPr lang="vi-VN" altLang="en-US" dirty="0">
              <a:latin typeface="Times New Roman" panose="02020603050405020304" pitchFamily="18" charset="0"/>
            </a:endParaRPr>
          </a:p>
          <a:p>
            <a:pPr algn="just"/>
            <a:r>
              <a:rPr lang="vi-VN" altLang="en-US" dirty="0">
                <a:latin typeface="Times New Roman" panose="02020603050405020304" pitchFamily="18" charset="0"/>
              </a:rPr>
              <a:t>Hoạt động sản xuất vật chất: Là hình thức hoạt động cơ bản, đầu tiên giúp con người hoàn thiện cả bản tính sinh học và xã hội</a:t>
            </a:r>
            <a:endParaRPr lang="vi-VN" altLang="en-US" dirty="0">
              <a:latin typeface="Times New Roman" panose="02020603050405020304" pitchFamily="18" charset="0"/>
            </a:endParaRPr>
          </a:p>
          <a:p>
            <a:pPr algn="just"/>
            <a:r>
              <a:rPr lang="vi-VN" altLang="en-US" dirty="0">
                <a:latin typeface="Times New Roman" panose="02020603050405020304" pitchFamily="18" charset="0"/>
              </a:rPr>
              <a:t>Hoạt động chính trị xã hội: Nhằm cải biến những mối quan hệ xã hội thúc đẩy xã hội phát triển</a:t>
            </a:r>
            <a:endParaRPr lang="vi-VN" altLang="en-US" dirty="0">
              <a:latin typeface="Times New Roman" panose="02020603050405020304" pitchFamily="18" charset="0"/>
            </a:endParaRPr>
          </a:p>
          <a:p>
            <a:pPr algn="just"/>
            <a:r>
              <a:rPr lang="vi-VN" altLang="en-US" dirty="0">
                <a:latin typeface="Times New Roman" panose="02020603050405020304" pitchFamily="18" charset="0"/>
              </a:rPr>
              <a:t>Hoạt động thực nghiệm khoa học: Là quá trình mô phỏng hiện thực khách quan trong phòng thí nghiệm để hình thành chân lý</a:t>
            </a:r>
            <a:endParaRPr lang="vi-VN" altLang="en-US" dirty="0">
              <a:latin typeface="Times New Roman" panose="02020603050405020304" pitchFamily="18" charset="0"/>
            </a:endParaRPr>
          </a:p>
          <a:p>
            <a:pPr algn="just"/>
            <a:endParaRPr lang="en-US" altLang="en-US" sz="2000" dirty="0">
              <a:latin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687332"/>
          </a:xfrm>
        </p:spPr>
        <p:txBody>
          <a:bodyPr/>
          <a:lstStyle/>
          <a:p>
            <a:endParaRPr lang="en-US" dirty="0"/>
          </a:p>
        </p:txBody>
      </p:sp>
      <p:sp>
        <p:nvSpPr>
          <p:cNvPr id="3" name="Rectangle 2"/>
          <p:cNvSpPr/>
          <p:nvPr/>
        </p:nvSpPr>
        <p:spPr>
          <a:xfrm>
            <a:off x="838200" y="1992087"/>
            <a:ext cx="1828801" cy="197031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ctr">
              <a:buFont typeface="Wingdings" panose="05000000000000000000" pitchFamily="2" charset="2"/>
              <a:buChar char="Ø"/>
            </a:pPr>
            <a:r>
              <a:rPr lang="vi-VN" sz="2400" b="1" dirty="0">
                <a:latin typeface="Times New Roman" panose="02020603050405020304" pitchFamily="18" charset="0"/>
                <a:cs typeface="Times New Roman" panose="02020603050405020304" pitchFamily="18" charset="0"/>
              </a:rPr>
              <a:t>Các đặc trưng của thực tiễn</a:t>
            </a:r>
            <a:endParaRPr lang="en-US" sz="2400" b="1" dirty="0">
              <a:latin typeface="Times New Roman" panose="02020603050405020304" pitchFamily="18" charset="0"/>
              <a:cs typeface="Times New Roman" panose="02020603050405020304" pitchFamily="18" charset="0"/>
            </a:endParaRPr>
          </a:p>
        </p:txBody>
      </p:sp>
      <p:sp>
        <p:nvSpPr>
          <p:cNvPr id="4" name="Rectangle 3"/>
          <p:cNvSpPr/>
          <p:nvPr/>
        </p:nvSpPr>
        <p:spPr>
          <a:xfrm>
            <a:off x="3614056" y="1175657"/>
            <a:ext cx="5606144" cy="1023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pPr>
            <a:r>
              <a:rPr lang="vi-VN" altLang="en-US" dirty="0">
                <a:latin typeface="Times New Roman" panose="02020603050405020304" pitchFamily="18" charset="0"/>
              </a:rPr>
              <a:t> </a:t>
            </a:r>
            <a:r>
              <a:rPr lang="vi-VN" altLang="en-US" sz="2200" dirty="0">
                <a:latin typeface="Times New Roman" panose="02020603050405020304" pitchFamily="18" charset="0"/>
              </a:rPr>
              <a:t>K</a:t>
            </a:r>
            <a:r>
              <a:rPr lang="en-US" altLang="en-US" sz="2200" dirty="0" err="1">
                <a:latin typeface="Times New Roman" panose="02020603050405020304" pitchFamily="18" charset="0"/>
              </a:rPr>
              <a:t>hông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phải</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toàn</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bộ</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hoạt</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động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của</a:t>
            </a:r>
            <a:r>
              <a:rPr lang="en-US" altLang="en-US" sz="2200" dirty="0">
                <a:latin typeface="Times New Roman" panose="02020603050405020304" pitchFamily="18" charset="0"/>
              </a:rPr>
              <a:t> con </a:t>
            </a:r>
            <a:r>
              <a:rPr lang="en-US" altLang="en-US" sz="2200" dirty="0" err="1">
                <a:latin typeface="Times New Roman" panose="02020603050405020304" pitchFamily="18" charset="0"/>
              </a:rPr>
              <a:t>người</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mà</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chỉ</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là</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những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hoạt</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động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vật</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chất</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cảm</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tính</a:t>
            </a:r>
            <a:r>
              <a:rPr lang="en-US" altLang="en-US" sz="2200" dirty="0">
                <a:latin typeface="Times New Roman" panose="02020603050405020304" pitchFamily="18" charset="0"/>
              </a:rPr>
              <a:t>.</a:t>
            </a:r>
            <a:endParaRPr lang="en-US" altLang="en-US" sz="2200" dirty="0">
              <a:latin typeface="Times New Roman" panose="02020603050405020304" pitchFamily="18" charset="0"/>
            </a:endParaRPr>
          </a:p>
        </p:txBody>
      </p:sp>
      <p:sp>
        <p:nvSpPr>
          <p:cNvPr id="5" name="Rectangle 4"/>
          <p:cNvSpPr/>
          <p:nvPr/>
        </p:nvSpPr>
        <p:spPr>
          <a:xfrm>
            <a:off x="3614056" y="2394857"/>
            <a:ext cx="5225143" cy="1023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altLang="en-US" sz="2200" dirty="0">
                <a:latin typeface="Times New Roman" panose="02020603050405020304" pitchFamily="18" charset="0"/>
              </a:rPr>
              <a:t>- L</a:t>
            </a:r>
            <a:r>
              <a:rPr lang="en-US" altLang="en-US" sz="2200" dirty="0">
                <a:latin typeface="Times New Roman" panose="02020603050405020304" pitchFamily="18" charset="0"/>
              </a:rPr>
              <a:t>à </a:t>
            </a:r>
            <a:r>
              <a:rPr lang="en-US" altLang="en-US" sz="2200" dirty="0" err="1">
                <a:latin typeface="Times New Roman" panose="02020603050405020304" pitchFamily="18" charset="0"/>
              </a:rPr>
              <a:t>những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hoạt</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động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mang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tính</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lịch</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sử</a:t>
            </a:r>
            <a:r>
              <a:rPr lang="en-US" altLang="en-US" sz="2200" dirty="0">
                <a:latin typeface="Times New Roman" panose="02020603050405020304" pitchFamily="18" charset="0"/>
              </a:rPr>
              <a:t> - </a:t>
            </a:r>
            <a:r>
              <a:rPr lang="en-US" altLang="en-US" sz="2200" dirty="0" err="1">
                <a:latin typeface="Times New Roman" panose="02020603050405020304" pitchFamily="18" charset="0"/>
              </a:rPr>
              <a:t>xã</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hội</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của</a:t>
            </a:r>
            <a:r>
              <a:rPr lang="en-US" altLang="en-US" sz="2200" dirty="0">
                <a:latin typeface="Times New Roman" panose="02020603050405020304" pitchFamily="18" charset="0"/>
              </a:rPr>
              <a:t> con </a:t>
            </a:r>
            <a:r>
              <a:rPr lang="en-US" altLang="en-US" sz="2200" dirty="0" err="1">
                <a:latin typeface="Times New Roman" panose="02020603050405020304" pitchFamily="18" charset="0"/>
              </a:rPr>
              <a:t>người</a:t>
            </a:r>
            <a:r>
              <a:rPr lang="en-US" altLang="en-US" sz="2200" dirty="0">
                <a:latin typeface="Times New Roman" panose="02020603050405020304" pitchFamily="18" charset="0"/>
              </a:rPr>
              <a:t>.</a:t>
            </a:r>
            <a:endParaRPr lang="en-US" sz="2200" dirty="0"/>
          </a:p>
        </p:txBody>
      </p:sp>
      <p:sp>
        <p:nvSpPr>
          <p:cNvPr id="6" name="Rectangle 5"/>
          <p:cNvSpPr/>
          <p:nvPr/>
        </p:nvSpPr>
        <p:spPr>
          <a:xfrm>
            <a:off x="3614056" y="3690257"/>
            <a:ext cx="5225142" cy="102325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altLang="en-US" sz="2200" dirty="0">
                <a:latin typeface="Times New Roman" panose="02020603050405020304" pitchFamily="18" charset="0"/>
              </a:rPr>
              <a:t>- L</a:t>
            </a:r>
            <a:r>
              <a:rPr lang="en-US" altLang="en-US" sz="2200" dirty="0">
                <a:latin typeface="Times New Roman" panose="02020603050405020304" pitchFamily="18" charset="0"/>
              </a:rPr>
              <a:t>à </a:t>
            </a:r>
            <a:r>
              <a:rPr lang="en-US" altLang="en-US" sz="2200" dirty="0" err="1">
                <a:latin typeface="Times New Roman" panose="02020603050405020304" pitchFamily="18" charset="0"/>
              </a:rPr>
              <a:t>hoạt</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động</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có</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tính</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mục</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đích</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nhằm</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cải</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tạo</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tự</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nhiên</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và</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xã</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hội</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phục</a:t>
            </a:r>
            <a:r>
              <a:rPr lang="en-US" altLang="en-US" sz="2200" dirty="0">
                <a:latin typeface="Times New Roman" panose="02020603050405020304" pitchFamily="18" charset="0"/>
              </a:rPr>
              <a:t> </a:t>
            </a:r>
            <a:r>
              <a:rPr lang="en-US" altLang="en-US" sz="2200" dirty="0" err="1">
                <a:latin typeface="Times New Roman" panose="02020603050405020304" pitchFamily="18" charset="0"/>
              </a:rPr>
              <a:t>vụ</a:t>
            </a:r>
            <a:r>
              <a:rPr lang="en-US" altLang="en-US" sz="2200" dirty="0">
                <a:latin typeface="Times New Roman" panose="02020603050405020304" pitchFamily="18" charset="0"/>
              </a:rPr>
              <a:t> con </a:t>
            </a:r>
            <a:r>
              <a:rPr lang="en-US" altLang="en-US" sz="2200" dirty="0" err="1">
                <a:latin typeface="Times New Roman" panose="02020603050405020304" pitchFamily="18" charset="0"/>
              </a:rPr>
              <a:t>người</a:t>
            </a:r>
            <a:endParaRPr lang="en-US" sz="2200" dirty="0"/>
          </a:p>
        </p:txBody>
      </p:sp>
      <p:cxnSp>
        <p:nvCxnSpPr>
          <p:cNvPr id="8" name="Straight Arrow Connector 7"/>
          <p:cNvCxnSpPr>
            <a:stCxn id="3" idx="3"/>
            <a:endCxn id="4" idx="1"/>
          </p:cNvCxnSpPr>
          <p:nvPr/>
        </p:nvCxnSpPr>
        <p:spPr>
          <a:xfrm flipV="1">
            <a:off x="2667001" y="1687286"/>
            <a:ext cx="947055" cy="12899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0" name="Straight Arrow Connector 9"/>
          <p:cNvCxnSpPr>
            <a:stCxn id="3" idx="3"/>
            <a:endCxn id="5" idx="1"/>
          </p:cNvCxnSpPr>
          <p:nvPr/>
        </p:nvCxnSpPr>
        <p:spPr>
          <a:xfrm flipV="1">
            <a:off x="2667001" y="2906486"/>
            <a:ext cx="947055" cy="70758"/>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2" name="Straight Arrow Connector 11"/>
          <p:cNvCxnSpPr>
            <a:stCxn id="3" idx="3"/>
          </p:cNvCxnSpPr>
          <p:nvPr/>
        </p:nvCxnSpPr>
        <p:spPr>
          <a:xfrm>
            <a:off x="2667001" y="2977244"/>
            <a:ext cx="947055" cy="1268185"/>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pic>
        <p:nvPicPr>
          <p:cNvPr id="19" name="Picture 5" descr="b0808051"/>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260764" y="1893093"/>
            <a:ext cx="3569999" cy="3621015"/>
          </a:xfrm>
          <a:prstGeom prst="rect">
            <a:avLst/>
          </a:prstGeom>
          <a:noFill/>
          <a:ln w="76200">
            <a:solidFill>
              <a:schemeClr val="accent1"/>
            </a:solidFill>
            <a:miter lim="800000"/>
            <a:headEnd/>
            <a:tailEnd/>
          </a:ln>
          <a:extLst>
            <a:ext uri="{909E8E84-426E-40DD-AFC4-6F175D3DCCD1}">
              <a14:hiddenFill xmlns:a14="http://schemas.microsoft.com/office/drawing/2010/main">
                <a:solidFill>
                  <a:srgbClr val="FFFFFF"/>
                </a:solidFill>
              </a14:hiddenFill>
            </a:ext>
          </a:extLst>
        </p:spPr>
      </p:pic>
      <p:sp>
        <p:nvSpPr>
          <p:cNvPr id="22" name="Text Box 7"/>
          <p:cNvSpPr txBox="1">
            <a:spLocks noChangeArrowheads="1"/>
          </p:cNvSpPr>
          <p:nvPr/>
        </p:nvSpPr>
        <p:spPr bwMode="auto">
          <a:xfrm>
            <a:off x="5613401" y="4691063"/>
            <a:ext cx="1520823" cy="400050"/>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just" eaLnBrk="1" hangingPunct="1">
              <a:spcBef>
                <a:spcPct val="50000"/>
              </a:spcBef>
              <a:buClrTx/>
              <a:buSzTx/>
              <a:buFontTx/>
              <a:buNone/>
            </a:pPr>
            <a:r>
              <a:rPr kumimoji="1" lang="en-US" altLang="zh-CN" sz="2000" b="1" dirty="0">
                <a:solidFill>
                  <a:schemeClr val="tx2"/>
                </a:solidFill>
                <a:latin typeface="Times New Roman" panose="02020603050405020304" pitchFamily="18" charset="0"/>
                <a:ea typeface="方正琥珀简体" pitchFamily="2" charset="-122"/>
              </a:rPr>
              <a:t>  </a:t>
            </a:r>
            <a:r>
              <a:rPr kumimoji="1" lang="vi-VN" altLang="zh-CN" sz="2000" b="1" dirty="0" err="1">
                <a:solidFill>
                  <a:schemeClr val="tx2"/>
                </a:solidFill>
                <a:latin typeface="Times New Roman" panose="02020603050405020304" pitchFamily="18" charset="0"/>
                <a:ea typeface="方正琥珀简体" pitchFamily="2" charset="-122"/>
              </a:rPr>
              <a:t>Kh</a:t>
            </a:r>
            <a:r>
              <a:rPr kumimoji="1" lang="en-US" altLang="zh-CN" sz="2000" b="1" dirty="0" err="1">
                <a:solidFill>
                  <a:schemeClr val="tx1"/>
                </a:solidFill>
                <a:latin typeface="Times New Roman" panose="02020603050405020304" pitchFamily="18" charset="0"/>
                <a:ea typeface="SimSun" panose="02010600030101010101" pitchFamily="2" charset="-122"/>
              </a:rPr>
              <a:t>ách</a:t>
            </a:r>
            <a:r>
              <a:rPr kumimoji="1" lang="vi-VN" altLang="zh-CN" sz="2000" b="1" dirty="0">
                <a:solidFill>
                  <a:schemeClr val="tx1"/>
                </a:solidFill>
                <a:latin typeface="Times New Roman" panose="02020603050405020304" pitchFamily="18" charset="0"/>
                <a:ea typeface="SimSun" panose="02010600030101010101" pitchFamily="2" charset="-122"/>
              </a:rPr>
              <a:t> </a:t>
            </a:r>
            <a:r>
              <a:rPr kumimoji="1" lang="vi-VN" altLang="zh-CN" sz="2000" b="1" dirty="0" err="1">
                <a:solidFill>
                  <a:schemeClr val="tx1"/>
                </a:solidFill>
                <a:latin typeface="Times New Roman" panose="02020603050405020304" pitchFamily="18" charset="0"/>
                <a:ea typeface="SimSun" panose="02010600030101010101" pitchFamily="2" charset="-122"/>
              </a:rPr>
              <a:t>th</a:t>
            </a:r>
            <a:r>
              <a:rPr kumimoji="1" lang="en-US" altLang="zh-CN" sz="2000" b="1" dirty="0">
                <a:solidFill>
                  <a:schemeClr val="tx1"/>
                </a:solidFill>
                <a:latin typeface="Times New Roman" panose="02020603050405020304" pitchFamily="18" charset="0"/>
                <a:ea typeface="SimSun" panose="02010600030101010101" pitchFamily="2" charset="-122"/>
              </a:rPr>
              <a:t>ể</a:t>
            </a:r>
            <a:endParaRPr kumimoji="1" lang="en-US" altLang="zh-CN" sz="2000" b="1" dirty="0">
              <a:solidFill>
                <a:schemeClr val="tx1"/>
              </a:solidFill>
              <a:latin typeface="Times New Roman" panose="02020603050405020304" pitchFamily="18" charset="0"/>
              <a:ea typeface="SimSun" panose="02010600030101010101" pitchFamily="2" charset="-122"/>
            </a:endParaRPr>
          </a:p>
        </p:txBody>
      </p:sp>
      <p:sp>
        <p:nvSpPr>
          <p:cNvPr id="23" name="Text Box 13"/>
          <p:cNvSpPr txBox="1">
            <a:spLocks noChangeArrowheads="1"/>
          </p:cNvSpPr>
          <p:nvPr/>
        </p:nvSpPr>
        <p:spPr bwMode="auto">
          <a:xfrm>
            <a:off x="5756564" y="3534165"/>
            <a:ext cx="1377659" cy="400110"/>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square">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just" eaLnBrk="1" hangingPunct="1">
              <a:spcBef>
                <a:spcPct val="50000"/>
              </a:spcBef>
              <a:buClrTx/>
              <a:buSzTx/>
              <a:buFontTx/>
              <a:buNone/>
            </a:pPr>
            <a:r>
              <a:rPr kumimoji="1" lang="en-US" altLang="zh-CN" sz="2000" b="1" dirty="0">
                <a:solidFill>
                  <a:schemeClr val="tx2"/>
                </a:solidFill>
                <a:latin typeface="Times New Roman" panose="02020603050405020304" pitchFamily="18" charset="0"/>
                <a:ea typeface="方正琥珀简体" pitchFamily="2" charset="-122"/>
              </a:rPr>
              <a:t>  </a:t>
            </a:r>
            <a:r>
              <a:rPr kumimoji="1" lang="vi-VN" altLang="zh-CN" sz="2000" b="1" dirty="0">
                <a:solidFill>
                  <a:schemeClr val="tx2"/>
                </a:solidFill>
                <a:latin typeface="Times New Roman" panose="02020603050405020304" pitchFamily="18" charset="0"/>
                <a:ea typeface="方正琥珀简体" pitchFamily="2" charset="-122"/>
              </a:rPr>
              <a:t>Công</a:t>
            </a:r>
            <a:r>
              <a:rPr kumimoji="1" lang="vi-VN" altLang="zh-CN" sz="2000" b="1" dirty="0">
                <a:solidFill>
                  <a:schemeClr val="tx1"/>
                </a:solidFill>
                <a:latin typeface="Times New Roman" panose="02020603050405020304" pitchFamily="18" charset="0"/>
                <a:ea typeface="SimSun" panose="02010600030101010101" pitchFamily="2" charset="-122"/>
              </a:rPr>
              <a:t> c</a:t>
            </a:r>
            <a:r>
              <a:rPr kumimoji="1" lang="en-US" altLang="zh-CN" sz="2000" b="1" dirty="0">
                <a:solidFill>
                  <a:schemeClr val="tx1"/>
                </a:solidFill>
                <a:latin typeface="Times New Roman" panose="02020603050405020304" pitchFamily="18" charset="0"/>
                <a:ea typeface="SimSun" panose="02010600030101010101" pitchFamily="2" charset="-122"/>
              </a:rPr>
              <a:t>ụ</a:t>
            </a:r>
            <a:endParaRPr kumimoji="1" lang="en-US" altLang="zh-CN" sz="2000" b="1" dirty="0">
              <a:solidFill>
                <a:schemeClr val="tx1"/>
              </a:solidFill>
              <a:latin typeface="Times New Roman" panose="02020603050405020304" pitchFamily="18" charset="0"/>
              <a:ea typeface="SimSun" panose="02010600030101010101" pitchFamily="2" charset="-122"/>
            </a:endParaRPr>
          </a:p>
        </p:txBody>
      </p:sp>
      <p:sp>
        <p:nvSpPr>
          <p:cNvPr id="24" name="Text Box 6"/>
          <p:cNvSpPr txBox="1">
            <a:spLocks noChangeArrowheads="1"/>
          </p:cNvSpPr>
          <p:nvPr/>
        </p:nvSpPr>
        <p:spPr bwMode="auto">
          <a:xfrm>
            <a:off x="5613401" y="2170113"/>
            <a:ext cx="1520825" cy="862012"/>
          </a:xfrm>
          <a:prstGeom prst="rect">
            <a:avLst/>
          </a:prstGeom>
          <a:noFill/>
          <a:ln w="12700">
            <a:solidFill>
              <a:schemeClr val="accent2"/>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50000"/>
              </a:spcBef>
              <a:buClrTx/>
              <a:buSzTx/>
              <a:buFontTx/>
              <a:buNone/>
            </a:pPr>
            <a:r>
              <a:rPr kumimoji="1" lang="vi-VN" altLang="zh-CN" sz="2000" b="1" dirty="0">
                <a:solidFill>
                  <a:schemeClr val="tx1"/>
                </a:solidFill>
                <a:latin typeface="Times New Roman" panose="02020603050405020304" pitchFamily="18" charset="0"/>
                <a:ea typeface="方正琥珀简体" pitchFamily="2" charset="-122"/>
              </a:rPr>
              <a:t>C</a:t>
            </a:r>
            <a:r>
              <a:rPr kumimoji="1" lang="en-US" altLang="zh-CN" sz="2000" b="1" dirty="0" err="1">
                <a:solidFill>
                  <a:schemeClr val="tx1"/>
                </a:solidFill>
                <a:latin typeface="Times New Roman" panose="02020603050405020304" pitchFamily="18" charset="0"/>
                <a:ea typeface="方正琥珀简体" pitchFamily="2" charset="-122"/>
              </a:rPr>
              <a:t>hủ</a:t>
            </a:r>
            <a:r>
              <a:rPr kumimoji="1" lang="en-US" altLang="zh-CN" sz="2000" b="1" dirty="0">
                <a:solidFill>
                  <a:schemeClr val="tx1"/>
                </a:solidFill>
                <a:latin typeface="Times New Roman" panose="02020603050405020304" pitchFamily="18" charset="0"/>
                <a:ea typeface="方正琥珀简体" pitchFamily="2" charset="-122"/>
              </a:rPr>
              <a:t> </a:t>
            </a:r>
            <a:r>
              <a:rPr kumimoji="1" lang="en-US" altLang="zh-CN" sz="2000" b="1" dirty="0" err="1">
                <a:solidFill>
                  <a:schemeClr val="tx1"/>
                </a:solidFill>
                <a:latin typeface="Times New Roman" panose="02020603050405020304" pitchFamily="18" charset="0"/>
                <a:ea typeface="方正琥珀简体" pitchFamily="2" charset="-122"/>
              </a:rPr>
              <a:t>thể</a:t>
            </a:r>
            <a:endParaRPr kumimoji="1" lang="en-US" altLang="zh-CN" sz="2000" b="1" dirty="0">
              <a:solidFill>
                <a:schemeClr val="tx1"/>
              </a:solidFill>
              <a:latin typeface="Times New Roman" panose="02020603050405020304" pitchFamily="18" charset="0"/>
              <a:ea typeface="方正琥珀简体" pitchFamily="2" charset="-122"/>
            </a:endParaRPr>
          </a:p>
          <a:p>
            <a:pPr algn="ctr" eaLnBrk="1" hangingPunct="1">
              <a:spcBef>
                <a:spcPct val="50000"/>
              </a:spcBef>
              <a:buClrTx/>
              <a:buSzTx/>
              <a:buFontTx/>
              <a:buNone/>
            </a:pPr>
            <a:r>
              <a:rPr kumimoji="1" lang="en-US" altLang="zh-CN" sz="2000" b="1" dirty="0">
                <a:solidFill>
                  <a:schemeClr val="tx1"/>
                </a:solidFill>
                <a:latin typeface="Times New Roman" panose="02020603050405020304" pitchFamily="18" charset="0"/>
                <a:ea typeface="SimSun" panose="02010600030101010101" pitchFamily="2" charset="-122"/>
              </a:rPr>
              <a:t>Con </a:t>
            </a:r>
            <a:r>
              <a:rPr kumimoji="1" lang="en-US" altLang="zh-CN" sz="2000" b="1" dirty="0" err="1">
                <a:solidFill>
                  <a:schemeClr val="tx1"/>
                </a:solidFill>
                <a:latin typeface="Times New Roman" panose="02020603050405020304" pitchFamily="18" charset="0"/>
                <a:ea typeface="SimSun" panose="02010600030101010101" pitchFamily="2" charset="-122"/>
              </a:rPr>
              <a:t>người</a:t>
            </a:r>
            <a:endParaRPr kumimoji="1" lang="en-US" altLang="zh-CN" sz="2000" b="1" dirty="0">
              <a:solidFill>
                <a:schemeClr val="tx1"/>
              </a:solidFill>
              <a:latin typeface="Times New Roman" panose="02020603050405020304" pitchFamily="18" charset="0"/>
              <a:ea typeface="SimSun" panose="02010600030101010101" pitchFamily="2" charset="-122"/>
            </a:endParaRPr>
          </a:p>
        </p:txBody>
      </p:sp>
      <p:sp>
        <p:nvSpPr>
          <p:cNvPr id="25" name="Oval 20"/>
          <p:cNvSpPr>
            <a:spLocks noChangeArrowheads="1"/>
          </p:cNvSpPr>
          <p:nvPr/>
        </p:nvSpPr>
        <p:spPr bwMode="auto">
          <a:xfrm>
            <a:off x="8162922" y="2490384"/>
            <a:ext cx="2562223" cy="2087562"/>
          </a:xfrm>
          <a:prstGeom prst="ellipse">
            <a:avLst/>
          </a:prstGeom>
          <a:noFill/>
          <a:ln w="12700">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0"/>
              </a:spcBef>
              <a:buClrTx/>
              <a:buSzTx/>
              <a:buFontTx/>
              <a:buNone/>
            </a:pPr>
            <a:r>
              <a:rPr lang="vi-VN" altLang="zh-CN" sz="2400" dirty="0">
                <a:solidFill>
                  <a:schemeClr val="tx2"/>
                </a:solidFill>
                <a:latin typeface="Times New Roman" panose="02020603050405020304" pitchFamily="18" charset="0"/>
                <a:ea typeface="方正琥珀简体" pitchFamily="2" charset="-122"/>
              </a:rPr>
              <a:t>C</a:t>
            </a:r>
            <a:r>
              <a:rPr lang="en-US" altLang="zh-CN" sz="2400" dirty="0">
                <a:solidFill>
                  <a:schemeClr val="tx1"/>
                </a:solidFill>
                <a:latin typeface="Times New Roman" panose="02020603050405020304" pitchFamily="18" charset="0"/>
              </a:rPr>
              <a:t>ẢI</a:t>
            </a:r>
            <a:r>
              <a:rPr lang="vi-VN" altLang="zh-CN" sz="2400" dirty="0">
                <a:solidFill>
                  <a:schemeClr val="tx1"/>
                </a:solidFill>
                <a:latin typeface="Times New Roman" panose="02020603050405020304" pitchFamily="18" charset="0"/>
              </a:rPr>
              <a:t> BI</a:t>
            </a:r>
            <a:r>
              <a:rPr lang="en-US" altLang="zh-CN" sz="2400" dirty="0">
                <a:solidFill>
                  <a:schemeClr val="tx1"/>
                </a:solidFill>
                <a:latin typeface="Times New Roman" panose="02020603050405020304" pitchFamily="18" charset="0"/>
              </a:rPr>
              <a:t>ẾN </a:t>
            </a:r>
            <a:endParaRPr lang="en-US" altLang="zh-CN" sz="2400" dirty="0">
              <a:solidFill>
                <a:schemeClr val="tx1"/>
              </a:solidFill>
              <a:latin typeface="Times New Roman" panose="02020603050405020304" pitchFamily="18" charset="0"/>
            </a:endParaRPr>
          </a:p>
          <a:p>
            <a:pPr algn="ctr" eaLnBrk="1" hangingPunct="1">
              <a:spcBef>
                <a:spcPct val="0"/>
              </a:spcBef>
              <a:buClrTx/>
              <a:buSzTx/>
              <a:buFontTx/>
              <a:buNone/>
            </a:pPr>
            <a:r>
              <a:rPr lang="en-US" altLang="zh-CN" sz="2400" dirty="0">
                <a:solidFill>
                  <a:schemeClr val="tx1"/>
                </a:solidFill>
                <a:latin typeface="Times New Roman" panose="02020603050405020304" pitchFamily="18" charset="0"/>
              </a:rPr>
              <a:t>KHÁCH THỂ </a:t>
            </a:r>
            <a:endParaRPr lang="en-US" altLang="zh-CN" sz="2400" dirty="0">
              <a:solidFill>
                <a:schemeClr val="tx1"/>
              </a:solidFill>
              <a:latin typeface="Times New Roman" panose="02020603050405020304" pitchFamily="18" charset="0"/>
            </a:endParaRPr>
          </a:p>
          <a:p>
            <a:pPr algn="ctr" eaLnBrk="1" hangingPunct="1">
              <a:spcBef>
                <a:spcPct val="0"/>
              </a:spcBef>
              <a:buClrTx/>
              <a:buSzTx/>
              <a:buFontTx/>
              <a:buNone/>
            </a:pPr>
            <a:r>
              <a:rPr lang="en-US" altLang="zh-CN" sz="2400" dirty="0">
                <a:solidFill>
                  <a:schemeClr val="tx1"/>
                </a:solidFill>
                <a:latin typeface="Times New Roman" panose="02020603050405020304" pitchFamily="18" charset="0"/>
              </a:rPr>
              <a:t>THEO </a:t>
            </a:r>
            <a:endParaRPr lang="en-US" altLang="zh-CN" sz="2400" dirty="0">
              <a:solidFill>
                <a:schemeClr val="tx1"/>
              </a:solidFill>
              <a:latin typeface="Times New Roman" panose="02020603050405020304" pitchFamily="18" charset="0"/>
            </a:endParaRPr>
          </a:p>
          <a:p>
            <a:pPr algn="ctr" eaLnBrk="1" hangingPunct="1">
              <a:spcBef>
                <a:spcPct val="0"/>
              </a:spcBef>
              <a:buClrTx/>
              <a:buSzTx/>
              <a:buFontTx/>
              <a:buNone/>
            </a:pPr>
            <a:r>
              <a:rPr lang="en-US" altLang="zh-CN" sz="2400" dirty="0">
                <a:solidFill>
                  <a:schemeClr val="tx1"/>
                </a:solidFill>
                <a:latin typeface="Times New Roman" panose="02020603050405020304" pitchFamily="18" charset="0"/>
              </a:rPr>
              <a:t>NHU CẦU</a:t>
            </a:r>
            <a:endParaRPr lang="en-US" altLang="zh-CN" sz="2400" dirty="0">
              <a:solidFill>
                <a:schemeClr val="tx1"/>
              </a:solidFill>
              <a:latin typeface="Times New Roman" panose="02020603050405020304" pitchFamily="18" charset="0"/>
            </a:endParaRPr>
          </a:p>
        </p:txBody>
      </p:sp>
      <p:sp>
        <p:nvSpPr>
          <p:cNvPr id="26" name="Line 8"/>
          <p:cNvSpPr>
            <a:spLocks noChangeShapeType="1"/>
          </p:cNvSpPr>
          <p:nvPr/>
        </p:nvSpPr>
        <p:spPr bwMode="auto">
          <a:xfrm>
            <a:off x="4965700" y="3209925"/>
            <a:ext cx="1600200" cy="36369"/>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27" name="Line 9"/>
          <p:cNvSpPr>
            <a:spLocks noChangeShapeType="1"/>
          </p:cNvSpPr>
          <p:nvPr/>
        </p:nvSpPr>
        <p:spPr bwMode="auto">
          <a:xfrm flipV="1">
            <a:off x="6565900" y="2905125"/>
            <a:ext cx="0" cy="304800"/>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8" name="Line 12"/>
          <p:cNvSpPr>
            <a:spLocks noChangeShapeType="1"/>
          </p:cNvSpPr>
          <p:nvPr/>
        </p:nvSpPr>
        <p:spPr bwMode="auto">
          <a:xfrm>
            <a:off x="4816765" y="3665924"/>
            <a:ext cx="939800" cy="23006"/>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29" name="Line 10"/>
          <p:cNvSpPr>
            <a:spLocks noChangeShapeType="1"/>
          </p:cNvSpPr>
          <p:nvPr/>
        </p:nvSpPr>
        <p:spPr bwMode="auto">
          <a:xfrm>
            <a:off x="4908550" y="4391025"/>
            <a:ext cx="1733550" cy="19050"/>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30" name="Line 11"/>
          <p:cNvSpPr>
            <a:spLocks noChangeShapeType="1"/>
          </p:cNvSpPr>
          <p:nvPr/>
        </p:nvSpPr>
        <p:spPr bwMode="auto">
          <a:xfrm>
            <a:off x="6642100" y="4391025"/>
            <a:ext cx="0" cy="323850"/>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grpSp>
        <p:nvGrpSpPr>
          <p:cNvPr id="31" name="Group 14"/>
          <p:cNvGrpSpPr/>
          <p:nvPr/>
        </p:nvGrpSpPr>
        <p:grpSpPr bwMode="auto">
          <a:xfrm>
            <a:off x="7175500" y="2276475"/>
            <a:ext cx="381000" cy="2819400"/>
            <a:chOff x="3312" y="1824"/>
            <a:chExt cx="240" cy="1776"/>
          </a:xfrm>
        </p:grpSpPr>
        <p:sp>
          <p:nvSpPr>
            <p:cNvPr id="99344" name="Line 15"/>
            <p:cNvSpPr>
              <a:spLocks noChangeShapeType="1"/>
            </p:cNvSpPr>
            <p:nvPr/>
          </p:nvSpPr>
          <p:spPr bwMode="auto">
            <a:xfrm>
              <a:off x="3312" y="1824"/>
              <a:ext cx="240" cy="0"/>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9345" name="Line 16"/>
            <p:cNvSpPr>
              <a:spLocks noChangeShapeType="1"/>
            </p:cNvSpPr>
            <p:nvPr/>
          </p:nvSpPr>
          <p:spPr bwMode="auto">
            <a:xfrm>
              <a:off x="3312" y="2736"/>
              <a:ext cx="240" cy="0"/>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99346" name="Line 17"/>
            <p:cNvSpPr>
              <a:spLocks noChangeShapeType="1"/>
            </p:cNvSpPr>
            <p:nvPr/>
          </p:nvSpPr>
          <p:spPr bwMode="auto">
            <a:xfrm>
              <a:off x="3312" y="3600"/>
              <a:ext cx="240" cy="0"/>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grpSp>
      <p:sp>
        <p:nvSpPr>
          <p:cNvPr id="43" name="Line 18"/>
          <p:cNvSpPr>
            <a:spLocks noChangeShapeType="1"/>
          </p:cNvSpPr>
          <p:nvPr/>
        </p:nvSpPr>
        <p:spPr bwMode="auto">
          <a:xfrm>
            <a:off x="7556500" y="2257425"/>
            <a:ext cx="0" cy="2895600"/>
          </a:xfrm>
          <a:prstGeom prst="line">
            <a:avLst/>
          </a:prstGeom>
          <a:noFill/>
          <a:ln w="508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a:lstStyle/>
          <a:p>
            <a:endParaRPr lang="en-US"/>
          </a:p>
        </p:txBody>
      </p:sp>
      <p:sp>
        <p:nvSpPr>
          <p:cNvPr id="45" name="Line 19"/>
          <p:cNvSpPr>
            <a:spLocks noChangeShapeType="1"/>
          </p:cNvSpPr>
          <p:nvPr/>
        </p:nvSpPr>
        <p:spPr bwMode="auto">
          <a:xfrm>
            <a:off x="7556500" y="3724275"/>
            <a:ext cx="609600" cy="0"/>
          </a:xfrm>
          <a:prstGeom prst="line">
            <a:avLst/>
          </a:prstGeom>
          <a:noFill/>
          <a:ln w="50800">
            <a:solidFill>
              <a:schemeClr val="tx1"/>
            </a:solidFill>
            <a:prstDash val="sysDot"/>
            <a:round/>
            <a:headEnd type="none" w="sm" len="sm"/>
            <a:tailEnd type="triangle" w="sm" len="sm"/>
          </a:ln>
          <a:extLst>
            <a:ext uri="{909E8E84-426E-40DD-AFC4-6F175D3DCCD1}">
              <a14:hiddenFill xmlns:a14="http://schemas.microsoft.com/office/drawing/2010/main">
                <a:noFill/>
              </a14:hiddenFill>
            </a:ext>
          </a:extLst>
        </p:spPr>
        <p:txBody>
          <a:bodyPr/>
          <a:lstStyle/>
          <a:p>
            <a:endParaRPr lang="en-US"/>
          </a:p>
        </p:txBody>
      </p:sp>
      <p:sp>
        <p:nvSpPr>
          <p:cNvPr id="99343" name="Rectangle 48"/>
          <p:cNvSpPr>
            <a:spLocks noChangeArrowheads="1"/>
          </p:cNvSpPr>
          <p:nvPr/>
        </p:nvSpPr>
        <p:spPr bwMode="auto">
          <a:xfrm>
            <a:off x="1828800" y="381000"/>
            <a:ext cx="8839200"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SzPct val="80000"/>
              <a:buFont typeface="Wingdings 3" panose="05040102010807070707" pitchFamily="18" charset="2"/>
              <a:buChar char=""/>
              <a:defRPr>
                <a:solidFill>
                  <a:srgbClr val="404040"/>
                </a:solidFill>
                <a:latin typeface="Trebuchet MS" panose="020B0603020202020204" pitchFamily="34" charset="0"/>
              </a:defRPr>
            </a:lvl1pPr>
            <a:lvl2pPr marL="742950" indent="-285750">
              <a:spcBef>
                <a:spcPts val="1000"/>
              </a:spcBef>
              <a:buClr>
                <a:schemeClr val="accent1"/>
              </a:buClr>
              <a:buSzPct val="80000"/>
              <a:buFont typeface="Wingdings 3" panose="05040102010807070707" pitchFamily="18" charset="2"/>
              <a:buChar char=""/>
              <a:defRPr sz="1600">
                <a:solidFill>
                  <a:srgbClr val="404040"/>
                </a:solidFill>
                <a:latin typeface="Trebuchet MS" panose="020B0603020202020204" pitchFamily="34" charset="0"/>
              </a:defRPr>
            </a:lvl2pPr>
            <a:lvl3pPr marL="1143000" indent="-228600">
              <a:spcBef>
                <a:spcPts val="1000"/>
              </a:spcBef>
              <a:buClr>
                <a:schemeClr val="accent1"/>
              </a:buClr>
              <a:buSzPct val="80000"/>
              <a:buFont typeface="Wingdings 3" panose="05040102010807070707" pitchFamily="18" charset="2"/>
              <a:buChar char=""/>
              <a:defRPr sz="1400">
                <a:solidFill>
                  <a:srgbClr val="404040"/>
                </a:solidFill>
                <a:latin typeface="Trebuchet MS" panose="020B0603020202020204" pitchFamily="34" charset="0"/>
              </a:defRPr>
            </a:lvl3pPr>
            <a:lvl4pPr marL="16002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4pPr>
            <a:lvl5pPr marL="2057400" indent="-228600">
              <a:spcBef>
                <a:spcPts val="1000"/>
              </a:spcBef>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5pPr>
            <a:lvl6pPr marL="25146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6pPr>
            <a:lvl7pPr marL="29718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7pPr>
            <a:lvl8pPr marL="34290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8pPr>
            <a:lvl9pPr marL="3886200" indent="-228600" eaLnBrk="0" fontAlgn="base" hangingPunct="0">
              <a:spcBef>
                <a:spcPts val="1000"/>
              </a:spcBef>
              <a:spcAft>
                <a:spcPct val="0"/>
              </a:spcAft>
              <a:buClr>
                <a:schemeClr val="accent1"/>
              </a:buClr>
              <a:buSzPct val="80000"/>
              <a:buFont typeface="Wingdings 3" panose="05040102010807070707" pitchFamily="18" charset="2"/>
              <a:buChar char=""/>
              <a:defRPr sz="1200">
                <a:solidFill>
                  <a:srgbClr val="404040"/>
                </a:solidFill>
                <a:latin typeface="Trebuchet MS" panose="020B0603020202020204" pitchFamily="34" charset="0"/>
              </a:defRPr>
            </a:lvl9pPr>
          </a:lstStyle>
          <a:p>
            <a:pPr algn="ctr" eaLnBrk="1" hangingPunct="1">
              <a:spcBef>
                <a:spcPct val="0"/>
              </a:spcBef>
              <a:buClrTx/>
              <a:buSzTx/>
              <a:buFontTx/>
              <a:buNone/>
            </a:pPr>
            <a:r>
              <a:rPr lang="vi-VN" altLang="en-US" sz="2400" dirty="0">
                <a:solidFill>
                  <a:schemeClr val="tx1"/>
                </a:solidFill>
                <a:latin typeface="Times New Roman" panose="02020603050405020304" pitchFamily="18" charset="0"/>
              </a:rPr>
              <a:t>CÁC YẾU TỐ VẬT CHẤT CẤU THÀNH MỘT HOẠT ĐỘNG THỰC TIỄN </a:t>
            </a:r>
            <a:endParaRPr lang="vi-VN" altLang="en-US" sz="2400" dirty="0">
              <a:solidFill>
                <a:schemeClr val="tx1"/>
              </a:solidFill>
              <a:latin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dissolve">
                                      <p:cBhvr>
                                        <p:cTn id="7" dur="500"/>
                                        <p:tgtEl>
                                          <p:spTgt spid="19"/>
                                        </p:tgtEl>
                                      </p:cBhvr>
                                    </p:animEffect>
                                  </p:childTnLst>
                                </p:cTn>
                              </p:par>
                            </p:childTnLst>
                          </p:cTn>
                        </p:par>
                        <p:par>
                          <p:cTn id="8" fill="hold">
                            <p:stCondLst>
                              <p:cond delay="500"/>
                            </p:stCondLst>
                            <p:childTnLst>
                              <p:par>
                                <p:cTn id="9" presetID="23" presetClass="entr" presetSubtype="16" fill="hold" grpId="0" nodeType="after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p:cTn id="11" dur="500" fill="hold"/>
                                        <p:tgtEl>
                                          <p:spTgt spid="22"/>
                                        </p:tgtEl>
                                        <p:attrNameLst>
                                          <p:attrName>ppt_w</p:attrName>
                                        </p:attrNameLst>
                                      </p:cBhvr>
                                      <p:tavLst>
                                        <p:tav tm="0">
                                          <p:val>
                                            <p:fltVal val="0"/>
                                          </p:val>
                                        </p:tav>
                                        <p:tav tm="100000">
                                          <p:val>
                                            <p:strVal val="#ppt_w"/>
                                          </p:val>
                                        </p:tav>
                                      </p:tavLst>
                                    </p:anim>
                                    <p:anim calcmode="lin" valueType="num">
                                      <p:cBhvr>
                                        <p:cTn id="12" dur="500" fill="hold"/>
                                        <p:tgtEl>
                                          <p:spTgt spid="22"/>
                                        </p:tgtEl>
                                        <p:attrNameLst>
                                          <p:attrName>ppt_h</p:attrName>
                                        </p:attrNameLst>
                                      </p:cBhvr>
                                      <p:tavLst>
                                        <p:tav tm="0">
                                          <p:val>
                                            <p:fltVal val="0"/>
                                          </p:val>
                                        </p:tav>
                                        <p:tav tm="100000">
                                          <p:val>
                                            <p:strVal val="#ppt_h"/>
                                          </p:val>
                                        </p:tav>
                                      </p:tavLst>
                                    </p:anim>
                                  </p:childTnLst>
                                </p:cTn>
                              </p:par>
                            </p:childTnLst>
                          </p:cTn>
                        </p:par>
                        <p:par>
                          <p:cTn id="13" fill="hold">
                            <p:stCondLst>
                              <p:cond delay="1000"/>
                            </p:stCondLst>
                            <p:childTnLst>
                              <p:par>
                                <p:cTn id="14" presetID="23" presetClass="entr" presetSubtype="16" fill="hold" grpId="0" nodeType="afterEffect">
                                  <p:stCondLst>
                                    <p:cond delay="0"/>
                                  </p:stCondLst>
                                  <p:childTnLst>
                                    <p:set>
                                      <p:cBhvr>
                                        <p:cTn id="15" dur="1" fill="hold">
                                          <p:stCondLst>
                                            <p:cond delay="0"/>
                                          </p:stCondLst>
                                        </p:cTn>
                                        <p:tgtEl>
                                          <p:spTgt spid="23"/>
                                        </p:tgtEl>
                                        <p:attrNameLst>
                                          <p:attrName>style.visibility</p:attrName>
                                        </p:attrNameLst>
                                      </p:cBhvr>
                                      <p:to>
                                        <p:strVal val="visible"/>
                                      </p:to>
                                    </p:set>
                                    <p:anim calcmode="lin" valueType="num">
                                      <p:cBhvr>
                                        <p:cTn id="16" dur="500" fill="hold"/>
                                        <p:tgtEl>
                                          <p:spTgt spid="23"/>
                                        </p:tgtEl>
                                        <p:attrNameLst>
                                          <p:attrName>ppt_w</p:attrName>
                                        </p:attrNameLst>
                                      </p:cBhvr>
                                      <p:tavLst>
                                        <p:tav tm="0">
                                          <p:val>
                                            <p:fltVal val="0"/>
                                          </p:val>
                                        </p:tav>
                                        <p:tav tm="100000">
                                          <p:val>
                                            <p:strVal val="#ppt_w"/>
                                          </p:val>
                                        </p:tav>
                                      </p:tavLst>
                                    </p:anim>
                                    <p:anim calcmode="lin" valueType="num">
                                      <p:cBhvr>
                                        <p:cTn id="17" dur="500" fill="hold"/>
                                        <p:tgtEl>
                                          <p:spTgt spid="23"/>
                                        </p:tgtEl>
                                        <p:attrNameLst>
                                          <p:attrName>ppt_h</p:attrName>
                                        </p:attrNameLst>
                                      </p:cBhvr>
                                      <p:tavLst>
                                        <p:tav tm="0">
                                          <p:val>
                                            <p:fltVal val="0"/>
                                          </p:val>
                                        </p:tav>
                                        <p:tav tm="100000">
                                          <p:val>
                                            <p:strVal val="#ppt_h"/>
                                          </p:val>
                                        </p:tav>
                                      </p:tavLst>
                                    </p:anim>
                                  </p:childTnLst>
                                </p:cTn>
                              </p:par>
                            </p:childTnLst>
                          </p:cTn>
                        </p:par>
                        <p:par>
                          <p:cTn id="18" fill="hold">
                            <p:stCondLst>
                              <p:cond delay="1500"/>
                            </p:stCondLst>
                            <p:childTnLst>
                              <p:par>
                                <p:cTn id="19" presetID="23" presetClass="entr" presetSubtype="16" fill="hold" grpId="0" nodeType="afterEffect">
                                  <p:stCondLst>
                                    <p:cond delay="0"/>
                                  </p:stCondLst>
                                  <p:childTnLst>
                                    <p:set>
                                      <p:cBhvr>
                                        <p:cTn id="20" dur="1" fill="hold">
                                          <p:stCondLst>
                                            <p:cond delay="0"/>
                                          </p:stCondLst>
                                        </p:cTn>
                                        <p:tgtEl>
                                          <p:spTgt spid="24"/>
                                        </p:tgtEl>
                                        <p:attrNameLst>
                                          <p:attrName>style.visibility</p:attrName>
                                        </p:attrNameLst>
                                      </p:cBhvr>
                                      <p:to>
                                        <p:strVal val="visible"/>
                                      </p:to>
                                    </p:set>
                                    <p:anim calcmode="lin" valueType="num">
                                      <p:cBhvr>
                                        <p:cTn id="21" dur="500" fill="hold"/>
                                        <p:tgtEl>
                                          <p:spTgt spid="24"/>
                                        </p:tgtEl>
                                        <p:attrNameLst>
                                          <p:attrName>ppt_w</p:attrName>
                                        </p:attrNameLst>
                                      </p:cBhvr>
                                      <p:tavLst>
                                        <p:tav tm="0">
                                          <p:val>
                                            <p:fltVal val="0"/>
                                          </p:val>
                                        </p:tav>
                                        <p:tav tm="100000">
                                          <p:val>
                                            <p:strVal val="#ppt_w"/>
                                          </p:val>
                                        </p:tav>
                                      </p:tavLst>
                                    </p:anim>
                                    <p:anim calcmode="lin" valueType="num">
                                      <p:cBhvr>
                                        <p:cTn id="22" dur="500" fill="hold"/>
                                        <p:tgtEl>
                                          <p:spTgt spid="24"/>
                                        </p:tgtEl>
                                        <p:attrNameLst>
                                          <p:attrName>ppt_h</p:attrName>
                                        </p:attrNameLst>
                                      </p:cBhvr>
                                      <p:tavLst>
                                        <p:tav tm="0">
                                          <p:val>
                                            <p:fltVal val="0"/>
                                          </p:val>
                                        </p:tav>
                                        <p:tav tm="100000">
                                          <p:val>
                                            <p:strVal val="#ppt_h"/>
                                          </p:val>
                                        </p:tav>
                                      </p:tavLst>
                                    </p:anim>
                                  </p:childTnLst>
                                </p:cTn>
                              </p:par>
                            </p:childTnLst>
                          </p:cTn>
                        </p:par>
                        <p:par>
                          <p:cTn id="23" fill="hold">
                            <p:stCondLst>
                              <p:cond delay="2000"/>
                            </p:stCondLst>
                            <p:childTnLst>
                              <p:par>
                                <p:cTn id="24" presetID="23" presetClass="entr" presetSubtype="272" fill="hold" grpId="0" nodeType="afterEffect">
                                  <p:stCondLst>
                                    <p:cond delay="0"/>
                                  </p:stCondLst>
                                  <p:iterate type="lt">
                                    <p:tmPct val="100000"/>
                                  </p:iterate>
                                  <p:childTnLst>
                                    <p:set>
                                      <p:cBhvr>
                                        <p:cTn id="25" dur="1" fill="hold">
                                          <p:stCondLst>
                                            <p:cond delay="0"/>
                                          </p:stCondLst>
                                        </p:cTn>
                                        <p:tgtEl>
                                          <p:spTgt spid="25"/>
                                        </p:tgtEl>
                                        <p:attrNameLst>
                                          <p:attrName>style.visibility</p:attrName>
                                        </p:attrNameLst>
                                      </p:cBhvr>
                                      <p:to>
                                        <p:strVal val="visible"/>
                                      </p:to>
                                    </p:set>
                                    <p:anim calcmode="lin" valueType="num">
                                      <p:cBhvr>
                                        <p:cTn id="26" dur="75" fill="hold"/>
                                        <p:tgtEl>
                                          <p:spTgt spid="25"/>
                                        </p:tgtEl>
                                        <p:attrNameLst>
                                          <p:attrName>ppt_w</p:attrName>
                                        </p:attrNameLst>
                                      </p:cBhvr>
                                      <p:tavLst>
                                        <p:tav tm="0">
                                          <p:val>
                                            <p:strVal val="2/3*#ppt_w"/>
                                          </p:val>
                                        </p:tav>
                                        <p:tav tm="100000">
                                          <p:val>
                                            <p:strVal val="#ppt_w"/>
                                          </p:val>
                                        </p:tav>
                                      </p:tavLst>
                                    </p:anim>
                                    <p:anim calcmode="lin" valueType="num">
                                      <p:cBhvr>
                                        <p:cTn id="27" dur="75" fill="hold"/>
                                        <p:tgtEl>
                                          <p:spTgt spid="25"/>
                                        </p:tgtEl>
                                        <p:attrNameLst>
                                          <p:attrName>ppt_h</p:attrName>
                                        </p:attrNameLst>
                                      </p:cBhvr>
                                      <p:tavLst>
                                        <p:tav tm="0">
                                          <p:val>
                                            <p:strVal val="2/3*#ppt_h"/>
                                          </p:val>
                                        </p:tav>
                                        <p:tav tm="100000">
                                          <p:val>
                                            <p:strVal val="#ppt_h"/>
                                          </p:val>
                                        </p:tav>
                                      </p:tavLst>
                                    </p:anim>
                                  </p:childTnLst>
                                </p:cTn>
                              </p:par>
                            </p:childTnLst>
                          </p:cTn>
                        </p:par>
                        <p:par>
                          <p:cTn id="28" fill="hold">
                            <p:stCondLst>
                              <p:cond delay="4324"/>
                            </p:stCondLst>
                            <p:childTnLst>
                              <p:par>
                                <p:cTn id="29" presetID="17" presetClass="entr" presetSubtype="8" fill="hold" nodeType="afterEffect">
                                  <p:stCondLst>
                                    <p:cond delay="0"/>
                                  </p:stCondLst>
                                  <p:childTnLst>
                                    <p:set>
                                      <p:cBhvr>
                                        <p:cTn id="30" dur="1" fill="hold">
                                          <p:stCondLst>
                                            <p:cond delay="0"/>
                                          </p:stCondLst>
                                        </p:cTn>
                                        <p:tgtEl>
                                          <p:spTgt spid="26"/>
                                        </p:tgtEl>
                                        <p:attrNameLst>
                                          <p:attrName>style.visibility</p:attrName>
                                        </p:attrNameLst>
                                      </p:cBhvr>
                                      <p:to>
                                        <p:strVal val="visible"/>
                                      </p:to>
                                    </p:set>
                                    <p:anim calcmode="lin" valueType="num">
                                      <p:cBhvr>
                                        <p:cTn id="31" dur="500" fill="hold"/>
                                        <p:tgtEl>
                                          <p:spTgt spid="26"/>
                                        </p:tgtEl>
                                        <p:attrNameLst>
                                          <p:attrName>ppt_x</p:attrName>
                                        </p:attrNameLst>
                                      </p:cBhvr>
                                      <p:tavLst>
                                        <p:tav tm="0">
                                          <p:val>
                                            <p:strVal val="#ppt_x-#ppt_w/2"/>
                                          </p:val>
                                        </p:tav>
                                        <p:tav tm="100000">
                                          <p:val>
                                            <p:strVal val="#ppt_x"/>
                                          </p:val>
                                        </p:tav>
                                      </p:tavLst>
                                    </p:anim>
                                    <p:anim calcmode="lin" valueType="num">
                                      <p:cBhvr>
                                        <p:cTn id="32" dur="500" fill="hold"/>
                                        <p:tgtEl>
                                          <p:spTgt spid="26"/>
                                        </p:tgtEl>
                                        <p:attrNameLst>
                                          <p:attrName>ppt_y</p:attrName>
                                        </p:attrNameLst>
                                      </p:cBhvr>
                                      <p:tavLst>
                                        <p:tav tm="0">
                                          <p:val>
                                            <p:strVal val="#ppt_y"/>
                                          </p:val>
                                        </p:tav>
                                        <p:tav tm="100000">
                                          <p:val>
                                            <p:strVal val="#ppt_y"/>
                                          </p:val>
                                        </p:tav>
                                      </p:tavLst>
                                    </p:anim>
                                    <p:anim calcmode="lin" valueType="num">
                                      <p:cBhvr>
                                        <p:cTn id="33" dur="500" fill="hold"/>
                                        <p:tgtEl>
                                          <p:spTgt spid="26"/>
                                        </p:tgtEl>
                                        <p:attrNameLst>
                                          <p:attrName>ppt_w</p:attrName>
                                        </p:attrNameLst>
                                      </p:cBhvr>
                                      <p:tavLst>
                                        <p:tav tm="0">
                                          <p:val>
                                            <p:fltVal val="0"/>
                                          </p:val>
                                        </p:tav>
                                        <p:tav tm="100000">
                                          <p:val>
                                            <p:strVal val="#ppt_w"/>
                                          </p:val>
                                        </p:tav>
                                      </p:tavLst>
                                    </p:anim>
                                    <p:anim calcmode="lin" valueType="num">
                                      <p:cBhvr>
                                        <p:cTn id="34" dur="500" fill="hold"/>
                                        <p:tgtEl>
                                          <p:spTgt spid="26"/>
                                        </p:tgtEl>
                                        <p:attrNameLst>
                                          <p:attrName>ppt_h</p:attrName>
                                        </p:attrNameLst>
                                      </p:cBhvr>
                                      <p:tavLst>
                                        <p:tav tm="0">
                                          <p:val>
                                            <p:strVal val="#ppt_h"/>
                                          </p:val>
                                        </p:tav>
                                        <p:tav tm="100000">
                                          <p:val>
                                            <p:strVal val="#ppt_h"/>
                                          </p:val>
                                        </p:tav>
                                      </p:tavLst>
                                    </p:anim>
                                  </p:childTnLst>
                                </p:cTn>
                              </p:par>
                            </p:childTnLst>
                          </p:cTn>
                        </p:par>
                        <p:par>
                          <p:cTn id="35" fill="hold">
                            <p:stCondLst>
                              <p:cond delay="4824"/>
                            </p:stCondLst>
                            <p:childTnLst>
                              <p:par>
                                <p:cTn id="36" presetID="17" presetClass="entr" presetSubtype="4" fill="hold" nodeType="afterEffect">
                                  <p:stCondLst>
                                    <p:cond delay="0"/>
                                  </p:stCondLst>
                                  <p:childTnLst>
                                    <p:set>
                                      <p:cBhvr>
                                        <p:cTn id="37" dur="1" fill="hold">
                                          <p:stCondLst>
                                            <p:cond delay="0"/>
                                          </p:stCondLst>
                                        </p:cTn>
                                        <p:tgtEl>
                                          <p:spTgt spid="27"/>
                                        </p:tgtEl>
                                        <p:attrNameLst>
                                          <p:attrName>style.visibility</p:attrName>
                                        </p:attrNameLst>
                                      </p:cBhvr>
                                      <p:to>
                                        <p:strVal val="visible"/>
                                      </p:to>
                                    </p:set>
                                    <p:anim calcmode="lin" valueType="num">
                                      <p:cBhvr>
                                        <p:cTn id="38" dur="500" fill="hold"/>
                                        <p:tgtEl>
                                          <p:spTgt spid="27"/>
                                        </p:tgtEl>
                                        <p:attrNameLst>
                                          <p:attrName>ppt_x</p:attrName>
                                        </p:attrNameLst>
                                      </p:cBhvr>
                                      <p:tavLst>
                                        <p:tav tm="0">
                                          <p:val>
                                            <p:strVal val="#ppt_x"/>
                                          </p:val>
                                        </p:tav>
                                        <p:tav tm="100000">
                                          <p:val>
                                            <p:strVal val="#ppt_x"/>
                                          </p:val>
                                        </p:tav>
                                      </p:tavLst>
                                    </p:anim>
                                    <p:anim calcmode="lin" valueType="num">
                                      <p:cBhvr>
                                        <p:cTn id="39" dur="500" fill="hold"/>
                                        <p:tgtEl>
                                          <p:spTgt spid="27"/>
                                        </p:tgtEl>
                                        <p:attrNameLst>
                                          <p:attrName>ppt_y</p:attrName>
                                        </p:attrNameLst>
                                      </p:cBhvr>
                                      <p:tavLst>
                                        <p:tav tm="0">
                                          <p:val>
                                            <p:strVal val="#ppt_y+#ppt_h/2"/>
                                          </p:val>
                                        </p:tav>
                                        <p:tav tm="100000">
                                          <p:val>
                                            <p:strVal val="#ppt_y"/>
                                          </p:val>
                                        </p:tav>
                                      </p:tavLst>
                                    </p:anim>
                                    <p:anim calcmode="lin" valueType="num">
                                      <p:cBhvr>
                                        <p:cTn id="40" dur="500" fill="hold"/>
                                        <p:tgtEl>
                                          <p:spTgt spid="27"/>
                                        </p:tgtEl>
                                        <p:attrNameLst>
                                          <p:attrName>ppt_w</p:attrName>
                                        </p:attrNameLst>
                                      </p:cBhvr>
                                      <p:tavLst>
                                        <p:tav tm="0">
                                          <p:val>
                                            <p:strVal val="#ppt_w"/>
                                          </p:val>
                                        </p:tav>
                                        <p:tav tm="100000">
                                          <p:val>
                                            <p:strVal val="#ppt_w"/>
                                          </p:val>
                                        </p:tav>
                                      </p:tavLst>
                                    </p:anim>
                                    <p:anim calcmode="lin" valueType="num">
                                      <p:cBhvr>
                                        <p:cTn id="41" dur="500" fill="hold"/>
                                        <p:tgtEl>
                                          <p:spTgt spid="27"/>
                                        </p:tgtEl>
                                        <p:attrNameLst>
                                          <p:attrName>ppt_h</p:attrName>
                                        </p:attrNameLst>
                                      </p:cBhvr>
                                      <p:tavLst>
                                        <p:tav tm="0">
                                          <p:val>
                                            <p:fltVal val="0"/>
                                          </p:val>
                                        </p:tav>
                                        <p:tav tm="100000">
                                          <p:val>
                                            <p:strVal val="#ppt_h"/>
                                          </p:val>
                                        </p:tav>
                                      </p:tavLst>
                                    </p:anim>
                                  </p:childTnLst>
                                </p:cTn>
                              </p:par>
                            </p:childTnLst>
                          </p:cTn>
                        </p:par>
                        <p:par>
                          <p:cTn id="42" fill="hold">
                            <p:stCondLst>
                              <p:cond delay="5324"/>
                            </p:stCondLst>
                            <p:childTnLst>
                              <p:par>
                                <p:cTn id="43" presetID="17" presetClass="entr" presetSubtype="8" fill="hold" nodeType="afterEffect">
                                  <p:stCondLst>
                                    <p:cond delay="0"/>
                                  </p:stCondLst>
                                  <p:childTnLst>
                                    <p:set>
                                      <p:cBhvr>
                                        <p:cTn id="44" dur="1" fill="hold">
                                          <p:stCondLst>
                                            <p:cond delay="0"/>
                                          </p:stCondLst>
                                        </p:cTn>
                                        <p:tgtEl>
                                          <p:spTgt spid="28"/>
                                        </p:tgtEl>
                                        <p:attrNameLst>
                                          <p:attrName>style.visibility</p:attrName>
                                        </p:attrNameLst>
                                      </p:cBhvr>
                                      <p:to>
                                        <p:strVal val="visible"/>
                                      </p:to>
                                    </p:set>
                                    <p:anim calcmode="lin" valueType="num">
                                      <p:cBhvr>
                                        <p:cTn id="45" dur="500" fill="hold"/>
                                        <p:tgtEl>
                                          <p:spTgt spid="28"/>
                                        </p:tgtEl>
                                        <p:attrNameLst>
                                          <p:attrName>ppt_x</p:attrName>
                                        </p:attrNameLst>
                                      </p:cBhvr>
                                      <p:tavLst>
                                        <p:tav tm="0">
                                          <p:val>
                                            <p:strVal val="#ppt_x-#ppt_w/2"/>
                                          </p:val>
                                        </p:tav>
                                        <p:tav tm="100000">
                                          <p:val>
                                            <p:strVal val="#ppt_x"/>
                                          </p:val>
                                        </p:tav>
                                      </p:tavLst>
                                    </p:anim>
                                    <p:anim calcmode="lin" valueType="num">
                                      <p:cBhvr>
                                        <p:cTn id="46" dur="500" fill="hold"/>
                                        <p:tgtEl>
                                          <p:spTgt spid="28"/>
                                        </p:tgtEl>
                                        <p:attrNameLst>
                                          <p:attrName>ppt_y</p:attrName>
                                        </p:attrNameLst>
                                      </p:cBhvr>
                                      <p:tavLst>
                                        <p:tav tm="0">
                                          <p:val>
                                            <p:strVal val="#ppt_y"/>
                                          </p:val>
                                        </p:tav>
                                        <p:tav tm="100000">
                                          <p:val>
                                            <p:strVal val="#ppt_y"/>
                                          </p:val>
                                        </p:tav>
                                      </p:tavLst>
                                    </p:anim>
                                    <p:anim calcmode="lin" valueType="num">
                                      <p:cBhvr>
                                        <p:cTn id="47" dur="500" fill="hold"/>
                                        <p:tgtEl>
                                          <p:spTgt spid="28"/>
                                        </p:tgtEl>
                                        <p:attrNameLst>
                                          <p:attrName>ppt_w</p:attrName>
                                        </p:attrNameLst>
                                      </p:cBhvr>
                                      <p:tavLst>
                                        <p:tav tm="0">
                                          <p:val>
                                            <p:fltVal val="0"/>
                                          </p:val>
                                        </p:tav>
                                        <p:tav tm="100000">
                                          <p:val>
                                            <p:strVal val="#ppt_w"/>
                                          </p:val>
                                        </p:tav>
                                      </p:tavLst>
                                    </p:anim>
                                    <p:anim calcmode="lin" valueType="num">
                                      <p:cBhvr>
                                        <p:cTn id="48" dur="500" fill="hold"/>
                                        <p:tgtEl>
                                          <p:spTgt spid="28"/>
                                        </p:tgtEl>
                                        <p:attrNameLst>
                                          <p:attrName>ppt_h</p:attrName>
                                        </p:attrNameLst>
                                      </p:cBhvr>
                                      <p:tavLst>
                                        <p:tav tm="0">
                                          <p:val>
                                            <p:strVal val="#ppt_h"/>
                                          </p:val>
                                        </p:tav>
                                        <p:tav tm="100000">
                                          <p:val>
                                            <p:strVal val="#ppt_h"/>
                                          </p:val>
                                        </p:tav>
                                      </p:tavLst>
                                    </p:anim>
                                  </p:childTnLst>
                                </p:cTn>
                              </p:par>
                            </p:childTnLst>
                          </p:cTn>
                        </p:par>
                        <p:par>
                          <p:cTn id="49" fill="hold">
                            <p:stCondLst>
                              <p:cond delay="5824"/>
                            </p:stCondLst>
                            <p:childTnLst>
                              <p:par>
                                <p:cTn id="50" presetID="17" presetClass="entr" presetSubtype="8" fill="hold" nodeType="afterEffect">
                                  <p:stCondLst>
                                    <p:cond delay="0"/>
                                  </p:stCondLst>
                                  <p:childTnLst>
                                    <p:set>
                                      <p:cBhvr>
                                        <p:cTn id="51" dur="1" fill="hold">
                                          <p:stCondLst>
                                            <p:cond delay="0"/>
                                          </p:stCondLst>
                                        </p:cTn>
                                        <p:tgtEl>
                                          <p:spTgt spid="29"/>
                                        </p:tgtEl>
                                        <p:attrNameLst>
                                          <p:attrName>style.visibility</p:attrName>
                                        </p:attrNameLst>
                                      </p:cBhvr>
                                      <p:to>
                                        <p:strVal val="visible"/>
                                      </p:to>
                                    </p:set>
                                    <p:anim calcmode="lin" valueType="num">
                                      <p:cBhvr>
                                        <p:cTn id="52" dur="500" fill="hold"/>
                                        <p:tgtEl>
                                          <p:spTgt spid="29"/>
                                        </p:tgtEl>
                                        <p:attrNameLst>
                                          <p:attrName>ppt_x</p:attrName>
                                        </p:attrNameLst>
                                      </p:cBhvr>
                                      <p:tavLst>
                                        <p:tav tm="0">
                                          <p:val>
                                            <p:strVal val="#ppt_x-#ppt_w/2"/>
                                          </p:val>
                                        </p:tav>
                                        <p:tav tm="100000">
                                          <p:val>
                                            <p:strVal val="#ppt_x"/>
                                          </p:val>
                                        </p:tav>
                                      </p:tavLst>
                                    </p:anim>
                                    <p:anim calcmode="lin" valueType="num">
                                      <p:cBhvr>
                                        <p:cTn id="53" dur="500" fill="hold"/>
                                        <p:tgtEl>
                                          <p:spTgt spid="29"/>
                                        </p:tgtEl>
                                        <p:attrNameLst>
                                          <p:attrName>ppt_y</p:attrName>
                                        </p:attrNameLst>
                                      </p:cBhvr>
                                      <p:tavLst>
                                        <p:tav tm="0">
                                          <p:val>
                                            <p:strVal val="#ppt_y"/>
                                          </p:val>
                                        </p:tav>
                                        <p:tav tm="100000">
                                          <p:val>
                                            <p:strVal val="#ppt_y"/>
                                          </p:val>
                                        </p:tav>
                                      </p:tavLst>
                                    </p:anim>
                                    <p:anim calcmode="lin" valueType="num">
                                      <p:cBhvr>
                                        <p:cTn id="54" dur="500" fill="hold"/>
                                        <p:tgtEl>
                                          <p:spTgt spid="29"/>
                                        </p:tgtEl>
                                        <p:attrNameLst>
                                          <p:attrName>ppt_w</p:attrName>
                                        </p:attrNameLst>
                                      </p:cBhvr>
                                      <p:tavLst>
                                        <p:tav tm="0">
                                          <p:val>
                                            <p:fltVal val="0"/>
                                          </p:val>
                                        </p:tav>
                                        <p:tav tm="100000">
                                          <p:val>
                                            <p:strVal val="#ppt_w"/>
                                          </p:val>
                                        </p:tav>
                                      </p:tavLst>
                                    </p:anim>
                                    <p:anim calcmode="lin" valueType="num">
                                      <p:cBhvr>
                                        <p:cTn id="55" dur="500" fill="hold"/>
                                        <p:tgtEl>
                                          <p:spTgt spid="29"/>
                                        </p:tgtEl>
                                        <p:attrNameLst>
                                          <p:attrName>ppt_h</p:attrName>
                                        </p:attrNameLst>
                                      </p:cBhvr>
                                      <p:tavLst>
                                        <p:tav tm="0">
                                          <p:val>
                                            <p:strVal val="#ppt_h"/>
                                          </p:val>
                                        </p:tav>
                                        <p:tav tm="100000">
                                          <p:val>
                                            <p:strVal val="#ppt_h"/>
                                          </p:val>
                                        </p:tav>
                                      </p:tavLst>
                                    </p:anim>
                                  </p:childTnLst>
                                </p:cTn>
                              </p:par>
                            </p:childTnLst>
                          </p:cTn>
                        </p:par>
                        <p:par>
                          <p:cTn id="56" fill="hold">
                            <p:stCondLst>
                              <p:cond delay="6324"/>
                            </p:stCondLst>
                            <p:childTnLst>
                              <p:par>
                                <p:cTn id="57" presetID="17" presetClass="entr" presetSubtype="1" fill="hold" nodeType="after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p:cTn id="59" dur="500" fill="hold"/>
                                        <p:tgtEl>
                                          <p:spTgt spid="30"/>
                                        </p:tgtEl>
                                        <p:attrNameLst>
                                          <p:attrName>ppt_x</p:attrName>
                                        </p:attrNameLst>
                                      </p:cBhvr>
                                      <p:tavLst>
                                        <p:tav tm="0">
                                          <p:val>
                                            <p:strVal val="#ppt_x"/>
                                          </p:val>
                                        </p:tav>
                                        <p:tav tm="100000">
                                          <p:val>
                                            <p:strVal val="#ppt_x"/>
                                          </p:val>
                                        </p:tav>
                                      </p:tavLst>
                                    </p:anim>
                                    <p:anim calcmode="lin" valueType="num">
                                      <p:cBhvr>
                                        <p:cTn id="60" dur="500" fill="hold"/>
                                        <p:tgtEl>
                                          <p:spTgt spid="30"/>
                                        </p:tgtEl>
                                        <p:attrNameLst>
                                          <p:attrName>ppt_y</p:attrName>
                                        </p:attrNameLst>
                                      </p:cBhvr>
                                      <p:tavLst>
                                        <p:tav tm="0">
                                          <p:val>
                                            <p:strVal val="#ppt_y-#ppt_h/2"/>
                                          </p:val>
                                        </p:tav>
                                        <p:tav tm="100000">
                                          <p:val>
                                            <p:strVal val="#ppt_y"/>
                                          </p:val>
                                        </p:tav>
                                      </p:tavLst>
                                    </p:anim>
                                    <p:anim calcmode="lin" valueType="num">
                                      <p:cBhvr>
                                        <p:cTn id="61" dur="500" fill="hold"/>
                                        <p:tgtEl>
                                          <p:spTgt spid="30"/>
                                        </p:tgtEl>
                                        <p:attrNameLst>
                                          <p:attrName>ppt_w</p:attrName>
                                        </p:attrNameLst>
                                      </p:cBhvr>
                                      <p:tavLst>
                                        <p:tav tm="0">
                                          <p:val>
                                            <p:strVal val="#ppt_w"/>
                                          </p:val>
                                        </p:tav>
                                        <p:tav tm="100000">
                                          <p:val>
                                            <p:strVal val="#ppt_w"/>
                                          </p:val>
                                        </p:tav>
                                      </p:tavLst>
                                    </p:anim>
                                    <p:anim calcmode="lin" valueType="num">
                                      <p:cBhvr>
                                        <p:cTn id="62" dur="500" fill="hold"/>
                                        <p:tgtEl>
                                          <p:spTgt spid="30"/>
                                        </p:tgtEl>
                                        <p:attrNameLst>
                                          <p:attrName>ppt_h</p:attrName>
                                        </p:attrNameLst>
                                      </p:cBhvr>
                                      <p:tavLst>
                                        <p:tav tm="0">
                                          <p:val>
                                            <p:fltVal val="0"/>
                                          </p:val>
                                        </p:tav>
                                        <p:tav tm="100000">
                                          <p:val>
                                            <p:strVal val="#ppt_h"/>
                                          </p:val>
                                        </p:tav>
                                      </p:tavLst>
                                    </p:anim>
                                  </p:childTnLst>
                                </p:cTn>
                              </p:par>
                            </p:childTnLst>
                          </p:cTn>
                        </p:par>
                        <p:par>
                          <p:cTn id="63" fill="hold">
                            <p:stCondLst>
                              <p:cond delay="6824"/>
                            </p:stCondLst>
                            <p:childTnLst>
                              <p:par>
                                <p:cTn id="64" presetID="17" presetClass="entr" presetSubtype="8" fill="hold" nodeType="afterEffect">
                                  <p:stCondLst>
                                    <p:cond delay="0"/>
                                  </p:stCondLst>
                                  <p:childTnLst>
                                    <p:set>
                                      <p:cBhvr>
                                        <p:cTn id="65" dur="1" fill="hold">
                                          <p:stCondLst>
                                            <p:cond delay="0"/>
                                          </p:stCondLst>
                                        </p:cTn>
                                        <p:tgtEl>
                                          <p:spTgt spid="31"/>
                                        </p:tgtEl>
                                        <p:attrNameLst>
                                          <p:attrName>style.visibility</p:attrName>
                                        </p:attrNameLst>
                                      </p:cBhvr>
                                      <p:to>
                                        <p:strVal val="visible"/>
                                      </p:to>
                                    </p:set>
                                    <p:anim calcmode="lin" valueType="num">
                                      <p:cBhvr>
                                        <p:cTn id="66" dur="500" fill="hold"/>
                                        <p:tgtEl>
                                          <p:spTgt spid="31"/>
                                        </p:tgtEl>
                                        <p:attrNameLst>
                                          <p:attrName>ppt_x</p:attrName>
                                        </p:attrNameLst>
                                      </p:cBhvr>
                                      <p:tavLst>
                                        <p:tav tm="0">
                                          <p:val>
                                            <p:strVal val="#ppt_x-#ppt_w/2"/>
                                          </p:val>
                                        </p:tav>
                                        <p:tav tm="100000">
                                          <p:val>
                                            <p:strVal val="#ppt_x"/>
                                          </p:val>
                                        </p:tav>
                                      </p:tavLst>
                                    </p:anim>
                                    <p:anim calcmode="lin" valueType="num">
                                      <p:cBhvr>
                                        <p:cTn id="67" dur="500" fill="hold"/>
                                        <p:tgtEl>
                                          <p:spTgt spid="31"/>
                                        </p:tgtEl>
                                        <p:attrNameLst>
                                          <p:attrName>ppt_y</p:attrName>
                                        </p:attrNameLst>
                                      </p:cBhvr>
                                      <p:tavLst>
                                        <p:tav tm="0">
                                          <p:val>
                                            <p:strVal val="#ppt_y"/>
                                          </p:val>
                                        </p:tav>
                                        <p:tav tm="100000">
                                          <p:val>
                                            <p:strVal val="#ppt_y"/>
                                          </p:val>
                                        </p:tav>
                                      </p:tavLst>
                                    </p:anim>
                                    <p:anim calcmode="lin" valueType="num">
                                      <p:cBhvr>
                                        <p:cTn id="68" dur="500" fill="hold"/>
                                        <p:tgtEl>
                                          <p:spTgt spid="31"/>
                                        </p:tgtEl>
                                        <p:attrNameLst>
                                          <p:attrName>ppt_w</p:attrName>
                                        </p:attrNameLst>
                                      </p:cBhvr>
                                      <p:tavLst>
                                        <p:tav tm="0">
                                          <p:val>
                                            <p:fltVal val="0"/>
                                          </p:val>
                                        </p:tav>
                                        <p:tav tm="100000">
                                          <p:val>
                                            <p:strVal val="#ppt_w"/>
                                          </p:val>
                                        </p:tav>
                                      </p:tavLst>
                                    </p:anim>
                                    <p:anim calcmode="lin" valueType="num">
                                      <p:cBhvr>
                                        <p:cTn id="69" dur="500" fill="hold"/>
                                        <p:tgtEl>
                                          <p:spTgt spid="31"/>
                                        </p:tgtEl>
                                        <p:attrNameLst>
                                          <p:attrName>ppt_h</p:attrName>
                                        </p:attrNameLst>
                                      </p:cBhvr>
                                      <p:tavLst>
                                        <p:tav tm="0">
                                          <p:val>
                                            <p:strVal val="#ppt_h"/>
                                          </p:val>
                                        </p:tav>
                                        <p:tav tm="100000">
                                          <p:val>
                                            <p:strVal val="#ppt_h"/>
                                          </p:val>
                                        </p:tav>
                                      </p:tavLst>
                                    </p:anim>
                                  </p:childTnLst>
                                </p:cTn>
                              </p:par>
                            </p:childTnLst>
                          </p:cTn>
                        </p:par>
                        <p:par>
                          <p:cTn id="70" fill="hold">
                            <p:stCondLst>
                              <p:cond delay="7324"/>
                            </p:stCondLst>
                            <p:childTnLst>
                              <p:par>
                                <p:cTn id="71" presetID="16" presetClass="entr" presetSubtype="26" fill="hold" nodeType="afterEffect">
                                  <p:stCondLst>
                                    <p:cond delay="0"/>
                                  </p:stCondLst>
                                  <p:childTnLst>
                                    <p:set>
                                      <p:cBhvr>
                                        <p:cTn id="72" dur="1" fill="hold">
                                          <p:stCondLst>
                                            <p:cond delay="0"/>
                                          </p:stCondLst>
                                        </p:cTn>
                                        <p:tgtEl>
                                          <p:spTgt spid="43"/>
                                        </p:tgtEl>
                                        <p:attrNameLst>
                                          <p:attrName>style.visibility</p:attrName>
                                        </p:attrNameLst>
                                      </p:cBhvr>
                                      <p:to>
                                        <p:strVal val="visible"/>
                                      </p:to>
                                    </p:set>
                                    <p:animEffect transition="in" filter="barn(inHorizontal)">
                                      <p:cBhvr>
                                        <p:cTn id="73" dur="500"/>
                                        <p:tgtEl>
                                          <p:spTgt spid="43"/>
                                        </p:tgtEl>
                                      </p:cBhvr>
                                    </p:animEffect>
                                  </p:childTnLst>
                                </p:cTn>
                              </p:par>
                            </p:childTnLst>
                          </p:cTn>
                        </p:par>
                        <p:par>
                          <p:cTn id="74" fill="hold">
                            <p:stCondLst>
                              <p:cond delay="7824"/>
                            </p:stCondLst>
                            <p:childTnLst>
                              <p:par>
                                <p:cTn id="75" presetID="17" presetClass="entr" presetSubtype="8" fill="hold" nodeType="afterEffect">
                                  <p:stCondLst>
                                    <p:cond delay="0"/>
                                  </p:stCondLst>
                                  <p:childTnLst>
                                    <p:set>
                                      <p:cBhvr>
                                        <p:cTn id="76" dur="1" fill="hold">
                                          <p:stCondLst>
                                            <p:cond delay="0"/>
                                          </p:stCondLst>
                                        </p:cTn>
                                        <p:tgtEl>
                                          <p:spTgt spid="45"/>
                                        </p:tgtEl>
                                        <p:attrNameLst>
                                          <p:attrName>style.visibility</p:attrName>
                                        </p:attrNameLst>
                                      </p:cBhvr>
                                      <p:to>
                                        <p:strVal val="visible"/>
                                      </p:to>
                                    </p:set>
                                    <p:anim calcmode="lin" valueType="num">
                                      <p:cBhvr>
                                        <p:cTn id="77" dur="500" fill="hold"/>
                                        <p:tgtEl>
                                          <p:spTgt spid="45"/>
                                        </p:tgtEl>
                                        <p:attrNameLst>
                                          <p:attrName>ppt_x</p:attrName>
                                        </p:attrNameLst>
                                      </p:cBhvr>
                                      <p:tavLst>
                                        <p:tav tm="0">
                                          <p:val>
                                            <p:strVal val="#ppt_x-#ppt_w/2"/>
                                          </p:val>
                                        </p:tav>
                                        <p:tav tm="100000">
                                          <p:val>
                                            <p:strVal val="#ppt_x"/>
                                          </p:val>
                                        </p:tav>
                                      </p:tavLst>
                                    </p:anim>
                                    <p:anim calcmode="lin" valueType="num">
                                      <p:cBhvr>
                                        <p:cTn id="78" dur="500" fill="hold"/>
                                        <p:tgtEl>
                                          <p:spTgt spid="45"/>
                                        </p:tgtEl>
                                        <p:attrNameLst>
                                          <p:attrName>ppt_y</p:attrName>
                                        </p:attrNameLst>
                                      </p:cBhvr>
                                      <p:tavLst>
                                        <p:tav tm="0">
                                          <p:val>
                                            <p:strVal val="#ppt_y"/>
                                          </p:val>
                                        </p:tav>
                                        <p:tav tm="100000">
                                          <p:val>
                                            <p:strVal val="#ppt_y"/>
                                          </p:val>
                                        </p:tav>
                                      </p:tavLst>
                                    </p:anim>
                                    <p:anim calcmode="lin" valueType="num">
                                      <p:cBhvr>
                                        <p:cTn id="79" dur="500" fill="hold"/>
                                        <p:tgtEl>
                                          <p:spTgt spid="45"/>
                                        </p:tgtEl>
                                        <p:attrNameLst>
                                          <p:attrName>ppt_w</p:attrName>
                                        </p:attrNameLst>
                                      </p:cBhvr>
                                      <p:tavLst>
                                        <p:tav tm="0">
                                          <p:val>
                                            <p:fltVal val="0"/>
                                          </p:val>
                                        </p:tav>
                                        <p:tav tm="100000">
                                          <p:val>
                                            <p:strVal val="#ppt_w"/>
                                          </p:val>
                                        </p:tav>
                                      </p:tavLst>
                                    </p:anim>
                                    <p:anim calcmode="lin" valueType="num">
                                      <p:cBhvr>
                                        <p:cTn id="80" dur="500" fill="hold"/>
                                        <p:tgtEl>
                                          <p:spTgt spid="4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autoUpdateAnimBg="0"/>
      <p:bldP spid="23" grpId="0" animBg="1" autoUpdateAnimBg="0"/>
      <p:bldP spid="24" grpId="0" animBg="1" autoUpdateAnimBg="0"/>
      <p:bldP spid="25" grpId="0" animBg="1" autoUpdateAnimBg="0"/>
    </p:bldLst>
  </p:timing>
</p:sld>
</file>

<file path=ppt/slides/slide118.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1"/>
            <a:ext cx="10515600" cy="891250"/>
          </a:xfrm>
        </p:spPr>
        <p:txBody>
          <a:bodyPr>
            <a:normAutofit/>
          </a:bodyPr>
          <a:lstStyle/>
          <a:p>
            <a:pPr algn="just"/>
            <a:r>
              <a:rPr lang="vi-VN" sz="2400" b="1" dirty="0">
                <a:solidFill>
                  <a:schemeClr val="tx1">
                    <a:lumMod val="95000"/>
                    <a:lumOff val="5000"/>
                  </a:schemeClr>
                </a:solidFill>
                <a:latin typeface="Times New Roman" panose="02020603050405020304" pitchFamily="18" charset="0"/>
                <a:cs typeface="Times New Roman" panose="02020603050405020304" pitchFamily="18" charset="0"/>
              </a:rPr>
              <a:t>b. </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Vai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trò</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thực</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tiễn</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đối</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với</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nhận</a:t>
            </a:r>
            <a:r>
              <a:rPr lang="en-US" sz="24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400" b="1" dirty="0" err="1">
                <a:solidFill>
                  <a:schemeClr val="tx1">
                    <a:lumMod val="95000"/>
                    <a:lumOff val="5000"/>
                  </a:schemeClr>
                </a:solidFill>
                <a:latin typeface="Times New Roman" panose="02020603050405020304" pitchFamily="18" charset="0"/>
                <a:cs typeface="Times New Roman" panose="02020603050405020304" pitchFamily="18" charset="0"/>
              </a:rPr>
              <a:t>thức</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462987" y="659758"/>
            <a:ext cx="11169570" cy="5984110"/>
          </a:xfrm>
        </p:spPr>
        <p:txBody>
          <a:bodyPr>
            <a:normAutofit fontScale="25000" lnSpcReduction="20000"/>
          </a:bodyPr>
          <a:lstStyle/>
          <a:p>
            <a:pPr algn="just">
              <a:buFont typeface="Wingdings" panose="05000000000000000000" pitchFamily="2" charset="2"/>
              <a:buChar char="v"/>
            </a:pPr>
            <a:endParaRPr lang="vi-VN" sz="2800" b="1" i="1"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Thực</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tiển</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cơ</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sở</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động</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lực</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Thực</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tiễn</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điểm</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xuất</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phát</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trực</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tiếp</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nhận</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thức</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Nó</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đề</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ra</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nhu</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cầu</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nhiệm</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vụ</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cách</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thức</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khuynh</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hướng</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vận</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động</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và</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phát</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triển</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nhận</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dirty="0" err="1">
                <a:solidFill>
                  <a:schemeClr val="tx1">
                    <a:lumMod val="95000"/>
                    <a:lumOff val="5000"/>
                  </a:schemeClr>
                </a:solidFill>
                <a:latin typeface="Times New Roman" panose="02020603050405020304" pitchFamily="18" charset="0"/>
                <a:cs typeface="Times New Roman" panose="02020603050405020304" pitchFamily="18" charset="0"/>
              </a:rPr>
              <a:t>thức</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Thực</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tiển</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vi-VN"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mục</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đích</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nhận</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thức</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Tx/>
              <a:buChar char="-"/>
            </a:pPr>
            <a:r>
              <a:rPr lang="vi-VN" sz="8600" dirty="0">
                <a:solidFill>
                  <a:schemeClr val="tx1">
                    <a:lumMod val="95000"/>
                    <a:lumOff val="5000"/>
                  </a:schemeClr>
                </a:solidFill>
                <a:latin typeface="Times New Roman" panose="02020603050405020304" pitchFamily="18" charset="0"/>
                <a:cs typeface="Times New Roman" panose="02020603050405020304" pitchFamily="18" charset="0"/>
              </a:rPr>
              <a:t>Nhu cầu sản xuất vật chất và cải tạo xã hội buộc con người phải nhận thức thế giới xung quanh.</a:t>
            </a:r>
            <a:r>
              <a:rPr lang="en-US" sz="8600"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Tx/>
              <a:buChar char="-"/>
            </a:pPr>
            <a:r>
              <a:rPr lang="vi-VN" sz="8600" dirty="0">
                <a:solidFill>
                  <a:schemeClr val="tx1">
                    <a:lumMod val="95000"/>
                    <a:lumOff val="5000"/>
                  </a:schemeClr>
                </a:solidFill>
                <a:latin typeface="Times New Roman" panose="02020603050405020304" pitchFamily="18" charset="0"/>
                <a:cs typeface="Times New Roman" panose="02020603050405020304" pitchFamily="18" charset="0"/>
              </a:rPr>
              <a:t>Nhận thức của con người là nhằm phục vụ thực tiễn, soi đường, dẫn dắt, chỉ đạo thực tiễn.</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Thực</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8600" b="1" i="1" dirty="0" err="1">
                <a:solidFill>
                  <a:schemeClr val="tx1">
                    <a:lumMod val="95000"/>
                    <a:lumOff val="5000"/>
                  </a:schemeClr>
                </a:solidFill>
                <a:latin typeface="Times New Roman" panose="02020603050405020304" pitchFamily="18" charset="0"/>
                <a:cs typeface="Times New Roman" panose="02020603050405020304" pitchFamily="18" charset="0"/>
              </a:rPr>
              <a:t>tiển</a:t>
            </a:r>
            <a:r>
              <a:rPr lang="en-US" sz="8600"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vi-VN" sz="8600" b="1" i="1" dirty="0">
                <a:solidFill>
                  <a:schemeClr val="tx1">
                    <a:lumMod val="95000"/>
                    <a:lumOff val="5000"/>
                  </a:schemeClr>
                </a:solidFill>
                <a:latin typeface="Times New Roman" panose="02020603050405020304" pitchFamily="18" charset="0"/>
                <a:cs typeface="Times New Roman" panose="02020603050405020304" pitchFamily="18" charset="0"/>
              </a:rPr>
              <a:t>là tiêu chuẩn để kiểm tra chân lý</a:t>
            </a:r>
            <a:endParaRPr lang="vi-VN" sz="8600" b="1" i="1"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Tx/>
              <a:buChar char="-"/>
            </a:pPr>
            <a:r>
              <a:rPr lang="vi-VN" sz="8600" dirty="0">
                <a:solidFill>
                  <a:schemeClr val="tx1">
                    <a:lumMod val="95000"/>
                    <a:lumOff val="5000"/>
                  </a:schemeClr>
                </a:solidFill>
                <a:latin typeface="Times New Roman" panose="02020603050405020304" pitchFamily="18" charset="0"/>
                <a:cs typeface="Times New Roman" panose="02020603050405020304" pitchFamily="18" charset="0"/>
              </a:rPr>
              <a:t>Tri thức là kết quả của quá trình nhận thức, tri thức đó có thể phản ánh đúng hoặc không đúng hiện thực.</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Tx/>
              <a:buChar char="-"/>
            </a:pPr>
            <a:r>
              <a:rPr lang="vi-VN" sz="8600" dirty="0">
                <a:solidFill>
                  <a:schemeClr val="tx1">
                    <a:lumMod val="95000"/>
                    <a:lumOff val="5000"/>
                  </a:schemeClr>
                </a:solidFill>
                <a:latin typeface="Times New Roman" panose="02020603050405020304" pitchFamily="18" charset="0"/>
                <a:cs typeface="Times New Roman" panose="02020603050405020304" pitchFamily="18" charset="0"/>
              </a:rPr>
              <a:t>Có nhiều hình thức thực tiễn khác nhau, do vậy cũng có nhiều hình thức kiểm tra chân lý khác nhau, bằng thực nghiệm khoa học hoặc áp dụng lý luận xã hội vào quá trình cải biến xã hội.</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Tx/>
              <a:buChar char="-"/>
            </a:pPr>
            <a:r>
              <a:rPr lang="vi-VN" sz="8600" dirty="0">
                <a:solidFill>
                  <a:schemeClr val="tx1">
                    <a:lumMod val="95000"/>
                    <a:lumOff val="5000"/>
                  </a:schemeClr>
                </a:solidFill>
                <a:latin typeface="Times New Roman" panose="02020603050405020304" pitchFamily="18" charset="0"/>
                <a:cs typeface="Times New Roman" panose="02020603050405020304" pitchFamily="18" charset="0"/>
              </a:rPr>
              <a:t>Cần phải quán triện quan điểm thực tiễn trong nhận thức và hoạt động.</a:t>
            </a:r>
            <a:endParaRPr lang="vi-VN" sz="8600"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buFontTx/>
              <a:buChar char="-"/>
            </a:pPr>
            <a:r>
              <a:rPr lang="en-US" altLang="en-US" sz="8600" dirty="0" err="1">
                <a:latin typeface="Times New Roman" panose="02020603050405020304" pitchFamily="18" charset="0"/>
                <a:cs typeface="Times New Roman" panose="02020603050405020304" pitchFamily="18" charset="0"/>
              </a:rPr>
              <a:t>Thoát</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ly</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thực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tiễn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không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dựa</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vào</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thực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ti</a:t>
            </a:r>
            <a:r>
              <a:rPr lang="vi-VN" altLang="en-US" sz="8600" dirty="0">
                <a:latin typeface="Times New Roman" panose="02020603050405020304" pitchFamily="18" charset="0"/>
                <a:cs typeface="Times New Roman" panose="02020603050405020304" pitchFamily="18" charset="0"/>
              </a:rPr>
              <a:t>ễn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thì</a:t>
            </a:r>
            <a:r>
              <a:rPr lang="en-US" altLang="en-US" sz="8600" dirty="0">
                <a:latin typeface="Times New Roman" panose="02020603050405020304" pitchFamily="18" charset="0"/>
                <a:cs typeface="Times New Roman" panose="02020603050405020304" pitchFamily="18" charset="0"/>
              </a:rPr>
              <a:t> con </a:t>
            </a:r>
            <a:r>
              <a:rPr lang="en-US" altLang="en-US" sz="8600" dirty="0" err="1">
                <a:latin typeface="Times New Roman" panose="02020603050405020304" pitchFamily="18" charset="0"/>
                <a:cs typeface="Times New Roman" panose="02020603050405020304" pitchFamily="18" charset="0"/>
              </a:rPr>
              <a:t>người</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không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thể</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có</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được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những</a:t>
            </a:r>
            <a:r>
              <a:rPr lang="en-US" altLang="en-US" sz="8600" dirty="0">
                <a:latin typeface="Times New Roman" panose="02020603050405020304" pitchFamily="18" charset="0"/>
                <a:cs typeface="Times New Roman" panose="02020603050405020304" pitchFamily="18" charset="0"/>
              </a:rPr>
              <a:t> tri </a:t>
            </a:r>
            <a:r>
              <a:rPr lang="en-US" altLang="en-US" sz="8600" dirty="0" err="1">
                <a:latin typeface="Times New Roman" panose="02020603050405020304" pitchFamily="18" charset="0"/>
                <a:cs typeface="Times New Roman" panose="02020603050405020304" pitchFamily="18" charset="0"/>
              </a:rPr>
              <a:t>thức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đúng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đắn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chân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thực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về</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thế</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giới</a:t>
            </a:r>
            <a:r>
              <a:rPr lang="en-US" altLang="en-US" sz="8600" dirty="0">
                <a:latin typeface="Times New Roman" panose="02020603050405020304" pitchFamily="18" charset="0"/>
                <a:cs typeface="Times New Roman" panose="02020603050405020304" pitchFamily="18" charset="0"/>
              </a:rPr>
              <a:t>.</a:t>
            </a:r>
            <a:endParaRPr lang="vi-VN" altLang="en-US" sz="8600" dirty="0">
              <a:latin typeface="Times New Roman" panose="02020603050405020304" pitchFamily="18" charset="0"/>
              <a:cs typeface="Times New Roman" panose="02020603050405020304" pitchFamily="18" charset="0"/>
            </a:endParaRPr>
          </a:p>
          <a:p>
            <a:pPr algn="just">
              <a:buFontTx/>
              <a:buChar char="-"/>
            </a:pPr>
            <a:r>
              <a:rPr lang="en-US" altLang="en-US" sz="8600" dirty="0" err="1">
                <a:latin typeface="Times New Roman" panose="02020603050405020304" pitchFamily="18" charset="0"/>
                <a:cs typeface="Times New Roman" panose="02020603050405020304" pitchFamily="18" charset="0"/>
              </a:rPr>
              <a:t>Thực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tiễn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góp</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phần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hoàn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thiện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nối</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dài</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các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giác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quan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của</a:t>
            </a:r>
            <a:r>
              <a:rPr lang="en-US" altLang="en-US" sz="8600" dirty="0">
                <a:latin typeface="Times New Roman" panose="02020603050405020304" pitchFamily="18" charset="0"/>
                <a:cs typeface="Times New Roman" panose="02020603050405020304" pitchFamily="18" charset="0"/>
              </a:rPr>
              <a:t> con </a:t>
            </a:r>
            <a:r>
              <a:rPr lang="en-US" altLang="en-US" sz="8600" dirty="0" err="1">
                <a:latin typeface="Times New Roman" panose="02020603050405020304" pitchFamily="18" charset="0"/>
                <a:cs typeface="Times New Roman" panose="02020603050405020304" pitchFamily="18" charset="0"/>
              </a:rPr>
              <a:t>người</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năng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lực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tư</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duy</a:t>
            </a:r>
            <a:r>
              <a:rPr lang="en-US" altLang="en-US" sz="8600" dirty="0">
                <a:latin typeface="Times New Roman" panose="02020603050405020304" pitchFamily="18" charset="0"/>
                <a:cs typeface="Times New Roman" panose="02020603050405020304" pitchFamily="18" charset="0"/>
              </a:rPr>
              <a:t> logic </a:t>
            </a:r>
            <a:r>
              <a:rPr lang="en-US" altLang="en-US" sz="8600" dirty="0" err="1">
                <a:latin typeface="Times New Roman" panose="02020603050405020304" pitchFamily="18" charset="0"/>
                <a:cs typeface="Times New Roman" panose="02020603050405020304" pitchFamily="18" charset="0"/>
              </a:rPr>
              <a:t>không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ngừng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được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cũng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cố</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phát</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triển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các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phương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tiện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nhận</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thức</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ngày</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càng</a:t>
            </a:r>
            <a:r>
              <a:rPr lang="en-US" altLang="en-US" sz="8600" dirty="0">
                <a:latin typeface="Times New Roman" panose="02020603050405020304" pitchFamily="18" charset="0"/>
                <a:cs typeface="Times New Roman" panose="02020603050405020304" pitchFamily="18" charset="0"/>
              </a:rPr>
              <a:t> </a:t>
            </a:r>
            <a:r>
              <a:rPr lang="en-US" altLang="en-US" sz="8600" dirty="0" err="1">
                <a:latin typeface="Times New Roman" panose="02020603050405020304" pitchFamily="18" charset="0"/>
                <a:cs typeface="Times New Roman" panose="02020603050405020304" pitchFamily="18" charset="0"/>
              </a:rPr>
              <a:t>tinh</a:t>
            </a:r>
            <a:r>
              <a:rPr lang="en-US" altLang="en-US" sz="8600" dirty="0">
                <a:latin typeface="Times New Roman" panose="02020603050405020304" pitchFamily="18" charset="0"/>
                <a:cs typeface="Times New Roman" panose="02020603050405020304" pitchFamily="18" charset="0"/>
              </a:rPr>
              <a:t> vi. </a:t>
            </a:r>
            <a:endParaRPr lang="en-US" altLang="en-US" sz="8600" dirty="0">
              <a:latin typeface="Times New Roman" panose="02020603050405020304" pitchFamily="18" charset="0"/>
              <a:cs typeface="Times New Roman" panose="02020603050405020304" pitchFamily="18" charset="0"/>
            </a:endParaRPr>
          </a:p>
          <a:p>
            <a:pPr algn="just">
              <a:buFontTx/>
              <a:buChar char="-"/>
            </a:pPr>
            <a:endParaRPr lang="en-US" sz="4400" dirty="0">
              <a:solidFill>
                <a:schemeClr val="tx1">
                  <a:lumMod val="95000"/>
                  <a:lumOff val="5000"/>
                </a:schemeClr>
              </a:solidFill>
              <a:latin typeface="Times New Roman" panose="02020603050405020304" pitchFamily="18" charset="0"/>
              <a:cs typeface="Times New Roman" panose="02020603050405020304" pitchFamily="18" charset="0"/>
            </a:endParaRPr>
          </a:p>
          <a:p>
            <a:pPr marL="0" indent="0" algn="just">
              <a:buNone/>
            </a:pPr>
            <a:endParaRPr lang="en-US" sz="2800" b="1" i="1" dirty="0">
              <a:solidFill>
                <a:schemeClr val="tx1">
                  <a:lumMod val="95000"/>
                  <a:lumOff val="5000"/>
                </a:schemeClr>
              </a:solidFill>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46364"/>
            <a:ext cx="10515600" cy="997528"/>
          </a:xfrm>
        </p:spPr>
        <p:txBody>
          <a:bodyPr>
            <a:normAutofit/>
          </a:bodyPr>
          <a:lstStyle/>
          <a:p>
            <a:pPr algn="just"/>
            <a:r>
              <a:rPr lang="en-US" sz="3600" b="1" dirty="0" err="1">
                <a:latin typeface="Times New Roman" panose="02020603050405020304" pitchFamily="18" charset="0"/>
                <a:cs typeface="Times New Roman" panose="02020603050405020304" pitchFamily="18" charset="0"/>
              </a:rPr>
              <a:t>c. Các</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giai</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đoạn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cơ</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bản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của</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quá</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trình</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nhận</a:t>
            </a:r>
            <a:r>
              <a:rPr lang="en-US" sz="3600" b="1" dirty="0">
                <a:latin typeface="Times New Roman" panose="02020603050405020304" pitchFamily="18" charset="0"/>
                <a:cs typeface="Times New Roman" panose="02020603050405020304" pitchFamily="18" charset="0"/>
              </a:rPr>
              <a:t> </a:t>
            </a:r>
            <a:r>
              <a:rPr lang="en-US" sz="3600" b="1" dirty="0" err="1">
                <a:latin typeface="Times New Roman" panose="02020603050405020304" pitchFamily="18" charset="0"/>
                <a:cs typeface="Times New Roman" panose="02020603050405020304" pitchFamily="18" charset="0"/>
              </a:rPr>
              <a:t>thức</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593273"/>
            <a:ext cx="10515600" cy="4583690"/>
          </a:xfrm>
        </p:spPr>
        <p:txBody>
          <a:bodyPr/>
          <a:lstStyle/>
          <a:p>
            <a:pPr algn="just">
              <a:buFont typeface="Wingdings" panose="05000000000000000000" pitchFamily="2" charset="2"/>
              <a:buChar char="v"/>
            </a:pPr>
            <a:r>
              <a:rPr lang="en-US" altLang="en-US" b="1" i="1" dirty="0" err="1">
                <a:latin typeface="Times New Roman" panose="02020603050405020304" pitchFamily="18" charset="0"/>
              </a:rPr>
              <a:t>Quan</a:t>
            </a:r>
            <a:r>
              <a:rPr lang="en-US" altLang="en-US" b="1" i="1" dirty="0">
                <a:latin typeface="Times New Roman" panose="02020603050405020304" pitchFamily="18" charset="0"/>
              </a:rPr>
              <a:t> </a:t>
            </a:r>
            <a:r>
              <a:rPr lang="en-US" altLang="en-US" b="1" i="1" dirty="0" err="1">
                <a:latin typeface="Times New Roman" panose="02020603050405020304" pitchFamily="18" charset="0"/>
              </a:rPr>
              <a:t>điểm</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của</a:t>
            </a:r>
            <a:r>
              <a:rPr lang="en-US" altLang="en-US" b="1" i="1" dirty="0">
                <a:latin typeface="Times New Roman" panose="02020603050405020304" pitchFamily="18" charset="0"/>
              </a:rPr>
              <a:t> </a:t>
            </a:r>
            <a:r>
              <a:rPr lang="en-US" altLang="en-US" b="1" i="1" dirty="0" err="1">
                <a:latin typeface="Times New Roman" panose="02020603050405020304" pitchFamily="18" charset="0"/>
              </a:rPr>
              <a:t>Lênin</a:t>
            </a:r>
            <a:r>
              <a:rPr lang="en-US" altLang="en-US" b="1" i="1" dirty="0">
                <a:latin typeface="Times New Roman" panose="02020603050405020304" pitchFamily="18" charset="0"/>
              </a:rPr>
              <a:t> </a:t>
            </a:r>
            <a:r>
              <a:rPr lang="en-US" altLang="en-US" b="1" i="1" dirty="0" err="1">
                <a:latin typeface="Times New Roman" panose="02020603050405020304" pitchFamily="18" charset="0"/>
              </a:rPr>
              <a:t>về</a:t>
            </a:r>
            <a:r>
              <a:rPr lang="en-US" altLang="en-US" b="1" i="1" dirty="0">
                <a:latin typeface="Times New Roman" panose="02020603050405020304" pitchFamily="18" charset="0"/>
              </a:rPr>
              <a:t> con </a:t>
            </a:r>
            <a:r>
              <a:rPr lang="en-US" altLang="en-US" b="1" i="1" dirty="0" err="1">
                <a:latin typeface="Times New Roman" panose="02020603050405020304" pitchFamily="18" charset="0"/>
              </a:rPr>
              <a:t>đường</a:t>
            </a:r>
            <a:r>
              <a:rPr lang="en-US" altLang="en-US" b="1" i="1" dirty="0">
                <a:latin typeface="Times New Roman" panose="02020603050405020304" pitchFamily="18" charset="0"/>
              </a:rPr>
              <a:t> </a:t>
            </a:r>
            <a:r>
              <a:rPr lang="en-US" altLang="en-US" b="1" i="1" dirty="0" err="1">
                <a:latin typeface="Times New Roman" panose="02020603050405020304" pitchFamily="18" charset="0"/>
              </a:rPr>
              <a:t>biện</a:t>
            </a:r>
            <a:r>
              <a:rPr lang="en-US" altLang="en-US" b="1" i="1" dirty="0">
                <a:latin typeface="Times New Roman" panose="02020603050405020304" pitchFamily="18" charset="0"/>
              </a:rPr>
              <a:t> </a:t>
            </a:r>
            <a:r>
              <a:rPr lang="en-US" altLang="en-US" b="1" i="1" dirty="0" err="1">
                <a:latin typeface="Times New Roman" panose="02020603050405020304" pitchFamily="18" charset="0"/>
              </a:rPr>
              <a:t>chứng</a:t>
            </a:r>
            <a:r>
              <a:rPr lang="en-US" altLang="en-US" b="1" i="1" dirty="0">
                <a:latin typeface="Times New Roman" panose="02020603050405020304" pitchFamily="18" charset="0"/>
              </a:rPr>
              <a:t> </a:t>
            </a:r>
            <a:r>
              <a:rPr lang="en-US" altLang="en-US" b="1" i="1" dirty="0" err="1">
                <a:latin typeface="Times New Roman" panose="02020603050405020304" pitchFamily="18" charset="0"/>
              </a:rPr>
              <a:t>của</a:t>
            </a:r>
            <a:r>
              <a:rPr lang="en-US" altLang="en-US" b="1" i="1" dirty="0">
                <a:latin typeface="Times New Roman" panose="02020603050405020304" pitchFamily="18" charset="0"/>
              </a:rPr>
              <a:t> </a:t>
            </a:r>
            <a:r>
              <a:rPr lang="en-US" altLang="en-US" b="1" i="1" dirty="0" err="1">
                <a:latin typeface="Times New Roman" panose="02020603050405020304" pitchFamily="18" charset="0"/>
              </a:rPr>
              <a:t>sự</a:t>
            </a:r>
            <a:r>
              <a:rPr lang="en-US" altLang="en-US" b="1" i="1" dirty="0">
                <a:latin typeface="Times New Roman" panose="02020603050405020304" pitchFamily="18" charset="0"/>
              </a:rPr>
              <a:t> </a:t>
            </a:r>
            <a:r>
              <a:rPr lang="en-US" altLang="en-US" b="1" i="1" dirty="0" err="1">
                <a:latin typeface="Times New Roman" panose="02020603050405020304" pitchFamily="18" charset="0"/>
              </a:rPr>
              <a:t>nhận</a:t>
            </a:r>
            <a:r>
              <a:rPr lang="en-US" altLang="en-US" b="1" i="1" dirty="0">
                <a:latin typeface="Times New Roman" panose="02020603050405020304" pitchFamily="18" charset="0"/>
              </a:rPr>
              <a:t> </a:t>
            </a:r>
            <a:r>
              <a:rPr lang="en-US" altLang="en-US" b="1" i="1" dirty="0" err="1">
                <a:latin typeface="Times New Roman" panose="02020603050405020304" pitchFamily="18" charset="0"/>
              </a:rPr>
              <a:t>thức</a:t>
            </a:r>
            <a:r>
              <a:rPr lang="en-US" altLang="en-US" b="1" i="1" dirty="0">
                <a:latin typeface="Times New Roman" panose="02020603050405020304" pitchFamily="18" charset="0"/>
              </a:rPr>
              <a:t> </a:t>
            </a:r>
            <a:r>
              <a:rPr lang="en-US" altLang="en-US" b="1" i="1" dirty="0" err="1">
                <a:latin typeface="Times New Roman" panose="02020603050405020304" pitchFamily="18" charset="0"/>
              </a:rPr>
              <a:t>chân</a:t>
            </a:r>
            <a:r>
              <a:rPr lang="en-US" altLang="en-US" b="1" i="1" dirty="0">
                <a:latin typeface="Times New Roman" panose="02020603050405020304" pitchFamily="18" charset="0"/>
              </a:rPr>
              <a:t> </a:t>
            </a:r>
            <a:r>
              <a:rPr lang="en-US" altLang="en-US" b="1" i="1" dirty="0" err="1">
                <a:latin typeface="Times New Roman" panose="02020603050405020304" pitchFamily="18" charset="0"/>
              </a:rPr>
              <a:t>lý</a:t>
            </a:r>
            <a:r>
              <a:rPr lang="en-US" altLang="en-US" b="1" i="1" dirty="0">
                <a:latin typeface="Times New Roman" panose="02020603050405020304" pitchFamily="18" charset="0"/>
              </a:rPr>
              <a:t>:</a:t>
            </a:r>
            <a:endParaRPr lang="en-US" altLang="en-US" b="1" i="1" dirty="0">
              <a:latin typeface="Times New Roman" panose="02020603050405020304" pitchFamily="18" charset="0"/>
            </a:endParaRPr>
          </a:p>
          <a:p>
            <a:pPr marL="0" indent="0" algn="just">
              <a:buNone/>
            </a:pPr>
            <a:r>
              <a:rPr lang="en-US" altLang="en-US" dirty="0">
                <a:latin typeface="Times New Roman" panose="02020603050405020304" pitchFamily="18" charset="0"/>
              </a:rPr>
              <a:t>“</a:t>
            </a:r>
            <a:r>
              <a:rPr lang="en-US" altLang="en-US" i="1" dirty="0" err="1">
                <a:latin typeface="Times New Roman" panose="02020603050405020304" pitchFamily="18" charset="0"/>
              </a:rPr>
              <a:t>Từ</a:t>
            </a:r>
            <a:r>
              <a:rPr lang="en-US" altLang="en-US" i="1" dirty="0">
                <a:latin typeface="Times New Roman" panose="02020603050405020304" pitchFamily="18" charset="0"/>
              </a:rPr>
              <a:t> </a:t>
            </a:r>
            <a:r>
              <a:rPr lang="en-US" altLang="en-US" i="1" dirty="0" err="1">
                <a:latin typeface="Times New Roman" panose="02020603050405020304" pitchFamily="18" charset="0"/>
              </a:rPr>
              <a:t>trực</a:t>
            </a:r>
            <a:r>
              <a:rPr lang="en-US" altLang="en-US" i="1" dirty="0">
                <a:latin typeface="Times New Roman" panose="02020603050405020304" pitchFamily="18" charset="0"/>
              </a:rPr>
              <a:t> </a:t>
            </a:r>
            <a:r>
              <a:rPr lang="en-US" altLang="en-US" i="1" dirty="0" err="1">
                <a:latin typeface="Times New Roman" panose="02020603050405020304" pitchFamily="18" charset="0"/>
              </a:rPr>
              <a:t>quan</a:t>
            </a:r>
            <a:r>
              <a:rPr lang="en-US" altLang="en-US" i="1" dirty="0">
                <a:latin typeface="Times New Roman" panose="02020603050405020304" pitchFamily="18" charset="0"/>
              </a:rPr>
              <a:t> </a:t>
            </a:r>
            <a:r>
              <a:rPr lang="en-US" altLang="en-US" i="1" dirty="0" err="1">
                <a:latin typeface="Times New Roman" panose="02020603050405020304" pitchFamily="18" charset="0"/>
              </a:rPr>
              <a:t>sinh</a:t>
            </a:r>
            <a:r>
              <a:rPr lang="en-US" altLang="en-US" i="1" dirty="0">
                <a:latin typeface="Times New Roman" panose="02020603050405020304" pitchFamily="18" charset="0"/>
              </a:rPr>
              <a:t> </a:t>
            </a:r>
            <a:r>
              <a:rPr lang="en-US" altLang="en-US" i="1" dirty="0" err="1">
                <a:latin typeface="Times New Roman" panose="02020603050405020304" pitchFamily="18" charset="0"/>
              </a:rPr>
              <a:t>động</a:t>
            </a:r>
            <a:r>
              <a:rPr lang="en-US" altLang="en-US" i="1" dirty="0">
                <a:latin typeface="Times New Roman" panose="02020603050405020304" pitchFamily="18" charset="0"/>
              </a:rPr>
              <a:t> </a:t>
            </a:r>
            <a:r>
              <a:rPr lang="en-US" altLang="en-US" i="1" dirty="0" err="1">
                <a:latin typeface="Times New Roman" panose="02020603050405020304" pitchFamily="18" charset="0"/>
              </a:rPr>
              <a:t>đến</a:t>
            </a:r>
            <a:r>
              <a:rPr lang="en-US" altLang="en-US" i="1" dirty="0">
                <a:latin typeface="Times New Roman" panose="02020603050405020304" pitchFamily="18" charset="0"/>
              </a:rPr>
              <a:t> </a:t>
            </a:r>
            <a:r>
              <a:rPr lang="en-US" altLang="en-US" i="1" dirty="0" err="1">
                <a:latin typeface="Times New Roman" panose="02020603050405020304" pitchFamily="18" charset="0"/>
              </a:rPr>
              <a:t>tư</a:t>
            </a:r>
            <a:r>
              <a:rPr lang="en-US" altLang="en-US" i="1" dirty="0">
                <a:latin typeface="Times New Roman" panose="02020603050405020304" pitchFamily="18" charset="0"/>
              </a:rPr>
              <a:t> </a:t>
            </a:r>
            <a:r>
              <a:rPr lang="en-US" altLang="en-US" i="1" dirty="0" err="1">
                <a:latin typeface="Times New Roman" panose="02020603050405020304" pitchFamily="18" charset="0"/>
              </a:rPr>
              <a:t>duy</a:t>
            </a:r>
            <a:r>
              <a:rPr lang="en-US" altLang="en-US" i="1" dirty="0">
                <a:latin typeface="Times New Roman" panose="02020603050405020304" pitchFamily="18" charset="0"/>
              </a:rPr>
              <a:t> </a:t>
            </a:r>
            <a:r>
              <a:rPr lang="en-US" altLang="en-US" i="1" dirty="0" err="1">
                <a:latin typeface="Times New Roman" panose="02020603050405020304" pitchFamily="18" charset="0"/>
              </a:rPr>
              <a:t>trừu</a:t>
            </a:r>
            <a:r>
              <a:rPr lang="en-US" altLang="en-US" i="1" dirty="0">
                <a:latin typeface="Times New Roman" panose="02020603050405020304" pitchFamily="18" charset="0"/>
              </a:rPr>
              <a:t> </a:t>
            </a:r>
            <a:r>
              <a:rPr lang="en-US" altLang="en-US" i="1" dirty="0" err="1">
                <a:latin typeface="Times New Roman" panose="02020603050405020304" pitchFamily="18" charset="0"/>
              </a:rPr>
              <a:t>tượng</a:t>
            </a:r>
            <a:r>
              <a:rPr lang="en-US" altLang="en-US" i="1" dirty="0">
                <a:latin typeface="Times New Roman" panose="02020603050405020304" pitchFamily="18" charset="0"/>
              </a:rPr>
              <a:t>, </a:t>
            </a:r>
            <a:r>
              <a:rPr lang="en-US" altLang="en-US" i="1" dirty="0" err="1">
                <a:latin typeface="Times New Roman" panose="02020603050405020304" pitchFamily="18" charset="0"/>
              </a:rPr>
              <a:t>và</a:t>
            </a:r>
            <a:r>
              <a:rPr lang="en-US" altLang="en-US" i="1" dirty="0">
                <a:latin typeface="Times New Roman" panose="02020603050405020304" pitchFamily="18" charset="0"/>
              </a:rPr>
              <a:t> </a:t>
            </a:r>
            <a:r>
              <a:rPr lang="en-US" altLang="en-US" i="1" dirty="0" err="1">
                <a:latin typeface="Times New Roman" panose="02020603050405020304" pitchFamily="18" charset="0"/>
              </a:rPr>
              <a:t>từ</a:t>
            </a:r>
            <a:r>
              <a:rPr lang="en-US" altLang="en-US" i="1" dirty="0">
                <a:latin typeface="Times New Roman" panose="02020603050405020304" pitchFamily="18" charset="0"/>
              </a:rPr>
              <a:t> </a:t>
            </a:r>
            <a:r>
              <a:rPr lang="en-US" altLang="en-US" i="1" dirty="0" err="1">
                <a:latin typeface="Times New Roman" panose="02020603050405020304" pitchFamily="18" charset="0"/>
              </a:rPr>
              <a:t>tư</a:t>
            </a:r>
            <a:r>
              <a:rPr lang="en-US" altLang="en-US" i="1" dirty="0">
                <a:latin typeface="Times New Roman" panose="02020603050405020304" pitchFamily="18" charset="0"/>
              </a:rPr>
              <a:t> </a:t>
            </a:r>
            <a:r>
              <a:rPr lang="en-US" altLang="en-US" i="1" dirty="0" err="1">
                <a:latin typeface="Times New Roman" panose="02020603050405020304" pitchFamily="18" charset="0"/>
              </a:rPr>
              <a:t>duy</a:t>
            </a:r>
            <a:r>
              <a:rPr lang="en-US" altLang="en-US" i="1" dirty="0">
                <a:latin typeface="Times New Roman" panose="02020603050405020304" pitchFamily="18" charset="0"/>
              </a:rPr>
              <a:t> </a:t>
            </a:r>
            <a:r>
              <a:rPr lang="en-US" altLang="en-US" i="1" dirty="0" err="1">
                <a:latin typeface="Times New Roman" panose="02020603050405020304" pitchFamily="18" charset="0"/>
              </a:rPr>
              <a:t>trừu</a:t>
            </a:r>
            <a:r>
              <a:rPr lang="en-US" altLang="en-US" i="1" dirty="0">
                <a:latin typeface="Times New Roman" panose="02020603050405020304" pitchFamily="18" charset="0"/>
              </a:rPr>
              <a:t> </a:t>
            </a:r>
            <a:r>
              <a:rPr lang="en-US" altLang="en-US" i="1" dirty="0" err="1">
                <a:latin typeface="Times New Roman" panose="02020603050405020304" pitchFamily="18" charset="0"/>
              </a:rPr>
              <a:t>tượng</a:t>
            </a:r>
            <a:r>
              <a:rPr lang="en-US" altLang="en-US" i="1" dirty="0">
                <a:latin typeface="Times New Roman" panose="02020603050405020304" pitchFamily="18" charset="0"/>
              </a:rPr>
              <a:t> </a:t>
            </a:r>
            <a:r>
              <a:rPr lang="en-US" altLang="en-US" i="1" dirty="0" err="1">
                <a:latin typeface="Times New Roman" panose="02020603050405020304" pitchFamily="18" charset="0"/>
              </a:rPr>
              <a:t>đến</a:t>
            </a:r>
            <a:r>
              <a:rPr lang="en-US" altLang="en-US" i="1" dirty="0">
                <a:latin typeface="Times New Roman" panose="02020603050405020304" pitchFamily="18" charset="0"/>
              </a:rPr>
              <a:t> </a:t>
            </a:r>
            <a:r>
              <a:rPr lang="en-US" altLang="en-US" i="1" dirty="0" err="1">
                <a:latin typeface="Times New Roman" panose="02020603050405020304" pitchFamily="18" charset="0"/>
              </a:rPr>
              <a:t>thực</a:t>
            </a:r>
            <a:r>
              <a:rPr lang="en-US" altLang="en-US" i="1" dirty="0">
                <a:latin typeface="Times New Roman" panose="02020603050405020304" pitchFamily="18" charset="0"/>
              </a:rPr>
              <a:t> </a:t>
            </a:r>
            <a:r>
              <a:rPr lang="en-US" altLang="en-US" i="1" dirty="0" err="1">
                <a:latin typeface="Times New Roman" panose="02020603050405020304" pitchFamily="18" charset="0"/>
              </a:rPr>
              <a:t>tiễn</a:t>
            </a:r>
            <a:r>
              <a:rPr lang="en-US" altLang="en-US" i="1" dirty="0">
                <a:latin typeface="Times New Roman" panose="02020603050405020304" pitchFamily="18" charset="0"/>
              </a:rPr>
              <a:t> – </a:t>
            </a:r>
            <a:r>
              <a:rPr lang="en-US" altLang="en-US" i="1" dirty="0" err="1">
                <a:latin typeface="Times New Roman" panose="02020603050405020304" pitchFamily="18" charset="0"/>
              </a:rPr>
              <a:t>đó</a:t>
            </a:r>
            <a:r>
              <a:rPr lang="en-US" altLang="en-US" i="1" dirty="0">
                <a:latin typeface="Times New Roman" panose="02020603050405020304" pitchFamily="18" charset="0"/>
              </a:rPr>
              <a:t> </a:t>
            </a:r>
            <a:r>
              <a:rPr lang="en-US" altLang="en-US" i="1" dirty="0" err="1">
                <a:latin typeface="Times New Roman" panose="02020603050405020304" pitchFamily="18" charset="0"/>
              </a:rPr>
              <a:t>là</a:t>
            </a:r>
            <a:r>
              <a:rPr lang="en-US" altLang="en-US" i="1" dirty="0">
                <a:latin typeface="Times New Roman" panose="02020603050405020304" pitchFamily="18" charset="0"/>
              </a:rPr>
              <a:t> con </a:t>
            </a:r>
            <a:r>
              <a:rPr lang="en-US" altLang="en-US" i="1" dirty="0" err="1">
                <a:latin typeface="Times New Roman" panose="02020603050405020304" pitchFamily="18" charset="0"/>
              </a:rPr>
              <a:t>đường</a:t>
            </a:r>
            <a:r>
              <a:rPr lang="en-US" altLang="en-US" i="1" dirty="0">
                <a:latin typeface="Times New Roman" panose="02020603050405020304" pitchFamily="18" charset="0"/>
              </a:rPr>
              <a:t> </a:t>
            </a:r>
            <a:r>
              <a:rPr lang="en-US" altLang="en-US" i="1" dirty="0" err="1">
                <a:latin typeface="Times New Roman" panose="02020603050405020304" pitchFamily="18" charset="0"/>
              </a:rPr>
              <a:t>biện</a:t>
            </a:r>
            <a:r>
              <a:rPr lang="en-US" altLang="en-US" i="1" dirty="0">
                <a:latin typeface="Times New Roman" panose="02020603050405020304" pitchFamily="18" charset="0"/>
              </a:rPr>
              <a:t> </a:t>
            </a:r>
            <a:r>
              <a:rPr lang="en-US" altLang="en-US" i="1" dirty="0" err="1">
                <a:latin typeface="Times New Roman" panose="02020603050405020304" pitchFamily="18" charset="0"/>
              </a:rPr>
              <a:t>chứng</a:t>
            </a:r>
            <a:r>
              <a:rPr lang="en-US" altLang="en-US" i="1" dirty="0">
                <a:latin typeface="Times New Roman" panose="02020603050405020304" pitchFamily="18" charset="0"/>
              </a:rPr>
              <a:t> </a:t>
            </a:r>
            <a:r>
              <a:rPr lang="en-US" altLang="en-US" i="1" dirty="0" err="1">
                <a:latin typeface="Times New Roman" panose="02020603050405020304" pitchFamily="18" charset="0"/>
              </a:rPr>
              <a:t>của</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nhận</a:t>
            </a:r>
            <a:r>
              <a:rPr lang="en-US" altLang="en-US" i="1" dirty="0">
                <a:latin typeface="Times New Roman" panose="02020603050405020304" pitchFamily="18" charset="0"/>
              </a:rPr>
              <a:t> </a:t>
            </a:r>
            <a:r>
              <a:rPr lang="en-US" altLang="en-US" i="1" dirty="0" err="1">
                <a:latin typeface="Times New Roman" panose="02020603050405020304" pitchFamily="18" charset="0"/>
              </a:rPr>
              <a:t>thức</a:t>
            </a:r>
            <a:r>
              <a:rPr lang="en-US" altLang="en-US" i="1" dirty="0">
                <a:latin typeface="Times New Roman" panose="02020603050405020304" pitchFamily="18" charset="0"/>
              </a:rPr>
              <a:t> </a:t>
            </a:r>
            <a:r>
              <a:rPr lang="en-US" altLang="en-US" i="1" dirty="0" err="1">
                <a:latin typeface="Times New Roman" panose="02020603050405020304" pitchFamily="18" charset="0"/>
              </a:rPr>
              <a:t>chân</a:t>
            </a:r>
            <a:r>
              <a:rPr lang="en-US" altLang="en-US" i="1" dirty="0">
                <a:latin typeface="Times New Roman" panose="02020603050405020304" pitchFamily="18" charset="0"/>
              </a:rPr>
              <a:t> </a:t>
            </a:r>
            <a:r>
              <a:rPr lang="en-US" altLang="en-US" i="1" dirty="0" err="1">
                <a:latin typeface="Times New Roman" panose="02020603050405020304" pitchFamily="18" charset="0"/>
              </a:rPr>
              <a:t>lý</a:t>
            </a:r>
            <a:r>
              <a:rPr lang="en-US" altLang="en-US" i="1" dirty="0">
                <a:latin typeface="Times New Roman" panose="02020603050405020304" pitchFamily="18" charset="0"/>
              </a:rPr>
              <a:t>, </a:t>
            </a:r>
            <a:r>
              <a:rPr lang="en-US" altLang="en-US" i="1" dirty="0" err="1">
                <a:latin typeface="Times New Roman" panose="02020603050405020304" pitchFamily="18" charset="0"/>
              </a:rPr>
              <a:t>của</a:t>
            </a:r>
            <a:r>
              <a:rPr lang="en-US" altLang="en-US" i="1" dirty="0">
                <a:latin typeface="Times New Roman" panose="02020603050405020304" pitchFamily="18" charset="0"/>
              </a:rPr>
              <a:t> </a:t>
            </a:r>
            <a:r>
              <a:rPr lang="en-US" altLang="en-US" i="1" dirty="0" err="1">
                <a:latin typeface="Times New Roman" panose="02020603050405020304" pitchFamily="18" charset="0"/>
              </a:rPr>
              <a:t>sự</a:t>
            </a:r>
            <a:r>
              <a:rPr lang="en-US" altLang="en-US" i="1" dirty="0">
                <a:latin typeface="Times New Roman" panose="02020603050405020304" pitchFamily="18" charset="0"/>
              </a:rPr>
              <a:t> </a:t>
            </a:r>
            <a:r>
              <a:rPr lang="en-US" altLang="en-US" i="1" dirty="0" err="1">
                <a:latin typeface="Times New Roman" panose="02020603050405020304" pitchFamily="18" charset="0"/>
              </a:rPr>
              <a:t>nhận</a:t>
            </a:r>
            <a:r>
              <a:rPr lang="en-US" altLang="en-US" i="1" dirty="0">
                <a:latin typeface="Times New Roman" panose="02020603050405020304" pitchFamily="18" charset="0"/>
              </a:rPr>
              <a:t> </a:t>
            </a:r>
            <a:r>
              <a:rPr lang="en-US" altLang="en-US" i="1" dirty="0" err="1">
                <a:latin typeface="Times New Roman" panose="02020603050405020304" pitchFamily="18" charset="0"/>
              </a:rPr>
              <a:t>thức</a:t>
            </a:r>
            <a:r>
              <a:rPr lang="en-US" altLang="en-US" i="1" dirty="0">
                <a:latin typeface="Times New Roman" panose="02020603050405020304" pitchFamily="18" charset="0"/>
              </a:rPr>
              <a:t> </a:t>
            </a:r>
            <a:r>
              <a:rPr lang="en-US" altLang="en-US" i="1" dirty="0" err="1">
                <a:latin typeface="Times New Roman" panose="02020603050405020304" pitchFamily="18" charset="0"/>
              </a:rPr>
              <a:t>hiện</a:t>
            </a:r>
            <a:r>
              <a:rPr lang="en-US" altLang="en-US" i="1" dirty="0">
                <a:latin typeface="Times New Roman" panose="02020603050405020304" pitchFamily="18" charset="0"/>
              </a:rPr>
              <a:t> </a:t>
            </a:r>
            <a:r>
              <a:rPr lang="en-US" altLang="en-US" i="1" dirty="0" err="1">
                <a:latin typeface="Times New Roman" panose="02020603050405020304" pitchFamily="18" charset="0"/>
              </a:rPr>
              <a:t>thực</a:t>
            </a:r>
            <a:r>
              <a:rPr lang="en-US" altLang="en-US" i="1" dirty="0">
                <a:latin typeface="Times New Roman" panose="02020603050405020304" pitchFamily="18" charset="0"/>
              </a:rPr>
              <a:t> </a:t>
            </a:r>
            <a:r>
              <a:rPr lang="en-US" altLang="en-US" i="1" dirty="0" err="1">
                <a:latin typeface="Times New Roman" panose="02020603050405020304" pitchFamily="18" charset="0"/>
              </a:rPr>
              <a:t>khách</a:t>
            </a:r>
            <a:r>
              <a:rPr lang="en-US" altLang="en-US" i="1" dirty="0">
                <a:latin typeface="Times New Roman" panose="02020603050405020304" pitchFamily="18" charset="0"/>
              </a:rPr>
              <a:t> </a:t>
            </a:r>
            <a:r>
              <a:rPr lang="en-US" altLang="en-US" i="1" dirty="0" err="1">
                <a:latin typeface="Times New Roman" panose="02020603050405020304" pitchFamily="18" charset="0"/>
              </a:rPr>
              <a:t>quan</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buFont typeface="Wingdings" panose="05000000000000000000" pitchFamily="2" charset="2"/>
              <a:buChar char="Ø"/>
            </a:pPr>
            <a:r>
              <a:rPr lang="en-US" altLang="en-US" b="1" i="1" dirty="0" err="1">
                <a:latin typeface="Times New Roman" panose="02020603050405020304" pitchFamily="18" charset="0"/>
              </a:rPr>
              <a:t>Như</a:t>
            </a:r>
            <a:r>
              <a:rPr lang="en-US" altLang="en-US" b="1" i="1" dirty="0">
                <a:latin typeface="Times New Roman" panose="02020603050405020304" pitchFamily="18" charset="0"/>
              </a:rPr>
              <a:t> </a:t>
            </a:r>
            <a:r>
              <a:rPr lang="en-US" altLang="en-US" b="1" i="1" dirty="0" err="1">
                <a:latin typeface="Times New Roman" panose="02020603050405020304" pitchFamily="18" charset="0"/>
              </a:rPr>
              <a:t>vậy</a:t>
            </a:r>
            <a:r>
              <a:rPr lang="en-US" altLang="en-US" dirty="0">
                <a:latin typeface="Times New Roman" panose="02020603050405020304" pitchFamily="18" charset="0"/>
              </a:rPr>
              <a:t>, con </a:t>
            </a:r>
            <a:r>
              <a:rPr lang="en-US" altLang="en-US" dirty="0" err="1">
                <a:latin typeface="Times New Roman" panose="02020603050405020304" pitchFamily="18" charset="0"/>
              </a:rPr>
              <a:t>đường</a:t>
            </a:r>
            <a:r>
              <a:rPr lang="en-US" altLang="en-US" dirty="0">
                <a:latin typeface="Times New Roman" panose="02020603050405020304" pitchFamily="18" charset="0"/>
              </a:rPr>
              <a:t> </a:t>
            </a:r>
            <a:r>
              <a:rPr lang="en-US" altLang="en-US" dirty="0" err="1">
                <a:latin typeface="Times New Roman" panose="02020603050405020304" pitchFamily="18" charset="0"/>
              </a:rPr>
              <a:t>biện</a:t>
            </a:r>
            <a:r>
              <a:rPr lang="en-US" altLang="en-US" dirty="0">
                <a:latin typeface="Times New Roman" panose="02020603050405020304" pitchFamily="18" charset="0"/>
              </a:rPr>
              <a:t> </a:t>
            </a:r>
            <a:r>
              <a:rPr lang="en-US" altLang="en-US" dirty="0" err="1">
                <a:latin typeface="Times New Roman" panose="02020603050405020304" pitchFamily="18" charset="0"/>
              </a:rPr>
              <a:t>chứng</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lý</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quá</a:t>
            </a:r>
            <a:r>
              <a:rPr lang="en-US" altLang="en-US" dirty="0">
                <a:latin typeface="Times New Roman" panose="02020603050405020304" pitchFamily="18" charset="0"/>
              </a:rPr>
              <a:t> </a:t>
            </a:r>
            <a:r>
              <a:rPr lang="en-US" altLang="en-US" dirty="0" err="1">
                <a:latin typeface="Times New Roman" panose="02020603050405020304" pitchFamily="18" charset="0"/>
              </a:rPr>
              <a:t>trình</a:t>
            </a:r>
            <a:r>
              <a:rPr lang="en-US" altLang="en-US" dirty="0">
                <a:latin typeface="Times New Roman" panose="02020603050405020304" pitchFamily="18" charset="0"/>
              </a:rPr>
              <a:t>.</a:t>
            </a:r>
            <a:endParaRPr lang="en-US" altLang="en-US" dirty="0">
              <a:latin typeface="Times New Roman" panose="02020603050405020304" pitchFamily="18" charset="0"/>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3446"/>
          </a:xfrm>
        </p:spPr>
        <p:txBody>
          <a:bodyPr>
            <a:normAutofit/>
          </a:bodyPr>
          <a:lstStyle/>
          <a:p>
            <a:pPr marL="342900" indent="-342900">
              <a:buFont typeface="Wingdings" panose="05000000000000000000" pitchFamily="2" charset="2"/>
              <a:buChar char="v"/>
            </a:pPr>
            <a:r>
              <a:rPr lang="en-US" sz="2400" b="1" i="1" dirty="0" err="1">
                <a:latin typeface="Times New Roman" panose="02020603050405020304" pitchFamily="18" charset="0"/>
              </a:rPr>
              <a:t>Nhận</a:t>
            </a:r>
            <a:r>
              <a:rPr lang="en-US" sz="2400" b="1" i="1" dirty="0">
                <a:latin typeface="Times New Roman" panose="02020603050405020304" pitchFamily="18" charset="0"/>
              </a:rPr>
              <a:t> </a:t>
            </a:r>
            <a:r>
              <a:rPr lang="en-US" sz="2400" b="1" i="1" dirty="0" err="1">
                <a:latin typeface="Times New Roman" panose="02020603050405020304" pitchFamily="18" charset="0"/>
              </a:rPr>
              <a:t>thức</a:t>
            </a:r>
            <a:r>
              <a:rPr lang="en-US" sz="2400" b="1" i="1" dirty="0">
                <a:latin typeface="Times New Roman" panose="02020603050405020304" pitchFamily="18" charset="0"/>
              </a:rPr>
              <a:t> </a:t>
            </a:r>
            <a:r>
              <a:rPr lang="en-US" sz="2400" b="1" i="1" dirty="0" err="1">
                <a:latin typeface="Times New Roman" panose="02020603050405020304" pitchFamily="18" charset="0"/>
              </a:rPr>
              <a:t>cảm</a:t>
            </a:r>
            <a:r>
              <a:rPr lang="en-US" sz="2400" b="1" i="1" dirty="0">
                <a:latin typeface="Times New Roman" panose="02020603050405020304" pitchFamily="18" charset="0"/>
              </a:rPr>
              <a:t> </a:t>
            </a:r>
            <a:r>
              <a:rPr lang="en-US" sz="2400" b="1" i="1" dirty="0" err="1">
                <a:latin typeface="Times New Roman" panose="02020603050405020304" pitchFamily="18" charset="0"/>
              </a:rPr>
              <a:t>tính</a:t>
            </a:r>
            <a:r>
              <a:rPr lang="en-US" sz="2400" b="1" i="1" dirty="0">
                <a:latin typeface="Times New Roman" panose="02020603050405020304" pitchFamily="18" charset="0"/>
              </a:rPr>
              <a:t> (</a:t>
            </a:r>
            <a:r>
              <a:rPr lang="en-US" sz="2400" b="1" i="1" dirty="0" err="1">
                <a:latin typeface="Times New Roman" panose="02020603050405020304" pitchFamily="18" charset="0"/>
              </a:rPr>
              <a:t>trực</a:t>
            </a:r>
            <a:r>
              <a:rPr lang="en-US" sz="2400" b="1" i="1" dirty="0">
                <a:latin typeface="Times New Roman" panose="02020603050405020304" pitchFamily="18" charset="0"/>
              </a:rPr>
              <a:t> </a:t>
            </a:r>
            <a:r>
              <a:rPr lang="en-US" sz="2400" b="1" i="1" dirty="0" err="1">
                <a:latin typeface="Times New Roman" panose="02020603050405020304" pitchFamily="18" charset="0"/>
              </a:rPr>
              <a:t>quan</a:t>
            </a:r>
            <a:r>
              <a:rPr lang="en-US" sz="2400" b="1" i="1" dirty="0">
                <a:latin typeface="Times New Roman" panose="02020603050405020304" pitchFamily="18" charset="0"/>
              </a:rPr>
              <a:t> </a:t>
            </a:r>
            <a:r>
              <a:rPr lang="en-US" sz="2400" b="1" i="1" dirty="0" err="1">
                <a:latin typeface="Times New Roman" panose="02020603050405020304" pitchFamily="18" charset="0"/>
              </a:rPr>
              <a:t>sinh</a:t>
            </a:r>
            <a:r>
              <a:rPr lang="en-US" sz="2400" b="1" i="1" dirty="0">
                <a:latin typeface="Times New Roman" panose="02020603050405020304" pitchFamily="18" charset="0"/>
              </a:rPr>
              <a:t> </a:t>
            </a:r>
            <a:r>
              <a:rPr lang="en-US" sz="2400" b="1" i="1" dirty="0" err="1">
                <a:latin typeface="Times New Roman" panose="02020603050405020304" pitchFamily="18" charset="0"/>
              </a:rPr>
              <a:t>động</a:t>
            </a:r>
            <a:r>
              <a:rPr lang="en-US" sz="2400" b="1" i="1" dirty="0">
                <a:latin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88572"/>
            <a:ext cx="10515600" cy="5088391"/>
          </a:xfrm>
        </p:spPr>
        <p:txBody>
          <a:bodyPr/>
          <a:lstStyle/>
          <a:p>
            <a:pPr marL="0" indent="0" algn="just">
              <a:buNone/>
            </a:pPr>
            <a:r>
              <a:rPr lang="vi-VN"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Nhận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thức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cảm</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tính</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là</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giai</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đoạn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nhận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thức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đầu</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tiên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của</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quá</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trình</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nhận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thức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Đó</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là</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giai</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đoạn</a:t>
            </a:r>
            <a:r>
              <a:rPr lang="en-US" sz="2400" b="1" i="1" dirty="0">
                <a:solidFill>
                  <a:schemeClr val="tx1">
                    <a:lumMod val="95000"/>
                    <a:lumOff val="5000"/>
                  </a:schemeClr>
                </a:solidFill>
                <a:latin typeface="Times New Roman" panose="02020603050405020304" pitchFamily="18" charset="0"/>
              </a:rPr>
              <a:t> con </a:t>
            </a:r>
            <a:r>
              <a:rPr lang="en-US" sz="2400" b="1" i="1" dirty="0" err="1">
                <a:solidFill>
                  <a:schemeClr val="tx1">
                    <a:lumMod val="95000"/>
                    <a:lumOff val="5000"/>
                  </a:schemeClr>
                </a:solidFill>
                <a:latin typeface="Times New Roman" panose="02020603050405020304" pitchFamily="18" charset="0"/>
              </a:rPr>
              <a:t>người</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phản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ánh</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trực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tiếp</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sự</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vật</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thông</a:t>
            </a:r>
            <a:r>
              <a:rPr lang="en-US" sz="2400" b="1" i="1" dirty="0">
                <a:solidFill>
                  <a:schemeClr val="tx1">
                    <a:lumMod val="95000"/>
                    <a:lumOff val="5000"/>
                  </a:schemeClr>
                </a:solidFill>
                <a:latin typeface="Times New Roman" panose="02020603050405020304" pitchFamily="18" charset="0"/>
              </a:rPr>
              <a:t> qua </a:t>
            </a:r>
            <a:r>
              <a:rPr lang="en-US" sz="2400" b="1" i="1" dirty="0" err="1">
                <a:solidFill>
                  <a:schemeClr val="tx1">
                    <a:lumMod val="95000"/>
                    <a:lumOff val="5000"/>
                  </a:schemeClr>
                </a:solidFill>
                <a:latin typeface="Times New Roman" panose="02020603050405020304" pitchFamily="18" charset="0"/>
              </a:rPr>
              <a:t>các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giác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quan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của</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mình</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Nhận</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thức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cảm</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tính</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gồm</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ba</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hình</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thức</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cơ</a:t>
            </a:r>
            <a:r>
              <a:rPr lang="en-US" sz="2400" b="1" i="1" dirty="0">
                <a:solidFill>
                  <a:schemeClr val="tx1">
                    <a:lumMod val="95000"/>
                    <a:lumOff val="5000"/>
                  </a:schemeClr>
                </a:solidFill>
                <a:latin typeface="Times New Roman" panose="02020603050405020304" pitchFamily="18" charset="0"/>
              </a:rPr>
              <a:t> </a:t>
            </a:r>
            <a:r>
              <a:rPr lang="en-US" sz="2400" b="1" i="1" dirty="0" err="1">
                <a:solidFill>
                  <a:schemeClr val="tx1">
                    <a:lumMod val="95000"/>
                    <a:lumOff val="5000"/>
                  </a:schemeClr>
                </a:solidFill>
                <a:latin typeface="Times New Roman" panose="02020603050405020304" pitchFamily="18" charset="0"/>
              </a:rPr>
              <a:t>bản</a:t>
            </a:r>
            <a:r>
              <a:rPr lang="en-US" sz="2400" b="1" dirty="0">
                <a:solidFill>
                  <a:schemeClr val="tx1">
                    <a:lumMod val="95000"/>
                    <a:lumOff val="5000"/>
                  </a:schemeClr>
                </a:solidFill>
                <a:latin typeface="Times New Roman" panose="02020603050405020304" pitchFamily="18" charset="0"/>
              </a:rPr>
              <a:t>.</a:t>
            </a:r>
            <a:endParaRPr lang="vi-VN" sz="2400" b="1" dirty="0">
              <a:solidFill>
                <a:schemeClr val="tx1">
                  <a:lumMod val="95000"/>
                  <a:lumOff val="5000"/>
                </a:schemeClr>
              </a:solidFill>
              <a:latin typeface="Times New Roman" panose="02020603050405020304" pitchFamily="18" charset="0"/>
            </a:endParaRPr>
          </a:p>
          <a:p>
            <a:pPr marL="0" indent="0">
              <a:buNone/>
            </a:pPr>
            <a:endParaRPr lang="en-US" b="1" i="1" dirty="0">
              <a:solidFill>
                <a:schemeClr val="tx1">
                  <a:lumMod val="95000"/>
                  <a:lumOff val="5000"/>
                </a:schemeClr>
              </a:solidFill>
              <a:latin typeface="Times New Roman" panose="02020603050405020304" pitchFamily="18" charset="0"/>
            </a:endParaRPr>
          </a:p>
          <a:p>
            <a:endParaRPr lang="en-US" dirty="0"/>
          </a:p>
        </p:txBody>
      </p:sp>
      <p:sp>
        <p:nvSpPr>
          <p:cNvPr id="4" name="Callout: Right Arrow 3"/>
          <p:cNvSpPr/>
          <p:nvPr/>
        </p:nvSpPr>
        <p:spPr>
          <a:xfrm>
            <a:off x="718456" y="2242457"/>
            <a:ext cx="3113313" cy="3341914"/>
          </a:xfrm>
          <a:prstGeom prst="righ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b="1" dirty="0" err="1">
                <a:latin typeface="Times New Roman" panose="02020603050405020304" pitchFamily="18" charset="0"/>
              </a:rPr>
              <a:t>Cảm</a:t>
            </a:r>
            <a:r>
              <a:rPr lang="en-US" sz="2000" b="1" dirty="0">
                <a:latin typeface="Times New Roman" panose="02020603050405020304" pitchFamily="18" charset="0"/>
              </a:rPr>
              <a:t> </a:t>
            </a:r>
            <a:r>
              <a:rPr lang="en-US" sz="2000" b="1" dirty="0" err="1">
                <a:latin typeface="Times New Roman" panose="02020603050405020304" pitchFamily="18" charset="0"/>
              </a:rPr>
              <a:t>giác</a:t>
            </a:r>
            <a:r>
              <a:rPr lang="vi-VN" sz="2000" dirty="0">
                <a:latin typeface="Times New Roman" panose="02020603050405020304" pitchFamily="18" charset="0"/>
              </a:rPr>
              <a:t>: nảy sinh do sự tác động trực tiếp của khách thể lên các giác quan của con người, đưa lại những thông tin trực tiếp, giản đơn nhất về một thuộc tính riêng lẻ của sự vật</a:t>
            </a:r>
            <a:endParaRPr lang="en-US" sz="2000" dirty="0"/>
          </a:p>
        </p:txBody>
      </p:sp>
      <p:sp>
        <p:nvSpPr>
          <p:cNvPr id="5" name="Callout: Right Arrow 4"/>
          <p:cNvSpPr/>
          <p:nvPr/>
        </p:nvSpPr>
        <p:spPr>
          <a:xfrm>
            <a:off x="3831770" y="2876365"/>
            <a:ext cx="2383974" cy="2708006"/>
          </a:xfrm>
          <a:prstGeom prst="righ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just">
              <a:buNone/>
              <a:defRPr/>
            </a:pPr>
            <a:r>
              <a:rPr lang="en-US" sz="2000" b="1" dirty="0">
                <a:latin typeface="Times New Roman" panose="02020603050405020304" pitchFamily="18" charset="0"/>
              </a:rPr>
              <a:t>Tri </a:t>
            </a:r>
            <a:r>
              <a:rPr lang="en-US" sz="2000" b="1" dirty="0" err="1">
                <a:latin typeface="Times New Roman" panose="02020603050405020304" pitchFamily="18" charset="0"/>
              </a:rPr>
              <a:t>giác</a:t>
            </a:r>
            <a:r>
              <a:rPr lang="vi-VN" sz="2000" b="1" dirty="0">
                <a:latin typeface="Times New Roman" panose="02020603050405020304" pitchFamily="18" charset="0"/>
              </a:rPr>
              <a:t>: </a:t>
            </a:r>
            <a:r>
              <a:rPr lang="vi-VN" sz="2000" dirty="0">
                <a:latin typeface="Times New Roman" panose="02020603050405020304" pitchFamily="18" charset="0"/>
              </a:rPr>
              <a:t>là kết quả của sự tác động trực tiếp của sự vật đồng thời lên nhiều giác quan của con người.</a:t>
            </a:r>
            <a:endParaRPr lang="en-US" sz="2000" dirty="0">
              <a:latin typeface="Times New Roman" panose="02020603050405020304" pitchFamily="18" charset="0"/>
            </a:endParaRPr>
          </a:p>
        </p:txBody>
      </p:sp>
      <p:sp>
        <p:nvSpPr>
          <p:cNvPr id="6" name="Callout: Right Arrow 5"/>
          <p:cNvSpPr/>
          <p:nvPr/>
        </p:nvSpPr>
        <p:spPr>
          <a:xfrm>
            <a:off x="6215744" y="3429000"/>
            <a:ext cx="2514599" cy="2155370"/>
          </a:xfrm>
          <a:prstGeom prst="righ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2000" b="1" dirty="0" err="1">
                <a:latin typeface="Times New Roman" panose="02020603050405020304" pitchFamily="18" charset="0"/>
              </a:rPr>
              <a:t>Biểu</a:t>
            </a:r>
            <a:r>
              <a:rPr lang="en-US" sz="2000" b="1" dirty="0">
                <a:latin typeface="Times New Roman" panose="02020603050405020304" pitchFamily="18" charset="0"/>
              </a:rPr>
              <a:t> </a:t>
            </a:r>
            <a:r>
              <a:rPr lang="en-US" sz="2000" b="1" dirty="0" err="1">
                <a:latin typeface="Times New Roman" panose="02020603050405020304" pitchFamily="18" charset="0"/>
              </a:rPr>
              <a:t>tượng</a:t>
            </a:r>
            <a:r>
              <a:rPr lang="vi-VN" sz="2000" b="1" dirty="0">
                <a:latin typeface="Times New Roman" panose="02020603050405020304" pitchFamily="18" charset="0"/>
              </a:rPr>
              <a:t>: </a:t>
            </a:r>
            <a:r>
              <a:rPr lang="vi-VN" sz="2000" dirty="0">
                <a:latin typeface="Times New Roman" panose="02020603050405020304" pitchFamily="18" charset="0"/>
              </a:rPr>
              <a:t>là hình ảnh sự vật được tái hiện trong</a:t>
            </a:r>
            <a:endParaRPr lang="en-US" sz="2000" dirty="0"/>
          </a:p>
        </p:txBody>
      </p:sp>
      <p:sp>
        <p:nvSpPr>
          <p:cNvPr id="7" name="Rectangle 6"/>
          <p:cNvSpPr/>
          <p:nvPr/>
        </p:nvSpPr>
        <p:spPr>
          <a:xfrm>
            <a:off x="2939143" y="5769428"/>
            <a:ext cx="8741228" cy="968827"/>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342900" indent="-342900" algn="just">
              <a:buFont typeface="Wingdings" panose="05000000000000000000" pitchFamily="2" charset="2"/>
              <a:buChar char="Ø"/>
            </a:pPr>
            <a:r>
              <a:rPr lang="vi-VN" sz="2400" b="1" i="1" dirty="0">
                <a:latin typeface="Times New Roman" panose="02020603050405020304" pitchFamily="18" charset="0"/>
                <a:cs typeface="Times New Roman" panose="02020603050405020304" pitchFamily="18" charset="0"/>
              </a:rPr>
              <a:t>Nhận thức cảm tính chưa đem lại những hiểu biết sâu sắc, khái quát trong tính chỉnh thể về sự vật</a:t>
            </a:r>
            <a:endParaRPr lang="en-US" sz="2400" b="1"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73966"/>
          </a:xfrm>
        </p:spPr>
        <p:txBody>
          <a:bodyPr>
            <a:normAutofit/>
          </a:bodyPr>
          <a:lstStyle/>
          <a:p>
            <a:pPr marL="571500" indent="-571500" algn="just">
              <a:buFont typeface="Wingdings" panose="05000000000000000000" pitchFamily="2" charset="2"/>
              <a:buChar char="v"/>
            </a:pPr>
            <a:r>
              <a:rPr lang="en-US" altLang="en-US" sz="4000" b="1" i="1" dirty="0" err="1">
                <a:latin typeface="Times New Roman" panose="02020603050405020304" pitchFamily="18" charset="0"/>
              </a:rPr>
              <a:t>Nhận</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thức</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lý</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tính</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039092"/>
            <a:ext cx="10515600" cy="5612079"/>
          </a:xfrm>
        </p:spPr>
        <p:txBody>
          <a:bodyPr>
            <a:normAutofit/>
          </a:bodyPr>
          <a:lstStyle/>
          <a:p>
            <a:pPr algn="just">
              <a:defRPr/>
            </a:pPr>
            <a:r>
              <a:rPr lang="vi-VN" sz="2000" dirty="0">
                <a:solidFill>
                  <a:schemeClr val="tx1">
                    <a:lumMod val="95000"/>
                    <a:lumOff val="5000"/>
                  </a:schemeClr>
                </a:solidFill>
                <a:latin typeface="Times New Roman" panose="02020603050405020304" pitchFamily="18" charset="0"/>
                <a:cs typeface="Times New Roman" panose="02020603050405020304" pitchFamily="18" charset="0"/>
              </a:rPr>
              <a:t>L</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à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hình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thức</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cơ</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bản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tư</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duy</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trừu</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tượng</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phản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ánh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những</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thuộc</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tính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bản</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chất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sự</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vật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Sự</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hình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thành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khái</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niệm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kết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quả</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quá</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trình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khái</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quát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hóa</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tổng</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hợp</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hoá</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các</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đặc</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điểm</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thuộc</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tính</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của</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sự</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vật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hay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một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lớp</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sự</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sz="2000" dirty="0" err="1">
                <a:solidFill>
                  <a:schemeClr val="tx1">
                    <a:lumMod val="95000"/>
                    <a:lumOff val="5000"/>
                  </a:schemeClr>
                </a:solidFill>
                <a:latin typeface="Times New Roman" panose="02020603050405020304" pitchFamily="18" charset="0"/>
                <a:cs typeface="Times New Roman" panose="02020603050405020304" pitchFamily="18" charset="0"/>
              </a:rPr>
              <a:t>vật</a:t>
            </a:r>
            <a:r>
              <a:rPr lang="en-US" sz="2000" dirty="0">
                <a:solidFill>
                  <a:schemeClr val="tx1">
                    <a:lumMod val="95000"/>
                    <a:lumOff val="5000"/>
                  </a:schemeClr>
                </a:solidFill>
                <a:latin typeface="Times New Roman" panose="02020603050405020304" pitchFamily="18" charset="0"/>
                <a:cs typeface="Times New Roman" panose="02020603050405020304" pitchFamily="18" charset="0"/>
              </a:rPr>
              <a:t>. </a:t>
            </a:r>
            <a:endParaRPr lang="en-US" sz="20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4" name="Callout: Right Arrow 3"/>
          <p:cNvSpPr/>
          <p:nvPr/>
        </p:nvSpPr>
        <p:spPr>
          <a:xfrm>
            <a:off x="1883229" y="2601687"/>
            <a:ext cx="2884713" cy="2732313"/>
          </a:xfrm>
          <a:prstGeom prst="righ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defRPr/>
            </a:pPr>
            <a:r>
              <a:rPr lang="en-US" b="1" i="1" dirty="0" err="1">
                <a:solidFill>
                  <a:schemeClr val="tx1">
                    <a:lumMod val="95000"/>
                    <a:lumOff val="5000"/>
                  </a:schemeClr>
                </a:solidFill>
                <a:latin typeface="Times New Roman" panose="02020603050405020304" pitchFamily="18" charset="0"/>
                <a:cs typeface="Times New Roman" panose="02020603050405020304" pitchFamily="18" charset="0"/>
              </a:rPr>
              <a:t>Khái</a:t>
            </a:r>
            <a:r>
              <a:rPr lang="en-US"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b="1" i="1" dirty="0" err="1">
                <a:solidFill>
                  <a:schemeClr val="tx1">
                    <a:lumMod val="95000"/>
                    <a:lumOff val="5000"/>
                  </a:schemeClr>
                </a:solidFill>
                <a:latin typeface="Times New Roman" panose="02020603050405020304" pitchFamily="18" charset="0"/>
                <a:cs typeface="Times New Roman" panose="02020603050405020304" pitchFamily="18" charset="0"/>
              </a:rPr>
              <a:t>niệm</a:t>
            </a:r>
            <a:r>
              <a:rPr lang="vi-VN"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vi-VN" i="1" dirty="0">
                <a:solidFill>
                  <a:schemeClr val="tx1">
                    <a:lumMod val="95000"/>
                    <a:lumOff val="5000"/>
                  </a:schemeClr>
                </a:solidFill>
                <a:latin typeface="Times New Roman" panose="02020603050405020304" pitchFamily="18" charset="0"/>
                <a:cs typeface="Times New Roman" panose="02020603050405020304" pitchFamily="18" charset="0"/>
              </a:rPr>
              <a:t>phản ánh khái quát, gián tiếp một hoặc một số thuộc tính chung có tính bản chất nào đó của một nhóm sự vật, hiện tượng</a:t>
            </a:r>
            <a:endParaRPr lang="en-US" i="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5" name="Callout: Right Arrow 4"/>
          <p:cNvSpPr/>
          <p:nvPr/>
        </p:nvSpPr>
        <p:spPr>
          <a:xfrm>
            <a:off x="4767941" y="2840854"/>
            <a:ext cx="2318659" cy="2493146"/>
          </a:xfrm>
          <a:prstGeom prst="rightArrowCallou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defRPr/>
            </a:pPr>
            <a:r>
              <a:rPr lang="en-US" b="1" i="1" dirty="0" err="1">
                <a:solidFill>
                  <a:schemeClr val="tx1">
                    <a:lumMod val="95000"/>
                    <a:lumOff val="5000"/>
                  </a:schemeClr>
                </a:solidFill>
                <a:latin typeface="Times New Roman" panose="02020603050405020304" pitchFamily="18" charset="0"/>
                <a:cs typeface="Times New Roman" panose="02020603050405020304" pitchFamily="18" charset="0"/>
              </a:rPr>
              <a:t>Phán</a:t>
            </a:r>
            <a:r>
              <a:rPr lang="en-US"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b="1" i="1" dirty="0" err="1">
                <a:solidFill>
                  <a:schemeClr val="tx1">
                    <a:lumMod val="95000"/>
                    <a:lumOff val="5000"/>
                  </a:schemeClr>
                </a:solidFill>
                <a:latin typeface="Times New Roman" panose="02020603050405020304" pitchFamily="18" charset="0"/>
                <a:cs typeface="Times New Roman" panose="02020603050405020304" pitchFamily="18" charset="0"/>
              </a:rPr>
              <a:t>đoán</a:t>
            </a:r>
            <a:r>
              <a:rPr lang="vi-VN"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vi-VN" i="1" dirty="0">
                <a:solidFill>
                  <a:schemeClr val="tx1">
                    <a:lumMod val="95000"/>
                    <a:lumOff val="5000"/>
                  </a:schemeClr>
                </a:solidFill>
                <a:latin typeface="Times New Roman" panose="02020603050405020304" pitchFamily="18" charset="0"/>
                <a:cs typeface="Times New Roman" panose="02020603050405020304" pitchFamily="18" charset="0"/>
              </a:rPr>
              <a:t>phản ánh được mối liên hệ bản chất, tất nhiên, bên trong của sự vật nên sâu sắc hơn nhận thức cảm tính</a:t>
            </a:r>
            <a:endParaRPr lang="en-US" i="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6" name="Rectangle 5"/>
          <p:cNvSpPr/>
          <p:nvPr/>
        </p:nvSpPr>
        <p:spPr>
          <a:xfrm>
            <a:off x="7086600" y="3133816"/>
            <a:ext cx="2253343" cy="220018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defRPr/>
            </a:pPr>
            <a:r>
              <a:rPr lang="en-US" b="1" i="1" dirty="0" err="1">
                <a:solidFill>
                  <a:schemeClr val="tx1">
                    <a:lumMod val="95000"/>
                    <a:lumOff val="5000"/>
                  </a:schemeClr>
                </a:solidFill>
                <a:latin typeface="Times New Roman" panose="02020603050405020304" pitchFamily="18" charset="0"/>
                <a:cs typeface="Times New Roman" panose="02020603050405020304" pitchFamily="18" charset="0"/>
              </a:rPr>
              <a:t>Suy</a:t>
            </a:r>
            <a:r>
              <a:rPr lang="en-US"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b="1" i="1" dirty="0" err="1">
                <a:solidFill>
                  <a:schemeClr val="tx1">
                    <a:lumMod val="95000"/>
                    <a:lumOff val="5000"/>
                  </a:schemeClr>
                </a:solidFill>
                <a:latin typeface="Times New Roman" panose="02020603050405020304" pitchFamily="18" charset="0"/>
                <a:cs typeface="Times New Roman" panose="02020603050405020304" pitchFamily="18" charset="0"/>
              </a:rPr>
              <a:t>lý</a:t>
            </a:r>
            <a:r>
              <a:rPr lang="vi-VN" b="1" i="1" dirty="0">
                <a:solidFill>
                  <a:schemeClr val="tx1">
                    <a:lumMod val="95000"/>
                    <a:lumOff val="5000"/>
                  </a:schemeClr>
                </a:solidFill>
                <a:latin typeface="Times New Roman" panose="02020603050405020304" pitchFamily="18" charset="0"/>
                <a:cs typeface="Times New Roman" panose="02020603050405020304" pitchFamily="18" charset="0"/>
              </a:rPr>
              <a:t>: </a:t>
            </a:r>
            <a:r>
              <a:rPr lang="vi-VN" i="1" dirty="0">
                <a:solidFill>
                  <a:schemeClr val="tx1">
                    <a:lumMod val="95000"/>
                    <a:lumOff val="5000"/>
                  </a:schemeClr>
                </a:solidFill>
                <a:latin typeface="Times New Roman" panose="02020603050405020304" pitchFamily="18" charset="0"/>
                <a:cs typeface="Times New Roman" panose="02020603050405020304" pitchFamily="18" charset="0"/>
              </a:rPr>
              <a:t>các phán đoán liên kết với nhau theo quy tắc: phán đoán cuối cùng được suy suy ra từ những phán đoán đã biết làm tiền đè</a:t>
            </a:r>
            <a:endParaRPr lang="en-US" i="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7" name="Rectangle 6"/>
          <p:cNvSpPr/>
          <p:nvPr/>
        </p:nvSpPr>
        <p:spPr>
          <a:xfrm>
            <a:off x="3167743" y="5626961"/>
            <a:ext cx="8284028" cy="86591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marL="285750" indent="-285750" algn="just">
              <a:buFont typeface="Wingdings" panose="05000000000000000000" pitchFamily="2" charset="2"/>
              <a:buChar char="Ø"/>
            </a:pPr>
            <a:r>
              <a:rPr lang="vi-VN" sz="2000" b="1" i="1" dirty="0">
                <a:latin typeface="Times New Roman" panose="02020603050405020304" pitchFamily="18" charset="0"/>
                <a:cs typeface="Times New Roman" panose="02020603050405020304" pitchFamily="18" charset="0"/>
              </a:rPr>
              <a:t>Nhận thức lý tính có thể phản ánh được mối liên hệ bản chất, tất nhiên bên trong sự vật, phản ánh sự vật, hiện tượng sâu sắc hơn</a:t>
            </a:r>
            <a:endParaRPr lang="en-US" sz="2000" b="1" i="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100989"/>
          </a:xfrm>
        </p:spPr>
        <p:txBody>
          <a:bodyPr/>
          <a:lstStyle/>
          <a:p>
            <a:endParaRPr lang="en-US" dirty="0"/>
          </a:p>
        </p:txBody>
      </p:sp>
      <p:sp>
        <p:nvSpPr>
          <p:cNvPr id="3" name="Oval 2"/>
          <p:cNvSpPr/>
          <p:nvPr/>
        </p:nvSpPr>
        <p:spPr>
          <a:xfrm>
            <a:off x="838200" y="391887"/>
            <a:ext cx="7772399" cy="914399"/>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en-US" sz="1800" b="1" i="1">
                <a:latin typeface="Times New Roman" panose="02020603050405020304" pitchFamily="18" charset="0"/>
                <a:cs typeface="Times New Roman" panose="02020603050405020304" pitchFamily="18" charset="0"/>
              </a:rPr>
              <a:t>Sự thống nhất giữa trực quan sinh động, tư duy trừu tượng và thực tiễn</a:t>
            </a:r>
            <a:endParaRPr lang="en-US"/>
          </a:p>
        </p:txBody>
      </p:sp>
      <p:sp>
        <p:nvSpPr>
          <p:cNvPr id="4" name="Rectangle: Rounded Corners 3"/>
          <p:cNvSpPr/>
          <p:nvPr/>
        </p:nvSpPr>
        <p:spPr>
          <a:xfrm>
            <a:off x="1469571" y="1850571"/>
            <a:ext cx="1850572" cy="2960915"/>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pPr>
            <a:r>
              <a:rPr lang="en-US" altLang="en-US" dirty="0">
                <a:latin typeface="Times New Roman" panose="02020603050405020304" pitchFamily="18" charset="0"/>
              </a:rPr>
              <a:t>N</a:t>
            </a:r>
            <a:r>
              <a:rPr lang="vi-VN" altLang="en-US" dirty="0">
                <a:latin typeface="Times New Roman" panose="02020603050405020304" pitchFamily="18" charset="0"/>
              </a:rPr>
              <a:t>hận thức cảm tính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cơ</a:t>
            </a:r>
            <a:r>
              <a:rPr lang="en-US" altLang="en-US" dirty="0">
                <a:latin typeface="Times New Roman" panose="02020603050405020304" pitchFamily="18" charset="0"/>
              </a:rPr>
              <a:t> </a:t>
            </a:r>
            <a:r>
              <a:rPr lang="en-US" altLang="en-US" dirty="0" err="1">
                <a:latin typeface="Times New Roman" panose="02020603050405020304" pitchFamily="18" charset="0"/>
              </a:rPr>
              <a:t>sở</a:t>
            </a:r>
            <a:r>
              <a:rPr lang="en-US" altLang="en-US" dirty="0">
                <a:latin typeface="Times New Roman" panose="02020603050405020304" pitchFamily="18" charset="0"/>
              </a:rPr>
              <a:t> </a:t>
            </a:r>
            <a:r>
              <a:rPr lang="en-US" altLang="en-US" dirty="0" err="1">
                <a:latin typeface="Times New Roman" panose="02020603050405020304" pitchFamily="18" charset="0"/>
              </a:rPr>
              <a:t>cho</a:t>
            </a:r>
            <a:r>
              <a:rPr lang="en-US" altLang="en-US" dirty="0">
                <a:latin typeface="Times New Roman" panose="02020603050405020304" pitchFamily="18" charset="0"/>
              </a:rPr>
              <a:t> N</a:t>
            </a:r>
            <a:r>
              <a:rPr lang="vi-VN" altLang="en-US" dirty="0">
                <a:latin typeface="Times New Roman" panose="02020603050405020304" pitchFamily="18" charset="0"/>
              </a:rPr>
              <a:t>hận thức lý tính</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giai</a:t>
            </a:r>
            <a:r>
              <a:rPr lang="en-US" altLang="en-US" dirty="0">
                <a:latin typeface="Times New Roman" panose="02020603050405020304" pitchFamily="18" charset="0"/>
              </a:rPr>
              <a:t> </a:t>
            </a:r>
            <a:r>
              <a:rPr lang="en-US" altLang="en-US" dirty="0" err="1">
                <a:latin typeface="Times New Roman" panose="02020603050405020304" pitchFamily="18" charset="0"/>
              </a:rPr>
              <a:t>đoạn</a:t>
            </a:r>
            <a:r>
              <a:rPr lang="en-US" altLang="en-US" dirty="0">
                <a:latin typeface="Times New Roman" panose="02020603050405020304" pitchFamily="18" charset="0"/>
              </a:rPr>
              <a:t> </a:t>
            </a:r>
            <a:r>
              <a:rPr lang="en-US" altLang="en-US" dirty="0" err="1">
                <a:latin typeface="Times New Roman" panose="02020603050405020304" pitchFamily="18" charset="0"/>
              </a:rPr>
              <a:t>cảm</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dirty="0" err="1">
                <a:latin typeface="Times New Roman" panose="02020603050405020304" pitchFamily="18" charset="0"/>
              </a:rPr>
              <a:t>thì</a:t>
            </a:r>
            <a:r>
              <a:rPr lang="en-US" altLang="en-US" dirty="0">
                <a:latin typeface="Times New Roman" panose="02020603050405020304" pitchFamily="18" charset="0"/>
              </a:rPr>
              <a:t> </a:t>
            </a:r>
            <a:r>
              <a:rPr lang="en-US" altLang="en-US" dirty="0" err="1">
                <a:latin typeface="Times New Roman" panose="02020603050405020304" pitchFamily="18" charset="0"/>
              </a:rPr>
              <a:t>không</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giai</a:t>
            </a:r>
            <a:r>
              <a:rPr lang="en-US" altLang="en-US" dirty="0">
                <a:latin typeface="Times New Roman" panose="02020603050405020304" pitchFamily="18" charset="0"/>
              </a:rPr>
              <a:t> </a:t>
            </a:r>
            <a:r>
              <a:rPr lang="en-US" altLang="en-US" dirty="0" err="1">
                <a:latin typeface="Times New Roman" panose="02020603050405020304" pitchFamily="18" charset="0"/>
              </a:rPr>
              <a:t>đoạn</a:t>
            </a:r>
            <a:r>
              <a:rPr lang="en-US" altLang="en-US" dirty="0">
                <a:latin typeface="Times New Roman" panose="02020603050405020304" pitchFamily="18" charset="0"/>
              </a:rPr>
              <a:t> </a:t>
            </a:r>
            <a:r>
              <a:rPr lang="en-US" altLang="en-US" dirty="0" err="1">
                <a:latin typeface="Times New Roman" panose="02020603050405020304" pitchFamily="18" charset="0"/>
              </a:rPr>
              <a:t>lý</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a:t>
            </a:r>
            <a:endParaRPr lang="en-US" altLang="en-US" dirty="0">
              <a:latin typeface="Times New Roman" panose="02020603050405020304" pitchFamily="18" charset="0"/>
            </a:endParaRPr>
          </a:p>
        </p:txBody>
      </p:sp>
      <p:sp>
        <p:nvSpPr>
          <p:cNvPr id="5" name="Rectangle: Rounded Corners 4"/>
          <p:cNvSpPr/>
          <p:nvPr/>
        </p:nvSpPr>
        <p:spPr>
          <a:xfrm>
            <a:off x="3744685" y="2710542"/>
            <a:ext cx="1556658" cy="2732316"/>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buFontTx/>
              <a:buChar char="-"/>
            </a:pPr>
            <a:r>
              <a:rPr lang="en-US" altLang="en-US">
                <a:latin typeface="Times New Roman" panose="02020603050405020304" pitchFamily="18" charset="0"/>
              </a:rPr>
              <a:t>Không có giai đoạn lý tính, thì không nhận thức được bản chất sự vật.</a:t>
            </a:r>
            <a:endParaRPr lang="en-US" altLang="en-US">
              <a:latin typeface="Times New Roman" panose="02020603050405020304" pitchFamily="18" charset="0"/>
            </a:endParaRPr>
          </a:p>
          <a:p>
            <a:pPr marL="0" indent="0" algn="just">
              <a:buNone/>
            </a:pPr>
            <a:endParaRPr lang="en-US" altLang="en-US" dirty="0">
              <a:latin typeface="Times New Roman" panose="02020603050405020304" pitchFamily="18" charset="0"/>
            </a:endParaRPr>
          </a:p>
        </p:txBody>
      </p:sp>
      <p:sp>
        <p:nvSpPr>
          <p:cNvPr id="6" name="Rectangle: Rounded Corners 5"/>
          <p:cNvSpPr/>
          <p:nvPr/>
        </p:nvSpPr>
        <p:spPr>
          <a:xfrm>
            <a:off x="5725885" y="3429000"/>
            <a:ext cx="2133601" cy="2819400"/>
          </a:xfrm>
          <a:prstGeom prst="roundRect">
            <a:avLst/>
          </a:prstGeom>
        </p:spPr>
        <p:style>
          <a:lnRef idx="2">
            <a:schemeClr val="accent6"/>
          </a:lnRef>
          <a:fillRef idx="1">
            <a:schemeClr val="lt1"/>
          </a:fillRef>
          <a:effectRef idx="0">
            <a:schemeClr val="accent6"/>
          </a:effectRef>
          <a:fontRef idx="minor">
            <a:schemeClr val="dk1"/>
          </a:fontRef>
        </p:style>
        <p:txBody>
          <a:bodyPr rtlCol="0" anchor="ctr"/>
          <a:lstStyle/>
          <a:p>
            <a:pPr algn="just"/>
            <a:r>
              <a:rPr lang="vi-VN" altLang="en-US" dirty="0">
                <a:latin typeface="Times New Roman" panose="02020603050405020304" pitchFamily="18" charset="0"/>
              </a:rPr>
              <a:t>- </a:t>
            </a:r>
            <a:r>
              <a:rPr lang="en-US" altLang="en-US" dirty="0" err="1">
                <a:latin typeface="Times New Roman" panose="02020603050405020304" pitchFamily="18" charset="0"/>
              </a:rPr>
              <a:t>Nhận</a:t>
            </a:r>
            <a:r>
              <a:rPr lang="en-US" altLang="en-US" dirty="0">
                <a:latin typeface="Times New Roman" panose="02020603050405020304" pitchFamily="18" charset="0"/>
              </a:rPr>
              <a:t>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đòi</a:t>
            </a:r>
            <a:r>
              <a:rPr lang="en-US" altLang="en-US" dirty="0">
                <a:latin typeface="Times New Roman" panose="02020603050405020304" pitchFamily="18" charset="0"/>
              </a:rPr>
              <a:t> </a:t>
            </a:r>
            <a:r>
              <a:rPr lang="en-US" altLang="en-US" dirty="0" err="1">
                <a:latin typeface="Times New Roman" panose="02020603050405020304" pitchFamily="18" charset="0"/>
              </a:rPr>
              <a:t>hỏi</a:t>
            </a:r>
            <a:r>
              <a:rPr lang="en-US" altLang="en-US" dirty="0">
                <a:latin typeface="Times New Roman" panose="02020603050405020304" pitchFamily="18" charset="0"/>
              </a:rPr>
              <a: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xác</a:t>
            </a:r>
            <a:r>
              <a:rPr lang="en-US" altLang="en-US" dirty="0">
                <a:latin typeface="Times New Roman" panose="02020603050405020304" pitchFamily="18" charset="0"/>
              </a:rPr>
              <a:t> </a:t>
            </a:r>
            <a:r>
              <a:rPr lang="en-US" altLang="en-US" dirty="0" err="1">
                <a:latin typeface="Times New Roman" panose="02020603050405020304" pitchFamily="18" charset="0"/>
              </a:rPr>
              <a:t>định</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tri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vì</a:t>
            </a:r>
            <a:r>
              <a:rPr lang="en-US" altLang="en-US" dirty="0">
                <a:latin typeface="Times New Roman" panose="02020603050405020304" pitchFamily="18" charset="0"/>
              </a:rPr>
              <a:t> </a:t>
            </a:r>
            <a:r>
              <a:rPr lang="en-US" altLang="en-US" dirty="0" err="1">
                <a:latin typeface="Times New Roman" panose="02020603050405020304" pitchFamily="18" charset="0"/>
              </a:rPr>
              <a:t>vậy</a:t>
            </a:r>
            <a:r>
              <a:rPr lang="en-US" altLang="en-US" dirty="0">
                <a:latin typeface="Times New Roman" panose="02020603050405020304" pitchFamily="18" charset="0"/>
              </a:rPr>
              <a:t>, NTLT </a:t>
            </a:r>
            <a:r>
              <a:rPr lang="en-US" altLang="en-US" dirty="0" err="1">
                <a:latin typeface="Times New Roman" panose="02020603050405020304" pitchFamily="18" charset="0"/>
              </a:rPr>
              <a:t>phải</a:t>
            </a:r>
            <a:r>
              <a:rPr lang="en-US" altLang="en-US" dirty="0">
                <a:latin typeface="Times New Roman" panose="02020603050405020304" pitchFamily="18" charset="0"/>
              </a:rPr>
              <a:t> </a:t>
            </a:r>
            <a:r>
              <a:rPr lang="en-US" altLang="en-US" dirty="0" err="1">
                <a:latin typeface="Times New Roman" panose="02020603050405020304" pitchFamily="18" charset="0"/>
              </a:rPr>
              <a:t>trở</a:t>
            </a:r>
            <a:r>
              <a:rPr lang="en-US" altLang="en-US" dirty="0">
                <a:latin typeface="Times New Roman" panose="02020603050405020304" pitchFamily="18" charset="0"/>
              </a:rPr>
              <a:t> </a:t>
            </a:r>
            <a:r>
              <a:rPr lang="en-US" altLang="en-US" dirty="0" err="1">
                <a:latin typeface="Times New Roman" panose="02020603050405020304" pitchFamily="18" charset="0"/>
              </a:rPr>
              <a:t>về</a:t>
            </a:r>
            <a:r>
              <a:rPr lang="en-US" altLang="en-US" dirty="0">
                <a:latin typeface="Times New Roman" panose="02020603050405020304" pitchFamily="18" charset="0"/>
              </a:rPr>
              <a:t> </a:t>
            </a:r>
            <a:r>
              <a:rPr lang="en-US" altLang="en-US" dirty="0" err="1">
                <a:latin typeface="Times New Roman" panose="02020603050405020304" pitchFamily="18" charset="0"/>
              </a:rPr>
              <a:t>với</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kiểm</a:t>
            </a:r>
            <a:r>
              <a:rPr lang="en-US" altLang="en-US" dirty="0">
                <a:latin typeface="Times New Roman" panose="02020603050405020304" pitchFamily="18" charset="0"/>
              </a:rPr>
              <a:t> </a:t>
            </a:r>
            <a:r>
              <a:rPr lang="en-US" altLang="en-US" dirty="0" err="1">
                <a:latin typeface="Times New Roman" panose="02020603050405020304" pitchFamily="18" charset="0"/>
              </a:rPr>
              <a:t>nghiệm</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dirty="0" err="1">
                <a:latin typeface="Times New Roman" panose="02020603050405020304" pitchFamily="18" charset="0"/>
              </a:rPr>
              <a:t>đúng</a:t>
            </a:r>
            <a:r>
              <a:rPr lang="en-US" altLang="en-US" dirty="0">
                <a:latin typeface="Times New Roman" panose="02020603050405020304" pitchFamily="18" charset="0"/>
              </a:rPr>
              <a:t> </a:t>
            </a:r>
            <a:r>
              <a:rPr lang="en-US" altLang="en-US" dirty="0" err="1">
                <a:latin typeface="Times New Roman" panose="02020603050405020304" pitchFamily="18" charset="0"/>
              </a:rPr>
              <a:t>đắn</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nó</a:t>
            </a:r>
            <a:r>
              <a:rPr lang="en-US" altLang="en-US" dirty="0">
                <a:latin typeface="Times New Roman" panose="02020603050405020304" pitchFamily="18" charset="0"/>
              </a:rPr>
              <a:t>.</a:t>
            </a:r>
            <a:endParaRPr lang="en-US"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37202"/>
          </a:xfrm>
        </p:spPr>
        <p:txBody>
          <a:bodyPr>
            <a:normAutofit fontScale="90000"/>
          </a:bodyPr>
          <a:lstStyle/>
          <a:p>
            <a:pPr algn="l"/>
            <a:r>
              <a:rPr lang="en-US" sz="4000" b="1" i="1" dirty="0">
                <a:solidFill>
                  <a:srgbClr val="FF0000"/>
                </a:solidFill>
                <a:latin typeface="Times New Roman" panose="02020603050405020304" pitchFamily="18" charset="0"/>
                <a:cs typeface="Times New Roman" panose="02020603050405020304" pitchFamily="18" charset="0"/>
              </a:rPr>
              <a:t>d.Quan điểm của CNDVBC về chân lý</a:t>
            </a:r>
            <a:br>
              <a:rPr lang="en-US" sz="4000" b="1" i="1" dirty="0">
                <a:solidFill>
                  <a:srgbClr val="FF0000"/>
                </a:solidFill>
                <a:latin typeface="Times New Roman" panose="02020603050405020304" pitchFamily="18" charset="0"/>
                <a:cs typeface="Times New Roman" panose="02020603050405020304" pitchFamily="18" charset="0"/>
              </a:rPr>
            </a:br>
            <a:r>
              <a:rPr lang="en-US" sz="4000" b="1" i="1" dirty="0">
                <a:solidFill>
                  <a:srgbClr val="FF0000"/>
                </a:solidFill>
                <a:latin typeface="Times New Roman" panose="02020603050405020304" pitchFamily="18" charset="0"/>
                <a:cs typeface="Times New Roman" panose="02020603050405020304" pitchFamily="18" charset="0"/>
              </a:rPr>
              <a:t>- Quan niệm về </a:t>
            </a:r>
            <a:r>
              <a:rPr lang="en-US" sz="4000" b="1" i="1" dirty="0" err="1">
                <a:solidFill>
                  <a:srgbClr val="FF0000"/>
                </a:solidFill>
                <a:latin typeface="Times New Roman" panose="02020603050405020304" pitchFamily="18" charset="0"/>
                <a:cs typeface="Times New Roman" panose="02020603050405020304" pitchFamily="18" charset="0"/>
              </a:rPr>
              <a:t>chân</a:t>
            </a:r>
            <a:r>
              <a:rPr lang="en-US" sz="4000" b="1" i="1" dirty="0">
                <a:solidFill>
                  <a:srgbClr val="FF0000"/>
                </a:solidFill>
                <a:latin typeface="Times New Roman" panose="02020603050405020304" pitchFamily="18" charset="0"/>
                <a:cs typeface="Times New Roman" panose="02020603050405020304" pitchFamily="18" charset="0"/>
              </a:rPr>
              <a:t> </a:t>
            </a:r>
            <a:r>
              <a:rPr lang="en-US" sz="4000" b="1" i="1" dirty="0" err="1">
                <a:solidFill>
                  <a:srgbClr val="FF0000"/>
                </a:solidFill>
                <a:latin typeface="Times New Roman" panose="02020603050405020304" pitchFamily="18" charset="0"/>
                <a:cs typeface="Times New Roman" panose="02020603050405020304" pitchFamily="18" charset="0"/>
              </a:rPr>
              <a:t>lý</a:t>
            </a:r>
            <a:endParaRPr lang="en-US" sz="4000" b="1" i="1" dirty="0" err="1">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algn="just">
              <a:buFont typeface="Wingdings" panose="05000000000000000000" pitchFamily="2" charset="2"/>
              <a:buChar char="§"/>
            </a:pPr>
            <a:r>
              <a:rPr lang="en-US" altLang="en-US" sz="2400" b="1" dirty="0" err="1">
                <a:latin typeface="Times New Roman" panose="02020603050405020304" pitchFamily="18" charset="0"/>
              </a:rPr>
              <a:t>Khái</a:t>
            </a:r>
            <a:r>
              <a:rPr lang="en-US" altLang="en-US" sz="2400" b="1" dirty="0">
                <a:latin typeface="Times New Roman" panose="02020603050405020304" pitchFamily="18" charset="0"/>
              </a:rPr>
              <a:t> </a:t>
            </a:r>
            <a:r>
              <a:rPr lang="en-US" altLang="en-US" sz="2400" b="1" dirty="0" err="1">
                <a:latin typeface="Times New Roman" panose="02020603050405020304" pitchFamily="18" charset="0"/>
              </a:rPr>
              <a:t>niệm</a:t>
            </a:r>
            <a:r>
              <a:rPr lang="en-US" altLang="en-US" sz="2400" b="1" dirty="0">
                <a:latin typeface="Times New Roman" panose="02020603050405020304" pitchFamily="18" charset="0"/>
              </a:rPr>
              <a:t> “</a:t>
            </a:r>
            <a:r>
              <a:rPr lang="en-US" altLang="en-US" sz="2400" b="1" i="1" dirty="0" err="1">
                <a:latin typeface="Times New Roman" panose="02020603050405020304" pitchFamily="18" charset="0"/>
              </a:rPr>
              <a:t>chân</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lý</a:t>
            </a:r>
            <a:r>
              <a:rPr lang="en-US" altLang="en-US" sz="2400" b="1" dirty="0">
                <a:latin typeface="Times New Roman" panose="02020603050405020304" pitchFamily="18" charset="0"/>
              </a:rPr>
              <a:t>”</a:t>
            </a:r>
            <a:r>
              <a:rPr lang="en-US" altLang="en-US" dirty="0">
                <a:latin typeface="Times New Roman" panose="02020603050405020304" pitchFamily="18" charset="0"/>
              </a:rPr>
              <a:t> </a:t>
            </a:r>
            <a:r>
              <a:rPr lang="en-US" altLang="en-US" dirty="0" err="1">
                <a:latin typeface="Times New Roman" panose="02020603050405020304" pitchFamily="18" charset="0"/>
              </a:rPr>
              <a:t>dùng</a:t>
            </a:r>
            <a:r>
              <a:rPr lang="en-US" altLang="en-US" dirty="0">
                <a:latin typeface="Times New Roman" panose="02020603050405020304" pitchFamily="18" charset="0"/>
              </a:rPr>
              <a:t> </a:t>
            </a:r>
            <a:r>
              <a:rPr lang="en-US" altLang="en-US" dirty="0" err="1">
                <a:latin typeface="Times New Roman" panose="02020603050405020304" pitchFamily="18" charset="0"/>
              </a:rPr>
              <a:t>để</a:t>
            </a:r>
            <a:r>
              <a:rPr lang="en-US" altLang="en-US" dirty="0">
                <a:latin typeface="Times New Roman" panose="02020603050405020304" pitchFamily="18" charset="0"/>
              </a:rPr>
              <a:t> </a:t>
            </a:r>
            <a:r>
              <a:rPr lang="en-US" altLang="en-US" dirty="0" err="1">
                <a:latin typeface="Times New Roman" panose="02020603050405020304" pitchFamily="18" charset="0"/>
              </a:rPr>
              <a:t>chỉ</a:t>
            </a:r>
            <a:r>
              <a:rPr lang="en-US" altLang="en-US" dirty="0">
                <a:latin typeface="Times New Roman" panose="02020603050405020304" pitchFamily="18" charset="0"/>
              </a:rPr>
              <a:t> </a:t>
            </a:r>
            <a:r>
              <a:rPr lang="en-US" altLang="en-US" i="1" dirty="0" err="1">
                <a:latin typeface="Times New Roman" panose="02020603050405020304" pitchFamily="18" charset="0"/>
              </a:rPr>
              <a:t>những</a:t>
            </a:r>
            <a:r>
              <a:rPr lang="en-US" altLang="en-US" i="1" dirty="0">
                <a:latin typeface="Times New Roman" panose="02020603050405020304" pitchFamily="18" charset="0"/>
              </a:rPr>
              <a:t> tri </a:t>
            </a:r>
            <a:r>
              <a:rPr lang="en-US" altLang="en-US" i="1" dirty="0" err="1">
                <a:latin typeface="Times New Roman" panose="02020603050405020304" pitchFamily="18" charset="0"/>
              </a:rPr>
              <a:t>thức</a:t>
            </a:r>
            <a:r>
              <a:rPr lang="en-US" altLang="en-US" i="1" dirty="0">
                <a:latin typeface="Times New Roman" panose="02020603050405020304" pitchFamily="18" charset="0"/>
              </a:rPr>
              <a:t> </a:t>
            </a:r>
            <a:r>
              <a:rPr lang="en-US" altLang="en-US" i="1" dirty="0" err="1">
                <a:latin typeface="Times New Roman" panose="02020603050405020304" pitchFamily="18" charset="0"/>
              </a:rPr>
              <a:t>có</a:t>
            </a:r>
            <a:r>
              <a:rPr lang="en-US" altLang="en-US" i="1" dirty="0">
                <a:latin typeface="Times New Roman" panose="02020603050405020304" pitchFamily="18" charset="0"/>
              </a:rPr>
              <a:t> </a:t>
            </a:r>
            <a:r>
              <a:rPr lang="en-US" altLang="en-US" i="1" dirty="0" err="1">
                <a:latin typeface="Times New Roman" panose="02020603050405020304" pitchFamily="18" charset="0"/>
              </a:rPr>
              <a:t>nội</a:t>
            </a:r>
            <a:r>
              <a:rPr lang="en-US" altLang="en-US" i="1" dirty="0">
                <a:latin typeface="Times New Roman" panose="02020603050405020304" pitchFamily="18" charset="0"/>
              </a:rPr>
              <a:t> dung </a:t>
            </a:r>
            <a:r>
              <a:rPr lang="en-US" altLang="en-US" i="1" dirty="0" err="1">
                <a:latin typeface="Times New Roman" panose="02020603050405020304" pitchFamily="18" charset="0"/>
              </a:rPr>
              <a:t>phù</a:t>
            </a:r>
            <a:r>
              <a:rPr lang="en-US" altLang="en-US" i="1" dirty="0">
                <a:latin typeface="Times New Roman" panose="02020603050405020304" pitchFamily="18" charset="0"/>
              </a:rPr>
              <a:t> </a:t>
            </a:r>
            <a:r>
              <a:rPr lang="en-US" altLang="en-US" i="1" dirty="0" err="1">
                <a:latin typeface="Times New Roman" panose="02020603050405020304" pitchFamily="18" charset="0"/>
              </a:rPr>
              <a:t>hợp</a:t>
            </a:r>
            <a:r>
              <a:rPr lang="en-US" altLang="en-US" i="1" dirty="0">
                <a:latin typeface="Times New Roman" panose="02020603050405020304" pitchFamily="18" charset="0"/>
              </a:rPr>
              <a:t> </a:t>
            </a:r>
            <a:r>
              <a:rPr lang="en-US" altLang="en-US" i="1" dirty="0" err="1">
                <a:latin typeface="Times New Roman" panose="02020603050405020304" pitchFamily="18" charset="0"/>
              </a:rPr>
              <a:t>với</a:t>
            </a:r>
            <a:r>
              <a:rPr lang="en-US" altLang="en-US" i="1" dirty="0">
                <a:latin typeface="Times New Roman" panose="02020603050405020304" pitchFamily="18" charset="0"/>
              </a:rPr>
              <a:t> </a:t>
            </a:r>
            <a:r>
              <a:rPr lang="en-US" altLang="en-US" i="1" dirty="0" err="1">
                <a:latin typeface="Times New Roman" panose="02020603050405020304" pitchFamily="18" charset="0"/>
              </a:rPr>
              <a:t>thực</a:t>
            </a:r>
            <a:r>
              <a:rPr lang="en-US" altLang="en-US" i="1" dirty="0">
                <a:latin typeface="Times New Roman" panose="02020603050405020304" pitchFamily="18" charset="0"/>
              </a:rPr>
              <a:t> </a:t>
            </a:r>
            <a:r>
              <a:rPr lang="en-US" altLang="en-US" i="1" dirty="0" err="1">
                <a:latin typeface="Times New Roman" panose="02020603050405020304" pitchFamily="18" charset="0"/>
              </a:rPr>
              <a:t>tế</a:t>
            </a:r>
            <a:r>
              <a:rPr lang="en-US" altLang="en-US" i="1" dirty="0">
                <a:latin typeface="Times New Roman" panose="02020603050405020304" pitchFamily="18" charset="0"/>
              </a:rPr>
              <a:t> </a:t>
            </a:r>
            <a:r>
              <a:rPr lang="en-US" altLang="en-US" i="1" dirty="0" err="1">
                <a:latin typeface="Times New Roman" panose="02020603050405020304" pitchFamily="18" charset="0"/>
              </a:rPr>
              <a:t>khách</a:t>
            </a:r>
            <a:r>
              <a:rPr lang="en-US" altLang="en-US" i="1" dirty="0">
                <a:latin typeface="Times New Roman" panose="02020603050405020304" pitchFamily="18" charset="0"/>
              </a:rPr>
              <a:t> </a:t>
            </a:r>
            <a:r>
              <a:rPr lang="en-US" altLang="en-US" i="1" dirty="0" err="1">
                <a:latin typeface="Times New Roman" panose="02020603050405020304" pitchFamily="18" charset="0"/>
              </a:rPr>
              <a:t>quan</a:t>
            </a:r>
            <a:r>
              <a:rPr lang="en-US" altLang="en-US" i="1"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phù</a:t>
            </a:r>
            <a:r>
              <a:rPr lang="en-US" altLang="en-US" dirty="0">
                <a:latin typeface="Times New Roman" panose="02020603050405020304" pitchFamily="18" charset="0"/>
              </a:rPr>
              <a:t> </a:t>
            </a:r>
            <a:r>
              <a:rPr lang="en-US" altLang="en-US" dirty="0" err="1">
                <a:latin typeface="Times New Roman" panose="02020603050405020304" pitchFamily="18" charset="0"/>
              </a:rPr>
              <a:t>hợp</a:t>
            </a:r>
            <a:r>
              <a:rPr lang="en-US" altLang="en-US" dirty="0">
                <a:latin typeface="Times New Roman" panose="02020603050405020304" pitchFamily="18" charset="0"/>
              </a:rPr>
              <a:t>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kiểm</a:t>
            </a:r>
            <a:r>
              <a:rPr lang="en-US" altLang="en-US" dirty="0">
                <a:latin typeface="Times New Roman" panose="02020603050405020304" pitchFamily="18" charset="0"/>
              </a:rPr>
              <a:t> </a:t>
            </a:r>
            <a:r>
              <a:rPr lang="en-US" altLang="en-US" dirty="0" err="1">
                <a:latin typeface="Times New Roman" panose="02020603050405020304" pitchFamily="18" charset="0"/>
              </a:rPr>
              <a:t>tra</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chứng</a:t>
            </a:r>
            <a:r>
              <a:rPr lang="en-US" altLang="en-US" dirty="0">
                <a:latin typeface="Times New Roman" panose="02020603050405020304" pitchFamily="18" charset="0"/>
              </a:rPr>
              <a:t> minh </a:t>
            </a:r>
            <a:r>
              <a:rPr lang="en-US" altLang="en-US" dirty="0" err="1">
                <a:latin typeface="Times New Roman" panose="02020603050405020304" pitchFamily="18" charset="0"/>
              </a:rPr>
              <a:t>bởi</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algn="just">
              <a:buFont typeface="Wingdings" panose="05000000000000000000" pitchFamily="2" charset="2"/>
              <a:buChar char="§"/>
            </a:pPr>
            <a:r>
              <a:rPr lang="en-US" altLang="en-US" sz="2400" b="1" dirty="0" err="1">
                <a:latin typeface="Times New Roman" panose="02020603050405020304" pitchFamily="18" charset="0"/>
              </a:rPr>
              <a:t>Các</a:t>
            </a:r>
            <a:r>
              <a:rPr lang="en-US" altLang="en-US" sz="2400" b="1" dirty="0">
                <a:latin typeface="Times New Roman" panose="02020603050405020304" pitchFamily="18" charset="0"/>
              </a:rPr>
              <a:t> </a:t>
            </a:r>
            <a:r>
              <a:rPr lang="en-US" altLang="en-US" sz="2400" b="1" i="1" dirty="0" err="1">
                <a:latin typeface="Times New Roman" panose="02020603050405020304" pitchFamily="18" charset="0"/>
              </a:rPr>
              <a:t>tính</a:t>
            </a:r>
            <a:r>
              <a:rPr lang="en-US" altLang="en-US" sz="2400" b="1" i="1" dirty="0">
                <a:latin typeface="Times New Roman" panose="02020603050405020304" pitchFamily="18" charset="0"/>
              </a:rPr>
              <a:t> </a:t>
            </a:r>
            <a:r>
              <a:rPr lang="en-US" altLang="en-US" sz="2400" b="1" i="1" dirty="0" err="1">
                <a:latin typeface="Times New Roman" panose="02020603050405020304" pitchFamily="18" charset="0"/>
              </a:rPr>
              <a:t>chất</a:t>
            </a:r>
            <a:r>
              <a:rPr lang="en-US" altLang="en-US" sz="2400" b="1" dirty="0">
                <a:latin typeface="Times New Roman" panose="02020603050405020304" pitchFamily="18" charset="0"/>
              </a:rPr>
              <a:t> </a:t>
            </a:r>
            <a:r>
              <a:rPr lang="en-US" altLang="en-US" sz="2400" b="1" dirty="0" err="1">
                <a:latin typeface="Times New Roman" panose="02020603050405020304" pitchFamily="18" charset="0"/>
              </a:rPr>
              <a:t>của</a:t>
            </a:r>
            <a:r>
              <a:rPr lang="en-US" altLang="en-US" sz="2400" b="1" dirty="0">
                <a:latin typeface="Times New Roman" panose="02020603050405020304" pitchFamily="18" charset="0"/>
              </a:rPr>
              <a:t> </a:t>
            </a:r>
            <a:r>
              <a:rPr lang="en-US" altLang="en-US" sz="2400" b="1" dirty="0" err="1">
                <a:latin typeface="Times New Roman" panose="02020603050405020304" pitchFamily="18" charset="0"/>
              </a:rPr>
              <a:t>chân</a:t>
            </a:r>
            <a:r>
              <a:rPr lang="en-US" altLang="en-US" sz="2400" b="1" dirty="0">
                <a:latin typeface="Times New Roman" panose="02020603050405020304" pitchFamily="18" charset="0"/>
              </a:rPr>
              <a:t> </a:t>
            </a:r>
            <a:r>
              <a:rPr lang="en-US" altLang="en-US" sz="2400" b="1" dirty="0" err="1">
                <a:latin typeface="Times New Roman" panose="02020603050405020304" pitchFamily="18" charset="0"/>
              </a:rPr>
              <a:t>lý</a:t>
            </a:r>
            <a:r>
              <a:rPr lang="en-US" altLang="en-US" sz="2400" b="1" dirty="0">
                <a:latin typeface="Times New Roman" panose="02020603050405020304" pitchFamily="18" charset="0"/>
              </a:rPr>
              <a:t>: </a:t>
            </a:r>
            <a:r>
              <a:rPr lang="en-US" altLang="en-US" dirty="0" err="1">
                <a:latin typeface="Times New Roman" panose="02020603050405020304" pitchFamily="18" charset="0"/>
              </a:rPr>
              <a:t>Mọi</a:t>
            </a:r>
            <a:r>
              <a:rPr lang="en-US" altLang="en-US" dirty="0">
                <a:latin typeface="Times New Roman" panose="02020603050405020304" pitchFamily="18" charset="0"/>
              </a:rPr>
              <a:t> </a:t>
            </a: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lí</a:t>
            </a:r>
            <a:r>
              <a:rPr lang="en-US" altLang="en-US" dirty="0">
                <a:latin typeface="Times New Roman" panose="02020603050405020304" pitchFamily="18" charset="0"/>
              </a:rPr>
              <a:t> </a:t>
            </a:r>
            <a:r>
              <a:rPr lang="en-US" altLang="en-US" dirty="0" err="1">
                <a:latin typeface="Times New Roman" panose="02020603050405020304" pitchFamily="18" charset="0"/>
              </a:rPr>
              <a:t>đều</a:t>
            </a:r>
            <a:r>
              <a:rPr lang="en-US" altLang="en-US" dirty="0">
                <a:latin typeface="Times New Roman" panose="02020603050405020304" pitchFamily="18" charset="0"/>
              </a:rPr>
              <a:t>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i="1" dirty="0" err="1">
                <a:latin typeface="Times New Roman" panose="02020603050405020304" pitchFamily="18" charset="0"/>
              </a:rPr>
              <a:t>khách</a:t>
            </a:r>
            <a:r>
              <a:rPr lang="en-US" altLang="en-US" i="1" dirty="0">
                <a:latin typeface="Times New Roman" panose="02020603050405020304" pitchFamily="18" charset="0"/>
              </a:rPr>
              <a:t> </a:t>
            </a:r>
            <a:r>
              <a:rPr lang="en-US" altLang="en-US" i="1" dirty="0" err="1">
                <a:latin typeface="Times New Roman" panose="02020603050405020304" pitchFamily="18" charset="0"/>
              </a:rPr>
              <a:t>quan</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i="1" dirty="0" err="1">
                <a:latin typeface="Times New Roman" panose="02020603050405020304" pitchFamily="18" charset="0"/>
              </a:rPr>
              <a:t>tương</a:t>
            </a:r>
            <a:r>
              <a:rPr lang="en-US" altLang="en-US" i="1" dirty="0">
                <a:latin typeface="Times New Roman" panose="02020603050405020304" pitchFamily="18" charset="0"/>
              </a:rPr>
              <a:t> </a:t>
            </a:r>
            <a:r>
              <a:rPr lang="en-US" altLang="en-US" i="1"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i="1" dirty="0" err="1">
                <a:latin typeface="Times New Roman" panose="02020603050405020304" pitchFamily="18" charset="0"/>
              </a:rPr>
              <a:t>tuyệt</a:t>
            </a:r>
            <a:r>
              <a:rPr lang="en-US" altLang="en-US" i="1" dirty="0">
                <a:latin typeface="Times New Roman" panose="02020603050405020304" pitchFamily="18" charset="0"/>
              </a:rPr>
              <a:t> </a:t>
            </a:r>
            <a:r>
              <a:rPr lang="en-US" altLang="en-US" i="1" dirty="0" err="1">
                <a:latin typeface="Times New Roman" panose="02020603050405020304" pitchFamily="18" charset="0"/>
              </a:rPr>
              <a:t>đối</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i="1" dirty="0" err="1">
                <a:latin typeface="Times New Roman" panose="02020603050405020304" pitchFamily="18" charset="0"/>
              </a:rPr>
              <a:t>cụ</a:t>
            </a:r>
            <a:r>
              <a:rPr lang="en-US" altLang="en-US" i="1" dirty="0">
                <a:latin typeface="Times New Roman" panose="02020603050405020304" pitchFamily="18" charset="0"/>
              </a:rPr>
              <a:t> </a:t>
            </a:r>
            <a:r>
              <a:rPr lang="en-US" altLang="en-US" i="1" dirty="0" err="1">
                <a:latin typeface="Times New Roman" panose="02020603050405020304" pitchFamily="18" charset="0"/>
              </a:rPr>
              <a:t>thể</a:t>
            </a:r>
            <a:r>
              <a:rPr lang="en-US" altLang="en-US" i="1" dirty="0">
                <a:latin typeface="Times New Roman" panose="02020603050405020304" pitchFamily="18" charset="0"/>
              </a:rPr>
              <a:t>.</a:t>
            </a:r>
            <a:endParaRPr lang="en-US" altLang="en-US" i="1" dirty="0">
              <a:latin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7030A0">
            <a:alpha val="9000"/>
          </a:srgb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95639"/>
          </a:xfrm>
        </p:spPr>
        <p:txBody>
          <a:bodyPr>
            <a:normAutofit/>
          </a:bodyPr>
          <a:lstStyle/>
          <a:p>
            <a:pPr marL="571500" indent="-571500" algn="just">
              <a:buFont typeface="Wingdings" panose="05000000000000000000" pitchFamily="2" charset="2"/>
              <a:buChar char="v"/>
            </a:pPr>
            <a:r>
              <a:rPr lang="en-US" altLang="en-US" sz="4000" b="1" i="1" dirty="0" err="1">
                <a:latin typeface="Times New Roman" panose="02020603050405020304" pitchFamily="18" charset="0"/>
              </a:rPr>
              <a:t>Vai</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trò</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của</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chân</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lý</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đối</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với</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thực</a:t>
            </a:r>
            <a:r>
              <a:rPr lang="en-US" altLang="en-US" sz="4000" b="1" i="1" dirty="0">
                <a:latin typeface="Times New Roman" panose="02020603050405020304" pitchFamily="18" charset="0"/>
              </a:rPr>
              <a:t> </a:t>
            </a:r>
            <a:r>
              <a:rPr lang="en-US" altLang="en-US" sz="4000" b="1" i="1" dirty="0" err="1">
                <a:latin typeface="Times New Roman" panose="02020603050405020304" pitchFamily="18" charset="0"/>
              </a:rPr>
              <a:t>tiễn</a:t>
            </a:r>
            <a:endParaRPr lang="en-US" sz="40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40873"/>
            <a:ext cx="10515600" cy="4736090"/>
          </a:xfrm>
        </p:spPr>
        <p:txBody>
          <a:bodyPr/>
          <a:lstStyle/>
          <a:p>
            <a:pPr algn="just">
              <a:buFontTx/>
              <a:buChar char="-"/>
            </a:pPr>
            <a:r>
              <a:rPr lang="en-US" altLang="en-US" dirty="0">
                <a:latin typeface="Times New Roman" panose="02020603050405020304" pitchFamily="18" charset="0"/>
              </a:rPr>
              <a:t>“</a:t>
            </a: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lý</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một</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điều</a:t>
            </a:r>
            <a:r>
              <a:rPr lang="en-US" altLang="en-US" dirty="0">
                <a:latin typeface="Times New Roman" panose="02020603050405020304" pitchFamily="18" charset="0"/>
              </a:rPr>
              <a:t> </a:t>
            </a:r>
            <a:r>
              <a:rPr lang="en-US" altLang="en-US" dirty="0" err="1">
                <a:latin typeface="Times New Roman" panose="02020603050405020304" pitchFamily="18" charset="0"/>
              </a:rPr>
              <a:t>kiện</a:t>
            </a:r>
            <a:r>
              <a:rPr lang="en-US" altLang="en-US" dirty="0">
                <a:latin typeface="Times New Roman" panose="02020603050405020304" pitchFamily="18" charset="0"/>
              </a:rPr>
              <a:t> </a:t>
            </a:r>
            <a:r>
              <a:rPr lang="en-US" altLang="en-US" dirty="0" err="1">
                <a:latin typeface="Times New Roman" panose="02020603050405020304" pitchFamily="18" charset="0"/>
              </a:rPr>
              <a:t>tiên</a:t>
            </a:r>
            <a:r>
              <a:rPr lang="en-US" altLang="en-US" dirty="0">
                <a:latin typeface="Times New Roman" panose="02020603050405020304" pitchFamily="18" charset="0"/>
              </a:rPr>
              <a:t> </a:t>
            </a:r>
            <a:r>
              <a:rPr lang="en-US" altLang="en-US" dirty="0" err="1">
                <a:latin typeface="Times New Roman" panose="02020603050405020304" pitchFamily="18" charset="0"/>
              </a:rPr>
              <a:t>quyết</a:t>
            </a:r>
            <a:r>
              <a:rPr lang="en-US" altLang="en-US" dirty="0">
                <a:latin typeface="Times New Roman" panose="02020603050405020304" pitchFamily="18" charset="0"/>
              </a:rPr>
              <a:t> </a:t>
            </a:r>
            <a:r>
              <a:rPr lang="en-US" altLang="en-US" dirty="0" err="1">
                <a:latin typeface="Times New Roman" panose="02020603050405020304" pitchFamily="18" charset="0"/>
              </a:rPr>
              <a:t>bảo</a:t>
            </a:r>
            <a:r>
              <a:rPr lang="en-US" altLang="en-US" dirty="0">
                <a:latin typeface="Times New Roman" panose="02020603050405020304" pitchFamily="18" charset="0"/>
              </a:rPr>
              <a:t> </a:t>
            </a:r>
            <a:r>
              <a:rPr lang="en-US" altLang="en-US" dirty="0" err="1">
                <a:latin typeface="Times New Roman" panose="02020603050405020304" pitchFamily="18" charset="0"/>
              </a:rPr>
              <a:t>đảm</a:t>
            </a:r>
            <a:r>
              <a:rPr lang="en-US" altLang="en-US" dirty="0">
                <a:latin typeface="Times New Roman" panose="02020603050405020304" pitchFamily="18" charset="0"/>
              </a:rPr>
              <a:t> </a:t>
            </a:r>
            <a:r>
              <a:rPr lang="en-US" altLang="en-US" dirty="0" err="1">
                <a:latin typeface="Times New Roman" panose="02020603050405020304" pitchFamily="18" charset="0"/>
              </a:rPr>
              <a:t>sự</a:t>
            </a:r>
            <a:r>
              <a:rPr lang="en-US" altLang="en-US" dirty="0">
                <a:latin typeface="Times New Roman" panose="02020603050405020304" pitchFamily="18" charset="0"/>
              </a:rPr>
              <a:t> </a:t>
            </a:r>
            <a:r>
              <a:rPr lang="en-US" altLang="en-US" dirty="0" err="1">
                <a:latin typeface="Times New Roman" panose="02020603050405020304" pitchFamily="18" charset="0"/>
              </a:rPr>
              <a:t>thành</a:t>
            </a:r>
            <a:r>
              <a:rPr lang="en-US" altLang="en-US" dirty="0">
                <a:latin typeface="Times New Roman" panose="02020603050405020304" pitchFamily="18" charset="0"/>
              </a:rPr>
              <a:t> </a:t>
            </a:r>
            <a:r>
              <a:rPr lang="en-US" altLang="en-US" dirty="0" err="1">
                <a:latin typeface="Times New Roman" panose="02020603050405020304" pitchFamily="18" charset="0"/>
              </a:rPr>
              <a:t>công</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tính</a:t>
            </a:r>
            <a:r>
              <a:rPr lang="en-US" altLang="en-US" dirty="0">
                <a:latin typeface="Times New Roman" panose="02020603050405020304" pitchFamily="18" charset="0"/>
              </a:rPr>
              <a:t> </a:t>
            </a:r>
            <a:r>
              <a:rPr lang="en-US" altLang="en-US" dirty="0" err="1">
                <a:latin typeface="Times New Roman" panose="02020603050405020304" pitchFamily="18" charset="0"/>
              </a:rPr>
              <a:t>hiệu</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buFontTx/>
              <a:buChar char="-"/>
            </a:pP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lý</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nhờ</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triển</a:t>
            </a:r>
            <a:r>
              <a:rPr lang="en-US" altLang="en-US" dirty="0">
                <a:latin typeface="Times New Roman" panose="02020603050405020304" pitchFamily="18" charset="0"/>
              </a:rPr>
              <a:t> </a:t>
            </a:r>
            <a:r>
              <a:rPr lang="en-US" altLang="en-US" dirty="0" err="1">
                <a:latin typeface="Times New Roman" panose="02020603050405020304" pitchFamily="18" charset="0"/>
              </a:rPr>
              <a:t>nhờ</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a:t>
            </a:r>
            <a:r>
              <a:rPr lang="en-US" altLang="en-US" dirty="0" err="1">
                <a:latin typeface="Times New Roman" panose="02020603050405020304" pitchFamily="18" charset="0"/>
              </a:rPr>
              <a:t>đúng</a:t>
            </a:r>
            <a:r>
              <a:rPr lang="en-US" altLang="en-US" dirty="0">
                <a:latin typeface="Times New Roman" panose="02020603050405020304" pitchFamily="18" charset="0"/>
              </a:rPr>
              <a:t> </a:t>
            </a:r>
            <a:r>
              <a:rPr lang="en-US" altLang="en-US" dirty="0" err="1">
                <a:latin typeface="Times New Roman" panose="02020603050405020304" pitchFamily="18" charset="0"/>
              </a:rPr>
              <a:t>đắn</a:t>
            </a:r>
            <a:r>
              <a:rPr lang="en-US" altLang="en-US" dirty="0">
                <a:latin typeface="Times New Roman" panose="02020603050405020304" pitchFamily="18" charset="0"/>
              </a:rPr>
              <a:t> </a:t>
            </a:r>
            <a:r>
              <a:rPr lang="en-US" altLang="en-US" dirty="0" err="1">
                <a:latin typeface="Times New Roman" panose="02020603050405020304" pitchFamily="18" charset="0"/>
              </a:rPr>
              <a:t>những</a:t>
            </a:r>
            <a:r>
              <a:rPr lang="en-US" altLang="en-US" dirty="0">
                <a:latin typeface="Times New Roman" panose="02020603050405020304" pitchFamily="18" charset="0"/>
              </a:rPr>
              <a:t> </a:t>
            </a: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lí</a:t>
            </a:r>
            <a:r>
              <a:rPr lang="en-US" altLang="en-US" dirty="0">
                <a:latin typeface="Times New Roman" panose="02020603050405020304" pitchFamily="18" charset="0"/>
              </a:rPr>
              <a:t> </a:t>
            </a:r>
            <a:r>
              <a:rPr lang="en-US" altLang="en-US" dirty="0" err="1">
                <a:latin typeface="Times New Roman" panose="02020603050405020304" pitchFamily="18" charset="0"/>
              </a:rPr>
              <a:t>mà</a:t>
            </a:r>
            <a:r>
              <a:rPr lang="en-US" altLang="en-US" dirty="0">
                <a:latin typeface="Times New Roman" panose="02020603050405020304" pitchFamily="18" charset="0"/>
              </a:rPr>
              <a:t> con </a:t>
            </a:r>
            <a:r>
              <a:rPr lang="en-US" altLang="en-US" dirty="0" err="1">
                <a:latin typeface="Times New Roman" panose="02020603050405020304" pitchFamily="18" charset="0"/>
              </a:rPr>
              <a:t>người</a:t>
            </a:r>
            <a:r>
              <a:rPr lang="en-US" altLang="en-US" dirty="0">
                <a:latin typeface="Times New Roman" panose="02020603050405020304" pitchFamily="18" charset="0"/>
              </a:rPr>
              <a:t> </a:t>
            </a:r>
            <a:r>
              <a:rPr lang="en-US" altLang="en-US" dirty="0" err="1">
                <a:latin typeface="Times New Roman" panose="02020603050405020304" pitchFamily="18" charset="0"/>
              </a:rPr>
              <a:t>đã</a:t>
            </a:r>
            <a:r>
              <a:rPr lang="en-US" altLang="en-US" dirty="0">
                <a:latin typeface="Times New Roman" panose="02020603050405020304" pitchFamily="18" charset="0"/>
              </a:rPr>
              <a:t> </a:t>
            </a:r>
            <a:r>
              <a:rPr lang="en-US" altLang="en-US" dirty="0" err="1">
                <a:latin typeface="Times New Roman" panose="02020603050405020304" pitchFamily="18" charset="0"/>
              </a:rPr>
              <a:t>đạt</a:t>
            </a:r>
            <a:r>
              <a:rPr lang="en-US" altLang="en-US" dirty="0">
                <a:latin typeface="Times New Roman" panose="02020603050405020304" pitchFamily="18" charset="0"/>
              </a:rPr>
              <a:t> </a:t>
            </a:r>
            <a:r>
              <a:rPr lang="en-US" altLang="en-US" dirty="0" err="1">
                <a:latin typeface="Times New Roman" panose="02020603050405020304" pitchFamily="18" charset="0"/>
              </a:rPr>
              <a:t>được</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 </a:t>
            </a:r>
            <a:endParaRPr lang="en-US" altLang="en-US" dirty="0">
              <a:latin typeface="Times New Roman" panose="02020603050405020304" pitchFamily="18" charset="0"/>
            </a:endParaRPr>
          </a:p>
          <a:p>
            <a:pPr algn="just">
              <a:buNone/>
            </a:pPr>
            <a:r>
              <a:rPr lang="en-US" altLang="en-US" dirty="0">
                <a:latin typeface="Times New Roman" panose="02020603050405020304" pitchFamily="18" charset="0"/>
              </a:rPr>
              <a:t>- </a:t>
            </a:r>
            <a:r>
              <a:rPr lang="en-US" altLang="en-US" dirty="0" err="1">
                <a:latin typeface="Times New Roman" panose="02020603050405020304" pitchFamily="18" charset="0"/>
              </a:rPr>
              <a:t>Coi</a:t>
            </a:r>
            <a:r>
              <a:rPr lang="en-US" altLang="en-US" dirty="0">
                <a:latin typeface="Times New Roman" panose="02020603050405020304" pitchFamily="18" charset="0"/>
              </a:rPr>
              <a:t> </a:t>
            </a:r>
            <a:r>
              <a:rPr lang="en-US" altLang="en-US" dirty="0" err="1">
                <a:latin typeface="Times New Roman" panose="02020603050405020304" pitchFamily="18" charset="0"/>
              </a:rPr>
              <a:t>trọng</a:t>
            </a:r>
            <a:r>
              <a:rPr lang="en-US" altLang="en-US" dirty="0">
                <a:latin typeface="Times New Roman" panose="02020603050405020304" pitchFamily="18" charset="0"/>
              </a:rPr>
              <a:t> tri </a:t>
            </a:r>
            <a:r>
              <a:rPr lang="en-US" altLang="en-US" dirty="0" err="1">
                <a:latin typeface="Times New Roman" panose="02020603050405020304" pitchFamily="18" charset="0"/>
              </a:rPr>
              <a:t>thức</a:t>
            </a:r>
            <a:r>
              <a:rPr lang="en-US" altLang="en-US" dirty="0">
                <a:latin typeface="Times New Roman" panose="02020603050405020304" pitchFamily="18" charset="0"/>
              </a:rPr>
              <a:t> KH </a:t>
            </a:r>
            <a:r>
              <a:rPr lang="en-US" altLang="en-US" dirty="0" err="1">
                <a:latin typeface="Times New Roman" panose="02020603050405020304" pitchFamily="18" charset="0"/>
              </a:rPr>
              <a:t>và</a:t>
            </a:r>
            <a:r>
              <a:rPr lang="en-US" altLang="en-US" dirty="0">
                <a:latin typeface="Times New Roman" panose="02020603050405020304" pitchFamily="18" charset="0"/>
              </a:rPr>
              <a:t> </a:t>
            </a:r>
            <a:r>
              <a:rPr lang="en-US" altLang="en-US" dirty="0" err="1">
                <a:latin typeface="Times New Roman" panose="02020603050405020304" pitchFamily="18" charset="0"/>
              </a:rPr>
              <a:t>tích</a:t>
            </a:r>
            <a:r>
              <a:rPr lang="en-US" altLang="en-US" dirty="0">
                <a:latin typeface="Times New Roman" panose="02020603050405020304" pitchFamily="18" charset="0"/>
              </a:rPr>
              <a:t> </a:t>
            </a:r>
            <a:r>
              <a:rPr lang="en-US" altLang="en-US" dirty="0" err="1">
                <a:latin typeface="Times New Roman" panose="02020603050405020304" pitchFamily="18" charset="0"/>
              </a:rPr>
              <a:t>cực</a:t>
            </a:r>
            <a:r>
              <a:rPr lang="en-US" altLang="en-US" dirty="0">
                <a:latin typeface="Times New Roman" panose="02020603050405020304" pitchFamily="18" charset="0"/>
              </a:rPr>
              <a:t> </a:t>
            </a:r>
            <a:r>
              <a:rPr lang="en-US" altLang="en-US" dirty="0" err="1">
                <a:latin typeface="Times New Roman" panose="02020603050405020304" pitchFamily="18" charset="0"/>
              </a:rPr>
              <a:t>vận</a:t>
            </a:r>
            <a:r>
              <a:rPr lang="en-US" altLang="en-US" dirty="0">
                <a:latin typeface="Times New Roman" panose="02020603050405020304" pitchFamily="18" charset="0"/>
              </a:rPr>
              <a:t> </a:t>
            </a:r>
            <a:r>
              <a:rPr lang="en-US" altLang="en-US" dirty="0" err="1">
                <a:latin typeface="Times New Roman" panose="02020603050405020304" pitchFamily="18" charset="0"/>
              </a:rPr>
              <a:t>dụng</a:t>
            </a:r>
            <a:r>
              <a:rPr lang="en-US" altLang="en-US" dirty="0">
                <a:latin typeface="Times New Roman" panose="02020603050405020304" pitchFamily="18" charset="0"/>
              </a:rPr>
              <a:t> </a:t>
            </a:r>
            <a:r>
              <a:rPr lang="en-US" altLang="en-US" dirty="0" err="1">
                <a:latin typeface="Times New Roman" panose="02020603050405020304" pitchFamily="18" charset="0"/>
              </a:rPr>
              <a:t>sáng</a:t>
            </a:r>
            <a:r>
              <a:rPr lang="en-US" altLang="en-US" dirty="0">
                <a:latin typeface="Times New Roman" panose="02020603050405020304" pitchFamily="18" charset="0"/>
              </a:rPr>
              <a:t> </a:t>
            </a:r>
            <a:r>
              <a:rPr lang="en-US" altLang="en-US" dirty="0" err="1">
                <a:latin typeface="Times New Roman" panose="02020603050405020304" pitchFamily="18" charset="0"/>
              </a:rPr>
              <a:t>tạo</a:t>
            </a:r>
            <a:r>
              <a:rPr lang="en-US" altLang="en-US" dirty="0">
                <a:latin typeface="Times New Roman" panose="02020603050405020304" pitchFamily="18" charset="0"/>
              </a:rPr>
              <a:t> tri </a:t>
            </a:r>
            <a:r>
              <a:rPr lang="en-US" altLang="en-US" dirty="0" err="1">
                <a:latin typeface="Times New Roman" panose="02020603050405020304" pitchFamily="18" charset="0"/>
              </a:rPr>
              <a:t>thức</a:t>
            </a:r>
            <a:r>
              <a:rPr lang="en-US" altLang="en-US" dirty="0">
                <a:latin typeface="Times New Roman" panose="02020603050405020304" pitchFamily="18" charset="0"/>
              </a:rPr>
              <a:t> </a:t>
            </a:r>
            <a:r>
              <a:rPr lang="en-US" altLang="en-US" dirty="0" err="1">
                <a:latin typeface="Times New Roman" panose="02020603050405020304" pitchFamily="18" charset="0"/>
              </a:rPr>
              <a:t>đó</a:t>
            </a:r>
            <a:r>
              <a:rPr lang="en-US" altLang="en-US" dirty="0">
                <a:latin typeface="Times New Roman" panose="02020603050405020304" pitchFamily="18" charset="0"/>
              </a:rPr>
              <a:t> </a:t>
            </a:r>
            <a:r>
              <a:rPr lang="en-US" altLang="en-US" dirty="0" err="1">
                <a:latin typeface="Times New Roman" panose="02020603050405020304" pitchFamily="18" charset="0"/>
              </a:rPr>
              <a:t>vào</a:t>
            </a:r>
            <a:r>
              <a:rPr lang="en-US" altLang="en-US" dirty="0">
                <a:latin typeface="Times New Roman" panose="02020603050405020304" pitchFamily="18" charset="0"/>
              </a:rPr>
              <a:t> </a:t>
            </a:r>
            <a:r>
              <a:rPr lang="en-US" altLang="en-US" dirty="0" err="1">
                <a:latin typeface="Times New Roman" panose="02020603050405020304" pitchFamily="18" charset="0"/>
              </a:rPr>
              <a:t>các</a:t>
            </a:r>
            <a:r>
              <a:rPr lang="en-US" altLang="en-US" dirty="0">
                <a:latin typeface="Times New Roman" panose="02020603050405020304" pitchFamily="18" charset="0"/>
              </a:rPr>
              <a:t> </a:t>
            </a:r>
            <a:r>
              <a:rPr lang="en-US" altLang="en-US" dirty="0" err="1">
                <a:latin typeface="Times New Roman" panose="02020603050405020304" pitchFamily="18" charset="0"/>
              </a:rPr>
              <a:t>hoạt</a:t>
            </a:r>
            <a:r>
              <a:rPr lang="en-US" altLang="en-US" dirty="0">
                <a:latin typeface="Times New Roman" panose="02020603050405020304" pitchFamily="18" charset="0"/>
              </a:rPr>
              <a:t> </a:t>
            </a:r>
            <a:r>
              <a:rPr lang="en-US" altLang="en-US" dirty="0" err="1">
                <a:latin typeface="Times New Roman" panose="02020603050405020304" pitchFamily="18" charset="0"/>
              </a:rPr>
              <a:t>động</a:t>
            </a:r>
            <a:r>
              <a:rPr lang="en-US" altLang="en-US" dirty="0">
                <a:latin typeface="Times New Roman" panose="02020603050405020304" pitchFamily="18" charset="0"/>
              </a:rPr>
              <a:t> KT-XH </a:t>
            </a:r>
            <a:r>
              <a:rPr lang="en-US" altLang="en-US" dirty="0" err="1">
                <a:latin typeface="Times New Roman" panose="02020603050405020304" pitchFamily="18" charset="0"/>
              </a:rPr>
              <a:t>có</a:t>
            </a:r>
            <a:r>
              <a:rPr lang="en-US" altLang="en-US" dirty="0">
                <a:latin typeface="Times New Roman" panose="02020603050405020304" pitchFamily="18" charset="0"/>
              </a:rPr>
              <a:t> </a:t>
            </a:r>
            <a:r>
              <a:rPr lang="en-US" altLang="en-US" dirty="0" err="1">
                <a:latin typeface="Times New Roman" panose="02020603050405020304" pitchFamily="18" charset="0"/>
              </a:rPr>
              <a:t>hiệu</a:t>
            </a:r>
            <a:r>
              <a:rPr lang="en-US" altLang="en-US" dirty="0">
                <a:latin typeface="Times New Roman" panose="02020603050405020304" pitchFamily="18" charset="0"/>
              </a:rPr>
              <a:t> </a:t>
            </a:r>
            <a:r>
              <a:rPr lang="en-US" altLang="en-US" dirty="0" err="1">
                <a:latin typeface="Times New Roman" panose="02020603050405020304" pitchFamily="18" charset="0"/>
              </a:rPr>
              <a:t>quả</a:t>
            </a:r>
            <a:r>
              <a:rPr lang="en-US" altLang="en-US" dirty="0">
                <a:latin typeface="Times New Roman" panose="02020603050405020304" pitchFamily="18" charset="0"/>
              </a:rPr>
              <a:t> </a:t>
            </a:r>
            <a:r>
              <a:rPr lang="en-US" altLang="en-US" dirty="0" err="1">
                <a:latin typeface="Times New Roman" panose="02020603050405020304" pitchFamily="18" charset="0"/>
              </a:rPr>
              <a:t>cũng</a:t>
            </a:r>
            <a:r>
              <a:rPr lang="en-US" altLang="en-US" dirty="0">
                <a:latin typeface="Times New Roman" panose="02020603050405020304" pitchFamily="18" charset="0"/>
              </a:rPr>
              <a:t> </a:t>
            </a:r>
            <a:r>
              <a:rPr lang="en-US" altLang="en-US" dirty="0" err="1">
                <a:latin typeface="Times New Roman" panose="02020603050405020304" pitchFamily="18" charset="0"/>
              </a:rPr>
              <a:t>chính</a:t>
            </a:r>
            <a:r>
              <a:rPr lang="en-US" altLang="en-US" dirty="0">
                <a:latin typeface="Times New Roman" panose="02020603050405020304" pitchFamily="18" charset="0"/>
              </a:rPr>
              <a:t> </a:t>
            </a:r>
            <a:r>
              <a:rPr lang="en-US" altLang="en-US" dirty="0" err="1">
                <a:latin typeface="Times New Roman" panose="02020603050405020304" pitchFamily="18" charset="0"/>
              </a:rPr>
              <a:t>là</a:t>
            </a:r>
            <a:r>
              <a:rPr lang="en-US" altLang="en-US" dirty="0">
                <a:latin typeface="Times New Roman" panose="02020603050405020304" pitchFamily="18" charset="0"/>
              </a:rPr>
              <a:t> </a:t>
            </a:r>
            <a:r>
              <a:rPr lang="en-US" altLang="en-US" dirty="0" err="1">
                <a:latin typeface="Times New Roman" panose="02020603050405020304" pitchFamily="18" charset="0"/>
              </a:rPr>
              <a:t>phát</a:t>
            </a:r>
            <a:r>
              <a:rPr lang="en-US" altLang="en-US" dirty="0">
                <a:latin typeface="Times New Roman" panose="02020603050405020304" pitchFamily="18" charset="0"/>
              </a:rPr>
              <a:t> </a:t>
            </a:r>
            <a:r>
              <a:rPr lang="en-US" altLang="en-US" dirty="0" err="1">
                <a:latin typeface="Times New Roman" panose="02020603050405020304" pitchFamily="18" charset="0"/>
              </a:rPr>
              <a:t>huy</a:t>
            </a:r>
            <a:r>
              <a:rPr lang="en-US" altLang="en-US" dirty="0">
                <a:latin typeface="Times New Roman" panose="02020603050405020304" pitchFamily="18" charset="0"/>
              </a:rPr>
              <a:t> </a:t>
            </a:r>
            <a:r>
              <a:rPr lang="en-US" altLang="en-US" dirty="0" err="1">
                <a:latin typeface="Times New Roman" panose="02020603050405020304" pitchFamily="18" charset="0"/>
              </a:rPr>
              <a:t>vai</a:t>
            </a:r>
            <a:r>
              <a:rPr lang="en-US" altLang="en-US" dirty="0">
                <a:latin typeface="Times New Roman" panose="02020603050405020304" pitchFamily="18" charset="0"/>
              </a:rPr>
              <a:t> </a:t>
            </a:r>
            <a:r>
              <a:rPr lang="en-US" altLang="en-US" dirty="0" err="1">
                <a:latin typeface="Times New Roman" panose="02020603050405020304" pitchFamily="18" charset="0"/>
              </a:rPr>
              <a:t>trò</a:t>
            </a:r>
            <a:r>
              <a:rPr lang="en-US" altLang="en-US" dirty="0">
                <a:latin typeface="Times New Roman" panose="02020603050405020304" pitchFamily="18" charset="0"/>
              </a:rPr>
              <a:t> </a:t>
            </a:r>
            <a:r>
              <a:rPr lang="en-US" altLang="en-US" dirty="0" err="1">
                <a:latin typeface="Times New Roman" panose="02020603050405020304" pitchFamily="18" charset="0"/>
              </a:rPr>
              <a:t>của</a:t>
            </a:r>
            <a:r>
              <a:rPr lang="en-US" altLang="en-US" dirty="0">
                <a:latin typeface="Times New Roman" panose="02020603050405020304" pitchFamily="18" charset="0"/>
              </a:rPr>
              <a:t> </a:t>
            </a:r>
            <a:r>
              <a:rPr lang="en-US" altLang="en-US" dirty="0" err="1">
                <a:latin typeface="Times New Roman" panose="02020603050405020304" pitchFamily="18" charset="0"/>
              </a:rPr>
              <a:t>chân</a:t>
            </a:r>
            <a:r>
              <a:rPr lang="en-US" altLang="en-US" dirty="0">
                <a:latin typeface="Times New Roman" panose="02020603050405020304" pitchFamily="18" charset="0"/>
              </a:rPr>
              <a:t> </a:t>
            </a:r>
            <a:r>
              <a:rPr lang="en-US" altLang="en-US" dirty="0" err="1">
                <a:latin typeface="Times New Roman" panose="02020603050405020304" pitchFamily="18" charset="0"/>
              </a:rPr>
              <a:t>lí</a:t>
            </a:r>
            <a:r>
              <a:rPr lang="en-US" altLang="en-US" dirty="0">
                <a:latin typeface="Times New Roman" panose="02020603050405020304" pitchFamily="18" charset="0"/>
              </a:rPr>
              <a:t> </a:t>
            </a:r>
            <a:r>
              <a:rPr lang="en-US" altLang="en-US" dirty="0" err="1">
                <a:latin typeface="Times New Roman" panose="02020603050405020304" pitchFamily="18" charset="0"/>
              </a:rPr>
              <a:t>trong</a:t>
            </a:r>
            <a:r>
              <a:rPr lang="en-US" altLang="en-US" dirty="0">
                <a:latin typeface="Times New Roman" panose="02020603050405020304" pitchFamily="18" charset="0"/>
              </a:rPr>
              <a:t> </a:t>
            </a:r>
            <a:r>
              <a:rPr lang="en-US" altLang="en-US" dirty="0" err="1">
                <a:latin typeface="Times New Roman" panose="02020603050405020304" pitchFamily="18" charset="0"/>
              </a:rPr>
              <a:t>thực</a:t>
            </a:r>
            <a:r>
              <a:rPr lang="en-US" altLang="en-US" dirty="0">
                <a:latin typeface="Times New Roman" panose="02020603050405020304" pitchFamily="18" charset="0"/>
              </a:rPr>
              <a:t> </a:t>
            </a:r>
            <a:r>
              <a:rPr lang="en-US" altLang="en-US" dirty="0" err="1">
                <a:latin typeface="Times New Roman" panose="02020603050405020304" pitchFamily="18" charset="0"/>
              </a:rPr>
              <a:t>tiễn</a:t>
            </a:r>
            <a:r>
              <a:rPr lang="en-US" altLang="en-US" dirty="0">
                <a:latin typeface="Times New Roman" panose="02020603050405020304" pitchFamily="18" charset="0"/>
              </a:rPr>
              <a:t>.</a:t>
            </a:r>
            <a:endParaRPr lang="en-US" altLang="en-US" dirty="0">
              <a:latin typeface="Times New Roman" panose="02020603050405020304" pitchFamily="18" charset="0"/>
            </a:endParaRPr>
          </a:p>
          <a:p>
            <a:pPr marL="0" indent="0" algn="just">
              <a:buNone/>
            </a:pPr>
            <a:endParaRPr lang="en-US" dirty="0">
              <a:latin typeface="Times New Roman" panose="02020603050405020304" pitchFamily="18" charset="0"/>
              <a:cs typeface="Times New Roman" panose="02020603050405020304"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48437</Words>
  <Application>WPS Presentation</Application>
  <PresentationFormat>Widescreen</PresentationFormat>
  <Paragraphs>1128</Paragraphs>
  <Slides>124</Slides>
  <Notes>0</Notes>
  <HiddenSlides>0</HiddenSlides>
  <MMClips>1</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124</vt:i4>
      </vt:variant>
    </vt:vector>
  </HeadingPairs>
  <TitlesOfParts>
    <vt:vector size="138" baseType="lpstr">
      <vt:lpstr>Arial</vt:lpstr>
      <vt:lpstr>SimSun</vt:lpstr>
      <vt:lpstr>Wingdings</vt:lpstr>
      <vt:lpstr>Times New Roman</vt:lpstr>
      <vt:lpstr>Arial Đen</vt:lpstr>
      <vt:lpstr>Times New Roman</vt:lpstr>
      <vt:lpstr>Microsoft YaHei</vt:lpstr>
      <vt:lpstr>Arial Unicode MS</vt:lpstr>
      <vt:lpstr>Calibri Light</vt:lpstr>
      <vt:lpstr>Calibri</vt:lpstr>
      <vt:lpstr>Wingdings 3</vt:lpstr>
      <vt:lpstr>Trebuchet MS</vt:lpstr>
      <vt:lpstr>方正琥珀简体</vt:lpstr>
      <vt:lpstr>Office Theme</vt:lpstr>
      <vt:lpstr>Chương 2</vt:lpstr>
      <vt:lpstr>I. VẬT CHẤT VÀ Ý THỨC. 1. Vật chất và các hình thức tồn tại của vật chất 2. Nguồn gốc, bản chất và kết cấu của ý thức 3. Mối quan hệ giữa vật chất và ý thức</vt:lpstr>
      <vt:lpstr>I. VẬT CHẤT VÀ Ý THỨC. 1. Vật chất và các hình thức tồn tại của vật chất</vt:lpstr>
      <vt:lpstr>PowerPoint 演示文稿</vt:lpstr>
      <vt:lpstr>PowerPoint 演示文稿</vt:lpstr>
      <vt:lpstr>PowerPoint 演示文稿</vt:lpstr>
      <vt:lpstr>PowerPoint 演示文稿</vt:lpstr>
      <vt:lpstr>Quan niệm của Chủ nghĩa duy vật thế kỷ XV – XVIII(Cận đại):  Phương Tây khoa học thực nghiệm ra đời, sự phát triển của cơ học, công nghiệp -  Thế kỷ XVII – XVIII, CNDV mang hình thức CNDV siêu hình máy móc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Theo V.I.Lênin: Vật chất là phạm trù triết học dùng để chỉ thực tại khách quan được đem lại cho con người trong cảm giác, được cảm giác của chúng ta chép lại, chụp lại, phản ánh và tồn tại không lệ thuộc vào cảm giác” </vt:lpstr>
      <vt:lpstr>PowerPoint 演示文稿</vt:lpstr>
      <vt:lpstr>d. Phương thức tồn tại của vật chất.</vt:lpstr>
      <vt:lpstr>Vận động là phương thức tồn tại của vật chất</vt:lpstr>
      <vt:lpstr>Các hình thức vận động cơ bản của VC: </vt:lpstr>
      <vt:lpstr>Đứng im</vt:lpstr>
      <vt:lpstr>PowerPoint 演示文稿</vt:lpstr>
      <vt:lpstr>Không gian và thời gian</vt:lpstr>
      <vt:lpstr>e. Tính thống nhất VC của thế giới</vt:lpstr>
      <vt:lpstr>PowerPoint 演示文稿</vt:lpstr>
      <vt:lpstr>2. Nguồn gốc, bản chất và kết cấu của ý thức</vt:lpstr>
      <vt:lpstr>PowerPoint 演示文稿</vt:lpstr>
      <vt:lpstr>Quan điểm của CNDV BC</vt:lpstr>
      <vt:lpstr>Nguồn gốc xã hội: có 2 nhân tố là lao động và ngôn ngữ</vt:lpstr>
      <vt:lpstr>LĐ là quá trình con người sử dụng công cụ tác động vào giới tự nhiên nhằm thay đổi giới tự nhiên cho phù hợp với nhu cầu của con người.</vt:lpstr>
      <vt:lpstr>Ngôn ngữ</vt:lpstr>
      <vt:lpstr>b. Bản chất của ý thức</vt:lpstr>
      <vt:lpstr>Phản ánh được thể hiện dưới nhiều hình thức:</vt:lpstr>
      <vt:lpstr>c. Kết cấu của ý thức</vt:lpstr>
      <vt:lpstr>Sơ đồ: Các cấp độ của ý thức </vt:lpstr>
      <vt:lpstr>Vấn đề trí tuệ nhân tạo</vt:lpstr>
      <vt:lpstr>3. Mối quan hệ giữa vật chất và ý thức a. Quan điểm của CN duy tâm và CN duy vật siêu hình</vt:lpstr>
      <vt:lpstr>b. Quan điểm của chủ nghĩa duy vật biện chứng</vt:lpstr>
      <vt:lpstr>Ý thức có tính độc lập tương đối và tác động trở lại VC</vt:lpstr>
      <vt:lpstr>Ý nghĩa phương pháp luận</vt:lpstr>
      <vt:lpstr>II. PHÉP BIỆN CHỨNG DUY VẬT</vt:lpstr>
      <vt:lpstr>  a. Biện chứng khách quan và biện chứng chủ quan </vt:lpstr>
      <vt:lpstr>b. Khái niệm phép biện chứng duy vật</vt:lpstr>
      <vt:lpstr>PowerPoint 演示文稿</vt:lpstr>
      <vt:lpstr>2. Nội dung của phép biện chứng duy vật</vt:lpstr>
      <vt:lpstr> a. Hai nguyên lý của phép biện chứng duy vật </vt:lpstr>
      <vt:lpstr>PowerPoint 演示文稿</vt:lpstr>
      <vt:lpstr>PowerPoint 演示文稿</vt:lpstr>
      <vt:lpstr>Mối liên hệ phổ biến trong tự nhiên            </vt:lpstr>
      <vt:lpstr>PowerPoint 演示文稿</vt:lpstr>
      <vt:lpstr>  Mối liên hệ phổ biến trong xã hội.  </vt:lpstr>
      <vt:lpstr>PowerPoint 演示文稿</vt:lpstr>
      <vt:lpstr>Tính chất của các mối liên hệ</vt:lpstr>
      <vt:lpstr>Ý nghĩa phương pháp luận </vt:lpstr>
      <vt:lpstr>Nguyên lý về sự phát triển</vt:lpstr>
      <vt:lpstr>PowerPoint 演示文稿</vt:lpstr>
      <vt:lpstr>Phát triển là quá trình biến đổi về chất theo hướng ngày càng hoàn thiện (phát triển khác với tang trưởng)</vt:lpstr>
      <vt:lpstr>PowerPoint 演示文稿</vt:lpstr>
      <vt:lpstr>Tính chất của sự phát triển</vt:lpstr>
      <vt:lpstr>Ý nghĩa phương pháp luận</vt:lpstr>
      <vt:lpstr>b. Các cặp phạm trù cơ bản của PBCDV</vt:lpstr>
      <vt:lpstr>1. CÁI RIÊNG VÀ CÁI CHUNG</vt:lpstr>
      <vt:lpstr>     </vt:lpstr>
      <vt:lpstr>Mối quan hệ biện chứng giữa cái chung và cái riêng</vt:lpstr>
      <vt:lpstr>Cái riêng chỉ tồn tại trong mối quan hệ với cái chung, không có cái riêng nào tồn tại độc lập tách rời tuyệt đối với cái chung.</vt:lpstr>
      <vt:lpstr>Cái riêng là cái toàn bộ, phong phú, đa dạng hơn cái chung vì ngoài những điểm chung cái riêng còn có cái đơn nhất.</vt:lpstr>
      <vt:lpstr> -  Cái chung là cái bộ phận nhưng sâu sắc, bản chất hơn cái riêng vì cái chung biểu hiện tính phổ biến, tính qui luật của nhiều cái riêng. -  Cái chung và cái đơn nhất có thể chuyển hoá cho nhau trong những điều kiện xác định.  </vt:lpstr>
      <vt:lpstr>Ý nghĩa phương pháp luận</vt:lpstr>
      <vt:lpstr> 2. Nguyên nhân và kết quả </vt:lpstr>
      <vt:lpstr>Ví du: -  Cuộc đấu tranh giữa giai cấp vô sản và giai cấp tư sản là nguyên nhân đưa đến kết quả cuộc cách mạng vô sản nổ ra.  -  Hạt đậu gieo xuống đất nảy mầm. Nguyên nhân là do nhiệt độ, ánh sáng, độ ẩm của đất thích hợp </vt:lpstr>
      <vt:lpstr>Mối quan hệ biện chứng giữa nguyên nhân và kết quả</vt:lpstr>
      <vt:lpstr>Sự tác động trở lại của kết quả đối với nguyên nhân:</vt:lpstr>
      <vt:lpstr>Ý nghĩa phương pháp luận</vt:lpstr>
      <vt:lpstr> 3. TẤT NHIÊN VÀ NGẪU NHIÊN </vt:lpstr>
      <vt:lpstr>Ví dụ:</vt:lpstr>
      <vt:lpstr>Mối quan hệ biện chứng giữa tất nhiên và ngẫu nhiên</vt:lpstr>
      <vt:lpstr> Ý nghĩa phương pháp luận </vt:lpstr>
      <vt:lpstr> 4. NỘI DUNG VÀ HÌNH THỨC </vt:lpstr>
      <vt:lpstr> Mối quan hệ biện chứng giữa nội dung và hình thức </vt:lpstr>
      <vt:lpstr>PowerPoint 演示文稿</vt:lpstr>
      <vt:lpstr>Ý nghĩa phương pháp luận</vt:lpstr>
      <vt:lpstr>5. BẢN CHẤT VÀ HIỆN TƯỢNG </vt:lpstr>
      <vt:lpstr> MQHBC giữa bản chất và hiện tượng </vt:lpstr>
      <vt:lpstr>Tính chất mâu thuẫn của sự thống nhất giữa bản chất và hiện tượng</vt:lpstr>
      <vt:lpstr> Ý nghĩa phương pháp luận </vt:lpstr>
      <vt:lpstr> 6. Khả năng và hiện thực </vt:lpstr>
      <vt:lpstr> Mối quan hệ biện chứng giữa khả năng và hiện thực </vt:lpstr>
      <vt:lpstr>Ý nghĩa phương pháp luận</vt:lpstr>
      <vt:lpstr>c. Các quy luật cơ bản của phép biện chứng duy vật</vt:lpstr>
      <vt:lpstr> c.1 Quy luật từ những sự thay đổi về lượng dẫn đến những thay đổi về chất và ngược lại </vt:lpstr>
      <vt:lpstr> -  “Lượng” là phạm trù triết học dùng để chỉ tính quy định vốn có của sự vật về mặt số lượng, quy mô, trình độ, nhịp điệu của sự vận động và phát triển cũng như các thuộc tính của sự vật. </vt:lpstr>
      <vt:lpstr>Mối quan hệ biện chứng giữa sự thay đổi về lượng và sự thay đổi về chất</vt:lpstr>
      <vt:lpstr>Ví dụ, dưới áp suất bình thường của không khí, sự tăng hoặc giảm nhiệt độ trong khoảng giới hạn từ 0℃ đến 100℃, nước nguyên chất vẫn ở trạng thái lỏng. Nếu nhiệt độ của nước giảm xuống dưới 0℃  nước chuyển thành thể rắn, từ 100℃ trở lên nước chuyển sang thể hơi. Đó là sự thay đổi về chất trong hình thức vận động.</vt:lpstr>
      <vt:lpstr>-  “Độ” là phạm trù triết học dùng để chỉ khoảng giới hạn trong đó sự thay đổi về lượng của sự vật chưa làm thay đổi căn bản chất của sự vật.  -  Trong giới hạn của độ, sự vật, hiện tượng vẫn còn là nó, chưa chuyển hóa thành sự vật và hiện tượng khác.</vt:lpstr>
      <vt:lpstr> Lượng biến đổi dần dần tới một giới hạn nhất định sẽ tất yếu dẫn tới sự thay đổi về chất. Giới hạn đó được gọi là “điểm nút” </vt:lpstr>
      <vt:lpstr> Bước nhảy: là sự chuyển hóa tất yếu trong quá trình phát triển của sự vật, hiện tượng; nó là sự  kết thúc một giai đoạn vận động, phát triển đồng thời cũng là điểm khởi đầu cho một giai đoạn mới, là sự gián đoạn trong quá trình vận động, phát triển liên tục của sự vật. -  Bước nhảy là kết thúc 1 giai đoạn phát triển của sự vật &amp; điểm khởi đầu của một giai đoạn phát triển mới.  </vt:lpstr>
      <vt:lpstr>Những thay đổi về chất dẫn đến những thay về lượng.</vt:lpstr>
      <vt:lpstr>Các hình thức cơ bản của bước nhảy</vt:lpstr>
      <vt:lpstr>Ý nghĩa phương pháp luận</vt:lpstr>
      <vt:lpstr>c. Quy luật thống nhất và đấu tranh của các mặt đối lập</vt:lpstr>
      <vt:lpstr>- Mâu thuẫn dùng để chỉ mối liên hệ thống nhất, đấu tranh và chuyển hóa giữa các mặt đối lập của mỗi sự vật, hiện tượng hoặc giữa các sự vật, hiện tượng với nhau.      - Nhân tố tạo thành mâu thuẫn là mặt đối lập</vt:lpstr>
      <vt:lpstr>Mâu thuẫn là nguồn gốc của sự vận động &amp; phát triển</vt:lpstr>
      <vt:lpstr>Phân loại mâu thuẫn: </vt:lpstr>
      <vt:lpstr>Ý nghĩa phương pháp luận</vt:lpstr>
      <vt:lpstr>c. Quy luật phủ định của phủ định</vt:lpstr>
      <vt:lpstr>“Phủ định” là sự thay thế sự vật này bằng sự vật khác trong quá trình vận động và phát triển</vt:lpstr>
      <vt:lpstr> Phủ định biện chứnglà phạm trù triết học dùng để chỉ sự phủ định tự thân, là mắt khâu trong quá trình dẫn tới sự ra đời sự vật mới, tiến bộ hơn sự vật cũ </vt:lpstr>
      <vt:lpstr>PowerPoint 演示文稿</vt:lpstr>
      <vt:lpstr>Nội dung của quy luật Phủ định của phủ định</vt:lpstr>
      <vt:lpstr>PowerPoint 演示文稿</vt:lpstr>
      <vt:lpstr>Ví dụ:  Hạt lúa            Cây lúa                      Nhiều hạt lúa              (KĐ)             (PĐlần 1)              (PĐ2 – PĐ của PĐ) </vt:lpstr>
      <vt:lpstr>Ý nghĩa phương pháp luận</vt:lpstr>
      <vt:lpstr>III. LÝ LUẬN NHẬN THỨC</vt:lpstr>
      <vt:lpstr>  b. Quan niệm về bản chất nhận thức  của CN DVBC  </vt:lpstr>
      <vt:lpstr>2. Thực tiễn và vai trò của thực tiễn đối với nhận thức</vt:lpstr>
      <vt:lpstr>PowerPoint 演示文稿</vt:lpstr>
      <vt:lpstr>PowerPoint 演示文稿</vt:lpstr>
      <vt:lpstr>b. Vai trò của thực tiễn đối với nhận thức</vt:lpstr>
      <vt:lpstr>c. Các giai đoạn cơ bản của quá trình nhận thức</vt:lpstr>
      <vt:lpstr>Nhận thức cảm tính (trực quan sinh động)</vt:lpstr>
      <vt:lpstr>Nhận thức lý tính</vt:lpstr>
      <vt:lpstr>PowerPoint 演示文稿</vt:lpstr>
      <vt:lpstr>d.Quan điểm của CNDVBC về chân lý - Quan niệm về chân lý</vt:lpstr>
      <vt:lpstr>Vai trò của chân lý đối với thực tiễn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Nhật Hoài</cp:lastModifiedBy>
  <cp:revision>639</cp:revision>
  <dcterms:created xsi:type="dcterms:W3CDTF">2020-12-13T08:34:00Z</dcterms:created>
  <dcterms:modified xsi:type="dcterms:W3CDTF">2026-01-03T05:43:04Z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A67CBDA1BCAD401EB20CB8863FBD8649_13</vt:lpwstr>
  </property>
  <property fmtid="{D5CDD505-2E9C-101B-9397-08002B2CF9AE}" pid="3" name="KSOProductBuildVer">
    <vt:lpwstr>1033-12.2.0.23196</vt:lpwstr>
  </property>
</Properties>
</file>