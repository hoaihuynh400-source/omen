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3"/>
    <p:sldId id="257" r:id="rId4"/>
    <p:sldId id="302" r:id="rId5"/>
    <p:sldId id="301" r:id="rId6"/>
    <p:sldId id="260" r:id="rId7"/>
    <p:sldId id="268" r:id="rId8"/>
    <p:sldId id="269" r:id="rId9"/>
    <p:sldId id="303" r:id="rId10"/>
    <p:sldId id="262" r:id="rId11"/>
    <p:sldId id="307" r:id="rId12"/>
    <p:sldId id="330" r:id="rId13"/>
    <p:sldId id="305" r:id="rId14"/>
    <p:sldId id="306" r:id="rId15"/>
    <p:sldId id="274" r:id="rId16"/>
    <p:sldId id="275" r:id="rId18"/>
    <p:sldId id="331" r:id="rId19"/>
    <p:sldId id="277" r:id="rId20"/>
    <p:sldId id="332" r:id="rId21"/>
    <p:sldId id="309" r:id="rId22"/>
    <p:sldId id="333" r:id="rId23"/>
    <p:sldId id="310" r:id="rId24"/>
    <p:sldId id="334" r:id="rId25"/>
    <p:sldId id="280" r:id="rId26"/>
    <p:sldId id="311" r:id="rId27"/>
    <p:sldId id="335" r:id="rId28"/>
    <p:sldId id="283" r:id="rId29"/>
    <p:sldId id="284" r:id="rId30"/>
    <p:sldId id="286" r:id="rId31"/>
    <p:sldId id="312" r:id="rId32"/>
    <p:sldId id="313" r:id="rId33"/>
    <p:sldId id="314" r:id="rId34"/>
    <p:sldId id="288" r:id="rId35"/>
    <p:sldId id="289" r:id="rId36"/>
    <p:sldId id="290" r:id="rId37"/>
    <p:sldId id="291" r:id="rId38"/>
    <p:sldId id="292" r:id="rId39"/>
    <p:sldId id="293" r:id="rId40"/>
    <p:sldId id="315" r:id="rId41"/>
    <p:sldId id="295" r:id="rId42"/>
    <p:sldId id="296" r:id="rId43"/>
    <p:sldId id="297" r:id="rId44"/>
    <p:sldId id="298" r:id="rId45"/>
    <p:sldId id="299" r:id="rId46"/>
    <p:sldId id="300" r:id="rId47"/>
    <p:sldId id="316" r:id="rId48"/>
    <p:sldId id="329" r:id="rId49"/>
    <p:sldId id="317" r:id="rId50"/>
    <p:sldId id="318" r:id="rId51"/>
    <p:sldId id="319" r:id="rId52"/>
    <p:sldId id="320" r:id="rId53"/>
    <p:sldId id="321" r:id="rId54"/>
    <p:sldId id="322" r:id="rId55"/>
    <p:sldId id="323" r:id="rId56"/>
    <p:sldId id="324" r:id="rId57"/>
    <p:sldId id="325" r:id="rId58"/>
    <p:sldId id="326" r:id="rId59"/>
    <p:sldId id="327" r:id="rId60"/>
    <p:sldId id="328"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en-US" dirty="0"/>
            </a:fld>
            <a:endParaRPr lang="en-US" altLang="en-US" dirty="0"/>
          </a:p>
        </p:txBody>
      </p:sp>
      <p:sp>
        <p:nvSpPr>
          <p:cNvPr id="39939" name="Rectangle 2"/>
          <p:cNvSpPr>
            <a:spLocks noGrp="1" noRot="1" noChangeAspect="1" noTextEdit="1"/>
          </p:cNvSpPr>
          <p:nvPr>
            <p:ph type="sldImg"/>
          </p:nvPr>
        </p:nvSpPr>
        <p:spPr/>
      </p:sp>
      <p:sp>
        <p:nvSpPr>
          <p:cNvPr id="39940" name="Rectangle 3"/>
          <p:cNvSpPr>
            <a:spLocks noGrp="1"/>
          </p:cNvSpPr>
          <p:nvPr>
            <p:ph type="body" idx="1"/>
          </p:nvPr>
        </p:nvSpPr>
        <p:spPr/>
        <p:txBody>
          <a:bodyPr wrap="square" lIns="91440" tIns="45720" rIns="91440" bIns="45720" anchor="t" anchorCtr="0"/>
          <a:lstStyle/>
          <a:p>
            <a:pPr lvl="0" eaLnBrk="1" hangingPunct="1"/>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FD279AF0-AFAF-44BA-8C8B-7A8924AFA3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4721B3-DE9E-417E-9CC2-2EE9588B73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D279AF0-AFAF-44BA-8C8B-7A8924AFA3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4721B3-DE9E-417E-9CC2-2EE9588B73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FD279AF0-AFAF-44BA-8C8B-7A8924AFA3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4721B3-DE9E-417E-9CC2-2EE9588B73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FD279AF0-AFAF-44BA-8C8B-7A8924AFA3F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4721B3-DE9E-417E-9CC2-2EE9588B73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FD279AF0-AFAF-44BA-8C8B-7A8924AFA3F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4721B3-DE9E-417E-9CC2-2EE9588B73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FD279AF0-AFAF-44BA-8C8B-7A8924AFA3F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4721B3-DE9E-417E-9CC2-2EE9588B73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279AF0-AFAF-44BA-8C8B-7A8924AFA3F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4721B3-DE9E-417E-9CC2-2EE9588B73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FD279AF0-AFAF-44BA-8C8B-7A8924AFA3F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4721B3-DE9E-417E-9CC2-2EE9588B73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FD279AF0-AFAF-44BA-8C8B-7A8924AFA3F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4721B3-DE9E-417E-9CC2-2EE9588B73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D279AF0-AFAF-44BA-8C8B-7A8924AFA3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4721B3-DE9E-417E-9CC2-2EE9588B73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D279AF0-AFAF-44BA-8C8B-7A8924AFA3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4721B3-DE9E-417E-9CC2-2EE9588B73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Text Placeholder 2"/>
          <p:cNvSpPr>
            <a:spLocks noGrp="1"/>
          </p:cNvSpPr>
          <p:nvPr>
            <p:ph type="body"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D279AF0-AFAF-44BA-8C8B-7A8924AFA3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4721B3-DE9E-417E-9CC2-2EE9588B73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279AF0-AFAF-44BA-8C8B-7A8924AFA3FB}"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4721B3-DE9E-417E-9CC2-2EE9588B73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8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err="1">
                <a:solidFill>
                  <a:srgbClr val="FF0000"/>
                </a:solidFill>
                <a:latin typeface="Times New Roman" panose="02020603050405020304" pitchFamily="18" charset="0"/>
                <a:cs typeface="Times New Roman" panose="02020603050405020304" pitchFamily="18" charset="0"/>
              </a:rPr>
              <a:t>Chương</a:t>
            </a:r>
            <a:r>
              <a:rPr lang="en-US" sz="3600" b="1" dirty="0">
                <a:solidFill>
                  <a:srgbClr val="FF0000"/>
                </a:solidFill>
                <a:latin typeface="Times New Roman" panose="02020603050405020304" pitchFamily="18" charset="0"/>
                <a:cs typeface="Times New Roman" panose="02020603050405020304" pitchFamily="18" charset="0"/>
              </a:rPr>
              <a:t> 3</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ctr">
              <a:buNone/>
            </a:pPr>
            <a:r>
              <a:rPr lang="en-US" sz="4000" b="1" dirty="0">
                <a:solidFill>
                  <a:srgbClr val="FF0000"/>
                </a:solidFill>
                <a:latin typeface="Times New Roman" panose="02020603050405020304" pitchFamily="18" charset="0"/>
                <a:cs typeface="Times New Roman" panose="02020603050405020304" pitchFamily="18" charset="0"/>
              </a:rPr>
              <a:t>CHỦ NGHĨA DUY VẬT LỊCH SỬ</a:t>
            </a:r>
            <a:endParaRPr lang="en-US" sz="40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8145" y="277091"/>
            <a:ext cx="10751127" cy="6442364"/>
          </a:xfrm>
        </p:spPr>
        <p:txBody>
          <a:bodyPr>
            <a:normAutofit fontScale="90000"/>
          </a:bodyPr>
          <a:lstStyle/>
          <a:p>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r>
              <a:rPr lang="en-US" sz="2700" b="1" dirty="0">
                <a:solidFill>
                  <a:srgbClr val="FF0000"/>
                </a:solidFill>
                <a:latin typeface="Times New Roman" panose="02020603050405020304" pitchFamily="18" charset="0"/>
                <a:cs typeface="Times New Roman" panose="02020603050405020304" pitchFamily="18" charset="0"/>
              </a:rPr>
              <a:t>I. </a:t>
            </a:r>
            <a:r>
              <a:rPr lang="en-US" sz="2700" b="1" dirty="0" err="1">
                <a:solidFill>
                  <a:srgbClr val="FF0000"/>
                </a:solidFill>
                <a:latin typeface="Times New Roman" panose="02020603050405020304" pitchFamily="18" charset="0"/>
                <a:cs typeface="Times New Roman" panose="02020603050405020304" pitchFamily="18" charset="0"/>
              </a:rPr>
              <a:t>Học</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thuyết</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hình</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thái</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kinh</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tế</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xã</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hội</a:t>
            </a:r>
            <a:br>
              <a:rPr lang="en-US" sz="2700" b="1" dirty="0">
                <a:latin typeface="Times New Roman" panose="02020603050405020304" pitchFamily="18" charset="0"/>
                <a:cs typeface="Times New Roman" panose="02020603050405020304" pitchFamily="18" charset="0"/>
              </a:rPr>
            </a:br>
            <a:r>
              <a:rPr lang="en-US" sz="2400" b="1" dirty="0">
                <a:solidFill>
                  <a:srgbClr val="002060"/>
                </a:solidFill>
                <a:latin typeface="Times New Roman" panose="02020603050405020304" pitchFamily="18" charset="0"/>
                <a:cs typeface="Times New Roman" panose="02020603050405020304" pitchFamily="18" charset="0"/>
              </a:rPr>
              <a:t>1. </a:t>
            </a:r>
            <a:r>
              <a:rPr lang="en-US" sz="2400" b="1" dirty="0" err="1">
                <a:solidFill>
                  <a:srgbClr val="002060"/>
                </a:solidFill>
                <a:latin typeface="Times New Roman" panose="02020603050405020304" pitchFamily="18" charset="0"/>
                <a:cs typeface="Times New Roman" panose="02020603050405020304" pitchFamily="18" charset="0"/>
              </a:rPr>
              <a:t>Sản</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xuất</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vật</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chất</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là</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sở</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của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sự</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tồn</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tại</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và</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phát</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triển</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xã</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hội</a:t>
            </a:r>
            <a:br>
              <a:rPr lang="en-US" sz="2400" b="1" dirty="0">
                <a:solidFill>
                  <a:srgbClr val="002060"/>
                </a:solidFill>
                <a:latin typeface="Times New Roman" panose="02020603050405020304" pitchFamily="18" charset="0"/>
                <a:cs typeface="Times New Roman" panose="02020603050405020304" pitchFamily="18" charset="0"/>
              </a:rPr>
            </a:br>
            <a:r>
              <a:rPr lang="en-US" sz="2400" b="1" dirty="0">
                <a:solidFill>
                  <a:srgbClr val="002060"/>
                </a:solidFill>
                <a:latin typeface="Times New Roman" panose="02020603050405020304" pitchFamily="18" charset="0"/>
                <a:cs typeface="Times New Roman" panose="02020603050405020304" pitchFamily="18" charset="0"/>
              </a:rPr>
              <a:t>2. </a:t>
            </a:r>
            <a:r>
              <a:rPr lang="en-US" sz="2400" b="1" dirty="0" err="1">
                <a:solidFill>
                  <a:srgbClr val="002060"/>
                </a:solidFill>
                <a:latin typeface="Times New Roman" panose="02020603050405020304" pitchFamily="18" charset="0"/>
                <a:cs typeface="Times New Roman" panose="02020603050405020304" pitchFamily="18" charset="0"/>
              </a:rPr>
              <a:t>Biện</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chứng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giữa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sở</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hạ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tầng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và</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kiến</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trúc</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thượng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tầng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của</a:t>
            </a:r>
            <a:r>
              <a:rPr lang="en-US" sz="2400" b="1" dirty="0">
                <a:solidFill>
                  <a:srgbClr val="002060"/>
                </a:solidFill>
                <a:latin typeface="Times New Roman" panose="02020603050405020304" pitchFamily="18" charset="0"/>
                <a:cs typeface="Times New Roman" panose="02020603050405020304" pitchFamily="18" charset="0"/>
              </a:rPr>
              <a:t> XH</a:t>
            </a:r>
            <a:br>
              <a:rPr lang="en-US" sz="2400" b="1" dirty="0">
                <a:solidFill>
                  <a:srgbClr val="002060"/>
                </a:solidFill>
                <a:latin typeface="Times New Roman" panose="02020603050405020304" pitchFamily="18" charset="0"/>
                <a:cs typeface="Times New Roman" panose="02020603050405020304" pitchFamily="18" charset="0"/>
              </a:rPr>
            </a:br>
            <a:r>
              <a:rPr lang="en-US" sz="2400" b="1" dirty="0">
                <a:solidFill>
                  <a:srgbClr val="002060"/>
                </a:solidFill>
                <a:latin typeface="Times New Roman" panose="02020603050405020304" pitchFamily="18" charset="0"/>
                <a:cs typeface="Times New Roman" panose="02020603050405020304" pitchFamily="18" charset="0"/>
              </a:rPr>
              <a:t>3. </a:t>
            </a:r>
            <a:r>
              <a:rPr lang="en-US" sz="2400" b="1" dirty="0" err="1">
                <a:solidFill>
                  <a:srgbClr val="002060"/>
                </a:solidFill>
                <a:latin typeface="Times New Roman" panose="02020603050405020304" pitchFamily="18" charset="0"/>
                <a:cs typeface="Times New Roman" panose="02020603050405020304" pitchFamily="18" charset="0"/>
              </a:rPr>
              <a:t>Sự</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phát</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triển</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các</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hình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thái</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kinh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tế</a:t>
            </a:r>
            <a:r>
              <a:rPr lang="en-US" sz="2400" b="1" dirty="0">
                <a:solidFill>
                  <a:srgbClr val="002060"/>
                </a:solidFill>
                <a:latin typeface="Times New Roman" panose="02020603050405020304" pitchFamily="18" charset="0"/>
                <a:cs typeface="Times New Roman" panose="02020603050405020304" pitchFamily="18" charset="0"/>
              </a:rPr>
              <a:t> - </a:t>
            </a:r>
            <a:r>
              <a:rPr lang="en-US" sz="2400" b="1" dirty="0" err="1">
                <a:solidFill>
                  <a:srgbClr val="002060"/>
                </a:solidFill>
                <a:latin typeface="Times New Roman" panose="02020603050405020304" pitchFamily="18" charset="0"/>
                <a:cs typeface="Times New Roman" panose="02020603050405020304" pitchFamily="18" charset="0"/>
              </a:rPr>
              <a:t>xã</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hội</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là</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một</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quá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lịch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tự</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nhiên</a:t>
            </a:r>
            <a:br>
              <a:rPr lang="en-US" sz="2400" dirty="0">
                <a:latin typeface="Times New Roman" panose="02020603050405020304" pitchFamily="18" charset="0"/>
                <a:cs typeface="Times New Roman" panose="02020603050405020304" pitchFamily="18" charset="0"/>
              </a:rPr>
            </a:br>
            <a:r>
              <a:rPr lang="en-US" sz="2700" b="1" dirty="0">
                <a:solidFill>
                  <a:srgbClr val="FF0000"/>
                </a:solidFill>
                <a:latin typeface="Times New Roman" panose="02020603050405020304" pitchFamily="18" charset="0"/>
                <a:cs typeface="Times New Roman" panose="02020603050405020304" pitchFamily="18" charset="0"/>
              </a:rPr>
              <a:t>II. Giai </a:t>
            </a:r>
            <a:r>
              <a:rPr lang="en-US" sz="2700" b="1" dirty="0" err="1">
                <a:solidFill>
                  <a:srgbClr val="FF0000"/>
                </a:solidFill>
                <a:latin typeface="Times New Roman" panose="02020603050405020304" pitchFamily="18" charset="0"/>
                <a:cs typeface="Times New Roman" panose="02020603050405020304" pitchFamily="18" charset="0"/>
              </a:rPr>
              <a:t>cấp</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và</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dân</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tộc</a:t>
            </a:r>
            <a:br>
              <a:rPr lang="en-US" sz="2700" b="1" dirty="0">
                <a:latin typeface="Times New Roman" panose="02020603050405020304" pitchFamily="18" charset="0"/>
                <a:cs typeface="Times New Roman" panose="02020603050405020304" pitchFamily="18" charset="0"/>
              </a:rPr>
            </a:br>
            <a:r>
              <a:rPr lang="vi-VN" sz="2400" b="1" dirty="0">
                <a:solidFill>
                  <a:srgbClr val="002060"/>
                </a:solidFill>
                <a:latin typeface="Times New Roman" panose="02020603050405020304" pitchFamily="18" charset="0"/>
                <a:cs typeface="Times New Roman" panose="02020603050405020304" pitchFamily="18" charset="0"/>
              </a:rPr>
              <a:t>1. </a:t>
            </a:r>
            <a:r>
              <a:rPr lang="en-US" sz="2400" b="1" dirty="0">
                <a:solidFill>
                  <a:srgbClr val="002060"/>
                </a:solidFill>
                <a:latin typeface="Times New Roman" panose="02020603050405020304" pitchFamily="18" charset="0"/>
                <a:cs typeface="Times New Roman" panose="02020603050405020304" pitchFamily="18" charset="0"/>
              </a:rPr>
              <a:t>Giai </a:t>
            </a:r>
            <a:r>
              <a:rPr lang="en-US" sz="2400" b="1" dirty="0" err="1">
                <a:solidFill>
                  <a:srgbClr val="002060"/>
                </a:solidFill>
                <a:latin typeface="Times New Roman" panose="02020603050405020304" pitchFamily="18" charset="0"/>
                <a:cs typeface="Times New Roman" panose="02020603050405020304" pitchFamily="18" charset="0"/>
              </a:rPr>
              <a:t>cấp</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và</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đấu</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tranh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giai</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cấp</a:t>
            </a:r>
            <a:br>
              <a:rPr lang="en-US" sz="2400" b="1" dirty="0">
                <a:solidFill>
                  <a:srgbClr val="002060"/>
                </a:solidFill>
                <a:latin typeface="Times New Roman" panose="02020603050405020304" pitchFamily="18" charset="0"/>
                <a:cs typeface="Times New Roman" panose="02020603050405020304" pitchFamily="18" charset="0"/>
              </a:rPr>
            </a:br>
            <a:r>
              <a:rPr lang="vi-VN" sz="2400" b="1" dirty="0">
                <a:solidFill>
                  <a:srgbClr val="002060"/>
                </a:solidFill>
                <a:latin typeface="Times New Roman" panose="02020603050405020304" pitchFamily="18" charset="0"/>
                <a:cs typeface="Times New Roman" panose="02020603050405020304" pitchFamily="18" charset="0"/>
              </a:rPr>
              <a:t>2. </a:t>
            </a:r>
            <a:r>
              <a:rPr lang="en-US" sz="2400" b="1" dirty="0" err="1">
                <a:solidFill>
                  <a:srgbClr val="002060"/>
                </a:solidFill>
                <a:latin typeface="Times New Roman" panose="02020603050405020304" pitchFamily="18" charset="0"/>
                <a:cs typeface="Times New Roman" panose="02020603050405020304" pitchFamily="18" charset="0"/>
              </a:rPr>
              <a:t>Dân</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tộc</a:t>
            </a:r>
            <a:br>
              <a:rPr lang="en-US" sz="2400" b="1" dirty="0">
                <a:solidFill>
                  <a:srgbClr val="002060"/>
                </a:solidFill>
                <a:latin typeface="Times New Roman" panose="02020603050405020304" pitchFamily="18" charset="0"/>
                <a:cs typeface="Times New Roman" panose="02020603050405020304" pitchFamily="18" charset="0"/>
              </a:rPr>
            </a:br>
            <a:r>
              <a:rPr lang="vi-VN" sz="2400" b="1" dirty="0">
                <a:solidFill>
                  <a:srgbClr val="002060"/>
                </a:solidFill>
                <a:latin typeface="Times New Roman" panose="02020603050405020304" pitchFamily="18" charset="0"/>
                <a:cs typeface="Times New Roman" panose="02020603050405020304" pitchFamily="18" charset="0"/>
              </a:rPr>
              <a:t>3. </a:t>
            </a:r>
            <a:r>
              <a:rPr lang="en-US" sz="2400" b="1" dirty="0" err="1">
                <a:solidFill>
                  <a:srgbClr val="002060"/>
                </a:solidFill>
                <a:latin typeface="Times New Roman" panose="02020603050405020304" pitchFamily="18" charset="0"/>
                <a:cs typeface="Times New Roman" panose="02020603050405020304" pitchFamily="18" charset="0"/>
              </a:rPr>
              <a:t>Mối</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quan</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hệ</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giai</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cấp</a:t>
            </a:r>
            <a:r>
              <a:rPr lang="en-US" sz="2400" b="1" dirty="0">
                <a:solidFill>
                  <a:srgbClr val="002060"/>
                </a:solidFill>
                <a:latin typeface="Times New Roman" panose="02020603050405020304" pitchFamily="18" charset="0"/>
                <a:cs typeface="Times New Roman" panose="02020603050405020304" pitchFamily="18" charset="0"/>
              </a:rPr>
              <a:t> – </a:t>
            </a:r>
            <a:r>
              <a:rPr lang="en-US" sz="2400" b="1" dirty="0" err="1">
                <a:solidFill>
                  <a:srgbClr val="002060"/>
                </a:solidFill>
                <a:latin typeface="Times New Roman" panose="02020603050405020304" pitchFamily="18" charset="0"/>
                <a:cs typeface="Times New Roman" panose="02020603050405020304" pitchFamily="18" charset="0"/>
              </a:rPr>
              <a:t>dân</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tộc</a:t>
            </a:r>
            <a:r>
              <a:rPr lang="en-US" sz="2400" b="1" dirty="0">
                <a:solidFill>
                  <a:srgbClr val="002060"/>
                </a:solidFill>
                <a:latin typeface="Times New Roman" panose="02020603050405020304" pitchFamily="18" charset="0"/>
                <a:cs typeface="Times New Roman" panose="02020603050405020304" pitchFamily="18" charset="0"/>
              </a:rPr>
              <a:t> – </a:t>
            </a:r>
            <a:r>
              <a:rPr lang="en-US" sz="2400" b="1" dirty="0" err="1">
                <a:solidFill>
                  <a:srgbClr val="002060"/>
                </a:solidFill>
                <a:latin typeface="Times New Roman" panose="02020603050405020304" pitchFamily="18" charset="0"/>
                <a:cs typeface="Times New Roman" panose="02020603050405020304" pitchFamily="18" charset="0"/>
              </a:rPr>
              <a:t>nhân</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loại</a:t>
            </a:r>
            <a:br>
              <a:rPr lang="en-US" sz="2700" dirty="0">
                <a:latin typeface="Times New Roman" panose="02020603050405020304" pitchFamily="18" charset="0"/>
                <a:cs typeface="Times New Roman" panose="02020603050405020304" pitchFamily="18" charset="0"/>
              </a:rPr>
            </a:br>
            <a:r>
              <a:rPr lang="en-US" sz="2700" b="1" dirty="0">
                <a:solidFill>
                  <a:srgbClr val="FF0000"/>
                </a:solidFill>
                <a:latin typeface="Times New Roman" panose="02020603050405020304" pitchFamily="18" charset="0"/>
                <a:cs typeface="Times New Roman" panose="02020603050405020304" pitchFamily="18" charset="0"/>
              </a:rPr>
              <a:t>III. </a:t>
            </a:r>
            <a:r>
              <a:rPr lang="en-US" sz="2700" b="1" dirty="0" err="1">
                <a:solidFill>
                  <a:srgbClr val="FF0000"/>
                </a:solidFill>
                <a:latin typeface="Times New Roman" panose="02020603050405020304" pitchFamily="18" charset="0"/>
                <a:cs typeface="Times New Roman" panose="02020603050405020304" pitchFamily="18" charset="0"/>
              </a:rPr>
              <a:t>Nhà</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nước</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và</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cách</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mạng</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xã</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hội</a:t>
            </a:r>
            <a:br>
              <a:rPr lang="en-US" sz="2700" b="1" dirty="0">
                <a:solidFill>
                  <a:srgbClr val="FF0000"/>
                </a:solidFill>
                <a:latin typeface="Times New Roman" panose="02020603050405020304" pitchFamily="18" charset="0"/>
                <a:cs typeface="Times New Roman" panose="02020603050405020304" pitchFamily="18" charset="0"/>
              </a:rPr>
            </a:br>
            <a:r>
              <a:rPr lang="vi-VN" sz="2700" b="1" dirty="0">
                <a:solidFill>
                  <a:srgbClr val="002060"/>
                </a:solidFill>
                <a:latin typeface="Times New Roman" panose="02020603050405020304" pitchFamily="18" charset="0"/>
                <a:cs typeface="Times New Roman" panose="02020603050405020304" pitchFamily="18" charset="0"/>
              </a:rPr>
              <a:t>1. </a:t>
            </a:r>
            <a:r>
              <a:rPr lang="en-US" sz="2400" b="1" dirty="0" err="1">
                <a:solidFill>
                  <a:srgbClr val="002060"/>
                </a:solidFill>
                <a:latin typeface="Times New Roman" panose="02020603050405020304" pitchFamily="18" charset="0"/>
                <a:cs typeface="Times New Roman" panose="02020603050405020304" pitchFamily="18" charset="0"/>
              </a:rPr>
              <a:t>Nhà</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nước</a:t>
            </a:r>
            <a:br>
              <a:rPr lang="en-US" sz="2400" b="1" dirty="0">
                <a:solidFill>
                  <a:srgbClr val="002060"/>
                </a:solidFill>
                <a:latin typeface="Times New Roman" panose="02020603050405020304" pitchFamily="18" charset="0"/>
                <a:cs typeface="Times New Roman" panose="02020603050405020304" pitchFamily="18" charset="0"/>
              </a:rPr>
            </a:br>
            <a:r>
              <a:rPr lang="vi-VN" sz="2400" b="1" dirty="0">
                <a:solidFill>
                  <a:srgbClr val="002060"/>
                </a:solidFill>
                <a:latin typeface="Times New Roman" panose="02020603050405020304" pitchFamily="18" charset="0"/>
                <a:cs typeface="Times New Roman" panose="02020603050405020304" pitchFamily="18" charset="0"/>
              </a:rPr>
              <a:t>2. </a:t>
            </a:r>
            <a:r>
              <a:rPr lang="en-US" sz="2400" b="1" dirty="0" err="1">
                <a:solidFill>
                  <a:srgbClr val="002060"/>
                </a:solidFill>
                <a:latin typeface="Times New Roman" panose="02020603050405020304" pitchFamily="18" charset="0"/>
                <a:cs typeface="Times New Roman" panose="02020603050405020304" pitchFamily="18" charset="0"/>
              </a:rPr>
              <a:t>Cách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mạng</a:t>
            </a:r>
            <a:r>
              <a:rPr lang="en-US" sz="2400" b="1" dirty="0">
                <a:solidFill>
                  <a:srgbClr val="002060"/>
                </a:solidFill>
                <a:latin typeface="Times New Roman" panose="02020603050405020304" pitchFamily="18" charset="0"/>
                <a:cs typeface="Times New Roman" panose="02020603050405020304" pitchFamily="18" charset="0"/>
              </a:rPr>
              <a:t> XH</a:t>
            </a:r>
            <a:br>
              <a:rPr lang="en-US" sz="2700" dirty="0">
                <a:latin typeface="Times New Roman" panose="02020603050405020304" pitchFamily="18" charset="0"/>
                <a:cs typeface="Times New Roman" panose="02020603050405020304" pitchFamily="18" charset="0"/>
              </a:rPr>
            </a:br>
            <a:r>
              <a:rPr lang="en-US" sz="2700" b="1" dirty="0">
                <a:solidFill>
                  <a:srgbClr val="FF0000"/>
                </a:solidFill>
                <a:latin typeface="Times New Roman" panose="02020603050405020304" pitchFamily="18" charset="0"/>
                <a:cs typeface="Times New Roman" panose="02020603050405020304" pitchFamily="18" charset="0"/>
              </a:rPr>
              <a:t>IV. Ý </a:t>
            </a:r>
            <a:r>
              <a:rPr lang="en-US" sz="2700" b="1" dirty="0" err="1">
                <a:solidFill>
                  <a:srgbClr val="FF0000"/>
                </a:solidFill>
                <a:latin typeface="Times New Roman" panose="02020603050405020304" pitchFamily="18" charset="0"/>
                <a:cs typeface="Times New Roman" panose="02020603050405020304" pitchFamily="18" charset="0"/>
              </a:rPr>
              <a:t>thức</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xã</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hội</a:t>
            </a:r>
            <a:br>
              <a:rPr lang="en-US" sz="2700" b="1" dirty="0">
                <a:latin typeface="Times New Roman" panose="02020603050405020304" pitchFamily="18" charset="0"/>
                <a:cs typeface="Times New Roman" panose="02020603050405020304" pitchFamily="18" charset="0"/>
              </a:rPr>
            </a:br>
            <a:r>
              <a:rPr lang="vi-VN" sz="2400" b="1" dirty="0">
                <a:latin typeface="Times New Roman" panose="02020603050405020304" pitchFamily="18" charset="0"/>
                <a:cs typeface="Times New Roman" panose="02020603050405020304" pitchFamily="18" charset="0"/>
              </a:rPr>
              <a:t>1. </a:t>
            </a:r>
            <a:r>
              <a:rPr lang="en-US" sz="2400" b="1" dirty="0" err="1">
                <a:solidFill>
                  <a:srgbClr val="002060"/>
                </a:solidFill>
                <a:latin typeface="Times New Roman" panose="02020603050405020304" pitchFamily="18" charset="0"/>
                <a:cs typeface="Times New Roman" panose="02020603050405020304" pitchFamily="18" charset="0"/>
              </a:rPr>
              <a:t>Tồn</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tại</a:t>
            </a:r>
            <a:r>
              <a:rPr lang="en-US" sz="2400" b="1" dirty="0">
                <a:solidFill>
                  <a:srgbClr val="002060"/>
                </a:solidFill>
                <a:latin typeface="Times New Roman" panose="02020603050405020304" pitchFamily="18" charset="0"/>
                <a:cs typeface="Times New Roman" panose="02020603050405020304" pitchFamily="18" charset="0"/>
              </a:rPr>
              <a:t> XH </a:t>
            </a:r>
            <a:r>
              <a:rPr lang="en-US" sz="2400" b="1" dirty="0" err="1">
                <a:solidFill>
                  <a:srgbClr val="002060"/>
                </a:solidFill>
                <a:latin typeface="Times New Roman" panose="02020603050405020304" pitchFamily="18" charset="0"/>
                <a:cs typeface="Times New Roman" panose="02020603050405020304" pitchFamily="18" charset="0"/>
              </a:rPr>
              <a:t>và</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các</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yếu</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tố</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bản</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của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tồn</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tại</a:t>
            </a:r>
            <a:r>
              <a:rPr lang="en-US" sz="2400" b="1" dirty="0">
                <a:solidFill>
                  <a:srgbClr val="002060"/>
                </a:solidFill>
                <a:latin typeface="Times New Roman" panose="02020603050405020304" pitchFamily="18" charset="0"/>
                <a:cs typeface="Times New Roman" panose="02020603050405020304" pitchFamily="18" charset="0"/>
              </a:rPr>
              <a:t> XH</a:t>
            </a:r>
            <a:br>
              <a:rPr lang="en-US" sz="2400" b="1" dirty="0">
                <a:solidFill>
                  <a:srgbClr val="002060"/>
                </a:solidFill>
                <a:latin typeface="Times New Roman" panose="02020603050405020304" pitchFamily="18" charset="0"/>
                <a:cs typeface="Times New Roman" panose="02020603050405020304" pitchFamily="18" charset="0"/>
              </a:rPr>
            </a:br>
            <a:r>
              <a:rPr lang="vi-VN" sz="2400" b="1" dirty="0">
                <a:solidFill>
                  <a:srgbClr val="002060"/>
                </a:solidFill>
                <a:latin typeface="Times New Roman" panose="02020603050405020304" pitchFamily="18" charset="0"/>
                <a:cs typeface="Times New Roman" panose="02020603050405020304" pitchFamily="18" charset="0"/>
              </a:rPr>
              <a:t>2. </a:t>
            </a:r>
            <a:r>
              <a:rPr lang="en-US" sz="2400" b="1" dirty="0">
                <a:solidFill>
                  <a:srgbClr val="002060"/>
                </a:solidFill>
                <a:latin typeface="Times New Roman" panose="02020603050405020304" pitchFamily="18" charset="0"/>
                <a:cs typeface="Times New Roman" panose="02020603050405020304" pitchFamily="18" charset="0"/>
              </a:rPr>
              <a:t>Ý </a:t>
            </a:r>
            <a:r>
              <a:rPr lang="en-US" sz="2400" b="1" dirty="0" err="1">
                <a:solidFill>
                  <a:srgbClr val="002060"/>
                </a:solidFill>
                <a:latin typeface="Times New Roman" panose="02020603050405020304" pitchFamily="18" charset="0"/>
                <a:cs typeface="Times New Roman" panose="02020603050405020304" pitchFamily="18" charset="0"/>
              </a:rPr>
              <a:t>thức</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xã</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hội</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và</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kết</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cấu</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của</a:t>
            </a:r>
            <a:r>
              <a:rPr lang="en-US" sz="2400" b="1" dirty="0">
                <a:solidFill>
                  <a:srgbClr val="002060"/>
                </a:solidFill>
                <a:latin typeface="Times New Roman" panose="02020603050405020304" pitchFamily="18" charset="0"/>
                <a:cs typeface="Times New Roman" panose="02020603050405020304" pitchFamily="18" charset="0"/>
              </a:rPr>
              <a:t> YTXH</a:t>
            </a:r>
            <a:br>
              <a:rPr lang="en-US" sz="2700" dirty="0">
                <a:latin typeface="Times New Roman" panose="02020603050405020304" pitchFamily="18" charset="0"/>
                <a:cs typeface="Times New Roman" panose="02020603050405020304" pitchFamily="18" charset="0"/>
              </a:rPr>
            </a:br>
            <a:r>
              <a:rPr lang="en-US" sz="2700" b="1" dirty="0">
                <a:solidFill>
                  <a:srgbClr val="FF0000"/>
                </a:solidFill>
                <a:latin typeface="Times New Roman" panose="02020603050405020304" pitchFamily="18" charset="0"/>
                <a:cs typeface="Times New Roman" panose="02020603050405020304" pitchFamily="18" charset="0"/>
              </a:rPr>
              <a:t>V. </a:t>
            </a:r>
            <a:r>
              <a:rPr lang="en-US" sz="2700" b="1" dirty="0" err="1">
                <a:solidFill>
                  <a:srgbClr val="FF0000"/>
                </a:solidFill>
                <a:latin typeface="Times New Roman" panose="02020603050405020304" pitchFamily="18" charset="0"/>
                <a:cs typeface="Times New Roman" panose="02020603050405020304" pitchFamily="18" charset="0"/>
              </a:rPr>
              <a:t>Triết</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học</a:t>
            </a:r>
            <a:r>
              <a:rPr lang="en-US" sz="2700" b="1" dirty="0">
                <a:solidFill>
                  <a:srgbClr val="FF0000"/>
                </a:solidFill>
                <a:latin typeface="Times New Roman" panose="02020603050405020304" pitchFamily="18" charset="0"/>
                <a:cs typeface="Times New Roman" panose="02020603050405020304" pitchFamily="18" charset="0"/>
              </a:rPr>
              <a:t> </a:t>
            </a:r>
            <a:r>
              <a:rPr lang="en-US" sz="2700" b="1" dirty="0" err="1">
                <a:solidFill>
                  <a:srgbClr val="FF0000"/>
                </a:solidFill>
                <a:latin typeface="Times New Roman" panose="02020603050405020304" pitchFamily="18" charset="0"/>
                <a:cs typeface="Times New Roman" panose="02020603050405020304" pitchFamily="18" charset="0"/>
              </a:rPr>
              <a:t>về</a:t>
            </a:r>
            <a:r>
              <a:rPr lang="en-US" sz="2700" b="1" dirty="0">
                <a:solidFill>
                  <a:srgbClr val="FF0000"/>
                </a:solidFill>
                <a:latin typeface="Times New Roman" panose="02020603050405020304" pitchFamily="18" charset="0"/>
                <a:cs typeface="Times New Roman" panose="02020603050405020304" pitchFamily="18" charset="0"/>
              </a:rPr>
              <a:t> con </a:t>
            </a:r>
            <a:r>
              <a:rPr lang="en-US" sz="2700" b="1" dirty="0" err="1">
                <a:solidFill>
                  <a:srgbClr val="FF0000"/>
                </a:solidFill>
                <a:latin typeface="Times New Roman" panose="02020603050405020304" pitchFamily="18" charset="0"/>
                <a:cs typeface="Times New Roman" panose="02020603050405020304" pitchFamily="18" charset="0"/>
              </a:rPr>
              <a:t>người</a:t>
            </a:r>
            <a:br>
              <a:rPr lang="en-US" sz="2700" b="1" dirty="0">
                <a:latin typeface="Times New Roman" panose="02020603050405020304" pitchFamily="18" charset="0"/>
                <a:cs typeface="Times New Roman" panose="02020603050405020304" pitchFamily="18" charset="0"/>
              </a:rPr>
            </a:br>
            <a:r>
              <a:rPr lang="en-US" sz="2200" b="1" dirty="0">
                <a:solidFill>
                  <a:srgbClr val="002060"/>
                </a:solidFill>
                <a:latin typeface="Times New Roman" panose="02020603050405020304" pitchFamily="18" charset="0"/>
                <a:cs typeface="Times New Roman" panose="02020603050405020304" pitchFamily="18" charset="0"/>
              </a:rPr>
              <a:t>1. </a:t>
            </a:r>
            <a:r>
              <a:rPr lang="vi-VN" sz="2200" b="1" dirty="0">
                <a:solidFill>
                  <a:srgbClr val="002060"/>
                </a:solidFill>
                <a:latin typeface="Times New Roman" panose="02020603050405020304" pitchFamily="18" charset="0"/>
                <a:cs typeface="Times New Roman" panose="02020603050405020304" pitchFamily="18" charset="0"/>
              </a:rPr>
              <a:t>Q</a:t>
            </a:r>
            <a:r>
              <a:rPr lang="en-US" sz="2200" b="1" dirty="0" err="1">
                <a:solidFill>
                  <a:srgbClr val="002060"/>
                </a:solidFill>
                <a:latin typeface="Times New Roman" panose="02020603050405020304" pitchFamily="18" charset="0"/>
                <a:cs typeface="Times New Roman" panose="02020603050405020304" pitchFamily="18" charset="0"/>
              </a:rPr>
              <a:t>uan</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hệ</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cá</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nhân</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và</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xã</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hội</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vai</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trò</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của</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quần</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chúng</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nhân</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dân</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và</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lãnh</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tụ</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trong</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lịch</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sử</a:t>
            </a:r>
            <a:br>
              <a:rPr lang="en-US" sz="2200" b="1" dirty="0">
                <a:solidFill>
                  <a:srgbClr val="002060"/>
                </a:solidFill>
                <a:latin typeface="Times New Roman" panose="02020603050405020304" pitchFamily="18" charset="0"/>
                <a:cs typeface="Times New Roman" panose="02020603050405020304" pitchFamily="18" charset="0"/>
              </a:rPr>
            </a:br>
            <a:r>
              <a:rPr lang="en-US" sz="2200" b="1" dirty="0">
                <a:solidFill>
                  <a:srgbClr val="002060"/>
                </a:solidFill>
                <a:latin typeface="Times New Roman" panose="02020603050405020304" pitchFamily="18" charset="0"/>
                <a:cs typeface="Times New Roman" panose="02020603050405020304" pitchFamily="18" charset="0"/>
              </a:rPr>
              <a:t>2. </a:t>
            </a:r>
            <a:r>
              <a:rPr lang="vi-VN" sz="2200" b="1" dirty="0">
                <a:solidFill>
                  <a:srgbClr val="002060"/>
                </a:solidFill>
                <a:latin typeface="Times New Roman" panose="02020603050405020304" pitchFamily="18" charset="0"/>
                <a:cs typeface="Times New Roman" panose="02020603050405020304" pitchFamily="18" charset="0"/>
              </a:rPr>
              <a:t>V</a:t>
            </a:r>
            <a:r>
              <a:rPr lang="en-US" sz="2200" b="1" dirty="0" err="1">
                <a:solidFill>
                  <a:srgbClr val="002060"/>
                </a:solidFill>
                <a:latin typeface="Times New Roman" panose="02020603050405020304" pitchFamily="18" charset="0"/>
                <a:cs typeface="Times New Roman" panose="02020603050405020304" pitchFamily="18" charset="0"/>
              </a:rPr>
              <a:t>ấn</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đề</a:t>
            </a:r>
            <a:r>
              <a:rPr lang="en-US" sz="2200" b="1" dirty="0">
                <a:solidFill>
                  <a:srgbClr val="002060"/>
                </a:solidFill>
                <a:latin typeface="Times New Roman" panose="02020603050405020304" pitchFamily="18" charset="0"/>
                <a:cs typeface="Times New Roman" panose="02020603050405020304" pitchFamily="18" charset="0"/>
              </a:rPr>
              <a:t> con </a:t>
            </a:r>
            <a:r>
              <a:rPr lang="en-US" sz="2200" b="1" dirty="0" err="1">
                <a:solidFill>
                  <a:srgbClr val="002060"/>
                </a:solidFill>
                <a:latin typeface="Times New Roman" panose="02020603050405020304" pitchFamily="18" charset="0"/>
                <a:cs typeface="Times New Roman" panose="02020603050405020304" pitchFamily="18" charset="0"/>
              </a:rPr>
              <a:t>người</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trong</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sự</a:t>
            </a:r>
            <a:r>
              <a:rPr lang="en-US" sz="2200" b="1" dirty="0">
                <a:solidFill>
                  <a:srgbClr val="002060"/>
                </a:solidFill>
                <a:latin typeface="Times New Roman" panose="02020603050405020304" pitchFamily="18" charset="0"/>
                <a:cs typeface="Times New Roman" panose="02020603050405020304" pitchFamily="18" charset="0"/>
              </a:rPr>
              <a:t> </a:t>
            </a:r>
            <a:r>
              <a:rPr lang="en-US" sz="2200" b="1" dirty="0" err="1">
                <a:solidFill>
                  <a:srgbClr val="002060"/>
                </a:solidFill>
                <a:latin typeface="Times New Roman" panose="02020603050405020304" pitchFamily="18" charset="0"/>
                <a:cs typeface="Times New Roman" panose="02020603050405020304" pitchFamily="18" charset="0"/>
              </a:rPr>
              <a:t>nghiệp</a:t>
            </a:r>
            <a:r>
              <a:rPr lang="en-US" sz="2200" b="1" dirty="0">
                <a:solidFill>
                  <a:srgbClr val="002060"/>
                </a:solidFill>
                <a:latin typeface="Times New Roman" panose="02020603050405020304" pitchFamily="18" charset="0"/>
                <a:cs typeface="Times New Roman" panose="02020603050405020304" pitchFamily="18" charset="0"/>
              </a:rPr>
              <a:t> CM ở VN</a:t>
            </a:r>
            <a:br>
              <a:rPr lang="en-US" sz="2700" b="1" dirty="0">
                <a:solidFill>
                  <a:srgbClr val="002060"/>
                </a:solidFill>
                <a:latin typeface="Times New Roman" panose="02020603050405020304" pitchFamily="18" charset="0"/>
                <a:cs typeface="Times New Roman" panose="02020603050405020304" pitchFamily="18" charset="0"/>
              </a:rPr>
            </a:br>
            <a:br>
              <a:rPr lang="en-US" sz="29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0532"/>
          </a:xfrm>
        </p:spPr>
        <p:txBody>
          <a:bodyPr>
            <a:normAutofit fontScale="90000"/>
          </a:bodyPr>
          <a:lstStyle/>
          <a:p>
            <a:r>
              <a:rPr lang="en-US" sz="3200" b="1" dirty="0">
                <a:solidFill>
                  <a:srgbClr val="FF0000"/>
                </a:solidFill>
                <a:latin typeface="Times New Roman" panose="02020603050405020304" pitchFamily="18" charset="0"/>
                <a:cs typeface="Times New Roman" panose="02020603050405020304" pitchFamily="18" charset="0"/>
              </a:rPr>
              <a:t>I</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Học</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thuyết</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hình</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thái</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kinh</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tế</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xã</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hội</a:t>
            </a:r>
            <a:br>
              <a:rPr lang="en-US" sz="2800" b="1" dirty="0">
                <a:solidFill>
                  <a:srgbClr val="FF0000"/>
                </a:solidFill>
                <a:latin typeface="Times New Roman" panose="02020603050405020304" pitchFamily="18" charset="0"/>
                <a:cs typeface="Times New Roman" panose="02020603050405020304" pitchFamily="18" charset="0"/>
              </a:rPr>
            </a:br>
            <a:r>
              <a:rPr lang="en-US" sz="2800" b="1" dirty="0">
                <a:solidFill>
                  <a:srgbClr val="FF0000"/>
                </a:solidFill>
                <a:latin typeface="Times New Roman" panose="02020603050405020304" pitchFamily="18" charset="0"/>
                <a:cs typeface="Times New Roman" panose="02020603050405020304" pitchFamily="18" charset="0"/>
              </a:rPr>
              <a:t>1. </a:t>
            </a:r>
            <a:r>
              <a:rPr lang="en-US" sz="2800" b="1" dirty="0" err="1">
                <a:solidFill>
                  <a:srgbClr val="FF0000"/>
                </a:solidFill>
                <a:latin typeface="Times New Roman" panose="02020603050405020304" pitchFamily="18" charset="0"/>
                <a:cs typeface="Times New Roman" panose="02020603050405020304" pitchFamily="18" charset="0"/>
              </a:rPr>
              <a:t>Sản</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xuất</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vật</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chất</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là</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cơ</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sở</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của</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sự</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tồn</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tại</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và</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phát</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triển</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xã</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hội</a:t>
            </a:r>
            <a:endParaRPr lang="en-US"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15143"/>
            <a:ext cx="10515600" cy="4761820"/>
          </a:xfrm>
        </p:spPr>
        <p:txBody>
          <a:bodyPr/>
          <a:lstStyle/>
          <a:p>
            <a:pPr marL="0" indent="0">
              <a:buNone/>
            </a:pPr>
            <a:endParaRPr lang="en-US" dirty="0"/>
          </a:p>
        </p:txBody>
      </p:sp>
      <p:sp>
        <p:nvSpPr>
          <p:cNvPr id="4" name="Rectangle: Rounded Corners 3"/>
          <p:cNvSpPr/>
          <p:nvPr/>
        </p:nvSpPr>
        <p:spPr>
          <a:xfrm>
            <a:off x="1034142" y="1317172"/>
            <a:ext cx="9263743" cy="92528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spcBef>
                <a:spcPct val="50000"/>
              </a:spcBef>
              <a:buFont typeface="Wingdings" panose="05000000000000000000" pitchFamily="2" charset="2"/>
              <a:buChar char="§"/>
            </a:pPr>
            <a:r>
              <a:rPr lang="en-US" altLang="en-US" b="1" i="1" dirty="0" err="1">
                <a:solidFill>
                  <a:srgbClr val="FF0000"/>
                </a:solidFill>
                <a:latin typeface="Times New Roman" panose="02020603050405020304" pitchFamily="18" charset="0"/>
              </a:rPr>
              <a:t>Sản</a:t>
            </a:r>
            <a:r>
              <a:rPr lang="en-US" altLang="en-US" b="1" i="1" dirty="0">
                <a:solidFill>
                  <a:srgbClr val="FF0000"/>
                </a:solidFill>
                <a:latin typeface="Times New Roman" panose="02020603050405020304" pitchFamily="18" charset="0"/>
              </a:rPr>
              <a:t> </a:t>
            </a:r>
            <a:r>
              <a:rPr lang="en-US" altLang="en-US" b="1" i="1" dirty="0" err="1">
                <a:solidFill>
                  <a:srgbClr val="FF0000"/>
                </a:solidFill>
                <a:latin typeface="Times New Roman" panose="02020603050405020304" pitchFamily="18" charset="0"/>
              </a:rPr>
              <a:t>xuất</a:t>
            </a:r>
            <a:r>
              <a:rPr lang="vi-VN" altLang="en-US" b="1" i="1" dirty="0">
                <a:solidFill>
                  <a:srgbClr val="FF0000"/>
                </a:solidFill>
                <a:latin typeface="Times New Roman" panose="02020603050405020304" pitchFamily="18" charset="0"/>
              </a:rPr>
              <a:t> xã hội</a:t>
            </a:r>
            <a:r>
              <a:rPr lang="en-US" altLang="en-US" b="1" dirty="0">
                <a:solidFill>
                  <a:srgbClr val="FF0000"/>
                </a:solidFill>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loại</a:t>
            </a:r>
            <a:r>
              <a:rPr lang="en-US" altLang="en-US" dirty="0">
                <a:latin typeface="Times New Roman" panose="02020603050405020304" pitchFamily="18" charset="0"/>
              </a:rPr>
              <a:t> </a:t>
            </a:r>
            <a:r>
              <a:rPr lang="en-US" altLang="en-US" dirty="0" err="1">
                <a:latin typeface="Times New Roman" panose="02020603050405020304" pitchFamily="18" charset="0"/>
              </a:rPr>
              <a:t>hình</a:t>
            </a:r>
            <a:r>
              <a:rPr lang="en-US" altLang="en-US" dirty="0">
                <a:latin typeface="Times New Roman" panose="02020603050405020304" pitchFamily="18" charset="0"/>
              </a:rPr>
              <a:t> </a:t>
            </a:r>
            <a:r>
              <a:rPr lang="en-US" altLang="en-US" dirty="0" err="1">
                <a:latin typeface="Times New Roman" panose="02020603050405020304" pitchFamily="18" charset="0"/>
              </a:rPr>
              <a:t>hoạt</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đặc</a:t>
            </a:r>
            <a:r>
              <a:rPr lang="en-US" altLang="en-US" dirty="0">
                <a:latin typeface="Times New Roman" panose="02020603050405020304" pitchFamily="18" charset="0"/>
              </a:rPr>
              <a:t> </a:t>
            </a:r>
            <a:r>
              <a:rPr lang="en-US" altLang="en-US" dirty="0" err="1">
                <a:latin typeface="Times New Roman" panose="02020603050405020304" pitchFamily="18" charset="0"/>
              </a:rPr>
              <a:t>trưng</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con </a:t>
            </a:r>
            <a:r>
              <a:rPr lang="en-US" altLang="en-US" dirty="0" err="1">
                <a:latin typeface="Times New Roman" panose="02020603050405020304" pitchFamily="18" charset="0"/>
              </a:rPr>
              <a:t>người</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xã</a:t>
            </a:r>
            <a:r>
              <a:rPr lang="en-US" altLang="en-US" dirty="0">
                <a:latin typeface="Times New Roman" panose="02020603050405020304" pitchFamily="18" charset="0"/>
              </a:rPr>
              <a:t> </a:t>
            </a:r>
            <a:r>
              <a:rPr lang="en-US" altLang="en-US" dirty="0" err="1">
                <a:latin typeface="Times New Roman" panose="02020603050405020304" pitchFamily="18" charset="0"/>
              </a:rPr>
              <a:t>hội</a:t>
            </a:r>
            <a:r>
              <a:rPr lang="en-US" altLang="en-US" dirty="0">
                <a:latin typeface="Times New Roman" panose="02020603050405020304" pitchFamily="18" charset="0"/>
              </a:rPr>
              <a:t> </a:t>
            </a:r>
            <a:r>
              <a:rPr lang="en-US" altLang="en-US" dirty="0" err="1">
                <a:latin typeface="Times New Roman" panose="02020603050405020304" pitchFamily="18" charset="0"/>
              </a:rPr>
              <a:t>loài</a:t>
            </a:r>
            <a:r>
              <a:rPr lang="en-US" altLang="en-US" dirty="0">
                <a:latin typeface="Times New Roman" panose="02020603050405020304" pitchFamily="18" charset="0"/>
              </a:rPr>
              <a:t> </a:t>
            </a:r>
            <a:r>
              <a:rPr lang="en-US" altLang="en-US" dirty="0" err="1">
                <a:latin typeface="Times New Roman" panose="02020603050405020304" pitchFamily="18" charset="0"/>
              </a:rPr>
              <a:t>người</a:t>
            </a:r>
            <a:r>
              <a:rPr lang="en-US" altLang="en-US" dirty="0">
                <a:latin typeface="Times New Roman" panose="02020603050405020304" pitchFamily="18" charset="0"/>
              </a:rPr>
              <a:t>, bao </a:t>
            </a:r>
            <a:r>
              <a:rPr lang="en-US" altLang="en-US" dirty="0" err="1">
                <a:latin typeface="Times New Roman" panose="02020603050405020304" pitchFamily="18" charset="0"/>
              </a:rPr>
              <a:t>gồm</a:t>
            </a:r>
            <a:r>
              <a:rPr lang="en-US" altLang="en-US" dirty="0">
                <a:latin typeface="Times New Roman" panose="02020603050405020304" pitchFamily="18" charset="0"/>
              </a:rPr>
              <a:t>: SX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chất</a:t>
            </a:r>
            <a:r>
              <a:rPr lang="en-US" altLang="en-US" dirty="0">
                <a:latin typeface="Times New Roman" panose="02020603050405020304" pitchFamily="18" charset="0"/>
              </a:rPr>
              <a:t>, SX </a:t>
            </a:r>
            <a:r>
              <a:rPr lang="en-US" altLang="en-US" dirty="0" err="1">
                <a:latin typeface="Times New Roman" panose="02020603050405020304" pitchFamily="18" charset="0"/>
              </a:rPr>
              <a:t>tinh</a:t>
            </a:r>
            <a:r>
              <a:rPr lang="en-US" altLang="en-US" dirty="0">
                <a:latin typeface="Times New Roman" panose="02020603050405020304" pitchFamily="18" charset="0"/>
              </a:rPr>
              <a:t> </a:t>
            </a:r>
            <a:r>
              <a:rPr lang="en-US" altLang="en-US" dirty="0" err="1">
                <a:latin typeface="Times New Roman" panose="02020603050405020304" pitchFamily="18" charset="0"/>
              </a:rPr>
              <a:t>thần</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SX </a:t>
            </a:r>
            <a:r>
              <a:rPr lang="en-US" altLang="en-US" dirty="0" err="1">
                <a:latin typeface="Times New Roman" panose="02020603050405020304" pitchFamily="18" charset="0"/>
              </a:rPr>
              <a:t>ra</a:t>
            </a:r>
            <a:r>
              <a:rPr lang="en-US" altLang="en-US" dirty="0">
                <a:latin typeface="Times New Roman" panose="02020603050405020304" pitchFamily="18" charset="0"/>
              </a:rPr>
              <a:t> </a:t>
            </a:r>
            <a:r>
              <a:rPr lang="en-US" altLang="en-US" dirty="0" err="1">
                <a:latin typeface="Times New Roman" panose="02020603050405020304" pitchFamily="18" charset="0"/>
              </a:rPr>
              <a:t>bản</a:t>
            </a:r>
            <a:r>
              <a:rPr lang="en-US" altLang="en-US" dirty="0">
                <a:latin typeface="Times New Roman" panose="02020603050405020304" pitchFamily="18" charset="0"/>
              </a:rPr>
              <a:t> </a:t>
            </a:r>
            <a:r>
              <a:rPr lang="en-US" altLang="en-US" dirty="0" err="1">
                <a:latin typeface="Times New Roman" panose="02020603050405020304" pitchFamily="18" charset="0"/>
              </a:rPr>
              <a:t>thân</a:t>
            </a:r>
            <a:r>
              <a:rPr lang="en-US" altLang="en-US" dirty="0">
                <a:latin typeface="Times New Roman" panose="02020603050405020304" pitchFamily="18" charset="0"/>
              </a:rPr>
              <a:t> con </a:t>
            </a:r>
            <a:r>
              <a:rPr lang="en-US" altLang="en-US" dirty="0" err="1">
                <a:latin typeface="Times New Roman" panose="02020603050405020304" pitchFamily="18" charset="0"/>
              </a:rPr>
              <a:t>người</a:t>
            </a:r>
            <a:r>
              <a:rPr lang="en-US" altLang="en-US" dirty="0">
                <a:latin typeface="Times New Roman" panose="02020603050405020304" pitchFamily="18" charset="0"/>
              </a:rPr>
              <a:t>. </a:t>
            </a:r>
            <a:endParaRPr lang="en-US" altLang="en-US" dirty="0">
              <a:latin typeface="Times New Roman" panose="02020603050405020304" pitchFamily="18" charset="0"/>
            </a:endParaRPr>
          </a:p>
        </p:txBody>
      </p:sp>
      <p:sp>
        <p:nvSpPr>
          <p:cNvPr id="5" name="Rectangle 4"/>
          <p:cNvSpPr/>
          <p:nvPr/>
        </p:nvSpPr>
        <p:spPr>
          <a:xfrm>
            <a:off x="1567543" y="2982686"/>
            <a:ext cx="1240972" cy="21118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ctr">
              <a:buFont typeface="Wingdings" panose="05000000000000000000" pitchFamily="2" charset="2"/>
              <a:buChar char="§"/>
            </a:pPr>
            <a:r>
              <a:rPr lang="en-US" sz="2400" b="1" dirty="0" err="1">
                <a:solidFill>
                  <a:srgbClr val="FF0000"/>
                </a:solidFill>
                <a:latin typeface="Times New Roman" panose="02020603050405020304" pitchFamily="18" charset="0"/>
                <a:cs typeface="Times New Roman" panose="02020603050405020304" pitchFamily="18" charset="0"/>
              </a:rPr>
              <a:t>Sản</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xuất</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vật</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chất</a:t>
            </a:r>
            <a:endParaRPr lang="en-US" sz="2400" b="1" dirty="0">
              <a:solidFill>
                <a:srgbClr val="FF0000"/>
              </a:solidFill>
              <a:latin typeface="Times New Roman" panose="02020603050405020304" pitchFamily="18" charset="0"/>
              <a:cs typeface="Times New Roman" panose="02020603050405020304" pitchFamily="18" charset="0"/>
            </a:endParaRPr>
          </a:p>
        </p:txBody>
      </p:sp>
      <p:sp>
        <p:nvSpPr>
          <p:cNvPr id="6" name="Rectangle 5"/>
          <p:cNvSpPr/>
          <p:nvPr/>
        </p:nvSpPr>
        <p:spPr>
          <a:xfrm>
            <a:off x="3624942" y="2383973"/>
            <a:ext cx="7728857" cy="79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spcBef>
                <a:spcPct val="50000"/>
              </a:spcBef>
            </a:pP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quá</a:t>
            </a:r>
            <a:r>
              <a:rPr lang="en-US" altLang="en-US" dirty="0">
                <a:latin typeface="Times New Roman" panose="02020603050405020304" pitchFamily="18" charset="0"/>
              </a:rPr>
              <a:t> </a:t>
            </a:r>
            <a:r>
              <a:rPr lang="en-US" altLang="en-US" dirty="0" err="1">
                <a:latin typeface="Times New Roman" panose="02020603050405020304" pitchFamily="18" charset="0"/>
              </a:rPr>
              <a:t>trình</a:t>
            </a:r>
            <a:r>
              <a:rPr lang="en-US" altLang="en-US" dirty="0">
                <a:latin typeface="Times New Roman" panose="02020603050405020304" pitchFamily="18" charset="0"/>
              </a:rPr>
              <a:t> con </a:t>
            </a:r>
            <a:r>
              <a:rPr lang="en-US" altLang="en-US" dirty="0" err="1">
                <a:latin typeface="Times New Roman" panose="02020603050405020304" pitchFamily="18" charset="0"/>
              </a:rPr>
              <a:t>người</a:t>
            </a:r>
            <a:r>
              <a:rPr lang="en-US" altLang="en-US" dirty="0">
                <a:latin typeface="Times New Roman" panose="02020603050405020304" pitchFamily="18" charset="0"/>
              </a:rPr>
              <a:t> </a:t>
            </a:r>
            <a:r>
              <a:rPr lang="en-US" altLang="en-US" dirty="0" err="1">
                <a:latin typeface="Times New Roman" panose="02020603050405020304" pitchFamily="18" charset="0"/>
              </a:rPr>
              <a:t>sử</a:t>
            </a:r>
            <a:r>
              <a:rPr lang="en-US" altLang="en-US" dirty="0">
                <a:latin typeface="Times New Roman" panose="02020603050405020304" pitchFamily="18" charset="0"/>
              </a:rPr>
              <a:t> </a:t>
            </a:r>
            <a:r>
              <a:rPr lang="en-US" altLang="en-US" dirty="0" err="1">
                <a:latin typeface="Times New Roman" panose="02020603050405020304" pitchFamily="18" charset="0"/>
              </a:rPr>
              <a:t>dụng</a:t>
            </a:r>
            <a:r>
              <a:rPr lang="en-US" altLang="en-US" dirty="0">
                <a:latin typeface="Times New Roman" panose="02020603050405020304" pitchFamily="18" charset="0"/>
              </a:rPr>
              <a:t> </a:t>
            </a:r>
            <a:r>
              <a:rPr lang="en-US" altLang="en-US" dirty="0" err="1">
                <a:latin typeface="Times New Roman" panose="02020603050405020304" pitchFamily="18" charset="0"/>
              </a:rPr>
              <a:t>công</a:t>
            </a:r>
            <a:r>
              <a:rPr lang="en-US" altLang="en-US" dirty="0">
                <a:latin typeface="Times New Roman" panose="02020603050405020304" pitchFamily="18" charset="0"/>
              </a:rPr>
              <a:t> </a:t>
            </a:r>
            <a:r>
              <a:rPr lang="en-US" altLang="en-US" dirty="0" err="1">
                <a:latin typeface="Times New Roman" panose="02020603050405020304" pitchFamily="18" charset="0"/>
              </a:rPr>
              <a:t>cụ</a:t>
            </a:r>
            <a:r>
              <a:rPr lang="en-US" altLang="en-US" dirty="0">
                <a:latin typeface="Times New Roman" panose="02020603050405020304" pitchFamily="18" charset="0"/>
              </a:rPr>
              <a:t> </a:t>
            </a:r>
            <a:r>
              <a:rPr lang="en-US" altLang="en-US" dirty="0" err="1">
                <a:latin typeface="Times New Roman" panose="02020603050405020304" pitchFamily="18" charset="0"/>
              </a:rPr>
              <a:t>lao</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tác</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trực</a:t>
            </a:r>
            <a:r>
              <a:rPr lang="en-US" altLang="en-US" dirty="0">
                <a:latin typeface="Times New Roman" panose="02020603050405020304" pitchFamily="18" charset="0"/>
              </a:rPr>
              <a:t> </a:t>
            </a:r>
            <a:r>
              <a:rPr lang="en-US" altLang="en-US" dirty="0" err="1">
                <a:latin typeface="Times New Roman" panose="02020603050405020304" pitchFamily="18" charset="0"/>
              </a:rPr>
              <a:t>tiếp</a:t>
            </a:r>
            <a:r>
              <a:rPr lang="en-US" altLang="en-US" dirty="0">
                <a:latin typeface="Times New Roman" panose="02020603050405020304" pitchFamily="18" charset="0"/>
              </a:rPr>
              <a:t>, </a:t>
            </a:r>
            <a:r>
              <a:rPr lang="en-US" altLang="en-US" dirty="0" err="1">
                <a:latin typeface="Times New Roman" panose="02020603050405020304" pitchFamily="18" charset="0"/>
              </a:rPr>
              <a:t>hoặc</a:t>
            </a:r>
            <a:r>
              <a:rPr lang="en-US" altLang="en-US" dirty="0">
                <a:latin typeface="Times New Roman" panose="02020603050405020304" pitchFamily="18" charset="0"/>
              </a:rPr>
              <a:t> </a:t>
            </a:r>
            <a:r>
              <a:rPr lang="en-US" altLang="en-US" dirty="0" err="1">
                <a:latin typeface="Times New Roman" panose="02020603050405020304" pitchFamily="18" charset="0"/>
              </a:rPr>
              <a:t>gián</a:t>
            </a:r>
            <a:r>
              <a:rPr lang="en-US" altLang="en-US" dirty="0">
                <a:latin typeface="Times New Roman" panose="02020603050405020304" pitchFamily="18" charset="0"/>
              </a:rPr>
              <a:t> </a:t>
            </a:r>
            <a:r>
              <a:rPr lang="en-US" altLang="en-US" dirty="0" err="1">
                <a:latin typeface="Times New Roman" panose="02020603050405020304" pitchFamily="18" charset="0"/>
              </a:rPr>
              <a:t>tiếp</a:t>
            </a:r>
            <a:r>
              <a:rPr lang="en-US" altLang="en-US" dirty="0">
                <a:latin typeface="Times New Roman" panose="02020603050405020304" pitchFamily="18" charset="0"/>
              </a:rPr>
              <a:t> </a:t>
            </a:r>
            <a:r>
              <a:rPr lang="en-US" altLang="en-US" dirty="0" err="1">
                <a:latin typeface="Times New Roman" panose="02020603050405020304" pitchFamily="18" charset="0"/>
              </a:rPr>
              <a:t>vào</a:t>
            </a:r>
            <a:r>
              <a:rPr lang="en-US" altLang="en-US" dirty="0">
                <a:latin typeface="Times New Roman" panose="02020603050405020304" pitchFamily="18" charset="0"/>
              </a:rPr>
              <a:t> </a:t>
            </a:r>
            <a:r>
              <a:rPr lang="en-US" altLang="en-US" dirty="0" err="1">
                <a:latin typeface="Times New Roman" panose="02020603050405020304" pitchFamily="18" charset="0"/>
              </a:rPr>
              <a:t>tự</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cải</a:t>
            </a:r>
            <a:r>
              <a:rPr lang="en-US" altLang="en-US" dirty="0">
                <a:latin typeface="Times New Roman" panose="02020603050405020304" pitchFamily="18" charset="0"/>
              </a:rPr>
              <a:t> </a:t>
            </a:r>
            <a:r>
              <a:rPr lang="en-US" altLang="en-US" dirty="0" err="1">
                <a:latin typeface="Times New Roman" panose="02020603050405020304" pitchFamily="18" charset="0"/>
              </a:rPr>
              <a:t>biến</a:t>
            </a:r>
            <a:r>
              <a:rPr lang="en-US" altLang="en-US" dirty="0">
                <a:latin typeface="Times New Roman" panose="02020603050405020304" pitchFamily="18" charset="0"/>
              </a:rPr>
              <a:t> </a:t>
            </a:r>
            <a:r>
              <a:rPr lang="en-US" altLang="en-US" dirty="0" err="1">
                <a:latin typeface="Times New Roman" panose="02020603050405020304" pitchFamily="18" charset="0"/>
              </a:rPr>
              <a:t>tự</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tạo</a:t>
            </a:r>
            <a:r>
              <a:rPr lang="en-US" altLang="en-US" dirty="0">
                <a:latin typeface="Times New Roman" panose="02020603050405020304" pitchFamily="18" charset="0"/>
              </a:rPr>
              <a:t> </a:t>
            </a:r>
            <a:r>
              <a:rPr lang="en-US" altLang="en-US" dirty="0" err="1">
                <a:latin typeface="Times New Roman" panose="02020603050405020304" pitchFamily="18" charset="0"/>
              </a:rPr>
              <a:t>ra</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cải</a:t>
            </a:r>
            <a:r>
              <a:rPr lang="en-US" altLang="en-US" dirty="0">
                <a:latin typeface="Times New Roman" panose="02020603050405020304" pitchFamily="18" charset="0"/>
              </a:rPr>
              <a:t> XH, </a:t>
            </a:r>
            <a:r>
              <a:rPr lang="en-US" altLang="en-US" dirty="0" err="1">
                <a:latin typeface="Times New Roman" panose="02020603050405020304" pitchFamily="18" charset="0"/>
              </a:rPr>
              <a:t>nhằm</a:t>
            </a:r>
            <a:r>
              <a:rPr lang="en-US" altLang="en-US" dirty="0">
                <a:latin typeface="Times New Roman" panose="02020603050405020304" pitchFamily="18" charset="0"/>
              </a:rPr>
              <a:t> </a:t>
            </a:r>
            <a:r>
              <a:rPr lang="en-US" altLang="en-US" dirty="0" err="1">
                <a:latin typeface="Times New Roman" panose="02020603050405020304" pitchFamily="18" charset="0"/>
              </a:rPr>
              <a:t>thỏa</a:t>
            </a:r>
            <a:r>
              <a:rPr lang="en-US" altLang="en-US" dirty="0">
                <a:latin typeface="Times New Roman" panose="02020603050405020304" pitchFamily="18" charset="0"/>
              </a:rPr>
              <a:t> </a:t>
            </a:r>
            <a:r>
              <a:rPr lang="en-US" altLang="en-US" dirty="0" err="1">
                <a:latin typeface="Times New Roman" panose="02020603050405020304" pitchFamily="18" charset="0"/>
              </a:rPr>
              <a:t>mãn</a:t>
            </a:r>
            <a:r>
              <a:rPr lang="en-US" altLang="en-US" dirty="0">
                <a:latin typeface="Times New Roman" panose="02020603050405020304" pitchFamily="18" charset="0"/>
              </a:rPr>
              <a:t> </a:t>
            </a:r>
            <a:r>
              <a:rPr lang="en-US" altLang="en-US" dirty="0" err="1">
                <a:latin typeface="Times New Roman" panose="02020603050405020304" pitchFamily="18" charset="0"/>
              </a:rPr>
              <a:t>nhu</a:t>
            </a:r>
            <a:r>
              <a:rPr lang="en-US" altLang="en-US" dirty="0">
                <a:latin typeface="Times New Roman" panose="02020603050405020304" pitchFamily="18" charset="0"/>
              </a:rPr>
              <a:t> </a:t>
            </a:r>
            <a:r>
              <a:rPr lang="en-US" altLang="en-US" dirty="0" err="1">
                <a:latin typeface="Times New Roman" panose="02020603050405020304" pitchFamily="18" charset="0"/>
              </a:rPr>
              <a:t>cầu</a:t>
            </a:r>
            <a:r>
              <a:rPr lang="en-US" altLang="en-US" dirty="0">
                <a:latin typeface="Times New Roman" panose="02020603050405020304" pitchFamily="18" charset="0"/>
              </a:rPr>
              <a:t> </a:t>
            </a:r>
            <a:r>
              <a:rPr lang="en-US" altLang="en-US" dirty="0" err="1">
                <a:latin typeface="Times New Roman" panose="02020603050405020304" pitchFamily="18" charset="0"/>
              </a:rPr>
              <a:t>tồn</a:t>
            </a:r>
            <a:r>
              <a:rPr lang="en-US" altLang="en-US" dirty="0">
                <a:latin typeface="Times New Roman" panose="02020603050405020304" pitchFamily="18" charset="0"/>
              </a:rPr>
              <a:t> </a:t>
            </a:r>
            <a:r>
              <a:rPr lang="en-US" altLang="en-US" dirty="0" err="1">
                <a:latin typeface="Times New Roman" panose="02020603050405020304" pitchFamily="18" charset="0"/>
              </a:rPr>
              <a:t>tại</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triển</a:t>
            </a:r>
            <a:r>
              <a:rPr lang="en-US" altLang="en-US" dirty="0">
                <a:latin typeface="Times New Roman" panose="02020603050405020304" pitchFamily="18" charset="0"/>
              </a:rPr>
              <a:t>.</a:t>
            </a:r>
            <a:endParaRPr lang="en-US" altLang="en-US" dirty="0">
              <a:latin typeface="Times New Roman" panose="02020603050405020304" pitchFamily="18" charset="0"/>
            </a:endParaRPr>
          </a:p>
        </p:txBody>
      </p:sp>
      <p:sp>
        <p:nvSpPr>
          <p:cNvPr id="7" name="Rectangle 6"/>
          <p:cNvSpPr/>
          <p:nvPr/>
        </p:nvSpPr>
        <p:spPr>
          <a:xfrm>
            <a:off x="3624943" y="3320144"/>
            <a:ext cx="5758542" cy="7184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tồn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người</a:t>
            </a:r>
            <a:endParaRPr lang="en-US" dirty="0">
              <a:latin typeface="Times New Roman" panose="02020603050405020304" pitchFamily="18" charset="0"/>
              <a:cs typeface="Times New Roman" panose="02020603050405020304" pitchFamily="18" charset="0"/>
            </a:endParaRPr>
          </a:p>
        </p:txBody>
      </p:sp>
      <p:sp>
        <p:nvSpPr>
          <p:cNvPr id="8" name="Rectangle 7"/>
          <p:cNvSpPr/>
          <p:nvPr/>
        </p:nvSpPr>
        <p:spPr>
          <a:xfrm>
            <a:off x="3624943" y="4180115"/>
            <a:ext cx="5192486" cy="685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mọi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lịch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con </a:t>
            </a:r>
            <a:r>
              <a:rPr lang="en-US" dirty="0" err="1">
                <a:latin typeface="Times New Roman" panose="02020603050405020304" pitchFamily="18" charset="0"/>
                <a:cs typeface="Times New Roman" panose="02020603050405020304" pitchFamily="18" charset="0"/>
              </a:rPr>
              <a:t>người</a:t>
            </a:r>
            <a:endParaRPr lang="en-US" dirty="0">
              <a:latin typeface="Times New Roman" panose="02020603050405020304" pitchFamily="18" charset="0"/>
              <a:cs typeface="Times New Roman" panose="02020603050405020304" pitchFamily="18" charset="0"/>
            </a:endParaRPr>
          </a:p>
        </p:txBody>
      </p:sp>
      <p:sp>
        <p:nvSpPr>
          <p:cNvPr id="9" name="Rectangle 8"/>
          <p:cNvSpPr/>
          <p:nvPr/>
        </p:nvSpPr>
        <p:spPr>
          <a:xfrm>
            <a:off x="3624943" y="4963885"/>
            <a:ext cx="5192486" cy="685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than con </a:t>
            </a:r>
            <a:r>
              <a:rPr lang="en-US" dirty="0" err="1">
                <a:latin typeface="Times New Roman" panose="02020603050405020304" pitchFamily="18" charset="0"/>
                <a:cs typeface="Times New Roman" panose="02020603050405020304" pitchFamily="18" charset="0"/>
              </a:rPr>
              <a:t>người</a:t>
            </a:r>
            <a:endParaRPr lang="en-US" dirty="0">
              <a:latin typeface="Times New Roman" panose="02020603050405020304" pitchFamily="18" charset="0"/>
              <a:cs typeface="Times New Roman" panose="02020603050405020304" pitchFamily="18" charset="0"/>
            </a:endParaRPr>
          </a:p>
        </p:txBody>
      </p:sp>
      <p:cxnSp>
        <p:nvCxnSpPr>
          <p:cNvPr id="11" name="Straight Arrow Connector 10"/>
          <p:cNvCxnSpPr>
            <a:stCxn id="5" idx="3"/>
          </p:cNvCxnSpPr>
          <p:nvPr/>
        </p:nvCxnSpPr>
        <p:spPr>
          <a:xfrm flipV="1">
            <a:off x="2808515" y="2786743"/>
            <a:ext cx="816428" cy="12518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a:stCxn id="5" idx="3"/>
            <a:endCxn id="7" idx="1"/>
          </p:cNvCxnSpPr>
          <p:nvPr/>
        </p:nvCxnSpPr>
        <p:spPr>
          <a:xfrm flipV="1">
            <a:off x="2808515" y="3679372"/>
            <a:ext cx="816428" cy="3592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a:off x="2808515" y="4038600"/>
            <a:ext cx="816428" cy="6749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5" idx="3"/>
            <a:endCxn id="9" idx="1"/>
          </p:cNvCxnSpPr>
          <p:nvPr/>
        </p:nvCxnSpPr>
        <p:spPr>
          <a:xfrm>
            <a:off x="2808515" y="4038600"/>
            <a:ext cx="816428" cy="12681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05046"/>
          </a:xfrm>
        </p:spPr>
        <p:txBody>
          <a:bodyPr/>
          <a:lstStyle/>
          <a:p>
            <a:endParaRPr lang="en-US" dirty="0"/>
          </a:p>
        </p:txBody>
      </p:sp>
      <p:sp>
        <p:nvSpPr>
          <p:cNvPr id="3" name="Rectangle 2"/>
          <p:cNvSpPr/>
          <p:nvPr/>
        </p:nvSpPr>
        <p:spPr>
          <a:xfrm>
            <a:off x="1611086" y="2601686"/>
            <a:ext cx="1230085" cy="18723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ctr">
              <a:buFont typeface="Wingdings" panose="05000000000000000000" pitchFamily="2" charset="2"/>
              <a:buChar char="v"/>
            </a:pPr>
            <a:r>
              <a:rPr lang="en-US" altLang="en-US" sz="1800" b="1" i="1" dirty="0" err="1">
                <a:solidFill>
                  <a:srgbClr val="FF0000"/>
                </a:solidFill>
                <a:latin typeface="Times New Roman" panose="02020603050405020304" pitchFamily="18" charset="0"/>
              </a:rPr>
              <a:t>Đặc</a:t>
            </a:r>
            <a:r>
              <a:rPr lang="en-US" altLang="en-US" sz="1800" b="1" i="1" dirty="0">
                <a:solidFill>
                  <a:srgbClr val="FF0000"/>
                </a:solidFill>
                <a:latin typeface="Times New Roman" panose="02020603050405020304" pitchFamily="18" charset="0"/>
              </a:rPr>
              <a:t> </a:t>
            </a:r>
            <a:r>
              <a:rPr lang="en-US" altLang="en-US" sz="1800" b="1" i="1" dirty="0" err="1">
                <a:solidFill>
                  <a:srgbClr val="FF0000"/>
                </a:solidFill>
                <a:latin typeface="Times New Roman" panose="02020603050405020304" pitchFamily="18" charset="0"/>
              </a:rPr>
              <a:t>trưng</a:t>
            </a:r>
            <a:r>
              <a:rPr lang="en-US" altLang="en-US" sz="1800" b="1" i="1" dirty="0">
                <a:solidFill>
                  <a:srgbClr val="FF0000"/>
                </a:solidFill>
                <a:latin typeface="Times New Roman" panose="02020603050405020304" pitchFamily="18" charset="0"/>
              </a:rPr>
              <a:t> </a:t>
            </a:r>
            <a:r>
              <a:rPr lang="en-US" altLang="en-US" sz="1800" b="1" i="1" dirty="0" err="1">
                <a:solidFill>
                  <a:srgbClr val="FF0000"/>
                </a:solidFill>
                <a:latin typeface="Times New Roman" panose="02020603050405020304" pitchFamily="18" charset="0"/>
              </a:rPr>
              <a:t>của</a:t>
            </a:r>
            <a:r>
              <a:rPr lang="en-US" altLang="en-US" sz="1800" b="1" i="1" dirty="0">
                <a:solidFill>
                  <a:srgbClr val="FF0000"/>
                </a:solidFill>
                <a:latin typeface="Times New Roman" panose="02020603050405020304" pitchFamily="18" charset="0"/>
              </a:rPr>
              <a:t> SX </a:t>
            </a:r>
            <a:r>
              <a:rPr lang="en-US" altLang="en-US" sz="1800" b="1" i="1" dirty="0" err="1">
                <a:solidFill>
                  <a:srgbClr val="FF0000"/>
                </a:solidFill>
                <a:latin typeface="Times New Roman" panose="02020603050405020304" pitchFamily="18" charset="0"/>
              </a:rPr>
              <a:t>vật</a:t>
            </a:r>
            <a:r>
              <a:rPr lang="en-US" altLang="en-US" sz="1800" b="1" i="1" dirty="0">
                <a:solidFill>
                  <a:srgbClr val="FF0000"/>
                </a:solidFill>
                <a:latin typeface="Times New Roman" panose="02020603050405020304" pitchFamily="18" charset="0"/>
              </a:rPr>
              <a:t> </a:t>
            </a:r>
            <a:r>
              <a:rPr lang="en-US" altLang="en-US" sz="1800" b="1" i="1" dirty="0" err="1">
                <a:solidFill>
                  <a:srgbClr val="FF0000"/>
                </a:solidFill>
                <a:latin typeface="Times New Roman" panose="02020603050405020304" pitchFamily="18" charset="0"/>
              </a:rPr>
              <a:t>chất</a:t>
            </a:r>
            <a:r>
              <a:rPr lang="en-US" altLang="en-US" sz="1800" dirty="0">
                <a:solidFill>
                  <a:srgbClr val="FF0000"/>
                </a:solidFill>
                <a:latin typeface="Times New Roman" panose="02020603050405020304" pitchFamily="18" charset="0"/>
              </a:rPr>
              <a:t>:</a:t>
            </a:r>
            <a:endParaRPr lang="en-US" dirty="0">
              <a:solidFill>
                <a:srgbClr val="FF0000"/>
              </a:solidFill>
            </a:endParaRPr>
          </a:p>
        </p:txBody>
      </p:sp>
      <p:sp>
        <p:nvSpPr>
          <p:cNvPr id="4" name="Rectangle: Rounded Corners 3"/>
          <p:cNvSpPr/>
          <p:nvPr/>
        </p:nvSpPr>
        <p:spPr>
          <a:xfrm>
            <a:off x="4082144" y="1741714"/>
            <a:ext cx="5486399" cy="102325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spcBef>
                <a:spcPct val="0"/>
              </a:spcBef>
              <a:buFontTx/>
              <a:buChar char="-"/>
            </a:pPr>
            <a:r>
              <a:rPr lang="en-US" altLang="en-US" sz="2400" dirty="0" err="1">
                <a:latin typeface="Times New Roman" panose="02020603050405020304" pitchFamily="18" charset="0"/>
              </a:rPr>
              <a:t>Là</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hoạt</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động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không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thể</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thiếu</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được</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của</a:t>
            </a:r>
            <a:r>
              <a:rPr lang="en-US" altLang="en-US" sz="2400" dirty="0">
                <a:latin typeface="Times New Roman" panose="02020603050405020304" pitchFamily="18" charset="0"/>
              </a:rPr>
              <a:t> con </a:t>
            </a:r>
            <a:r>
              <a:rPr lang="en-US" altLang="en-US" sz="2400" dirty="0" err="1">
                <a:latin typeface="Times New Roman" panose="02020603050405020304" pitchFamily="18" charset="0"/>
              </a:rPr>
              <a:t>người</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và</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xã</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hội</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loài</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người</a:t>
            </a:r>
            <a:endParaRPr lang="en-US" altLang="en-US" sz="2400" dirty="0">
              <a:latin typeface="Times New Roman" panose="02020603050405020304" pitchFamily="18" charset="0"/>
            </a:endParaRPr>
          </a:p>
        </p:txBody>
      </p:sp>
      <p:sp>
        <p:nvSpPr>
          <p:cNvPr id="5" name="Rectangle: Rounded Corners 4"/>
          <p:cNvSpPr/>
          <p:nvPr/>
        </p:nvSpPr>
        <p:spPr>
          <a:xfrm>
            <a:off x="4082144" y="3102430"/>
            <a:ext cx="5486399"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spcBef>
                <a:spcPct val="0"/>
              </a:spcBef>
              <a:buFontTx/>
              <a:buChar char="-"/>
            </a:pPr>
            <a:r>
              <a:rPr lang="en-US" altLang="en-US" sz="2400" dirty="0" err="1">
                <a:latin typeface="Times New Roman" panose="02020603050405020304" pitchFamily="18" charset="0"/>
              </a:rPr>
              <a:t>Là</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hành</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động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có</a:t>
            </a:r>
            <a:r>
              <a:rPr lang="en-US" altLang="en-US" sz="2400" dirty="0">
                <a:latin typeface="Times New Roman" panose="02020603050405020304" pitchFamily="18" charset="0"/>
              </a:rPr>
              <a:t> ý </a:t>
            </a:r>
            <a:r>
              <a:rPr lang="en-US" altLang="en-US" sz="2400" dirty="0" err="1">
                <a:latin typeface="Times New Roman" panose="02020603050405020304" pitchFamily="18" charset="0"/>
              </a:rPr>
              <a:t>thức</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có</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mục</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đích</a:t>
            </a:r>
            <a:r>
              <a:rPr lang="en-US" altLang="en-US" sz="2400" dirty="0">
                <a:latin typeface="Times New Roman" panose="02020603050405020304" pitchFamily="18" charset="0"/>
              </a:rPr>
              <a:t>.</a:t>
            </a:r>
            <a:endParaRPr lang="en-US" altLang="en-US" sz="2400" dirty="0">
              <a:latin typeface="Times New Roman" panose="02020603050405020304" pitchFamily="18" charset="0"/>
            </a:endParaRPr>
          </a:p>
        </p:txBody>
      </p:sp>
      <p:sp>
        <p:nvSpPr>
          <p:cNvPr id="6" name="Rectangle: Rounded Corners 5"/>
          <p:cNvSpPr/>
          <p:nvPr/>
        </p:nvSpPr>
        <p:spPr>
          <a:xfrm>
            <a:off x="4082144" y="4354289"/>
            <a:ext cx="6770913" cy="163285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spcBef>
                <a:spcPct val="0"/>
              </a:spcBef>
              <a:buNone/>
            </a:pPr>
            <a:r>
              <a:rPr lang="vi-VN" altLang="en-US" dirty="0">
                <a:latin typeface="Times New Roman" panose="02020603050405020304" pitchFamily="18" charset="0"/>
              </a:rPr>
              <a:t>- </a:t>
            </a:r>
            <a:r>
              <a:rPr lang="en-US" altLang="en-US" sz="2400" dirty="0" err="1">
                <a:latin typeface="Times New Roman" panose="02020603050405020304" pitchFamily="18" charset="0"/>
              </a:rPr>
              <a:t>Là</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hoạt</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động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có</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tính</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khách</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quan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tính</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xã</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hội</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tính</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lịch</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sử</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và</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tính</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sáng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tạo</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Qúa</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trình</a:t>
            </a:r>
            <a:r>
              <a:rPr lang="en-US" altLang="en-US" sz="2400" dirty="0">
                <a:latin typeface="Times New Roman" panose="02020603050405020304" pitchFamily="18" charset="0"/>
              </a:rPr>
              <a:t> SX </a:t>
            </a:r>
            <a:r>
              <a:rPr lang="en-US" altLang="en-US" sz="2400" dirty="0" err="1">
                <a:latin typeface="Times New Roman" panose="02020603050405020304" pitchFamily="18" charset="0"/>
              </a:rPr>
              <a:t>vật</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chất</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nào</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cũng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được</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tiến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hành</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theo</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những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cách</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thức</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xác</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định</a:t>
            </a:r>
            <a:r>
              <a:rPr lang="en-US" altLang="en-US" sz="2400" dirty="0">
                <a:latin typeface="Times New Roman" panose="02020603050405020304" pitchFamily="18" charset="0"/>
              </a:rPr>
              <a:t> (PTSX).</a:t>
            </a:r>
            <a:endParaRPr lang="en-US" altLang="en-US" sz="2400" dirty="0">
              <a:latin typeface="Times New Roman" panose="02020603050405020304" pitchFamily="18" charset="0"/>
            </a:endParaRPr>
          </a:p>
        </p:txBody>
      </p:sp>
      <p:cxnSp>
        <p:nvCxnSpPr>
          <p:cNvPr id="8" name="Straight Arrow Connector 7"/>
          <p:cNvCxnSpPr>
            <a:stCxn id="3" idx="3"/>
            <a:endCxn id="4" idx="1"/>
          </p:cNvCxnSpPr>
          <p:nvPr/>
        </p:nvCxnSpPr>
        <p:spPr>
          <a:xfrm flipV="1">
            <a:off x="2841171" y="2231571"/>
            <a:ext cx="1240973" cy="13062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p:cNvCxnSpPr>
            <a:endCxn id="5" idx="1"/>
          </p:cNvCxnSpPr>
          <p:nvPr/>
        </p:nvCxnSpPr>
        <p:spPr>
          <a:xfrm flipV="1">
            <a:off x="2852059" y="3559630"/>
            <a:ext cx="1230085" cy="21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a:off x="2841171" y="3635829"/>
            <a:ext cx="1240973" cy="12627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0948"/>
          </a:xfrm>
        </p:spPr>
        <p:txBody>
          <a:bodyPr>
            <a:normAutofit/>
          </a:bodyPr>
          <a:lstStyle/>
          <a:p>
            <a:pPr algn="just"/>
            <a:r>
              <a:rPr lang="en-US" sz="3200" b="1" dirty="0">
                <a:solidFill>
                  <a:srgbClr val="FF0000"/>
                </a:solidFill>
                <a:latin typeface="Times New Roman" panose="02020603050405020304" pitchFamily="18" charset="0"/>
                <a:cs typeface="Times New Roman" panose="02020603050405020304" pitchFamily="18" charset="0"/>
              </a:rPr>
              <a:t>2. </a:t>
            </a:r>
            <a:r>
              <a:rPr lang="en-US" sz="3200" b="1" dirty="0" err="1">
                <a:solidFill>
                  <a:srgbClr val="FF0000"/>
                </a:solidFill>
                <a:latin typeface="Times New Roman" panose="02020603050405020304" pitchFamily="18" charset="0"/>
                <a:cs typeface="Times New Roman" panose="02020603050405020304" pitchFamily="18" charset="0"/>
              </a:rPr>
              <a:t>Biện</a:t>
            </a:r>
            <a:r>
              <a:rPr lang="en-US" sz="3200" b="1" dirty="0">
                <a:solidFill>
                  <a:srgbClr val="FF0000"/>
                </a:solidFill>
                <a:latin typeface="Times New Roman" panose="02020603050405020304" pitchFamily="18" charset="0"/>
                <a:cs typeface="Times New Roman" panose="02020603050405020304" pitchFamily="18" charset="0"/>
              </a:rPr>
              <a:t> </a:t>
            </a:r>
            <a:r>
              <a:rPr lang="en-US" sz="3200" b="1" dirty="0" err="1">
                <a:solidFill>
                  <a:srgbClr val="FF0000"/>
                </a:solidFill>
                <a:latin typeface="Times New Roman" panose="02020603050405020304" pitchFamily="18" charset="0"/>
                <a:cs typeface="Times New Roman" panose="02020603050405020304" pitchFamily="18" charset="0"/>
              </a:rPr>
              <a:t>chứng</a:t>
            </a:r>
            <a:r>
              <a:rPr lang="en-US" sz="3200" b="1" dirty="0">
                <a:solidFill>
                  <a:srgbClr val="FF0000"/>
                </a:solidFill>
                <a:latin typeface="Times New Roman" panose="02020603050405020304" pitchFamily="18" charset="0"/>
                <a:cs typeface="Times New Roman" panose="02020603050405020304" pitchFamily="18" charset="0"/>
              </a:rPr>
              <a:t> </a:t>
            </a:r>
            <a:r>
              <a:rPr lang="en-US" sz="3200" b="1" dirty="0" err="1">
                <a:solidFill>
                  <a:srgbClr val="FF0000"/>
                </a:solidFill>
                <a:latin typeface="Times New Roman" panose="02020603050405020304" pitchFamily="18" charset="0"/>
                <a:cs typeface="Times New Roman" panose="02020603050405020304" pitchFamily="18" charset="0"/>
              </a:rPr>
              <a:t>giữa</a:t>
            </a:r>
            <a:r>
              <a:rPr lang="en-US" sz="3200" b="1" dirty="0">
                <a:solidFill>
                  <a:srgbClr val="FF0000"/>
                </a:solidFill>
                <a:latin typeface="Times New Roman" panose="02020603050405020304" pitchFamily="18" charset="0"/>
                <a:cs typeface="Times New Roman" panose="02020603050405020304" pitchFamily="18" charset="0"/>
              </a:rPr>
              <a:t> LLSX </a:t>
            </a:r>
            <a:r>
              <a:rPr lang="en-US" sz="3200" b="1" dirty="0" err="1">
                <a:solidFill>
                  <a:srgbClr val="FF0000"/>
                </a:solidFill>
                <a:latin typeface="Times New Roman" panose="02020603050405020304" pitchFamily="18" charset="0"/>
                <a:cs typeface="Times New Roman" panose="02020603050405020304" pitchFamily="18" charset="0"/>
              </a:rPr>
              <a:t>và</a:t>
            </a:r>
            <a:r>
              <a:rPr lang="en-US" sz="3200" b="1" dirty="0">
                <a:solidFill>
                  <a:srgbClr val="FF0000"/>
                </a:solidFill>
                <a:latin typeface="Times New Roman" panose="02020603050405020304" pitchFamily="18" charset="0"/>
                <a:cs typeface="Times New Roman" panose="02020603050405020304" pitchFamily="18" charset="0"/>
              </a:rPr>
              <a:t> QHSX</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36074"/>
            <a:ext cx="10515600" cy="5611090"/>
          </a:xfrm>
        </p:spPr>
        <p:txBody>
          <a:bodyPr/>
          <a:lstStyle/>
          <a:p>
            <a:pPr marL="514350" indent="-514350" algn="just">
              <a:spcBef>
                <a:spcPct val="0"/>
              </a:spcBef>
              <a:buFont typeface="+mj-lt"/>
              <a:buAutoNum type="alphaLcPeriod"/>
            </a:pPr>
            <a:r>
              <a:rPr lang="en-US" altLang="en-US" b="1" i="1" dirty="0" err="1">
                <a:solidFill>
                  <a:srgbClr val="FF0000"/>
                </a:solidFill>
                <a:latin typeface="Times New Roman" panose="02020603050405020304" pitchFamily="18" charset="0"/>
              </a:rPr>
              <a:t>Phương</a:t>
            </a:r>
            <a:r>
              <a:rPr lang="en-US" altLang="en-US" b="1" i="1" dirty="0">
                <a:solidFill>
                  <a:srgbClr val="FF0000"/>
                </a:solidFill>
                <a:latin typeface="Times New Roman" panose="02020603050405020304" pitchFamily="18" charset="0"/>
              </a:rPr>
              <a:t> </a:t>
            </a:r>
            <a:r>
              <a:rPr lang="en-US" altLang="en-US" b="1" i="1" dirty="0" err="1">
                <a:solidFill>
                  <a:srgbClr val="FF0000"/>
                </a:solidFill>
                <a:latin typeface="Times New Roman" panose="02020603050405020304" pitchFamily="18" charset="0"/>
              </a:rPr>
              <a:t>thức</a:t>
            </a:r>
            <a:r>
              <a:rPr lang="en-US" altLang="en-US" b="1" i="1" dirty="0">
                <a:solidFill>
                  <a:srgbClr val="FF0000"/>
                </a:solidFill>
                <a:latin typeface="Times New Roman" panose="02020603050405020304" pitchFamily="18" charset="0"/>
              </a:rPr>
              <a:t> </a:t>
            </a:r>
            <a:r>
              <a:rPr lang="en-US" altLang="en-US" b="1" i="1" dirty="0" err="1">
                <a:solidFill>
                  <a:srgbClr val="FF0000"/>
                </a:solidFill>
                <a:latin typeface="Times New Roman" panose="02020603050405020304" pitchFamily="18" charset="0"/>
              </a:rPr>
              <a:t>sản</a:t>
            </a:r>
            <a:r>
              <a:rPr lang="en-US" altLang="en-US" b="1" i="1" dirty="0">
                <a:solidFill>
                  <a:srgbClr val="FF0000"/>
                </a:solidFill>
                <a:latin typeface="Times New Roman" panose="02020603050405020304" pitchFamily="18" charset="0"/>
              </a:rPr>
              <a:t> </a:t>
            </a:r>
            <a:r>
              <a:rPr lang="en-US" altLang="en-US" b="1" i="1" dirty="0" err="1">
                <a:solidFill>
                  <a:srgbClr val="FF0000"/>
                </a:solidFill>
                <a:latin typeface="Times New Roman" panose="02020603050405020304" pitchFamily="18" charset="0"/>
              </a:rPr>
              <a:t>xuất</a:t>
            </a:r>
            <a:r>
              <a:rPr lang="en-US" altLang="en-US" b="1" dirty="0">
                <a:solidFill>
                  <a:srgbClr val="FF0000"/>
                </a:solidFill>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cách</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mà</a:t>
            </a:r>
            <a:r>
              <a:rPr lang="en-US" altLang="en-US" dirty="0">
                <a:latin typeface="Times New Roman" panose="02020603050405020304" pitchFamily="18" charset="0"/>
              </a:rPr>
              <a:t> con </a:t>
            </a:r>
            <a:r>
              <a:rPr lang="en-US" altLang="en-US" dirty="0" err="1">
                <a:latin typeface="Times New Roman" panose="02020603050405020304" pitchFamily="18" charset="0"/>
              </a:rPr>
              <a:t>người</a:t>
            </a:r>
            <a:r>
              <a:rPr lang="en-US" altLang="en-US" dirty="0">
                <a:latin typeface="Times New Roman" panose="02020603050405020304" pitchFamily="18" charset="0"/>
              </a:rPr>
              <a:t> </a:t>
            </a:r>
            <a:r>
              <a:rPr lang="en-US" altLang="en-US" dirty="0" err="1">
                <a:latin typeface="Times New Roman" panose="02020603050405020304" pitchFamily="18" charset="0"/>
              </a:rPr>
              <a:t>tiến</a:t>
            </a:r>
            <a:r>
              <a:rPr lang="en-US" altLang="en-US" dirty="0">
                <a:latin typeface="Times New Roman" panose="02020603050405020304" pitchFamily="18" charset="0"/>
              </a:rPr>
              <a:t> </a:t>
            </a:r>
            <a:r>
              <a:rPr lang="en-US" altLang="en-US" dirty="0" err="1">
                <a:latin typeface="Times New Roman" panose="02020603050405020304" pitchFamily="18" charset="0"/>
              </a:rPr>
              <a:t>hành</a:t>
            </a:r>
            <a:r>
              <a:rPr lang="en-US" altLang="en-US" dirty="0">
                <a:latin typeface="Times New Roman" panose="02020603050405020304" pitchFamily="18" charset="0"/>
              </a:rPr>
              <a:t> </a:t>
            </a:r>
            <a:r>
              <a:rPr lang="en-US" altLang="en-US" dirty="0" err="1">
                <a:latin typeface="Times New Roman" panose="02020603050405020304" pitchFamily="18" charset="0"/>
              </a:rPr>
              <a:t>quá</a:t>
            </a:r>
            <a:r>
              <a:rPr lang="en-US" altLang="en-US" dirty="0">
                <a:latin typeface="Times New Roman" panose="02020603050405020304" pitchFamily="18" charset="0"/>
              </a:rPr>
              <a:t> </a:t>
            </a:r>
            <a:r>
              <a:rPr lang="en-US" altLang="en-US" dirty="0" err="1">
                <a:latin typeface="Times New Roman" panose="02020603050405020304" pitchFamily="18" charset="0"/>
              </a:rPr>
              <a:t>trình</a:t>
            </a:r>
            <a:r>
              <a:rPr lang="en-US" altLang="en-US" dirty="0">
                <a:latin typeface="Times New Roman" panose="02020603050405020304" pitchFamily="18" charset="0"/>
              </a:rPr>
              <a:t> </a:t>
            </a:r>
            <a:r>
              <a:rPr lang="en-US" altLang="en-US" dirty="0" err="1">
                <a:latin typeface="Times New Roman" panose="02020603050405020304" pitchFamily="18" charset="0"/>
              </a:rPr>
              <a:t>sản</a:t>
            </a:r>
            <a:r>
              <a:rPr lang="en-US" altLang="en-US" dirty="0">
                <a:latin typeface="Times New Roman" panose="02020603050405020304" pitchFamily="18" charset="0"/>
              </a:rPr>
              <a:t> </a:t>
            </a:r>
            <a:r>
              <a:rPr lang="en-US" altLang="en-US" dirty="0" err="1">
                <a:latin typeface="Times New Roman" panose="02020603050405020304" pitchFamily="18" charset="0"/>
              </a:rPr>
              <a:t>xuất</a:t>
            </a:r>
            <a:r>
              <a:rPr lang="en-US" altLang="en-US" dirty="0">
                <a:latin typeface="Times New Roman" panose="02020603050405020304" pitchFamily="18" charset="0"/>
              </a:rPr>
              <a:t> </a:t>
            </a:r>
            <a:r>
              <a:rPr lang="vi-VN" altLang="en-US" dirty="0">
                <a:latin typeface="Times New Roman" panose="02020603050405020304" pitchFamily="18" charset="0"/>
              </a:rPr>
              <a:t>vật chất</a:t>
            </a:r>
            <a:r>
              <a:rPr lang="en-US" altLang="en-US" dirty="0">
                <a:latin typeface="Times New Roman" panose="02020603050405020304" pitchFamily="18" charset="0"/>
              </a:rPr>
              <a:t> ở </a:t>
            </a:r>
            <a:r>
              <a:rPr lang="en-US" altLang="en-US" dirty="0" err="1">
                <a:latin typeface="Times New Roman" panose="02020603050405020304" pitchFamily="18" charset="0"/>
              </a:rPr>
              <a:t>những</a:t>
            </a:r>
            <a:r>
              <a:rPr lang="en-US" altLang="en-US" dirty="0">
                <a:latin typeface="Times New Roman" panose="02020603050405020304" pitchFamily="18" charset="0"/>
              </a:rPr>
              <a:t> </a:t>
            </a:r>
            <a:r>
              <a:rPr lang="en-US" altLang="en-US" dirty="0" err="1">
                <a:latin typeface="Times New Roman" panose="02020603050405020304" pitchFamily="18" charset="0"/>
              </a:rPr>
              <a:t>giai</a:t>
            </a:r>
            <a:r>
              <a:rPr lang="en-US" altLang="en-US" dirty="0">
                <a:latin typeface="Times New Roman" panose="02020603050405020304" pitchFamily="18" charset="0"/>
              </a:rPr>
              <a:t> </a:t>
            </a:r>
            <a:r>
              <a:rPr lang="en-US" altLang="en-US" dirty="0" err="1">
                <a:latin typeface="Times New Roman" panose="02020603050405020304" pitchFamily="18" charset="0"/>
              </a:rPr>
              <a:t>đoạn</a:t>
            </a:r>
            <a:r>
              <a:rPr lang="en-US" altLang="en-US" dirty="0">
                <a:latin typeface="Times New Roman" panose="02020603050405020304" pitchFamily="18" charset="0"/>
              </a:rPr>
              <a:t> </a:t>
            </a:r>
            <a:r>
              <a:rPr lang="en-US" altLang="en-US" dirty="0" err="1">
                <a:latin typeface="Times New Roman" panose="02020603050405020304" pitchFamily="18" charset="0"/>
              </a:rPr>
              <a:t>lịch</a:t>
            </a:r>
            <a:r>
              <a:rPr lang="en-US" altLang="en-US" dirty="0">
                <a:latin typeface="Times New Roman" panose="02020603050405020304" pitchFamily="18" charset="0"/>
              </a:rPr>
              <a:t> </a:t>
            </a:r>
            <a:r>
              <a:rPr lang="en-US" altLang="en-US" dirty="0" err="1">
                <a:latin typeface="Times New Roman" panose="02020603050405020304" pitchFamily="18" charset="0"/>
              </a:rPr>
              <a:t>sử</a:t>
            </a:r>
            <a:r>
              <a:rPr lang="en-US" altLang="en-US" dirty="0">
                <a:latin typeface="Times New Roman" panose="02020603050405020304" pitchFamily="18" charset="0"/>
              </a:rPr>
              <a:t> </a:t>
            </a:r>
            <a:r>
              <a:rPr lang="en-US" altLang="en-US" dirty="0" err="1">
                <a:latin typeface="Times New Roman" panose="02020603050405020304" pitchFamily="18" charset="0"/>
              </a:rPr>
              <a:t>nhất</a:t>
            </a:r>
            <a:r>
              <a:rPr lang="en-US" altLang="en-US" dirty="0">
                <a:latin typeface="Times New Roman" panose="02020603050405020304" pitchFamily="18" charset="0"/>
              </a:rPr>
              <a:t> </a:t>
            </a:r>
            <a:r>
              <a:rPr lang="en-US" altLang="en-US" dirty="0" err="1">
                <a:latin typeface="Times New Roman" panose="02020603050405020304" pitchFamily="18" charset="0"/>
              </a:rPr>
              <a:t>định</a:t>
            </a:r>
            <a:r>
              <a:rPr lang="vi-VN" altLang="en-US" dirty="0" err="1">
                <a:latin typeface="Times New Roman" panose="02020603050405020304" pitchFamily="18" charset="0"/>
              </a:rPr>
              <a:t> của</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xã</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hội</a:t>
            </a:r>
            <a:r>
              <a:rPr lang="vi-VN" altLang="en-US" dirty="0" err="1">
                <a:latin typeface="Times New Roman" panose="02020603050405020304" pitchFamily="18" charset="0"/>
                <a:sym typeface="+mn-ea"/>
              </a:rPr>
              <a:t> loài người</a:t>
            </a:r>
            <a:endParaRPr lang="vi-VN" altLang="en-US" dirty="0" err="1">
              <a:latin typeface="Times New Roman" panose="02020603050405020304" pitchFamily="18" charset="0"/>
              <a:sym typeface="+mn-ea"/>
            </a:endParaRPr>
          </a:p>
          <a:p>
            <a:pPr marL="0" indent="0" algn="just">
              <a:spcBef>
                <a:spcPct val="0"/>
              </a:spcBef>
              <a:buFont typeface="+mj-lt"/>
              <a:buNone/>
            </a:pPr>
            <a:r>
              <a:rPr lang="vi-VN" altLang="en-US" dirty="0">
                <a:latin typeface="Times New Roman" panose="02020603050405020304" pitchFamily="18" charset="0"/>
                <a:cs typeface="Times New Roman" panose="02020603050405020304" pitchFamily="18" charset="0"/>
                <a:sym typeface="+mn-ea"/>
              </a:rPr>
              <a:t>      - PTSX là sự thống nhất giữa LLSX với trình độ nhất định và QHSX tương ứng.</a:t>
            </a:r>
            <a:endParaRPr lang="vi-VN" altLang="en-US" dirty="0">
              <a:latin typeface="Times New Roman" panose="02020603050405020304" pitchFamily="18" charset="0"/>
              <a:cs typeface="Times New Roman" panose="02020603050405020304" pitchFamily="18" charset="0"/>
            </a:endParaRPr>
          </a:p>
          <a:p>
            <a:pPr marL="0" indent="0" algn="just">
              <a:spcBef>
                <a:spcPct val="0"/>
              </a:spcBef>
              <a:buFont typeface="+mj-lt"/>
              <a:buNone/>
            </a:pPr>
            <a:endParaRPr lang="vi-VN" altLang="en-US" dirty="0" err="1">
              <a:latin typeface="Times New Roman" panose="02020603050405020304" pitchFamily="18" charset="0"/>
              <a:sym typeface="+mn-ea"/>
            </a:endParaRPr>
          </a:p>
          <a:p>
            <a:pPr marL="0" indent="0" algn="just">
              <a:spcBef>
                <a:spcPct val="0"/>
              </a:spcBef>
              <a:buFont typeface="+mj-lt"/>
              <a:buNone/>
            </a:pPr>
            <a:endParaRPr lang="en-US" altLang="en-US" dirty="0">
              <a:latin typeface="Times New Roman" panose="02020603050405020304" pitchFamily="18" charset="0"/>
            </a:endParaRPr>
          </a:p>
          <a:p>
            <a:pPr algn="just">
              <a:spcBef>
                <a:spcPct val="0"/>
              </a:spcBef>
              <a:buNone/>
            </a:pPr>
            <a:r>
              <a:rPr lang="en-US" altLang="en-US" dirty="0">
                <a:latin typeface="Times New Roman" panose="02020603050405020304" pitchFamily="18" charset="0"/>
              </a:rPr>
              <a:t>   </a:t>
            </a:r>
            <a:endParaRPr lang="en-US" altLang="en-US" dirty="0">
              <a:latin typeface="Times New Roman" panose="02020603050405020304" pitchFamily="18" charset="0"/>
            </a:endParaRPr>
          </a:p>
        </p:txBody>
      </p:sp>
      <p:sp>
        <p:nvSpPr>
          <p:cNvPr id="4" name="Rectangle 3"/>
          <p:cNvSpPr/>
          <p:nvPr/>
        </p:nvSpPr>
        <p:spPr>
          <a:xfrm>
            <a:off x="5236845" y="2792730"/>
            <a:ext cx="2383155" cy="6369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FF0000"/>
                </a:solidFill>
                <a:latin typeface="Times New Roman" panose="02020603050405020304" pitchFamily="18" charset="0"/>
                <a:cs typeface="Times New Roman" panose="02020603050405020304" pitchFamily="18" charset="0"/>
              </a:rPr>
              <a:t>PTSX</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5" name="Oval 4"/>
          <p:cNvSpPr/>
          <p:nvPr/>
        </p:nvSpPr>
        <p:spPr>
          <a:xfrm rot="10800000" flipV="1">
            <a:off x="2258059" y="3798571"/>
            <a:ext cx="2701925" cy="64135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000" b="1" i="1" dirty="0" err="1">
                <a:solidFill>
                  <a:srgbClr val="FF0000"/>
                </a:solidFill>
                <a:latin typeface="Times New Roman" panose="02020603050405020304" pitchFamily="18" charset="0"/>
              </a:rPr>
              <a:t>Phương</a:t>
            </a:r>
            <a:r>
              <a:rPr lang="en-US" altLang="en-US" sz="2000" b="1" i="1" dirty="0">
                <a:solidFill>
                  <a:srgbClr val="FF0000"/>
                </a:solidFill>
                <a:latin typeface="Times New Roman" panose="02020603050405020304" pitchFamily="18" charset="0"/>
              </a:rPr>
              <a:t> </a:t>
            </a:r>
            <a:r>
              <a:rPr lang="en-US" altLang="en-US" sz="2000" b="1" i="1" dirty="0" err="1">
                <a:solidFill>
                  <a:srgbClr val="FF0000"/>
                </a:solidFill>
                <a:latin typeface="Times New Roman" panose="02020603050405020304" pitchFamily="18" charset="0"/>
              </a:rPr>
              <a:t>diện</a:t>
            </a:r>
            <a:r>
              <a:rPr lang="en-US" altLang="en-US" sz="2000" b="1" dirty="0">
                <a:solidFill>
                  <a:srgbClr val="FF0000"/>
                </a:solidFill>
                <a:latin typeface="Times New Roman" panose="02020603050405020304" pitchFamily="18" charset="0"/>
              </a:rPr>
              <a:t> </a:t>
            </a:r>
            <a:r>
              <a:rPr lang="en-US" altLang="en-US" sz="2000" b="1" i="1" dirty="0" err="1">
                <a:solidFill>
                  <a:srgbClr val="FF0000"/>
                </a:solidFill>
                <a:latin typeface="Times New Roman" panose="02020603050405020304" pitchFamily="18" charset="0"/>
              </a:rPr>
              <a:t>kỹ</a:t>
            </a:r>
            <a:r>
              <a:rPr lang="en-US" altLang="en-US" sz="2000" b="1" i="1" dirty="0">
                <a:solidFill>
                  <a:srgbClr val="FF0000"/>
                </a:solidFill>
                <a:latin typeface="Times New Roman" panose="02020603050405020304" pitchFamily="18" charset="0"/>
              </a:rPr>
              <a:t> </a:t>
            </a:r>
            <a:r>
              <a:rPr lang="en-US" altLang="en-US" sz="2000" b="1" i="1" dirty="0" err="1">
                <a:solidFill>
                  <a:srgbClr val="FF0000"/>
                </a:solidFill>
                <a:latin typeface="Times New Roman" panose="02020603050405020304" pitchFamily="18" charset="0"/>
              </a:rPr>
              <a:t>thuật</a:t>
            </a:r>
            <a:endParaRPr lang="en-US" sz="2000" dirty="0">
              <a:solidFill>
                <a:srgbClr val="FF0000"/>
              </a:solidFill>
              <a:latin typeface="Times New Roman" panose="02020603050405020304" pitchFamily="18" charset="0"/>
              <a:cs typeface="Times New Roman" panose="02020603050405020304" pitchFamily="18" charset="0"/>
            </a:endParaRPr>
          </a:p>
        </p:txBody>
      </p:sp>
      <p:sp>
        <p:nvSpPr>
          <p:cNvPr id="6" name="Oval 5"/>
          <p:cNvSpPr/>
          <p:nvPr/>
        </p:nvSpPr>
        <p:spPr>
          <a:xfrm rot="10800000" flipV="1">
            <a:off x="8187690" y="3798570"/>
            <a:ext cx="2535555" cy="64135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000" b="1" i="1" dirty="0" err="1">
                <a:solidFill>
                  <a:srgbClr val="FF0000"/>
                </a:solidFill>
                <a:latin typeface="Times New Roman" panose="02020603050405020304" pitchFamily="18" charset="0"/>
              </a:rPr>
              <a:t>Phương</a:t>
            </a:r>
            <a:r>
              <a:rPr lang="en-US" altLang="en-US" sz="2000" b="1" i="1" dirty="0">
                <a:solidFill>
                  <a:srgbClr val="FF0000"/>
                </a:solidFill>
                <a:latin typeface="Times New Roman" panose="02020603050405020304" pitchFamily="18" charset="0"/>
              </a:rPr>
              <a:t> </a:t>
            </a:r>
            <a:r>
              <a:rPr lang="en-US" altLang="en-US" sz="2000" b="1" i="1" dirty="0" err="1">
                <a:solidFill>
                  <a:srgbClr val="FF0000"/>
                </a:solidFill>
                <a:latin typeface="Times New Roman" panose="02020603050405020304" pitchFamily="18" charset="0"/>
              </a:rPr>
              <a:t>diện</a:t>
            </a:r>
            <a:r>
              <a:rPr lang="en-US" altLang="en-US" sz="2000" b="1" dirty="0">
                <a:solidFill>
                  <a:srgbClr val="FF0000"/>
                </a:solidFill>
                <a:latin typeface="Times New Roman" panose="02020603050405020304" pitchFamily="18" charset="0"/>
              </a:rPr>
              <a:t> </a:t>
            </a:r>
            <a:r>
              <a:rPr lang="en-US" altLang="en-US" sz="2000" b="1" i="1" dirty="0" err="1">
                <a:solidFill>
                  <a:srgbClr val="FF0000"/>
                </a:solidFill>
                <a:latin typeface="Times New Roman" panose="02020603050405020304" pitchFamily="18" charset="0"/>
              </a:rPr>
              <a:t>kinh</a:t>
            </a:r>
            <a:r>
              <a:rPr lang="en-US" altLang="en-US" sz="2000" b="1" i="1" dirty="0">
                <a:solidFill>
                  <a:srgbClr val="FF0000"/>
                </a:solidFill>
                <a:latin typeface="Times New Roman" panose="02020603050405020304" pitchFamily="18" charset="0"/>
              </a:rPr>
              <a:t> </a:t>
            </a:r>
            <a:r>
              <a:rPr lang="en-US" altLang="en-US" sz="2000" b="1" i="1" dirty="0" err="1">
                <a:solidFill>
                  <a:srgbClr val="FF0000"/>
                </a:solidFill>
                <a:latin typeface="Times New Roman" panose="02020603050405020304" pitchFamily="18" charset="0"/>
              </a:rPr>
              <a:t>tế</a:t>
            </a:r>
            <a:endParaRPr lang="en-US" sz="2000"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rot="10800000" flipV="1">
            <a:off x="2258059" y="4440555"/>
            <a:ext cx="2701925" cy="15357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en-US" sz="2400" dirty="0" err="1">
                <a:solidFill>
                  <a:schemeClr val="tx1"/>
                </a:solidFill>
                <a:latin typeface="Times New Roman" panose="02020603050405020304" pitchFamily="18" charset="0"/>
              </a:rPr>
              <a:t>Chỉ</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cách</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thức</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kĩ</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thuật</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công</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nghệ</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của</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quá</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trình</a:t>
            </a:r>
            <a:r>
              <a:rPr lang="en-US" altLang="en-US" sz="2400" dirty="0">
                <a:solidFill>
                  <a:schemeClr val="tx1"/>
                </a:solidFill>
                <a:latin typeface="Times New Roman" panose="02020603050405020304" pitchFamily="18" charset="0"/>
              </a:rPr>
              <a:t> SX</a:t>
            </a:r>
            <a:endParaRPr lang="en-US" altLang="en-US" sz="2400" dirty="0">
              <a:solidFill>
                <a:schemeClr val="tx1"/>
              </a:solidFill>
              <a:latin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8" name="Rectangle 7"/>
          <p:cNvSpPr/>
          <p:nvPr/>
        </p:nvSpPr>
        <p:spPr>
          <a:xfrm rot="10800000" flipV="1">
            <a:off x="7966074" y="4441190"/>
            <a:ext cx="2978785" cy="153506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en-US" sz="2400" dirty="0" err="1">
                <a:solidFill>
                  <a:schemeClr val="tx1"/>
                </a:solidFill>
                <a:latin typeface="Times New Roman" panose="02020603050405020304" pitchFamily="18" charset="0"/>
              </a:rPr>
              <a:t>Chỉ</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cách</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thức</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tổ</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chức</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kinh</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tế</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của</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quá</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trình</a:t>
            </a:r>
            <a:r>
              <a:rPr lang="en-US" altLang="en-US" sz="2400" dirty="0">
                <a:solidFill>
                  <a:schemeClr val="tx1"/>
                </a:solidFill>
                <a:latin typeface="Times New Roman" panose="02020603050405020304" pitchFamily="18" charset="0"/>
              </a:rPr>
              <a:t> SX</a:t>
            </a:r>
            <a:endParaRPr lang="en-US" sz="2400" dirty="0"/>
          </a:p>
        </p:txBody>
      </p:sp>
      <p:cxnSp>
        <p:nvCxnSpPr>
          <p:cNvPr id="13" name="Straight Arrow Connector 12"/>
          <p:cNvCxnSpPr/>
          <p:nvPr/>
        </p:nvCxnSpPr>
        <p:spPr>
          <a:xfrm flipH="1">
            <a:off x="4234543" y="3429000"/>
            <a:ext cx="2220686" cy="3695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a:off x="6428423" y="3428365"/>
            <a:ext cx="3063920" cy="3695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6"/>
            <a:ext cx="10515600" cy="902018"/>
          </a:xfrm>
        </p:spPr>
        <p:txBody>
          <a:bodyPr>
            <a:noAutofit/>
          </a:bodyPr>
          <a:lstStyle/>
          <a:p>
            <a:pPr marL="457200" indent="-457200" algn="just">
              <a:buFont typeface="Wingdings" panose="05000000000000000000" charset="0"/>
              <a:buChar char="v"/>
            </a:pPr>
            <a:r>
              <a:rPr lang="en-US" altLang="en-US" sz="2400" b="1" i="1" dirty="0">
                <a:solidFill>
                  <a:srgbClr val="FF0000"/>
                </a:solidFill>
                <a:latin typeface="Times New Roman" panose="02020603050405020304" pitchFamily="18" charset="0"/>
                <a:sym typeface="+mn-ea"/>
              </a:rPr>
              <a:t>LLSX </a:t>
            </a:r>
            <a:r>
              <a:rPr lang="en-US" altLang="en-US" sz="2400" b="1" i="1" dirty="0" err="1">
                <a:solidFill>
                  <a:srgbClr val="FF0000"/>
                </a:solidFill>
                <a:latin typeface="Times New Roman" panose="02020603050405020304" pitchFamily="18" charset="0"/>
                <a:sym typeface="+mn-ea"/>
              </a:rPr>
              <a:t>là</a:t>
            </a:r>
            <a:r>
              <a:rPr lang="en-US" altLang="en-US" sz="2400" b="1" i="1" dirty="0">
                <a:solidFill>
                  <a:srgbClr val="FF0000"/>
                </a:solidFill>
                <a:latin typeface="Times New Roman" panose="02020603050405020304" pitchFamily="18" charset="0"/>
                <a:sym typeface="+mn-ea"/>
              </a:rPr>
              <a:t> </a:t>
            </a:r>
            <a:r>
              <a:rPr lang="vi-VN" altLang="en-US" sz="2400" b="1" i="1" dirty="0">
                <a:solidFill>
                  <a:srgbClr val="FF0000"/>
                </a:solidFill>
                <a:latin typeface="Times New Roman" panose="02020603050405020304" pitchFamily="18" charset="0"/>
                <a:sym typeface="+mn-ea"/>
              </a:rPr>
              <a:t>sự kết hợp giữa người lao động với TLSX, tạo ra sức SX và năng lực thực tiễn làm biến đổi các đối tượng vật chất của giới tự nhiên theo nhu cầu của con người và XH </a:t>
            </a:r>
            <a:endParaRPr lang="en-US" sz="2400" b="1" i="1" dirty="0">
              <a:solidFill>
                <a:srgbClr val="FF0000"/>
              </a:solidFill>
              <a:latin typeface="Times New Roman" panose="02020603050405020304" pitchFamily="18" charset="0"/>
              <a:cs typeface="Times New Roman" panose="02020603050405020304" pitchFamily="18" charset="0"/>
            </a:endParaRPr>
          </a:p>
        </p:txBody>
      </p:sp>
      <p:sp>
        <p:nvSpPr>
          <p:cNvPr id="6" name="Rounded Rectangle 5"/>
          <p:cNvSpPr/>
          <p:nvPr/>
        </p:nvSpPr>
        <p:spPr>
          <a:xfrm>
            <a:off x="4426585" y="1503726"/>
            <a:ext cx="2801529" cy="608103"/>
          </a:xfrm>
          <a:prstGeom prst="roundRect">
            <a:avLst/>
          </a:prstGeom>
          <a:solidFill>
            <a:schemeClr val="lt1"/>
          </a:solidFill>
        </p:spPr>
        <p:style>
          <a:lnRef idx="2">
            <a:schemeClr val="accent1"/>
          </a:lnRef>
          <a:fillRef idx="0">
            <a:srgbClr val="FFFFFF"/>
          </a:fillRef>
          <a:effectRef idx="0">
            <a:srgbClr val="FFFFFF"/>
          </a:effectRef>
          <a:fontRef idx="minor">
            <a:schemeClr val="dk1"/>
          </a:fontRef>
        </p:style>
        <p:txBody>
          <a:bodyPr rtlCol="0" anchor="ctr"/>
          <a:lstStyle/>
          <a:p>
            <a:pPr algn="ctr"/>
            <a:r>
              <a:rPr lang="vi-VN" altLang="en-US" sz="2400" b="1" dirty="0">
                <a:solidFill>
                  <a:srgbClr val="FF0000"/>
                </a:solidFill>
                <a:latin typeface="Times New Roman" panose="02020603050405020304" pitchFamily="18" charset="0"/>
                <a:cs typeface="Times New Roman" panose="02020603050405020304" pitchFamily="18" charset="0"/>
                <a:sym typeface="+mn-ea"/>
              </a:rPr>
              <a:t>L</a:t>
            </a:r>
            <a:r>
              <a:rPr lang="en-US" altLang="en-US" sz="2400" b="1" dirty="0" err="1">
                <a:solidFill>
                  <a:srgbClr val="FF0000"/>
                </a:solidFill>
                <a:latin typeface="Times New Roman" panose="02020603050405020304" pitchFamily="18" charset="0"/>
                <a:cs typeface="Times New Roman" panose="02020603050405020304" pitchFamily="18" charset="0"/>
                <a:sym typeface="+mn-ea"/>
              </a:rPr>
              <a:t>ực</a:t>
            </a:r>
            <a:r>
              <a:rPr lang="en-US" altLang="en-US" sz="2400" b="1" dirty="0">
                <a:solidFill>
                  <a:srgbClr val="FF0000"/>
                </a:solidFill>
                <a:latin typeface="Times New Roman" panose="02020603050405020304" pitchFamily="18" charset="0"/>
                <a:cs typeface="Times New Roman" panose="02020603050405020304" pitchFamily="18" charset="0"/>
                <a:sym typeface="+mn-ea"/>
              </a:rPr>
              <a:t> </a:t>
            </a:r>
            <a:r>
              <a:rPr lang="en-US" altLang="en-US" sz="2400" b="1" dirty="0" err="1">
                <a:solidFill>
                  <a:srgbClr val="FF0000"/>
                </a:solidFill>
                <a:latin typeface="Times New Roman" panose="02020603050405020304" pitchFamily="18" charset="0"/>
                <a:cs typeface="Times New Roman" panose="02020603050405020304" pitchFamily="18" charset="0"/>
                <a:sym typeface="+mn-ea"/>
              </a:rPr>
              <a:t>lượng</a:t>
            </a:r>
            <a:r>
              <a:rPr lang="en-US" altLang="en-US" sz="2400" b="1" dirty="0">
                <a:solidFill>
                  <a:srgbClr val="FF0000"/>
                </a:solidFill>
                <a:latin typeface="Times New Roman" panose="02020603050405020304" pitchFamily="18" charset="0"/>
                <a:cs typeface="Times New Roman" panose="02020603050405020304" pitchFamily="18" charset="0"/>
                <a:sym typeface="+mn-ea"/>
              </a:rPr>
              <a:t> </a:t>
            </a:r>
            <a:r>
              <a:rPr lang="en-US" altLang="en-US" sz="2400" b="1" dirty="0" err="1">
                <a:solidFill>
                  <a:srgbClr val="FF0000"/>
                </a:solidFill>
                <a:latin typeface="Times New Roman" panose="02020603050405020304" pitchFamily="18" charset="0"/>
                <a:cs typeface="Times New Roman" panose="02020603050405020304" pitchFamily="18" charset="0"/>
                <a:sym typeface="+mn-ea"/>
              </a:rPr>
              <a:t>sản</a:t>
            </a:r>
            <a:r>
              <a:rPr lang="en-US" altLang="en-US" sz="2400" b="1" dirty="0">
                <a:solidFill>
                  <a:srgbClr val="FF0000"/>
                </a:solidFill>
                <a:latin typeface="Times New Roman" panose="02020603050405020304" pitchFamily="18" charset="0"/>
                <a:cs typeface="Times New Roman" panose="02020603050405020304" pitchFamily="18" charset="0"/>
                <a:sym typeface="+mn-ea"/>
              </a:rPr>
              <a:t> </a:t>
            </a:r>
            <a:r>
              <a:rPr lang="en-US" altLang="en-US" sz="2400" b="1" dirty="0" err="1">
                <a:solidFill>
                  <a:srgbClr val="FF0000"/>
                </a:solidFill>
                <a:latin typeface="Times New Roman" panose="02020603050405020304" pitchFamily="18" charset="0"/>
                <a:cs typeface="Times New Roman" panose="02020603050405020304" pitchFamily="18" charset="0"/>
                <a:sym typeface="+mn-ea"/>
              </a:rPr>
              <a:t>xuất</a:t>
            </a:r>
            <a:endParaRPr lang="vi-VN" altLang="en-US" sz="2400" b="1" dirty="0">
              <a:solidFill>
                <a:srgbClr val="FF0000"/>
              </a:solidFill>
              <a:latin typeface="Times New Roman" panose="02020603050405020304" pitchFamily="18" charset="0"/>
              <a:cs typeface="Times New Roman" panose="02020603050405020304" pitchFamily="18" charset="0"/>
              <a:sym typeface="+mn-ea"/>
            </a:endParaRPr>
          </a:p>
        </p:txBody>
      </p:sp>
      <p:sp>
        <p:nvSpPr>
          <p:cNvPr id="7" name="Rounded Rectangle 6"/>
          <p:cNvSpPr/>
          <p:nvPr/>
        </p:nvSpPr>
        <p:spPr>
          <a:xfrm>
            <a:off x="1331595" y="3429000"/>
            <a:ext cx="3890010" cy="3063874"/>
          </a:xfrm>
          <a:prstGeom prst="roundRect">
            <a:avLst/>
          </a:prstGeom>
          <a:solidFill>
            <a:schemeClr val="lt1"/>
          </a:solidFill>
        </p:spPr>
        <p:style>
          <a:lnRef idx="2">
            <a:schemeClr val="accent1"/>
          </a:lnRef>
          <a:fillRef idx="0">
            <a:srgbClr val="FFFFFF"/>
          </a:fillRef>
          <a:effectRef idx="0">
            <a:srgbClr val="FFFFFF"/>
          </a:effectRef>
          <a:fontRef idx="minor">
            <a:schemeClr val="dk1"/>
          </a:fontRef>
        </p:style>
        <p:txBody>
          <a:bodyPr rtlCol="0" anchor="ctr"/>
          <a:lstStyle/>
          <a:p>
            <a:pPr marL="285750" indent="-285750" algn="just">
              <a:buFontTx/>
              <a:buChar char="-"/>
            </a:pPr>
            <a:r>
              <a:rPr lang="en-US" altLang="en-US" dirty="0">
                <a:latin typeface="Times New Roman" panose="02020603050405020304" pitchFamily="18" charset="0"/>
                <a:cs typeface="Times New Roman" panose="02020603050405020304" pitchFamily="18" charset="0"/>
              </a:rPr>
              <a:t>L</a:t>
            </a:r>
            <a:r>
              <a:rPr lang="vi-VN" altLang="en-US" dirty="0">
                <a:latin typeface="Times New Roman" panose="02020603050405020304" pitchFamily="18" charset="0"/>
                <a:cs typeface="Times New Roman" panose="02020603050405020304" pitchFamily="18" charset="0"/>
              </a:rPr>
              <a:t>à con người có tri thức, kinh nghiệm, kỹ năng lao động và năng lực sáng tạo nhất định trong quá trình SX</a:t>
            </a:r>
            <a:endParaRPr lang="en-US" altLang="en-US" dirty="0">
              <a:latin typeface="Times New Roman" panose="02020603050405020304" pitchFamily="18" charset="0"/>
              <a:cs typeface="Times New Roman" panose="02020603050405020304" pitchFamily="18" charset="0"/>
            </a:endParaRPr>
          </a:p>
          <a:p>
            <a:pPr marL="285750" indent="-285750" algn="just">
              <a:buFontTx/>
              <a:buChar char="-"/>
            </a:pPr>
            <a:r>
              <a:rPr lang="en-US" altLang="en-US" dirty="0">
                <a:latin typeface="Times New Roman" panose="02020603050405020304" pitchFamily="18" charset="0"/>
                <a:cs typeface="Times New Roman" panose="02020603050405020304" pitchFamily="18" charset="0"/>
                <a:sym typeface="+mn-ea"/>
              </a:rPr>
              <a:t>L</a:t>
            </a:r>
            <a:r>
              <a:rPr lang="vi-VN" altLang="en-US" dirty="0">
                <a:latin typeface="Times New Roman" panose="02020603050405020304" pitchFamily="18" charset="0"/>
                <a:cs typeface="Times New Roman" panose="02020603050405020304" pitchFamily="18" charset="0"/>
                <a:sym typeface="+mn-ea"/>
              </a:rPr>
              <a:t>à chủ thể sáng tạo, chủ thể tiêu dùng.</a:t>
            </a:r>
            <a:endParaRPr lang="en-US" altLang="en-US" dirty="0">
              <a:latin typeface="Times New Roman" panose="02020603050405020304" pitchFamily="18" charset="0"/>
              <a:cs typeface="Times New Roman" panose="02020603050405020304" pitchFamily="18" charset="0"/>
              <a:sym typeface="+mn-ea"/>
            </a:endParaRPr>
          </a:p>
          <a:p>
            <a:pPr marL="285750" indent="-285750" algn="just">
              <a:buFontTx/>
              <a:buChar char="-"/>
            </a:pPr>
            <a:r>
              <a:rPr lang="en-US" altLang="en-US" dirty="0" err="1">
                <a:latin typeface="Times New Roman" panose="02020603050405020304" pitchFamily="18" charset="0"/>
                <a:cs typeface="Times New Roman" panose="02020603050405020304" pitchFamily="18" charset="0"/>
                <a:sym typeface="+mn-ea"/>
              </a:rPr>
              <a:t>Là</a:t>
            </a:r>
            <a:r>
              <a:rPr lang="en-US" altLang="en-US" dirty="0">
                <a:latin typeface="Times New Roman" panose="02020603050405020304" pitchFamily="18" charset="0"/>
                <a:cs typeface="Times New Roman" panose="02020603050405020304" pitchFamily="18" charset="0"/>
                <a:sym typeface="+mn-ea"/>
              </a:rPr>
              <a:t> </a:t>
            </a:r>
            <a:r>
              <a:rPr lang="vi-VN" altLang="en-US" dirty="0">
                <a:latin typeface="Times New Roman" panose="02020603050405020304" pitchFamily="18" charset="0"/>
                <a:cs typeface="Times New Roman" panose="02020603050405020304" pitchFamily="18" charset="0"/>
                <a:sym typeface="+mn-ea"/>
              </a:rPr>
              <a:t>nguồn lực cơ bản, vô tận và đặc biệt của sx</a:t>
            </a:r>
            <a:endParaRPr lang="vi-VN" altLang="en-US" dirty="0">
              <a:latin typeface="Times New Roman" panose="02020603050405020304" pitchFamily="18" charset="0"/>
              <a:cs typeface="Times New Roman" panose="02020603050405020304" pitchFamily="18" charset="0"/>
            </a:endParaRPr>
          </a:p>
          <a:p>
            <a:pPr algn="just"/>
            <a:endParaRPr lang="vi-VN" altLang="en-US" dirty="0">
              <a:latin typeface="Times New Roman" panose="02020603050405020304" pitchFamily="18" charset="0"/>
              <a:cs typeface="Times New Roman" panose="02020603050405020304" pitchFamily="18" charset="0"/>
            </a:endParaRPr>
          </a:p>
        </p:txBody>
      </p:sp>
      <p:sp>
        <p:nvSpPr>
          <p:cNvPr id="8" name="Rounded Rectangle 7"/>
          <p:cNvSpPr/>
          <p:nvPr/>
        </p:nvSpPr>
        <p:spPr>
          <a:xfrm>
            <a:off x="5821045" y="3429000"/>
            <a:ext cx="5601970" cy="3200400"/>
          </a:xfrm>
          <a:prstGeom prst="roundRect">
            <a:avLst/>
          </a:prstGeom>
          <a:solidFill>
            <a:schemeClr val="lt1"/>
          </a:solidFill>
        </p:spPr>
        <p:style>
          <a:lnRef idx="2">
            <a:schemeClr val="accent1"/>
          </a:lnRef>
          <a:fillRef idx="0">
            <a:srgbClr val="FFFFFF"/>
          </a:fillRef>
          <a:effectRef idx="0">
            <a:srgbClr val="FFFFFF"/>
          </a:effectRef>
          <a:fontRef idx="minor">
            <a:schemeClr val="dk1"/>
          </a:fontRef>
        </p:style>
        <p:txBody>
          <a:bodyPr rtlCol="0" anchor="ctr"/>
          <a:lstStyle/>
          <a:p>
            <a:pPr algn="just"/>
            <a:endParaRPr lang="vi-VN" altLang="en-US" dirty="0">
              <a:latin typeface="Times New Roman" panose="02020603050405020304" pitchFamily="18" charset="0"/>
              <a:cs typeface="Times New Roman" panose="02020603050405020304" pitchFamily="18" charset="0"/>
            </a:endParaRPr>
          </a:p>
          <a:p>
            <a:pPr algn="just"/>
            <a:r>
              <a:rPr lang="vi-V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L</a:t>
            </a:r>
            <a:r>
              <a:rPr lang="vi-VN" altLang="en-US" dirty="0">
                <a:latin typeface="Times New Roman" panose="02020603050405020304" pitchFamily="18" charset="0"/>
                <a:cs typeface="Times New Roman" panose="02020603050405020304" pitchFamily="18" charset="0"/>
              </a:rPr>
              <a:t>à điều kiện vật chất cần thiết để tổ chức SX, gồm: Tư liệu lao động và đối tượng lao động.</a:t>
            </a:r>
            <a:endParaRPr lang="vi-VN" alt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vi-VN" altLang="en-US" dirty="0">
                <a:latin typeface="Times New Roman" panose="02020603050405020304" pitchFamily="18" charset="0"/>
                <a:cs typeface="Times New Roman" panose="02020603050405020304" pitchFamily="18" charset="0"/>
                <a:sym typeface="+mn-ea"/>
              </a:rPr>
              <a:t>Đối tượng lao động là những yếu tố vật chất của sx mà con người dùng tư liệu lao động tác động lên làm biến đổi chúng cho phù hợp với mục đích của mình.</a:t>
            </a:r>
            <a:endParaRPr lang="en-US" altLang="en-US" dirty="0">
              <a:latin typeface="Times New Roman" panose="02020603050405020304" pitchFamily="18" charset="0"/>
              <a:cs typeface="Times New Roman" panose="02020603050405020304" pitchFamily="18" charset="0"/>
              <a:sym typeface="+mn-ea"/>
            </a:endParaRPr>
          </a:p>
          <a:p>
            <a:pPr marL="285750" indent="-285750" algn="just">
              <a:buFont typeface="Arial" panose="020B0604020202020204" pitchFamily="34" charset="0"/>
              <a:buChar char="•"/>
            </a:pPr>
            <a:r>
              <a:rPr lang="vi-VN" altLang="en-US" dirty="0">
                <a:latin typeface="Times New Roman" panose="02020603050405020304" pitchFamily="18" charset="0"/>
                <a:cs typeface="Times New Roman" panose="02020603050405020304" pitchFamily="18" charset="0"/>
                <a:sym typeface="+mn-ea"/>
              </a:rPr>
              <a:t>Tư liệu lao động  là những yếu tố vật chất của sx mà con người dựa vào đó tác động lên đối tượng lao động nhằm biến đổi đối tượng lao động nhằm đáp ứng yêu cầu của mình</a:t>
            </a:r>
            <a:endParaRPr lang="vi-VN" altLang="en-US" dirty="0">
              <a:latin typeface="Times New Roman" panose="02020603050405020304" pitchFamily="18" charset="0"/>
              <a:cs typeface="Times New Roman" panose="02020603050405020304" pitchFamily="18" charset="0"/>
              <a:sym typeface="+mn-ea"/>
            </a:endParaRPr>
          </a:p>
          <a:p>
            <a:pPr marL="285750" indent="-285750" algn="just">
              <a:buFont typeface="Wingdings" panose="05000000000000000000" charset="0"/>
              <a:buChar char="Ø"/>
            </a:pPr>
            <a:endParaRPr lang="vi-VN"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vi-VN" altLang="en-US" dirty="0">
              <a:latin typeface="Times New Roman" panose="02020603050405020304" pitchFamily="18" charset="0"/>
              <a:cs typeface="Times New Roman" panose="02020603050405020304" pitchFamily="18" charset="0"/>
            </a:endParaRPr>
          </a:p>
        </p:txBody>
      </p:sp>
      <p:sp>
        <p:nvSpPr>
          <p:cNvPr id="3" name="Oval 2"/>
          <p:cNvSpPr/>
          <p:nvPr/>
        </p:nvSpPr>
        <p:spPr>
          <a:xfrm>
            <a:off x="6970396" y="2820897"/>
            <a:ext cx="3088003" cy="60810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err="1">
                <a:solidFill>
                  <a:srgbClr val="FF0000"/>
                </a:solidFill>
                <a:latin typeface="Times New Roman" panose="02020603050405020304" pitchFamily="18" charset="0"/>
                <a:cs typeface="Times New Roman" panose="02020603050405020304" pitchFamily="18" charset="0"/>
              </a:rPr>
              <a:t>Tư</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liệu</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sản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xuất</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11" name="Oval 10"/>
          <p:cNvSpPr/>
          <p:nvPr/>
        </p:nvSpPr>
        <p:spPr>
          <a:xfrm>
            <a:off x="1992086" y="2820897"/>
            <a:ext cx="2434499" cy="60810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err="1">
                <a:solidFill>
                  <a:srgbClr val="FF0000"/>
                </a:solidFill>
                <a:latin typeface="Times New Roman" panose="02020603050405020304" pitchFamily="18" charset="0"/>
                <a:cs typeface="Times New Roman" panose="02020603050405020304" pitchFamily="18" charset="0"/>
              </a:rPr>
              <a:t>Người</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lao</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động</a:t>
            </a:r>
            <a:endParaRPr lang="en-US" b="1" dirty="0">
              <a:solidFill>
                <a:srgbClr val="FF0000"/>
              </a:solidFill>
              <a:latin typeface="Times New Roman" panose="02020603050405020304" pitchFamily="18" charset="0"/>
              <a:cs typeface="Times New Roman" panose="02020603050405020304" pitchFamily="18" charset="0"/>
            </a:endParaRPr>
          </a:p>
        </p:txBody>
      </p:sp>
      <p:cxnSp>
        <p:nvCxnSpPr>
          <p:cNvPr id="13" name="Straight Arrow Connector 12"/>
          <p:cNvCxnSpPr>
            <a:stCxn id="6" idx="2"/>
            <a:endCxn id="11" idx="7"/>
          </p:cNvCxnSpPr>
          <p:nvPr/>
        </p:nvCxnSpPr>
        <p:spPr>
          <a:xfrm flipH="1">
            <a:off x="4070061" y="2111829"/>
            <a:ext cx="1757289" cy="7981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6" idx="2"/>
            <a:endCxn id="3" idx="1"/>
          </p:cNvCxnSpPr>
          <p:nvPr/>
        </p:nvCxnSpPr>
        <p:spPr>
          <a:xfrm>
            <a:off x="5827350" y="2111829"/>
            <a:ext cx="1595274" cy="7981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5734685"/>
          </a:xfrm>
        </p:spPr>
        <p:txBody>
          <a:bodyPr/>
          <a:lstStyle/>
          <a:p>
            <a:endParaRPr lang="en-US" dirty="0"/>
          </a:p>
        </p:txBody>
      </p:sp>
      <p:sp>
        <p:nvSpPr>
          <p:cNvPr id="5" name="Rounded Rectangle 4"/>
          <p:cNvSpPr/>
          <p:nvPr/>
        </p:nvSpPr>
        <p:spPr>
          <a:xfrm>
            <a:off x="5082540" y="668020"/>
            <a:ext cx="2090420" cy="1050925"/>
          </a:xfrm>
          <a:prstGeom prst="roundRect">
            <a:avLst/>
          </a:prstGeom>
          <a:solidFill>
            <a:schemeClr val="bg1"/>
          </a:solidFill>
        </p:spPr>
        <p:style>
          <a:lnRef idx="2">
            <a:schemeClr val="accent1"/>
          </a:lnRef>
          <a:fillRef idx="0">
            <a:srgbClr val="FFFFFF"/>
          </a:fillRef>
          <a:effectRef idx="0">
            <a:srgbClr val="FFFFFF"/>
          </a:effectRef>
          <a:fontRef idx="minor">
            <a:schemeClr val="dk1"/>
          </a:fontRef>
        </p:style>
        <p:txBody>
          <a:bodyPr rtlCol="0" anchor="ctr"/>
          <a:lstStyle/>
          <a:p>
            <a:pPr algn="ctr"/>
            <a:r>
              <a:rPr lang="vi-VN" altLang="en-US" sz="2800" b="1" dirty="0">
                <a:solidFill>
                  <a:srgbClr val="FF0000"/>
                </a:solidFill>
                <a:latin typeface="Times New Roman" panose="02020603050405020304" pitchFamily="18" charset="0"/>
                <a:cs typeface="Times New Roman" panose="02020603050405020304" pitchFamily="18" charset="0"/>
              </a:rPr>
              <a:t>TLLĐ</a:t>
            </a:r>
            <a:endParaRPr lang="vi-VN" altLang="en-US" sz="2800" b="1" dirty="0">
              <a:solidFill>
                <a:srgbClr val="FF0000"/>
              </a:solidFill>
              <a:latin typeface="Times New Roman" panose="02020603050405020304" pitchFamily="18" charset="0"/>
              <a:cs typeface="Times New Roman" panose="02020603050405020304" pitchFamily="18" charset="0"/>
            </a:endParaRPr>
          </a:p>
        </p:txBody>
      </p:sp>
      <p:sp>
        <p:nvSpPr>
          <p:cNvPr id="6" name="Rounded Rectangle 5"/>
          <p:cNvSpPr/>
          <p:nvPr/>
        </p:nvSpPr>
        <p:spPr>
          <a:xfrm>
            <a:off x="2380615" y="2542540"/>
            <a:ext cx="2917190" cy="3171825"/>
          </a:xfrm>
          <a:prstGeom prst="roundRect">
            <a:avLst/>
          </a:prstGeom>
          <a:solidFill>
            <a:schemeClr val="bg1"/>
          </a:solidFill>
        </p:spPr>
        <p:style>
          <a:lnRef idx="2">
            <a:schemeClr val="accent1"/>
          </a:lnRef>
          <a:fillRef idx="0">
            <a:srgbClr val="FFFFFF"/>
          </a:fillRef>
          <a:effectRef idx="0">
            <a:srgbClr val="FFFFFF"/>
          </a:effectRef>
          <a:fontRef idx="minor">
            <a:schemeClr val="dk1"/>
          </a:fontRef>
        </p:style>
        <p:txBody>
          <a:bodyPr rtlCol="0" anchor="ctr"/>
          <a:lstStyle/>
          <a:p>
            <a:pPr algn="just"/>
            <a:r>
              <a:rPr lang="en-US" b="1" dirty="0" err="1">
                <a:solidFill>
                  <a:srgbClr val="FF0000"/>
                </a:solidFill>
                <a:latin typeface="Times New Roman" panose="02020603050405020304" pitchFamily="18" charset="0"/>
                <a:cs typeface="Times New Roman" panose="02020603050405020304" pitchFamily="18" charset="0"/>
                <a:sym typeface="+mn-ea"/>
              </a:rPr>
              <a:t>Phương</a:t>
            </a:r>
            <a:r>
              <a:rPr lang="en-US" b="1" dirty="0">
                <a:solidFill>
                  <a:srgbClr val="FF0000"/>
                </a:solidFill>
                <a:latin typeface="Times New Roman" panose="02020603050405020304" pitchFamily="18" charset="0"/>
                <a:cs typeface="Times New Roman" panose="02020603050405020304" pitchFamily="18" charset="0"/>
                <a:sym typeface="+mn-ea"/>
              </a:rPr>
              <a:t> </a:t>
            </a:r>
            <a:r>
              <a:rPr lang="en-US" b="1" dirty="0" err="1">
                <a:solidFill>
                  <a:srgbClr val="FF0000"/>
                </a:solidFill>
                <a:latin typeface="Times New Roman" panose="02020603050405020304" pitchFamily="18" charset="0"/>
                <a:cs typeface="Times New Roman" panose="02020603050405020304" pitchFamily="18" charset="0"/>
                <a:sym typeface="+mn-ea"/>
              </a:rPr>
              <a:t>tiện</a:t>
            </a:r>
            <a:r>
              <a:rPr lang="en-US" b="1" dirty="0">
                <a:solidFill>
                  <a:srgbClr val="FF0000"/>
                </a:solidFill>
                <a:latin typeface="Times New Roman" panose="02020603050405020304" pitchFamily="18" charset="0"/>
                <a:cs typeface="Times New Roman" panose="02020603050405020304" pitchFamily="18" charset="0"/>
                <a:sym typeface="+mn-ea"/>
              </a:rPr>
              <a:t> </a:t>
            </a:r>
            <a:r>
              <a:rPr lang="en-US" b="1" dirty="0" err="1">
                <a:solidFill>
                  <a:srgbClr val="FF0000"/>
                </a:solidFill>
                <a:latin typeface="Times New Roman" panose="02020603050405020304" pitchFamily="18" charset="0"/>
                <a:cs typeface="Times New Roman" panose="02020603050405020304" pitchFamily="18" charset="0"/>
                <a:sym typeface="+mn-ea"/>
              </a:rPr>
              <a:t>lao</a:t>
            </a:r>
            <a:r>
              <a:rPr lang="en-US" b="1" dirty="0">
                <a:solidFill>
                  <a:srgbClr val="FF0000"/>
                </a:solidFill>
                <a:latin typeface="Times New Roman" panose="02020603050405020304" pitchFamily="18" charset="0"/>
                <a:cs typeface="Times New Roman" panose="02020603050405020304" pitchFamily="18" charset="0"/>
                <a:sym typeface="+mn-ea"/>
              </a:rPr>
              <a:t> </a:t>
            </a:r>
            <a:r>
              <a:rPr lang="en-US" b="1" dirty="0" err="1">
                <a:solidFill>
                  <a:srgbClr val="FF0000"/>
                </a:solidFill>
                <a:latin typeface="Times New Roman" panose="02020603050405020304" pitchFamily="18" charset="0"/>
                <a:cs typeface="Times New Roman" panose="02020603050405020304" pitchFamily="18" charset="0"/>
                <a:sym typeface="+mn-ea"/>
              </a:rPr>
              <a:t>động</a:t>
            </a:r>
            <a:r>
              <a:rPr lang="vi-VN" altLang="en-US" b="1" dirty="0" err="1">
                <a:solidFill>
                  <a:schemeClr val="tx1"/>
                </a:solidFill>
                <a:latin typeface="Times New Roman" panose="02020603050405020304" pitchFamily="18" charset="0"/>
                <a:cs typeface="Times New Roman" panose="02020603050405020304" pitchFamily="18" charset="0"/>
                <a:sym typeface="+mn-ea"/>
              </a:rPr>
              <a:t>: </a:t>
            </a:r>
            <a:r>
              <a:rPr lang="vi-VN" altLang="en-US" dirty="0" err="1">
                <a:solidFill>
                  <a:schemeClr val="tx1"/>
                </a:solidFill>
                <a:latin typeface="Times New Roman" panose="02020603050405020304" pitchFamily="18" charset="0"/>
                <a:cs typeface="Times New Roman" panose="02020603050405020304" pitchFamily="18" charset="0"/>
                <a:sym typeface="+mn-ea"/>
              </a:rPr>
              <a:t>là những yếu tố vật chất của sx, cùng với công cụ lao động mà con người sử dụng để tác động lên đối tượng lao động trong quá trình sx</a:t>
            </a:r>
            <a:endParaRPr lang="vi-VN" altLang="en-US" dirty="0" err="1">
              <a:solidFill>
                <a:schemeClr val="tx1"/>
              </a:solidFill>
              <a:latin typeface="Times New Roman" panose="02020603050405020304" pitchFamily="18" charset="0"/>
              <a:cs typeface="Times New Roman" panose="02020603050405020304" pitchFamily="18" charset="0"/>
              <a:sym typeface="+mn-ea"/>
            </a:endParaRPr>
          </a:p>
        </p:txBody>
      </p:sp>
      <p:sp>
        <p:nvSpPr>
          <p:cNvPr id="8" name="Rounded Rectangle 7"/>
          <p:cNvSpPr/>
          <p:nvPr/>
        </p:nvSpPr>
        <p:spPr>
          <a:xfrm>
            <a:off x="6758305" y="2596515"/>
            <a:ext cx="2980690" cy="3117850"/>
          </a:xfrm>
          <a:prstGeom prst="roundRect">
            <a:avLst/>
          </a:prstGeom>
          <a:solidFill>
            <a:schemeClr val="bg1"/>
          </a:solidFill>
        </p:spPr>
        <p:style>
          <a:lnRef idx="2">
            <a:schemeClr val="accent1"/>
          </a:lnRef>
          <a:fillRef idx="0">
            <a:srgbClr val="FFFFFF"/>
          </a:fillRef>
          <a:effectRef idx="0">
            <a:srgbClr val="FFFFFF"/>
          </a:effectRef>
          <a:fontRef idx="minor">
            <a:schemeClr val="dk1"/>
          </a:fontRef>
        </p:style>
        <p:txBody>
          <a:bodyPr rtlCol="0" anchor="ctr"/>
          <a:lstStyle/>
          <a:p>
            <a:pPr algn="just"/>
            <a:r>
              <a:rPr lang="en-US" b="1" dirty="0" err="1">
                <a:solidFill>
                  <a:srgbClr val="FF0000"/>
                </a:solidFill>
                <a:latin typeface="Times New Roman" panose="02020603050405020304" pitchFamily="18" charset="0"/>
                <a:cs typeface="Times New Roman" panose="02020603050405020304" pitchFamily="18" charset="0"/>
                <a:sym typeface="+mn-ea"/>
              </a:rPr>
              <a:t>Công</a:t>
            </a:r>
            <a:r>
              <a:rPr lang="en-US" b="1" dirty="0">
                <a:solidFill>
                  <a:srgbClr val="FF0000"/>
                </a:solidFill>
                <a:latin typeface="Times New Roman" panose="02020603050405020304" pitchFamily="18" charset="0"/>
                <a:cs typeface="Times New Roman" panose="02020603050405020304" pitchFamily="18" charset="0"/>
                <a:sym typeface="+mn-ea"/>
              </a:rPr>
              <a:t> </a:t>
            </a:r>
            <a:r>
              <a:rPr lang="en-US" b="1" dirty="0" err="1">
                <a:solidFill>
                  <a:srgbClr val="FF0000"/>
                </a:solidFill>
                <a:latin typeface="Times New Roman" panose="02020603050405020304" pitchFamily="18" charset="0"/>
                <a:cs typeface="Times New Roman" panose="02020603050405020304" pitchFamily="18" charset="0"/>
                <a:sym typeface="+mn-ea"/>
              </a:rPr>
              <a:t>cụ</a:t>
            </a:r>
            <a:r>
              <a:rPr lang="en-US" b="1" dirty="0">
                <a:solidFill>
                  <a:srgbClr val="FF0000"/>
                </a:solidFill>
                <a:latin typeface="Times New Roman" panose="02020603050405020304" pitchFamily="18" charset="0"/>
                <a:cs typeface="Times New Roman" panose="02020603050405020304" pitchFamily="18" charset="0"/>
                <a:sym typeface="+mn-ea"/>
              </a:rPr>
              <a:t> </a:t>
            </a:r>
            <a:r>
              <a:rPr lang="en-US" b="1" dirty="0" err="1">
                <a:solidFill>
                  <a:srgbClr val="FF0000"/>
                </a:solidFill>
                <a:latin typeface="Times New Roman" panose="02020603050405020304" pitchFamily="18" charset="0"/>
                <a:cs typeface="Times New Roman" panose="02020603050405020304" pitchFamily="18" charset="0"/>
                <a:sym typeface="+mn-ea"/>
              </a:rPr>
              <a:t>lao</a:t>
            </a:r>
            <a:r>
              <a:rPr lang="en-US" b="1" dirty="0">
                <a:solidFill>
                  <a:srgbClr val="FF0000"/>
                </a:solidFill>
                <a:latin typeface="Times New Roman" panose="02020603050405020304" pitchFamily="18" charset="0"/>
                <a:cs typeface="Times New Roman" panose="02020603050405020304" pitchFamily="18" charset="0"/>
                <a:sym typeface="+mn-ea"/>
              </a:rPr>
              <a:t> </a:t>
            </a:r>
            <a:r>
              <a:rPr lang="en-US" b="1" dirty="0" err="1">
                <a:solidFill>
                  <a:srgbClr val="FF0000"/>
                </a:solidFill>
                <a:latin typeface="Times New Roman" panose="02020603050405020304" pitchFamily="18" charset="0"/>
                <a:cs typeface="Times New Roman" panose="02020603050405020304" pitchFamily="18" charset="0"/>
                <a:sym typeface="+mn-ea"/>
              </a:rPr>
              <a:t>động</a:t>
            </a:r>
            <a:r>
              <a:rPr lang="vi-VN" altLang="en-US" b="1" dirty="0" err="1">
                <a:solidFill>
                  <a:schemeClr val="tx1"/>
                </a:solidFill>
                <a:latin typeface="Times New Roman" panose="02020603050405020304" pitchFamily="18" charset="0"/>
                <a:cs typeface="Times New Roman" panose="02020603050405020304" pitchFamily="18" charset="0"/>
                <a:sym typeface="+mn-ea"/>
              </a:rPr>
              <a:t>: </a:t>
            </a:r>
            <a:r>
              <a:rPr lang="vi-VN" altLang="en-US" dirty="0" err="1">
                <a:solidFill>
                  <a:schemeClr val="tx1"/>
                </a:solidFill>
                <a:latin typeface="Times New Roman" panose="02020603050405020304" pitchFamily="18" charset="0"/>
                <a:cs typeface="Times New Roman" panose="02020603050405020304" pitchFamily="18" charset="0"/>
                <a:sym typeface="+mn-ea"/>
              </a:rPr>
              <a:t>là những phương tiện vật chất mà con người trực tiếp sử dụng để tác động vào đối tượng lao động nhằm biến đổi chúng, tạo ra của cải vật chất phục vụ con người</a:t>
            </a:r>
            <a:endParaRPr lang="en-US" b="1" dirty="0">
              <a:solidFill>
                <a:schemeClr val="tx1"/>
              </a:solidFill>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cxnSp>
        <p:nvCxnSpPr>
          <p:cNvPr id="9" name="Straight Arrow Connector 8"/>
          <p:cNvCxnSpPr>
            <a:stCxn id="5" idx="2"/>
            <a:endCxn id="6" idx="0"/>
          </p:cNvCxnSpPr>
          <p:nvPr/>
        </p:nvCxnSpPr>
        <p:spPr>
          <a:xfrm flipH="1">
            <a:off x="3839210" y="1718945"/>
            <a:ext cx="2288540" cy="8235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Straight Arrow Connector 9"/>
          <p:cNvCxnSpPr>
            <a:stCxn id="5" idx="2"/>
            <a:endCxn id="8" idx="0"/>
          </p:cNvCxnSpPr>
          <p:nvPr/>
        </p:nvCxnSpPr>
        <p:spPr>
          <a:xfrm>
            <a:off x="6127750" y="1718945"/>
            <a:ext cx="2120900" cy="87757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68332"/>
          </a:xfrm>
        </p:spPr>
        <p:txBody>
          <a:bodyPr/>
          <a:lstStyle/>
          <a:p>
            <a:endParaRPr lang="en-US" dirty="0"/>
          </a:p>
        </p:txBody>
      </p:sp>
      <p:sp>
        <p:nvSpPr>
          <p:cNvPr id="3" name="Rectangle: Rounded Corners 2"/>
          <p:cNvSpPr/>
          <p:nvPr/>
        </p:nvSpPr>
        <p:spPr>
          <a:xfrm>
            <a:off x="1110343" y="365125"/>
            <a:ext cx="6694714" cy="7452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endParaRPr lang="en-US" altLang="en-US" sz="1800" dirty="0">
              <a:latin typeface="Times New Roman" panose="02020603050405020304" pitchFamily="18" charset="0"/>
              <a:cs typeface="Times New Roman" panose="02020603050405020304" pitchFamily="18" charset="0"/>
            </a:endParaRPr>
          </a:p>
          <a:p>
            <a:pPr algn="just"/>
            <a:r>
              <a:rPr lang="en-US" altLang="en-US" sz="1800" dirty="0">
                <a:solidFill>
                  <a:srgbClr val="FF0000"/>
                </a:solidFill>
                <a:latin typeface="Times New Roman" panose="02020603050405020304" pitchFamily="18" charset="0"/>
                <a:cs typeface="Times New Roman" panose="02020603050405020304" pitchFamily="18" charset="0"/>
              </a:rPr>
              <a:t>- </a:t>
            </a:r>
            <a:r>
              <a:rPr lang="vi-VN" altLang="en-US" sz="1800" dirty="0">
                <a:solidFill>
                  <a:srgbClr val="FF0000"/>
                </a:solidFill>
                <a:latin typeface="Times New Roman" panose="02020603050405020304" pitchFamily="18" charset="0"/>
                <a:cs typeface="Times New Roman" panose="02020603050405020304" pitchFamily="18" charset="0"/>
              </a:rPr>
              <a:t>Đặc trưng chủ yếu của LLSX là mối quan hệ giữa người lao động và công cụ lao động, trong đó </a:t>
            </a:r>
            <a:r>
              <a:rPr lang="vi-VN" altLang="en-US" sz="1800" dirty="0">
                <a:solidFill>
                  <a:srgbClr val="FF0000"/>
                </a:solidFill>
                <a:latin typeface="Times New Roman" panose="02020603050405020304" pitchFamily="18" charset="0"/>
                <a:cs typeface="Times New Roman" panose="02020603050405020304" pitchFamily="18" charset="0"/>
                <a:sym typeface="+mn-ea"/>
              </a:rPr>
              <a:t>người lao động giữ vai trò quyết định</a:t>
            </a:r>
            <a:r>
              <a:rPr lang="vi-VN" altLang="en-US" sz="1800" dirty="0">
                <a:latin typeface="Times New Roman" panose="02020603050405020304" pitchFamily="18" charset="0"/>
                <a:cs typeface="Times New Roman" panose="02020603050405020304" pitchFamily="18" charset="0"/>
                <a:sym typeface="+mn-ea"/>
              </a:rPr>
              <a:t>.</a:t>
            </a:r>
            <a:br>
              <a:rPr lang="vi-VN" altLang="en-US" sz="1800" dirty="0">
                <a:latin typeface="Times New Roman" panose="02020603050405020304" pitchFamily="18" charset="0"/>
                <a:cs typeface="Times New Roman" panose="02020603050405020304" pitchFamily="18" charset="0"/>
                <a:sym typeface="+mn-ea"/>
              </a:rPr>
            </a:br>
            <a:endParaRPr lang="en-US" dirty="0"/>
          </a:p>
        </p:txBody>
      </p:sp>
      <p:sp>
        <p:nvSpPr>
          <p:cNvPr id="4" name="Rectangle: Rounded Corners 3"/>
          <p:cNvSpPr/>
          <p:nvPr/>
        </p:nvSpPr>
        <p:spPr>
          <a:xfrm>
            <a:off x="2351313" y="1219199"/>
            <a:ext cx="8142516"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altLang="en-US" sz="1800" dirty="0">
                <a:solidFill>
                  <a:srgbClr val="FF0000"/>
                </a:solidFill>
                <a:latin typeface="Times New Roman" panose="02020603050405020304" pitchFamily="18" charset="0"/>
                <a:sym typeface="+mn-ea"/>
              </a:rPr>
              <a:t>- </a:t>
            </a:r>
            <a:r>
              <a:rPr lang="vi-VN" altLang="en-US" sz="1800" dirty="0">
                <a:solidFill>
                  <a:srgbClr val="FF0000"/>
                </a:solidFill>
                <a:latin typeface="Times New Roman" panose="02020603050405020304" pitchFamily="18" charset="0"/>
                <a:sym typeface="+mn-ea"/>
              </a:rPr>
              <a:t>T</a:t>
            </a:r>
            <a:r>
              <a:rPr lang="en-US" altLang="en-US" sz="1800" dirty="0" err="1">
                <a:solidFill>
                  <a:srgbClr val="FF0000"/>
                </a:solidFill>
                <a:latin typeface="Times New Roman" panose="02020603050405020304" pitchFamily="18" charset="0"/>
                <a:sym typeface="+mn-ea"/>
              </a:rPr>
              <a:t>rong</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đó</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công</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cụ</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lao</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động</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là</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yếu</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tố</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động</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cách</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mạng</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và</a:t>
            </a:r>
            <a:r>
              <a:rPr lang="en-US" altLang="en-US" sz="1800" dirty="0">
                <a:solidFill>
                  <a:srgbClr val="FF0000"/>
                </a:solidFill>
                <a:latin typeface="Times New Roman" panose="02020603050405020304" pitchFamily="18" charset="0"/>
                <a:sym typeface="+mn-ea"/>
              </a:rPr>
              <a:t> </a:t>
            </a:r>
            <a:r>
              <a:rPr lang="en-US" altLang="en-US" sz="1800" i="1" dirty="0" err="1">
                <a:solidFill>
                  <a:srgbClr val="FF0000"/>
                </a:solidFill>
                <a:latin typeface="Times New Roman" panose="02020603050405020304" pitchFamily="18" charset="0"/>
                <a:sym typeface="+mn-ea"/>
              </a:rPr>
              <a:t>quan</a:t>
            </a:r>
            <a:r>
              <a:rPr lang="en-US" altLang="en-US" sz="1800" i="1" dirty="0">
                <a:solidFill>
                  <a:srgbClr val="FF0000"/>
                </a:solidFill>
                <a:latin typeface="Times New Roman" panose="02020603050405020304" pitchFamily="18" charset="0"/>
                <a:sym typeface="+mn-ea"/>
              </a:rPr>
              <a:t> </a:t>
            </a:r>
            <a:r>
              <a:rPr lang="en-US" altLang="en-US" sz="1800" i="1" dirty="0" err="1">
                <a:solidFill>
                  <a:srgbClr val="FF0000"/>
                </a:solidFill>
                <a:latin typeface="Times New Roman" panose="02020603050405020304" pitchFamily="18" charset="0"/>
                <a:sym typeface="+mn-ea"/>
              </a:rPr>
              <a:t>trọng</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nhất</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là</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thước</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đo</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trình</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độ</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chinh</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phục</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tự</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nhiên</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của</a:t>
            </a:r>
            <a:r>
              <a:rPr lang="en-US" altLang="en-US" sz="1800" dirty="0">
                <a:solidFill>
                  <a:srgbClr val="FF0000"/>
                </a:solidFill>
                <a:latin typeface="Times New Roman" panose="02020603050405020304" pitchFamily="18" charset="0"/>
                <a:sym typeface="+mn-ea"/>
              </a:rPr>
              <a:t> con </a:t>
            </a:r>
            <a:r>
              <a:rPr lang="en-US" altLang="en-US" sz="1800" dirty="0" err="1">
                <a:solidFill>
                  <a:srgbClr val="FF0000"/>
                </a:solidFill>
                <a:latin typeface="Times New Roman" panose="02020603050405020304" pitchFamily="18" charset="0"/>
                <a:sym typeface="+mn-ea"/>
              </a:rPr>
              <a:t>người</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là</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tiêu</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chuẩn</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phân</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biệt</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các</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thời</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đại</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kinh</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tế</a:t>
            </a:r>
            <a:r>
              <a:rPr lang="en-US" altLang="en-US" sz="1800" dirty="0">
                <a:solidFill>
                  <a:srgbClr val="FF0000"/>
                </a:solidFill>
                <a:latin typeface="Times New Roman" panose="02020603050405020304" pitchFamily="18" charset="0"/>
                <a:sym typeface="+mn-ea"/>
              </a:rPr>
              <a:t>). Song, </a:t>
            </a:r>
            <a:r>
              <a:rPr lang="en-US" altLang="en-US" sz="1800" dirty="0" err="1">
                <a:solidFill>
                  <a:srgbClr val="FF0000"/>
                </a:solidFill>
                <a:latin typeface="Times New Roman" panose="02020603050405020304" pitchFamily="18" charset="0"/>
                <a:sym typeface="+mn-ea"/>
              </a:rPr>
              <a:t>nhân</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tố</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người</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lao</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động</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mới</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là</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nhân</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tố</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giữ</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vai</a:t>
            </a:r>
            <a:r>
              <a:rPr lang="en-US" altLang="en-US" sz="1800" dirty="0">
                <a:solidFill>
                  <a:srgbClr val="FF0000"/>
                </a:solidFill>
                <a:latin typeface="Times New Roman" panose="02020603050405020304" pitchFamily="18" charset="0"/>
                <a:sym typeface="+mn-ea"/>
              </a:rPr>
              <a:t> </a:t>
            </a:r>
            <a:r>
              <a:rPr lang="en-US" altLang="en-US" sz="1800" dirty="0" err="1">
                <a:solidFill>
                  <a:srgbClr val="FF0000"/>
                </a:solidFill>
                <a:latin typeface="Times New Roman" panose="02020603050405020304" pitchFamily="18" charset="0"/>
                <a:sym typeface="+mn-ea"/>
              </a:rPr>
              <a:t>trò</a:t>
            </a:r>
            <a:r>
              <a:rPr lang="en-US" altLang="en-US" sz="1800" dirty="0">
                <a:solidFill>
                  <a:srgbClr val="FF0000"/>
                </a:solidFill>
                <a:latin typeface="Times New Roman" panose="02020603050405020304" pitchFamily="18" charset="0"/>
                <a:sym typeface="+mn-ea"/>
              </a:rPr>
              <a:t> </a:t>
            </a:r>
            <a:r>
              <a:rPr lang="en-US" altLang="en-US" sz="1800" i="1" dirty="0" err="1">
                <a:solidFill>
                  <a:srgbClr val="FF0000"/>
                </a:solidFill>
                <a:latin typeface="Times New Roman" panose="02020603050405020304" pitchFamily="18" charset="0"/>
                <a:sym typeface="+mn-ea"/>
              </a:rPr>
              <a:t>quyết</a:t>
            </a:r>
            <a:r>
              <a:rPr lang="en-US" altLang="en-US" sz="1800" i="1" dirty="0">
                <a:solidFill>
                  <a:srgbClr val="FF0000"/>
                </a:solidFill>
                <a:latin typeface="Times New Roman" panose="02020603050405020304" pitchFamily="18" charset="0"/>
                <a:sym typeface="+mn-ea"/>
              </a:rPr>
              <a:t> </a:t>
            </a:r>
            <a:r>
              <a:rPr lang="en-US" altLang="en-US" sz="1800" i="1" dirty="0" err="1">
                <a:solidFill>
                  <a:srgbClr val="FF0000"/>
                </a:solidFill>
                <a:latin typeface="Times New Roman" panose="02020603050405020304" pitchFamily="18" charset="0"/>
                <a:sym typeface="+mn-ea"/>
              </a:rPr>
              <a:t>định</a:t>
            </a:r>
            <a:r>
              <a:rPr lang="en-US" altLang="en-US" sz="1800" dirty="0">
                <a:solidFill>
                  <a:srgbClr val="FF0000"/>
                </a:solidFill>
                <a:latin typeface="Times New Roman" panose="02020603050405020304" pitchFamily="18" charset="0"/>
                <a:sym typeface="+mn-ea"/>
              </a:rPr>
              <a:t>.</a:t>
            </a:r>
            <a:endParaRPr lang="en-US" dirty="0">
              <a:solidFill>
                <a:srgbClr val="FF0000"/>
              </a:solidFill>
            </a:endParaRPr>
          </a:p>
        </p:txBody>
      </p:sp>
      <p:sp>
        <p:nvSpPr>
          <p:cNvPr id="5" name="Rectangle 4"/>
          <p:cNvSpPr/>
          <p:nvPr/>
        </p:nvSpPr>
        <p:spPr>
          <a:xfrm>
            <a:off x="1458686" y="3189513"/>
            <a:ext cx="1382485" cy="134982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ctr">
              <a:buFont typeface="Wingdings" panose="05000000000000000000" pitchFamily="2" charset="2"/>
              <a:buChar char="v"/>
            </a:pPr>
            <a:r>
              <a:rPr lang="vi-VN" altLang="en-US" dirty="0">
                <a:solidFill>
                  <a:srgbClr val="FF0000"/>
                </a:solidFill>
                <a:latin typeface="Times New Roman" panose="02020603050405020304" pitchFamily="18" charset="0"/>
                <a:cs typeface="Times New Roman" panose="02020603050405020304" pitchFamily="18" charset="0"/>
              </a:rPr>
              <a:t>Sự phát triến của LLSX</a:t>
            </a:r>
            <a:endParaRPr lang="en-US" dirty="0">
              <a:solidFill>
                <a:srgbClr val="FF0000"/>
              </a:solidFill>
            </a:endParaRPr>
          </a:p>
        </p:txBody>
      </p:sp>
      <p:sp>
        <p:nvSpPr>
          <p:cNvPr id="6" name="Oval 5"/>
          <p:cNvSpPr/>
          <p:nvPr/>
        </p:nvSpPr>
        <p:spPr>
          <a:xfrm>
            <a:off x="3483429" y="2634343"/>
            <a:ext cx="1534885"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altLang="en-US" dirty="0">
                <a:solidFill>
                  <a:srgbClr val="FF0000"/>
                </a:solidFill>
                <a:latin typeface="Times New Roman" panose="02020603050405020304" pitchFamily="18" charset="0"/>
                <a:cs typeface="Times New Roman" panose="02020603050405020304" pitchFamily="18" charset="0"/>
              </a:rPr>
              <a:t>T</a:t>
            </a:r>
            <a:r>
              <a:rPr lang="vi-VN" altLang="en-US" dirty="0">
                <a:solidFill>
                  <a:srgbClr val="FF0000"/>
                </a:solidFill>
                <a:latin typeface="Times New Roman" panose="02020603050405020304" pitchFamily="18" charset="0"/>
                <a:cs typeface="Times New Roman" panose="02020603050405020304" pitchFamily="18" charset="0"/>
                <a:sym typeface="+mn-ea"/>
              </a:rPr>
              <a:t>ính chất</a:t>
            </a:r>
            <a:r>
              <a:rPr lang="en-US" altLang="en-US" dirty="0">
                <a:solidFill>
                  <a:srgbClr val="FF0000"/>
                </a:solidFill>
                <a:latin typeface="Times New Roman" panose="02020603050405020304" pitchFamily="18" charset="0"/>
                <a:cs typeface="Times New Roman" panose="02020603050405020304" pitchFamily="18" charset="0"/>
                <a:sym typeface="+mn-ea"/>
              </a:rPr>
              <a:t> LLSX</a:t>
            </a:r>
            <a:endParaRPr lang="en-US" dirty="0">
              <a:solidFill>
                <a:srgbClr val="FF0000"/>
              </a:solidFill>
            </a:endParaRPr>
          </a:p>
        </p:txBody>
      </p:sp>
      <p:sp>
        <p:nvSpPr>
          <p:cNvPr id="7" name="Oval 6"/>
          <p:cNvSpPr/>
          <p:nvPr/>
        </p:nvSpPr>
        <p:spPr>
          <a:xfrm>
            <a:off x="3483428" y="4027713"/>
            <a:ext cx="1534885" cy="119742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altLang="en-US" dirty="0">
                <a:solidFill>
                  <a:srgbClr val="FF0000"/>
                </a:solidFill>
                <a:latin typeface="Times New Roman" panose="02020603050405020304" pitchFamily="18" charset="0"/>
                <a:cs typeface="Times New Roman" panose="02020603050405020304" pitchFamily="18" charset="0"/>
              </a:rPr>
              <a:t>T</a:t>
            </a:r>
            <a:r>
              <a:rPr lang="vi-VN" altLang="en-US" dirty="0">
                <a:solidFill>
                  <a:srgbClr val="FF0000"/>
                </a:solidFill>
                <a:latin typeface="Times New Roman" panose="02020603050405020304" pitchFamily="18" charset="0"/>
                <a:cs typeface="Times New Roman" panose="02020603050405020304" pitchFamily="18" charset="0"/>
                <a:sym typeface="+mn-ea"/>
              </a:rPr>
              <a:t>rình độ  LLSX</a:t>
            </a:r>
            <a:endParaRPr lang="en-US" dirty="0">
              <a:solidFill>
                <a:srgbClr val="FF0000"/>
              </a:solidFill>
            </a:endParaRPr>
          </a:p>
        </p:txBody>
      </p:sp>
      <p:sp>
        <p:nvSpPr>
          <p:cNvPr id="8" name="Rectangle: Rounded Corners 7"/>
          <p:cNvSpPr/>
          <p:nvPr/>
        </p:nvSpPr>
        <p:spPr>
          <a:xfrm>
            <a:off x="5018313" y="2634344"/>
            <a:ext cx="477883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en-US" dirty="0">
                <a:solidFill>
                  <a:srgbClr val="FF0000"/>
                </a:solidFill>
                <a:latin typeface="Times New Roman" panose="02020603050405020304" pitchFamily="18" charset="0"/>
                <a:cs typeface="Times New Roman" panose="02020603050405020304" pitchFamily="18" charset="0"/>
                <a:sym typeface="+mn-ea"/>
              </a:rPr>
              <a:t>T</a:t>
            </a:r>
            <a:r>
              <a:rPr lang="vi-VN" altLang="en-US" dirty="0">
                <a:solidFill>
                  <a:srgbClr val="FF0000"/>
                </a:solidFill>
                <a:latin typeface="Times New Roman" panose="02020603050405020304" pitchFamily="18" charset="0"/>
                <a:cs typeface="Times New Roman" panose="02020603050405020304" pitchFamily="18" charset="0"/>
                <a:sym typeface="+mn-ea"/>
              </a:rPr>
              <a:t>ính cá nhân hoặc tính xh trong sử dụng TLSX</a:t>
            </a:r>
            <a:endParaRPr lang="en-US" dirty="0">
              <a:solidFill>
                <a:srgbClr val="FF0000"/>
              </a:solidFill>
            </a:endParaRPr>
          </a:p>
        </p:txBody>
      </p:sp>
      <p:sp>
        <p:nvSpPr>
          <p:cNvPr id="9" name="Rectangle: Rounded Corners 8"/>
          <p:cNvSpPr/>
          <p:nvPr/>
        </p:nvSpPr>
        <p:spPr>
          <a:xfrm>
            <a:off x="5018314" y="3864427"/>
            <a:ext cx="5715000" cy="177437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vi-VN" altLang="en-US" dirty="0">
                <a:solidFill>
                  <a:srgbClr val="FF0000"/>
                </a:solidFill>
                <a:latin typeface="Times New Roman" panose="02020603050405020304" pitchFamily="18" charset="0"/>
                <a:cs typeface="Times New Roman" panose="02020603050405020304" pitchFamily="18" charset="0"/>
                <a:sym typeface="+mn-ea"/>
              </a:rPr>
              <a:t>Trình độ của công cụ lao động</a:t>
            </a:r>
            <a:endParaRPr lang="vi-VN" altLang="en-US" dirty="0">
              <a:solidFill>
                <a:srgbClr val="FF0000"/>
              </a:solidFill>
              <a:latin typeface="Times New Roman" panose="02020603050405020304" pitchFamily="18" charset="0"/>
              <a:cs typeface="Times New Roman" panose="02020603050405020304" pitchFamily="18" charset="0"/>
              <a:sym typeface="+mn-ea"/>
            </a:endParaRPr>
          </a:p>
          <a:p>
            <a:pPr marL="285750" indent="-285750" algn="just">
              <a:buFont typeface="Arial" panose="020B0604020202020204" pitchFamily="34" charset="0"/>
              <a:buChar char="•"/>
            </a:pPr>
            <a:r>
              <a:rPr lang="vi-VN" altLang="en-US" dirty="0">
                <a:solidFill>
                  <a:srgbClr val="FF0000"/>
                </a:solidFill>
                <a:latin typeface="Times New Roman" panose="02020603050405020304" pitchFamily="18" charset="0"/>
                <a:cs typeface="Times New Roman" panose="02020603050405020304" pitchFamily="18" charset="0"/>
                <a:sym typeface="+mn-ea"/>
              </a:rPr>
              <a:t>Trình độ tổ chức lao động xã hộ</a:t>
            </a:r>
            <a:endParaRPr lang="vi-VN" altLang="en-US" dirty="0">
              <a:solidFill>
                <a:srgbClr val="FF0000"/>
              </a:solidFill>
              <a:latin typeface="Times New Roman" panose="02020603050405020304" pitchFamily="18" charset="0"/>
              <a:cs typeface="Times New Roman" panose="02020603050405020304" pitchFamily="18" charset="0"/>
              <a:sym typeface="+mn-ea"/>
            </a:endParaRPr>
          </a:p>
          <a:p>
            <a:pPr marL="285750" indent="-285750" algn="just">
              <a:buFont typeface="Arial" panose="020B0604020202020204" pitchFamily="34" charset="0"/>
              <a:buChar char="•"/>
            </a:pPr>
            <a:r>
              <a:rPr lang="vi-VN" altLang="en-US" dirty="0">
                <a:solidFill>
                  <a:srgbClr val="FF0000"/>
                </a:solidFill>
                <a:latin typeface="Times New Roman" panose="02020603050405020304" pitchFamily="18" charset="0"/>
                <a:cs typeface="Times New Roman" panose="02020603050405020304" pitchFamily="18" charset="0"/>
                <a:sym typeface="+mn-ea"/>
              </a:rPr>
              <a:t>Trình độ ứng dụng KHKT vào sản xuất</a:t>
            </a:r>
            <a:endParaRPr lang="vi-VN" altLang="en-US" dirty="0">
              <a:solidFill>
                <a:srgbClr val="FF0000"/>
              </a:solidFill>
              <a:latin typeface="Times New Roman" panose="02020603050405020304" pitchFamily="18" charset="0"/>
              <a:cs typeface="Times New Roman" panose="02020603050405020304" pitchFamily="18" charset="0"/>
              <a:sym typeface="+mn-ea"/>
            </a:endParaRPr>
          </a:p>
          <a:p>
            <a:pPr marL="285750" indent="-285750" algn="just">
              <a:buFont typeface="Arial" panose="020B0604020202020204" pitchFamily="34" charset="0"/>
              <a:buChar char="•"/>
            </a:pPr>
            <a:r>
              <a:rPr lang="vi-VN" altLang="en-US" dirty="0">
                <a:solidFill>
                  <a:srgbClr val="FF0000"/>
                </a:solidFill>
                <a:latin typeface="Times New Roman" panose="02020603050405020304" pitchFamily="18" charset="0"/>
                <a:cs typeface="Times New Roman" panose="02020603050405020304" pitchFamily="18" charset="0"/>
                <a:sym typeface="+mn-ea"/>
              </a:rPr>
              <a:t>Trình độ kinh nghiệm, kỹ năng người lao động</a:t>
            </a:r>
            <a:endParaRPr lang="vi-VN" altLang="en-US" dirty="0">
              <a:solidFill>
                <a:srgbClr val="FF0000"/>
              </a:solidFill>
              <a:latin typeface="Times New Roman" panose="02020603050405020304" pitchFamily="18" charset="0"/>
              <a:cs typeface="Times New Roman" panose="02020603050405020304" pitchFamily="18" charset="0"/>
              <a:sym typeface="+mn-ea"/>
            </a:endParaRPr>
          </a:p>
          <a:p>
            <a:pPr marL="285750" indent="-285750" algn="just">
              <a:buFont typeface="Arial" panose="020B0604020202020204" pitchFamily="34" charset="0"/>
              <a:buChar char="•"/>
            </a:pPr>
            <a:r>
              <a:rPr lang="vi-VN" altLang="en-US" dirty="0">
                <a:solidFill>
                  <a:srgbClr val="FF0000"/>
                </a:solidFill>
                <a:latin typeface="Times New Roman" panose="02020603050405020304" pitchFamily="18" charset="0"/>
                <a:cs typeface="Times New Roman" panose="02020603050405020304" pitchFamily="18" charset="0"/>
                <a:sym typeface="+mn-ea"/>
              </a:rPr>
              <a:t>Trình độ phân công lao động</a:t>
            </a:r>
            <a:endParaRPr lang="vi-VN" altLang="en-US" dirty="0">
              <a:solidFill>
                <a:srgbClr val="FF0000"/>
              </a:solidFill>
              <a:latin typeface="Times New Roman" panose="02020603050405020304" pitchFamily="18" charset="0"/>
              <a:cs typeface="Times New Roman" panose="02020603050405020304" pitchFamily="18" charset="0"/>
            </a:endParaRPr>
          </a:p>
        </p:txBody>
      </p:sp>
      <p:cxnSp>
        <p:nvCxnSpPr>
          <p:cNvPr id="11" name="Straight Arrow Connector 10"/>
          <p:cNvCxnSpPr>
            <a:stCxn id="5" idx="3"/>
            <a:endCxn id="6" idx="2"/>
          </p:cNvCxnSpPr>
          <p:nvPr/>
        </p:nvCxnSpPr>
        <p:spPr>
          <a:xfrm flipV="1">
            <a:off x="2841171" y="3113314"/>
            <a:ext cx="642256" cy="7511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a:endCxn id="7" idx="2"/>
          </p:cNvCxnSpPr>
          <p:nvPr/>
        </p:nvCxnSpPr>
        <p:spPr>
          <a:xfrm>
            <a:off x="2841171" y="3907971"/>
            <a:ext cx="642257" cy="7184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27857"/>
          </a:xfrm>
        </p:spPr>
        <p:txBody>
          <a:bodyPr/>
          <a:lstStyle/>
          <a:p>
            <a:endParaRPr lang="en-US" dirty="0"/>
          </a:p>
        </p:txBody>
      </p:sp>
      <p:sp>
        <p:nvSpPr>
          <p:cNvPr id="3" name="Rectangle 2"/>
          <p:cNvSpPr/>
          <p:nvPr/>
        </p:nvSpPr>
        <p:spPr>
          <a:xfrm>
            <a:off x="3699164" y="365125"/>
            <a:ext cx="2008909" cy="70658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FF0000"/>
                </a:solidFill>
                <a:latin typeface="Times New Roman" panose="02020603050405020304" pitchFamily="18" charset="0"/>
                <a:cs typeface="Times New Roman" panose="02020603050405020304" pitchFamily="18" charset="0"/>
              </a:rPr>
              <a:t>LLSX</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4" name="Rectangle 3"/>
          <p:cNvSpPr/>
          <p:nvPr/>
        </p:nvSpPr>
        <p:spPr>
          <a:xfrm>
            <a:off x="1565564" y="1474498"/>
            <a:ext cx="1946565" cy="609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FF0000"/>
                </a:solidFill>
                <a:latin typeface="Times New Roman" panose="02020603050405020304" pitchFamily="18" charset="0"/>
                <a:cs typeface="Times New Roman" panose="02020603050405020304" pitchFamily="18" charset="0"/>
              </a:rPr>
              <a:t>Người</a:t>
            </a:r>
            <a:r>
              <a:rPr lang="en-US" sz="2000" b="1" dirty="0">
                <a:solidFill>
                  <a:srgbClr val="FF0000"/>
                </a:solidFill>
                <a:latin typeface="Times New Roman" panose="02020603050405020304" pitchFamily="18" charset="0"/>
                <a:cs typeface="Times New Roman" panose="02020603050405020304" pitchFamily="18" charset="0"/>
              </a:rPr>
              <a:t> Lao </a:t>
            </a:r>
            <a:r>
              <a:rPr lang="en-US" sz="2000" b="1" dirty="0" err="1">
                <a:solidFill>
                  <a:srgbClr val="FF0000"/>
                </a:solidFill>
                <a:latin typeface="Times New Roman" panose="02020603050405020304" pitchFamily="18" charset="0"/>
                <a:cs typeface="Times New Roman" panose="02020603050405020304" pitchFamily="18" charset="0"/>
              </a:rPr>
              <a:t>động</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5541818" y="1528653"/>
            <a:ext cx="1960417" cy="609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latin typeface="Times New Roman" panose="02020603050405020304" pitchFamily="18" charset="0"/>
                <a:cs typeface="Times New Roman" panose="02020603050405020304" pitchFamily="18" charset="0"/>
              </a:rPr>
              <a:t>TLSX</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6" name="Rounded Rectangle 5"/>
          <p:cNvSpPr/>
          <p:nvPr/>
        </p:nvSpPr>
        <p:spPr>
          <a:xfrm>
            <a:off x="4682831" y="2650619"/>
            <a:ext cx="1524005" cy="85458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FF0000"/>
                </a:solidFill>
                <a:latin typeface="Times New Roman" panose="02020603050405020304" pitchFamily="18" charset="0"/>
                <a:cs typeface="Times New Roman" panose="02020603050405020304" pitchFamily="18" charset="0"/>
              </a:rPr>
              <a:t>Tư</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liệu</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lao</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động</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7" name="Rounded Rectangle 6"/>
          <p:cNvSpPr/>
          <p:nvPr/>
        </p:nvSpPr>
        <p:spPr>
          <a:xfrm>
            <a:off x="7384473" y="2650619"/>
            <a:ext cx="1634836" cy="85458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FF0000"/>
                </a:solidFill>
                <a:latin typeface="Times New Roman" panose="02020603050405020304" pitchFamily="18" charset="0"/>
                <a:cs typeface="Times New Roman" panose="02020603050405020304" pitchFamily="18" charset="0"/>
              </a:rPr>
              <a:t>Đối</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tượng</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lao</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động</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8" name="Rectangle 7"/>
          <p:cNvSpPr/>
          <p:nvPr/>
        </p:nvSpPr>
        <p:spPr>
          <a:xfrm flipH="1">
            <a:off x="3685307" y="4184073"/>
            <a:ext cx="1399309" cy="1427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FF0000"/>
                </a:solidFill>
                <a:latin typeface="Times New Roman" panose="02020603050405020304" pitchFamily="18" charset="0"/>
                <a:cs typeface="Times New Roman" panose="02020603050405020304" pitchFamily="18" charset="0"/>
              </a:rPr>
              <a:t>Phương</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tiện</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lao</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động</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9" name="Rectangle 8"/>
          <p:cNvSpPr/>
          <p:nvPr/>
        </p:nvSpPr>
        <p:spPr>
          <a:xfrm>
            <a:off x="6142759" y="4239491"/>
            <a:ext cx="1359476" cy="1427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FF0000"/>
                </a:solidFill>
                <a:latin typeface="Times New Roman" panose="02020603050405020304" pitchFamily="18" charset="0"/>
                <a:cs typeface="Times New Roman" panose="02020603050405020304" pitchFamily="18" charset="0"/>
              </a:rPr>
              <a:t>Công</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cụ</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lao</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động</a:t>
            </a:r>
            <a:endParaRPr lang="en-US" sz="2000" b="1" dirty="0">
              <a:solidFill>
                <a:srgbClr val="FF0000"/>
              </a:solidFill>
              <a:latin typeface="Times New Roman" panose="02020603050405020304" pitchFamily="18" charset="0"/>
              <a:cs typeface="Times New Roman" panose="02020603050405020304" pitchFamily="18" charset="0"/>
            </a:endParaRPr>
          </a:p>
        </p:txBody>
      </p:sp>
      <p:cxnSp>
        <p:nvCxnSpPr>
          <p:cNvPr id="11" name="Straight Arrow Connector 10"/>
          <p:cNvCxnSpPr>
            <a:stCxn id="3" idx="2"/>
          </p:cNvCxnSpPr>
          <p:nvPr/>
        </p:nvCxnSpPr>
        <p:spPr>
          <a:xfrm flipH="1">
            <a:off x="3380508" y="1071706"/>
            <a:ext cx="1323111" cy="402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4703618" y="1071706"/>
            <a:ext cx="1191489" cy="456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4682832" y="3505201"/>
            <a:ext cx="741220" cy="678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5424052" y="3505201"/>
            <a:ext cx="862446" cy="734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5" idx="2"/>
          </p:cNvCxnSpPr>
          <p:nvPr/>
        </p:nvCxnSpPr>
        <p:spPr>
          <a:xfrm flipH="1">
            <a:off x="5708073" y="2138253"/>
            <a:ext cx="813954" cy="512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6522026" y="2138253"/>
            <a:ext cx="1278083" cy="512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5"/>
          </a:xfrm>
        </p:spPr>
        <p:txBody>
          <a:bodyPr>
            <a:normAutofit/>
          </a:bodyPr>
          <a:lstStyle/>
          <a:p>
            <a:pPr marL="457200" indent="-457200" algn="just">
              <a:buFont typeface="Wingdings" panose="05000000000000000000" pitchFamily="2" charset="2"/>
              <a:buChar char="v"/>
            </a:pPr>
            <a:r>
              <a:rPr lang="en-US" altLang="en-US" sz="3200" b="1" i="1" dirty="0">
                <a:solidFill>
                  <a:srgbClr val="FF0000"/>
                </a:solidFill>
                <a:latin typeface="Times New Roman" panose="02020603050405020304" pitchFamily="18" charset="0"/>
              </a:rPr>
              <a:t>QHSX </a:t>
            </a:r>
            <a:r>
              <a:rPr lang="en-US" altLang="en-US" sz="3200" b="1" i="1" dirty="0" err="1">
                <a:solidFill>
                  <a:srgbClr val="FF0000"/>
                </a:solidFill>
                <a:latin typeface="Times New Roman" panose="02020603050405020304" pitchFamily="18" charset="0"/>
              </a:rPr>
              <a:t>là</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mối</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quan</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hệ</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giữa</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người</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với</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người</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trong</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quá</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trình</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sản</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xuất</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và</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tái</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sản</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xuất</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xã</a:t>
            </a:r>
            <a:r>
              <a:rPr lang="en-US" altLang="en-US" sz="3200" b="1" i="1" dirty="0">
                <a:solidFill>
                  <a:srgbClr val="FF0000"/>
                </a:solidFill>
                <a:latin typeface="Times New Roman" panose="02020603050405020304" pitchFamily="18" charset="0"/>
              </a:rPr>
              <a:t> </a:t>
            </a:r>
            <a:r>
              <a:rPr lang="en-US" altLang="en-US" sz="3200" b="1" i="1" dirty="0" err="1">
                <a:solidFill>
                  <a:srgbClr val="FF0000"/>
                </a:solidFill>
                <a:latin typeface="Times New Roman" panose="02020603050405020304" pitchFamily="18" charset="0"/>
              </a:rPr>
              <a:t>hội</a:t>
            </a:r>
            <a:r>
              <a:rPr lang="en-US" altLang="en-US" sz="3200" b="1" i="1" dirty="0">
                <a:solidFill>
                  <a:srgbClr val="FF0000"/>
                </a:solidFill>
                <a:latin typeface="Times New Roman" panose="02020603050405020304" pitchFamily="18" charset="0"/>
              </a:rPr>
              <a:t>. QHSX </a:t>
            </a:r>
            <a:r>
              <a:rPr lang="en-US" altLang="en-US" sz="3200" b="1" i="1" dirty="0" err="1">
                <a:solidFill>
                  <a:srgbClr val="FF0000"/>
                </a:solidFill>
                <a:latin typeface="Times New Roman" panose="02020603050405020304" pitchFamily="18" charset="0"/>
              </a:rPr>
              <a:t>gồm</a:t>
            </a:r>
            <a:r>
              <a:rPr lang="en-US" altLang="en-US" sz="3200" b="1" i="1" dirty="0">
                <a:solidFill>
                  <a:srgbClr val="FF0000"/>
                </a:solidFill>
                <a:latin typeface="Times New Roman" panose="02020603050405020304" pitchFamily="18" charset="0"/>
              </a:rPr>
              <a:t> 3 </a:t>
            </a:r>
            <a:r>
              <a:rPr lang="en-US" altLang="en-US" sz="3200" b="1" i="1" dirty="0" err="1">
                <a:solidFill>
                  <a:srgbClr val="FF0000"/>
                </a:solidFill>
                <a:latin typeface="Times New Roman" panose="02020603050405020304" pitchFamily="18" charset="0"/>
              </a:rPr>
              <a:t>mặt</a:t>
            </a:r>
            <a:r>
              <a:rPr lang="en-US" altLang="en-US" sz="3200" b="1" i="1" dirty="0">
                <a:solidFill>
                  <a:srgbClr val="FF0000"/>
                </a:solidFill>
                <a:latin typeface="Times New Roman" panose="02020603050405020304" pitchFamily="18" charset="0"/>
              </a:rPr>
              <a:t>:</a:t>
            </a:r>
            <a:endParaRPr lang="en-US" sz="3200" b="1" i="1" dirty="0">
              <a:solidFill>
                <a:srgbClr val="FF0000"/>
              </a:solidFill>
            </a:endParaRPr>
          </a:p>
        </p:txBody>
      </p:sp>
      <p:sp>
        <p:nvSpPr>
          <p:cNvPr id="3" name="Content Placeholder 2"/>
          <p:cNvSpPr>
            <a:spLocks noGrp="1"/>
          </p:cNvSpPr>
          <p:nvPr>
            <p:ph idx="1"/>
          </p:nvPr>
        </p:nvSpPr>
        <p:spPr>
          <a:xfrm>
            <a:off x="838200" y="1611086"/>
            <a:ext cx="10515600" cy="4565877"/>
          </a:xfrm>
        </p:spPr>
        <p:txBody>
          <a:bodyPr/>
          <a:lstStyle/>
          <a:p>
            <a:pPr algn="just">
              <a:spcBef>
                <a:spcPct val="50000"/>
              </a:spcBef>
              <a:buFontTx/>
              <a:buChar char="-"/>
            </a:pPr>
            <a:r>
              <a:rPr lang="en-US" altLang="en-US" sz="2800" dirty="0">
                <a:latin typeface="Times New Roman" panose="02020603050405020304" pitchFamily="18" charset="0"/>
                <a:cs typeface="Times New Roman" panose="02020603050405020304" pitchFamily="18" charset="0"/>
              </a:rPr>
              <a:t>Quan </a:t>
            </a:r>
            <a:r>
              <a:rPr lang="en-US" altLang="en-US" sz="2800" dirty="0" err="1">
                <a:latin typeface="Times New Roman" panose="02020603050405020304" pitchFamily="18" charset="0"/>
                <a:cs typeface="Times New Roman" panose="02020603050405020304" pitchFamily="18" charset="0"/>
              </a:rPr>
              <a:t>hệ</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sở</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hữu</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đối</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với</a:t>
            </a:r>
            <a:r>
              <a:rPr lang="en-US" altLang="en-US" sz="2800" dirty="0">
                <a:latin typeface="Times New Roman" panose="02020603050405020304" pitchFamily="18" charset="0"/>
                <a:cs typeface="Times New Roman" panose="02020603050405020304" pitchFamily="18" charset="0"/>
              </a:rPr>
              <a:t> TLSX (</a:t>
            </a:r>
            <a:r>
              <a:rPr lang="en-US" altLang="en-US" sz="2800" dirty="0" err="1">
                <a:latin typeface="Times New Roman" panose="02020603050405020304" pitchFamily="18" charset="0"/>
                <a:cs typeface="Times New Roman" panose="02020603050405020304" pitchFamily="18" charset="0"/>
              </a:rPr>
              <a:t>đóng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vai</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trò</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quan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trọng</a:t>
            </a:r>
            <a:r>
              <a:rPr lang="en-US" altLang="en-US" sz="2800" dirty="0">
                <a:latin typeface="Times New Roman" panose="02020603050405020304" pitchFamily="18" charset="0"/>
                <a:cs typeface="Times New Roman" panose="02020603050405020304" pitchFamily="18" charset="0"/>
              </a:rPr>
              <a:t>)</a:t>
            </a:r>
            <a:r>
              <a:rPr lang="vi-VN" altLang="en-US" sz="2800" dirty="0">
                <a:latin typeface="Times New Roman" panose="02020603050405020304" pitchFamily="18" charset="0"/>
                <a:cs typeface="Times New Roman" panose="02020603050405020304" pitchFamily="18" charset="0"/>
              </a:rPr>
              <a:t>, quy định địa vị kinh tế của tập đoàn người trong sx.</a:t>
            </a:r>
            <a:endParaRPr lang="en-US" altLang="en-US" sz="2800" dirty="0">
              <a:latin typeface="Times New Roman" panose="02020603050405020304" pitchFamily="18" charset="0"/>
              <a:cs typeface="Times New Roman" panose="02020603050405020304" pitchFamily="18" charset="0"/>
            </a:endParaRPr>
          </a:p>
          <a:p>
            <a:pPr algn="just">
              <a:spcBef>
                <a:spcPct val="50000"/>
              </a:spcBef>
              <a:buFontTx/>
              <a:buChar char="-"/>
            </a:pPr>
            <a:r>
              <a:rPr lang="en-US" altLang="en-US" sz="2800" dirty="0">
                <a:latin typeface="Times New Roman" panose="02020603050405020304" pitchFamily="18" charset="0"/>
                <a:cs typeface="Times New Roman" panose="02020603050405020304" pitchFamily="18" charset="0"/>
              </a:rPr>
              <a:t>Quan </a:t>
            </a:r>
            <a:r>
              <a:rPr lang="en-US" altLang="en-US" sz="2800" dirty="0" err="1">
                <a:latin typeface="Times New Roman" panose="02020603050405020304" pitchFamily="18" charset="0"/>
                <a:cs typeface="Times New Roman" panose="02020603050405020304" pitchFamily="18" charset="0"/>
              </a:rPr>
              <a:t>hệ</a:t>
            </a:r>
            <a:r>
              <a:rPr lang="en-US" altLang="en-US" sz="2800" dirty="0">
                <a:solidFill>
                  <a:schemeClr val="tx1"/>
                </a:solidFill>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trong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tổ</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chức</a:t>
            </a:r>
            <a:r>
              <a:rPr lang="en-US" altLang="en-US" sz="2800" dirty="0">
                <a:latin typeface="Times New Roman" panose="02020603050405020304" pitchFamily="18" charset="0"/>
                <a:cs typeface="Times New Roman" panose="02020603050405020304" pitchFamily="18" charset="0"/>
              </a:rPr>
              <a:t> - </a:t>
            </a:r>
            <a:r>
              <a:rPr lang="en-US" altLang="en-US" sz="2800" dirty="0" err="1">
                <a:latin typeface="Times New Roman" panose="02020603050405020304" pitchFamily="18" charset="0"/>
                <a:cs typeface="Times New Roman" panose="02020603050405020304" pitchFamily="18" charset="0"/>
              </a:rPr>
              <a:t>quản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lí</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quá</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trình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sản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xuất</a:t>
            </a:r>
            <a:r>
              <a:rPr lang="vi-VN" altLang="en-US" dirty="0">
                <a:latin typeface="Times New Roman" panose="02020603050405020304" pitchFamily="18" charset="0"/>
                <a:cs typeface="Times New Roman" panose="02020603050405020304" pitchFamily="18" charset="0"/>
              </a:rPr>
              <a:t>, có vai trò quyết định đến quy mô, tốc độ, hiệu quả của nền sx.</a:t>
            </a:r>
            <a:endParaRPr lang="en-US" altLang="en-US" sz="2800" dirty="0">
              <a:latin typeface="Times New Roman" panose="02020603050405020304" pitchFamily="18" charset="0"/>
              <a:cs typeface="Times New Roman" panose="02020603050405020304" pitchFamily="18" charset="0"/>
            </a:endParaRPr>
          </a:p>
          <a:p>
            <a:pPr algn="just">
              <a:spcBef>
                <a:spcPct val="50000"/>
              </a:spcBef>
              <a:buNone/>
            </a:pPr>
            <a:r>
              <a:rPr lang="en-US" altLang="en-US" sz="2800" dirty="0">
                <a:latin typeface="Times New Roman" panose="02020603050405020304" pitchFamily="18" charset="0"/>
                <a:cs typeface="Times New Roman" panose="02020603050405020304" pitchFamily="18" charset="0"/>
              </a:rPr>
              <a:t>- Quan </a:t>
            </a:r>
            <a:r>
              <a:rPr lang="en-US" altLang="en-US" sz="2800" dirty="0" err="1">
                <a:latin typeface="Times New Roman" panose="02020603050405020304" pitchFamily="18" charset="0"/>
                <a:cs typeface="Times New Roman" panose="02020603050405020304" pitchFamily="18" charset="0"/>
              </a:rPr>
              <a:t>hệ</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trong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phân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phối</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sản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phẩm</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sản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xuất</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ra.</a:t>
            </a:r>
            <a:r>
              <a:rPr lang="vi-VN" altLang="en-US" sz="2800" dirty="0">
                <a:latin typeface="Times New Roman" panose="02020603050405020304" pitchFamily="18" charset="0"/>
                <a:cs typeface="Times New Roman" panose="02020603050405020304" pitchFamily="18" charset="0"/>
              </a:rPr>
              <a:t> Có vai trò đặc biệt quan trọng, kích thích trực tiếp đến lợi ích con người.</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99646"/>
          </a:xfrm>
        </p:spPr>
        <p:txBody>
          <a:bodyPr>
            <a:normAutofit/>
          </a:bodyPr>
          <a:lstStyle/>
          <a:p>
            <a:r>
              <a:rPr lang="vi-VN" sz="2400" b="1" dirty="0">
                <a:latin typeface="Times New Roman" panose="02020603050405020304" pitchFamily="18" charset="0"/>
                <a:cs typeface="Times New Roman" panose="02020603050405020304" pitchFamily="18" charset="0"/>
              </a:rPr>
              <a:t>b. Quy luật QHSX phù hợp với trình độ phát triển của LLSX</a:t>
            </a:r>
            <a:endParaRPr lang="en-US" sz="2400" dirty="0"/>
          </a:p>
        </p:txBody>
      </p:sp>
      <p:sp>
        <p:nvSpPr>
          <p:cNvPr id="3" name="Content Placeholder 2"/>
          <p:cNvSpPr>
            <a:spLocks noGrp="1"/>
          </p:cNvSpPr>
          <p:nvPr>
            <p:ph idx="1"/>
          </p:nvPr>
        </p:nvSpPr>
        <p:spPr>
          <a:xfrm>
            <a:off x="838200" y="1328057"/>
            <a:ext cx="10515600" cy="4848906"/>
          </a:xfrm>
        </p:spPr>
        <p:txBody>
          <a:bodyPr/>
          <a:lstStyle/>
          <a:p>
            <a:pPr marL="0" indent="0">
              <a:buNone/>
            </a:pPr>
            <a:endParaRPr lang="en-US" dirty="0"/>
          </a:p>
        </p:txBody>
      </p:sp>
      <p:sp>
        <p:nvSpPr>
          <p:cNvPr id="4" name="Oval 3"/>
          <p:cNvSpPr/>
          <p:nvPr/>
        </p:nvSpPr>
        <p:spPr>
          <a:xfrm>
            <a:off x="1360715" y="1458687"/>
            <a:ext cx="1306286" cy="990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Vị trí</a:t>
            </a:r>
            <a:endParaRPr lang="en-US" dirty="0">
              <a:latin typeface="Times New Roman" panose="02020603050405020304" pitchFamily="18" charset="0"/>
              <a:cs typeface="Times New Roman" panose="02020603050405020304" pitchFamily="18" charset="0"/>
            </a:endParaRPr>
          </a:p>
        </p:txBody>
      </p:sp>
      <p:sp>
        <p:nvSpPr>
          <p:cNvPr id="5" name="Rectangle: Rounded Corners 4"/>
          <p:cNvSpPr/>
          <p:nvPr/>
        </p:nvSpPr>
        <p:spPr>
          <a:xfrm>
            <a:off x="2667000" y="1458687"/>
            <a:ext cx="5856514" cy="990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Là quy luật cơ bản nhất của sự vận động và phát triển lịch sử xã hội</a:t>
            </a:r>
            <a:endParaRPr lang="en-US" dirty="0">
              <a:latin typeface="Times New Roman" panose="02020603050405020304" pitchFamily="18" charset="0"/>
              <a:cs typeface="Times New Roman" panose="02020603050405020304" pitchFamily="18" charset="0"/>
            </a:endParaRPr>
          </a:p>
        </p:txBody>
      </p:sp>
      <p:sp>
        <p:nvSpPr>
          <p:cNvPr id="6" name="Oval 5"/>
          <p:cNvSpPr/>
          <p:nvPr/>
        </p:nvSpPr>
        <p:spPr>
          <a:xfrm>
            <a:off x="1360715" y="2841172"/>
            <a:ext cx="1306285" cy="145868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Nội dung</a:t>
            </a:r>
            <a:endParaRPr lang="en-US" dirty="0">
              <a:latin typeface="Times New Roman" panose="02020603050405020304" pitchFamily="18" charset="0"/>
              <a:cs typeface="Times New Roman" panose="02020603050405020304" pitchFamily="18" charset="0"/>
            </a:endParaRPr>
          </a:p>
        </p:txBody>
      </p:sp>
      <p:sp>
        <p:nvSpPr>
          <p:cNvPr id="7" name="Rectangle: Rounded Corners 6"/>
          <p:cNvSpPr/>
          <p:nvPr/>
        </p:nvSpPr>
        <p:spPr>
          <a:xfrm>
            <a:off x="2667000" y="2841172"/>
            <a:ext cx="5856514" cy="145868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indent="0" algn="just">
              <a:buNone/>
            </a:pPr>
            <a:endParaRPr lang="vi-VN" altLang="en-US" sz="1800" dirty="0">
              <a:latin typeface="Times New Roman" panose="02020603050405020304" pitchFamily="18" charset="0"/>
              <a:cs typeface="Times New Roman" panose="02020603050405020304" pitchFamily="18" charset="0"/>
              <a:sym typeface="+mn-ea"/>
            </a:endParaRPr>
          </a:p>
          <a:p>
            <a:pPr marL="285750" indent="-28575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sym typeface="+mn-ea"/>
              </a:rPr>
              <a:t>LLSX </a:t>
            </a:r>
            <a:r>
              <a:rPr lang="en-US" altLang="en-US" sz="1800" dirty="0" err="1">
                <a:latin typeface="Times New Roman" panose="02020603050405020304" pitchFamily="18" charset="0"/>
                <a:cs typeface="Times New Roman" panose="02020603050405020304" pitchFamily="18" charset="0"/>
                <a:sym typeface="+mn-ea"/>
              </a:rPr>
              <a:t>và</a:t>
            </a:r>
            <a:r>
              <a:rPr lang="en-US" altLang="en-US" sz="1800" dirty="0">
                <a:latin typeface="Times New Roman" panose="02020603050405020304" pitchFamily="18" charset="0"/>
                <a:cs typeface="Times New Roman" panose="02020603050405020304" pitchFamily="18" charset="0"/>
                <a:sym typeface="+mn-ea"/>
              </a:rPr>
              <a:t> QHSX </a:t>
            </a:r>
            <a:r>
              <a:rPr lang="en-US" altLang="en-US" sz="1800" dirty="0" err="1">
                <a:latin typeface="Times New Roman" panose="02020603050405020304" pitchFamily="18" charset="0"/>
                <a:cs typeface="Times New Roman" panose="02020603050405020304" pitchFamily="18" charset="0"/>
                <a:sym typeface="+mn-ea"/>
              </a:rPr>
              <a:t>là</a:t>
            </a:r>
            <a:r>
              <a:rPr lang="en-US" altLang="en-US" sz="1800" dirty="0">
                <a:latin typeface="Times New Roman" panose="02020603050405020304" pitchFamily="18" charset="0"/>
                <a:cs typeface="Times New Roman" panose="02020603050405020304" pitchFamily="18" charset="0"/>
                <a:sym typeface="+mn-ea"/>
              </a:rPr>
              <a:t> 2 </a:t>
            </a:r>
            <a:r>
              <a:rPr lang="en-US" altLang="en-US" sz="1800" dirty="0" err="1">
                <a:latin typeface="Times New Roman" panose="02020603050405020304" pitchFamily="18" charset="0"/>
                <a:cs typeface="Times New Roman" panose="02020603050405020304" pitchFamily="18" charset="0"/>
                <a:sym typeface="+mn-ea"/>
              </a:rPr>
              <a:t>mặt</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của</a:t>
            </a:r>
            <a:r>
              <a:rPr lang="en-US" altLang="en-US" sz="1800" dirty="0">
                <a:latin typeface="Times New Roman" panose="02020603050405020304" pitchFamily="18" charset="0"/>
                <a:cs typeface="Times New Roman" panose="02020603050405020304" pitchFamily="18" charset="0"/>
                <a:sym typeface="+mn-ea"/>
              </a:rPr>
              <a:t> PTSX </a:t>
            </a:r>
            <a:r>
              <a:rPr lang="en-US" altLang="en-US" sz="1800" dirty="0" err="1">
                <a:latin typeface="Times New Roman" panose="02020603050405020304" pitchFamily="18" charset="0"/>
                <a:cs typeface="Times New Roman" panose="02020603050405020304" pitchFamily="18" charset="0"/>
                <a:sym typeface="+mn-ea"/>
              </a:rPr>
              <a:t>chúng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tác</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động</a:t>
            </a:r>
            <a:r>
              <a:rPr lang="en-US" altLang="en-US" sz="1800" dirty="0">
                <a:latin typeface="Times New Roman" panose="02020603050405020304" pitchFamily="18" charset="0"/>
                <a:cs typeface="Times New Roman" panose="02020603050405020304" pitchFamily="18" charset="0"/>
                <a:sym typeface="+mn-ea"/>
              </a:rPr>
              <a:t> qua </a:t>
            </a:r>
            <a:r>
              <a:rPr lang="en-US" altLang="en-US" sz="1800" dirty="0" err="1">
                <a:latin typeface="Times New Roman" panose="02020603050405020304" pitchFamily="18" charset="0"/>
                <a:cs typeface="Times New Roman" panose="02020603050405020304" pitchFamily="18" charset="0"/>
                <a:sym typeface="+mn-ea"/>
              </a:rPr>
              <a:t>lại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lẫn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nhau</a:t>
            </a:r>
            <a:r>
              <a:rPr lang="en-US" altLang="en-US" sz="1800" dirty="0">
                <a:latin typeface="Times New Roman" panose="02020603050405020304" pitchFamily="18" charset="0"/>
                <a:cs typeface="Times New Roman" panose="02020603050405020304" pitchFamily="18" charset="0"/>
                <a:sym typeface="+mn-ea"/>
              </a:rPr>
              <a:t> 1 </a:t>
            </a:r>
            <a:r>
              <a:rPr lang="en-US" altLang="en-US" sz="1800" dirty="0" err="1">
                <a:latin typeface="Times New Roman" panose="02020603050405020304" pitchFamily="18" charset="0"/>
                <a:cs typeface="Times New Roman" panose="02020603050405020304" pitchFamily="18" charset="0"/>
                <a:sym typeface="+mn-ea"/>
              </a:rPr>
              <a:t>cách</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biện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chứng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tạo</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thành</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quy</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luật</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về</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sự</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phù</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hợp</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của</a:t>
            </a:r>
            <a:r>
              <a:rPr lang="en-US" altLang="en-US" sz="1800" dirty="0">
                <a:latin typeface="Times New Roman" panose="02020603050405020304" pitchFamily="18" charset="0"/>
                <a:cs typeface="Times New Roman" panose="02020603050405020304" pitchFamily="18" charset="0"/>
                <a:sym typeface="+mn-ea"/>
              </a:rPr>
              <a:t> QHSX </a:t>
            </a:r>
            <a:r>
              <a:rPr lang="en-US" altLang="en-US" sz="1800" dirty="0" err="1">
                <a:latin typeface="Times New Roman" panose="02020603050405020304" pitchFamily="18" charset="0"/>
                <a:cs typeface="Times New Roman" panose="02020603050405020304" pitchFamily="18" charset="0"/>
                <a:sym typeface="+mn-ea"/>
              </a:rPr>
              <a:t>với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trình</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độ</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phát</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triển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của</a:t>
            </a:r>
            <a:r>
              <a:rPr lang="en-US" altLang="en-US" sz="1800" dirty="0">
                <a:latin typeface="Times New Roman" panose="02020603050405020304" pitchFamily="18" charset="0"/>
                <a:cs typeface="Times New Roman" panose="02020603050405020304" pitchFamily="18" charset="0"/>
                <a:sym typeface="+mn-ea"/>
              </a:rPr>
              <a:t> LLSX</a:t>
            </a:r>
            <a:r>
              <a:rPr lang="vi-VN" altLang="en-US" sz="1800" dirty="0">
                <a:latin typeface="Times New Roman" panose="02020603050405020304" pitchFamily="18" charset="0"/>
                <a:cs typeface="Times New Roman" panose="02020603050405020304" pitchFamily="18" charset="0"/>
                <a:sym typeface="+mn-ea"/>
              </a:rPr>
              <a:t>,</a:t>
            </a:r>
            <a:endParaRPr lang="vi-VN" altLang="en-US" sz="1800" dirty="0">
              <a:latin typeface="Times New Roman" panose="02020603050405020304" pitchFamily="18" charset="0"/>
              <a:cs typeface="Times New Roman" panose="02020603050405020304" pitchFamily="18" charset="0"/>
              <a:sym typeface="+mn-ea"/>
            </a:endParaRPr>
          </a:p>
          <a:p>
            <a:pPr marL="0" indent="0" algn="just">
              <a:buNone/>
            </a:pPr>
            <a:r>
              <a:rPr lang="vi-VN" altLang="en-US" sz="1800" dirty="0">
                <a:latin typeface="Times New Roman" panose="02020603050405020304" pitchFamily="18" charset="0"/>
                <a:cs typeface="Times New Roman" panose="02020603050405020304" pitchFamily="18" charset="0"/>
                <a:sym typeface="+mn-ea"/>
              </a:rPr>
              <a:t> =˃LLSX quyết định QHSX, còn QHSX tác động trở lại LLSX</a:t>
            </a:r>
            <a:endParaRPr lang="vi-VN" altLang="en-US" sz="1800" dirty="0">
              <a:latin typeface="Times New Roman" panose="02020603050405020304" pitchFamily="18" charset="0"/>
              <a:cs typeface="Times New Roman" panose="02020603050405020304" pitchFamily="18" charset="0"/>
              <a:sym typeface="+mn-ea"/>
            </a:endParaRPr>
          </a:p>
          <a:p>
            <a:pPr algn="just"/>
            <a:endParaRPr lang="en-US" dirty="0"/>
          </a:p>
        </p:txBody>
      </p:sp>
      <p:sp>
        <p:nvSpPr>
          <p:cNvPr id="8" name="Rectangle: Single Corner Snipped 7"/>
          <p:cNvSpPr/>
          <p:nvPr/>
        </p:nvSpPr>
        <p:spPr>
          <a:xfrm>
            <a:off x="1001485" y="4898571"/>
            <a:ext cx="8860972" cy="990600"/>
          </a:xfrm>
          <a:prstGeom prst="snip1Rect">
            <a:avLst/>
          </a:prstGeom>
        </p:spPr>
        <p:style>
          <a:lnRef idx="2">
            <a:schemeClr val="accent6"/>
          </a:lnRef>
          <a:fillRef idx="1">
            <a:schemeClr val="lt1"/>
          </a:fillRef>
          <a:effectRef idx="0">
            <a:schemeClr val="accent6"/>
          </a:effectRef>
          <a:fontRef idx="minor">
            <a:schemeClr val="dk1"/>
          </a:fontRef>
        </p:style>
        <p:txBody>
          <a:bodyPr rtlCol="0" anchor="ctr"/>
          <a:lstStyle/>
          <a:p>
            <a:pPr marL="0" indent="0" algn="just">
              <a:buNone/>
            </a:pPr>
            <a:r>
              <a:rPr lang="vi-VN" altLang="en-US">
                <a:latin typeface="Times New Roman" panose="02020603050405020304" pitchFamily="18" charset="0"/>
                <a:cs typeface="Times New Roman" panose="02020603050405020304" pitchFamily="18" charset="0"/>
                <a:sym typeface="+mn-ea"/>
              </a:rPr>
              <a:t>- </a:t>
            </a:r>
            <a:r>
              <a:rPr lang="en-US" altLang="en-US" sz="1800">
                <a:latin typeface="Times New Roman" panose="02020603050405020304" pitchFamily="18" charset="0"/>
                <a:cs typeface="Times New Roman" panose="02020603050405020304" pitchFamily="18" charset="0"/>
                <a:sym typeface="+mn-ea"/>
              </a:rPr>
              <a:t>Trình độ phát triển của LLSX là biểu hiện trình độ chinh phục tự nhiên của con người, nó được thể hiện ở trình độ của CCLĐ, trình độ kinh nghiệm và kỹ năng LĐ cùa con người, trình độ tổ chức và phân công LĐ, trình độ ứng dụng KHKT vào SX</a:t>
            </a:r>
            <a:endParaRPr lang="en-US" alt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33646"/>
          </a:xfrm>
        </p:spPr>
        <p:txBody>
          <a:bodyPr/>
          <a:lstStyle/>
          <a:p>
            <a:endParaRPr lang="en-US" dirty="0"/>
          </a:p>
        </p:txBody>
      </p:sp>
      <p:sp>
        <p:nvSpPr>
          <p:cNvPr id="3" name="Rectangle 2"/>
          <p:cNvSpPr/>
          <p:nvPr/>
        </p:nvSpPr>
        <p:spPr>
          <a:xfrm>
            <a:off x="1600200" y="2264229"/>
            <a:ext cx="1317171" cy="240574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ctr">
              <a:buFont typeface="Wingdings" panose="05000000000000000000" pitchFamily="2" charset="2"/>
              <a:buChar char="v"/>
            </a:pPr>
            <a:r>
              <a:rPr lang="vi-VN" altLang="en-US" sz="2000" b="1" dirty="0">
                <a:latin typeface="Times New Roman" panose="02020603050405020304" pitchFamily="18" charset="0"/>
                <a:cs typeface="Times New Roman" panose="02020603050405020304" pitchFamily="18" charset="0"/>
              </a:rPr>
              <a:t>Vai trò quyết định của LLSX đối với QHSX</a:t>
            </a:r>
            <a:endParaRPr lang="en-US" sz="2000" dirty="0"/>
          </a:p>
        </p:txBody>
      </p:sp>
      <p:sp>
        <p:nvSpPr>
          <p:cNvPr id="4" name="Oval 3"/>
          <p:cNvSpPr/>
          <p:nvPr/>
        </p:nvSpPr>
        <p:spPr>
          <a:xfrm>
            <a:off x="4190999" y="1496785"/>
            <a:ext cx="6052458" cy="104230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marR="0" lvl="0" algn="just" defTabSz="914400" rtl="0" eaLnBrk="1" fontAlgn="base" latinLnBrk="0" hangingPunct="1">
              <a:lnSpc>
                <a:spcPct val="100000"/>
              </a:lnSpc>
              <a:spcBef>
                <a:spcPct val="0"/>
              </a:spcBef>
              <a:spcAft>
                <a:spcPct val="0"/>
              </a:spcAft>
              <a:buClrTx/>
              <a:buSzTx/>
              <a:buFont typeface="Wingdings" panose="05000000000000000000" charset="0"/>
              <a:buChar char="ü"/>
              <a:defRPr/>
            </a:pPr>
            <a:r>
              <a:rPr lang="en-US" sz="1800" noProof="0" dirty="0">
                <a:ln>
                  <a:noFill/>
                </a:ln>
                <a:effectLst/>
                <a:uLnTx/>
                <a:uFillTx/>
                <a:latin typeface="Times New Roman" panose="02020603050405020304" pitchFamily="18" charset="0"/>
                <a:sym typeface="+mn-ea"/>
              </a:rPr>
              <a:t>QHSX </a:t>
            </a:r>
            <a:r>
              <a:rPr lang="en-US" sz="1800" noProof="0" dirty="0" err="1">
                <a:ln>
                  <a:noFill/>
                </a:ln>
                <a:effectLst/>
                <a:uLnTx/>
                <a:uFillTx/>
                <a:latin typeface="Times New Roman" panose="02020603050405020304" pitchFamily="18" charset="0"/>
                <a:sym typeface="+mn-ea"/>
              </a:rPr>
              <a:t>đươc</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hình</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thành</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biến</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đổi</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phát</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triển</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dưới</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ảnh</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hưởng</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quyết</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định</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của</a:t>
            </a:r>
            <a:r>
              <a:rPr lang="en-US" sz="1800" noProof="0" dirty="0">
                <a:ln>
                  <a:noFill/>
                </a:ln>
                <a:effectLst/>
                <a:uLnTx/>
                <a:uFillTx/>
                <a:latin typeface="Times New Roman" panose="02020603050405020304" pitchFamily="18" charset="0"/>
                <a:sym typeface="+mn-ea"/>
              </a:rPr>
              <a:t> LLSX.</a:t>
            </a:r>
            <a:endParaRPr lang="en-US" sz="1800" noProof="0" dirty="0">
              <a:ln>
                <a:noFill/>
              </a:ln>
              <a:effectLst/>
              <a:uLnTx/>
              <a:uFillTx/>
              <a:latin typeface="Times New Roman" panose="02020603050405020304" pitchFamily="18" charset="0"/>
              <a:sym typeface="+mn-ea"/>
            </a:endParaRPr>
          </a:p>
        </p:txBody>
      </p:sp>
      <p:sp>
        <p:nvSpPr>
          <p:cNvPr id="5" name="Oval 4"/>
          <p:cNvSpPr/>
          <p:nvPr/>
        </p:nvSpPr>
        <p:spPr>
          <a:xfrm>
            <a:off x="4190998" y="2740479"/>
            <a:ext cx="7053945" cy="131717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marR="0" lvl="0" algn="just" defTabSz="914400" rtl="0" eaLnBrk="1" fontAlgn="base" latinLnBrk="0" hangingPunct="1">
              <a:lnSpc>
                <a:spcPct val="100000"/>
              </a:lnSpc>
              <a:spcBef>
                <a:spcPct val="0"/>
              </a:spcBef>
              <a:spcAft>
                <a:spcPct val="0"/>
              </a:spcAft>
              <a:buClrTx/>
              <a:buSzTx/>
              <a:buFont typeface="Wingdings" panose="05000000000000000000" charset="0"/>
              <a:buChar char="ü"/>
              <a:defRPr/>
            </a:pPr>
            <a:r>
              <a:rPr lang="en-US" sz="1800" noProof="0" dirty="0">
                <a:ln>
                  <a:noFill/>
                </a:ln>
                <a:effectLst/>
                <a:uLnTx/>
                <a:uFillTx/>
                <a:latin typeface="Times New Roman" panose="02020603050405020304" pitchFamily="18" charset="0"/>
                <a:sym typeface="+mn-ea"/>
              </a:rPr>
              <a:t>LLSX </a:t>
            </a:r>
            <a:r>
              <a:rPr lang="en-US" sz="1800" noProof="0" dirty="0" err="1">
                <a:ln>
                  <a:noFill/>
                </a:ln>
                <a:effectLst/>
                <a:uLnTx/>
                <a:uFillTx/>
                <a:latin typeface="Times New Roman" panose="02020603050405020304" pitchFamily="18" charset="0"/>
                <a:sym typeface="+mn-ea"/>
              </a:rPr>
              <a:t>là</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nội</a:t>
            </a:r>
            <a:r>
              <a:rPr lang="en-US" sz="1800" noProof="0" dirty="0">
                <a:ln>
                  <a:noFill/>
                </a:ln>
                <a:effectLst/>
                <a:uLnTx/>
                <a:uFillTx/>
                <a:latin typeface="Times New Roman" panose="02020603050405020304" pitchFamily="18" charset="0"/>
                <a:sym typeface="+mn-ea"/>
              </a:rPr>
              <a:t> dung </a:t>
            </a:r>
            <a:r>
              <a:rPr lang="en-US" sz="1800" noProof="0" dirty="0" err="1">
                <a:ln>
                  <a:noFill/>
                </a:ln>
                <a:effectLst/>
                <a:uLnTx/>
                <a:uFillTx/>
                <a:latin typeface="Times New Roman" panose="02020603050405020304" pitchFamily="18" charset="0"/>
                <a:sym typeface="+mn-ea"/>
              </a:rPr>
              <a:t>của</a:t>
            </a:r>
            <a:r>
              <a:rPr lang="en-US" sz="1800" noProof="0" dirty="0">
                <a:ln>
                  <a:noFill/>
                </a:ln>
                <a:effectLst/>
                <a:uLnTx/>
                <a:uFillTx/>
                <a:latin typeface="Times New Roman" panose="02020603050405020304" pitchFamily="18" charset="0"/>
                <a:sym typeface="+mn-ea"/>
              </a:rPr>
              <a:t> QTSX, </a:t>
            </a:r>
            <a:r>
              <a:rPr lang="en-US" sz="1800" noProof="0" dirty="0" err="1">
                <a:ln>
                  <a:noFill/>
                </a:ln>
                <a:effectLst/>
                <a:uLnTx/>
                <a:uFillTx/>
                <a:latin typeface="Times New Roman" panose="02020603050405020304" pitchFamily="18" charset="0"/>
                <a:sym typeface="+mn-ea"/>
              </a:rPr>
              <a:t>còn</a:t>
            </a:r>
            <a:r>
              <a:rPr lang="en-US" sz="1800" noProof="0" dirty="0">
                <a:ln>
                  <a:noFill/>
                </a:ln>
                <a:effectLst/>
                <a:uLnTx/>
                <a:uFillTx/>
                <a:latin typeface="Times New Roman" panose="02020603050405020304" pitchFamily="18" charset="0"/>
                <a:sym typeface="+mn-ea"/>
              </a:rPr>
              <a:t> QHSX </a:t>
            </a:r>
            <a:r>
              <a:rPr lang="en-US" sz="1800" noProof="0" dirty="0" err="1">
                <a:ln>
                  <a:noFill/>
                </a:ln>
                <a:effectLst/>
                <a:uLnTx/>
                <a:uFillTx/>
                <a:latin typeface="Times New Roman" panose="02020603050405020304" pitchFamily="18" charset="0"/>
                <a:sym typeface="+mn-ea"/>
              </a:rPr>
              <a:t>là</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hình</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thức</a:t>
            </a:r>
            <a:r>
              <a:rPr lang="en-US" sz="1800" noProof="0" dirty="0">
                <a:ln>
                  <a:noFill/>
                </a:ln>
                <a:effectLst/>
                <a:uLnTx/>
                <a:uFillTx/>
                <a:latin typeface="Times New Roman" panose="02020603050405020304" pitchFamily="18" charset="0"/>
                <a:sym typeface="+mn-ea"/>
              </a:rPr>
              <a:t> XH </a:t>
            </a:r>
            <a:r>
              <a:rPr lang="en-US" sz="1800" noProof="0" dirty="0" err="1">
                <a:ln>
                  <a:noFill/>
                </a:ln>
                <a:effectLst/>
                <a:uLnTx/>
                <a:uFillTx/>
                <a:latin typeface="Times New Roman" panose="02020603050405020304" pitchFamily="18" charset="0"/>
                <a:sym typeface="+mn-ea"/>
              </a:rPr>
              <a:t>của</a:t>
            </a:r>
            <a:r>
              <a:rPr lang="en-US" sz="1800" noProof="0" dirty="0">
                <a:ln>
                  <a:noFill/>
                </a:ln>
                <a:effectLst/>
                <a:uLnTx/>
                <a:uFillTx/>
                <a:latin typeface="Times New Roman" panose="02020603050405020304" pitchFamily="18" charset="0"/>
                <a:sym typeface="+mn-ea"/>
              </a:rPr>
              <a:t> QTSX. </a:t>
            </a:r>
            <a:r>
              <a:rPr lang="en-US" sz="1800" noProof="0" dirty="0" err="1">
                <a:ln>
                  <a:noFill/>
                </a:ln>
                <a:effectLst/>
                <a:uLnTx/>
                <a:uFillTx/>
                <a:latin typeface="Times New Roman" panose="02020603050405020304" pitchFamily="18" charset="0"/>
                <a:sym typeface="+mn-ea"/>
              </a:rPr>
              <a:t>Vì</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vậy</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trong</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mqh</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này</a:t>
            </a:r>
            <a:r>
              <a:rPr lang="en-US" sz="1800" noProof="0" dirty="0">
                <a:ln>
                  <a:noFill/>
                </a:ln>
                <a:effectLst/>
                <a:uLnTx/>
                <a:uFillTx/>
                <a:latin typeface="Times New Roman" panose="02020603050405020304" pitchFamily="18" charset="0"/>
                <a:sym typeface="+mn-ea"/>
              </a:rPr>
              <a:t> LLSX </a:t>
            </a:r>
            <a:r>
              <a:rPr lang="en-US" sz="1800" noProof="0" dirty="0" err="1">
                <a:ln>
                  <a:noFill/>
                </a:ln>
                <a:effectLst/>
                <a:uLnTx/>
                <a:uFillTx/>
                <a:latin typeface="Times New Roman" panose="02020603050405020304" pitchFamily="18" charset="0"/>
                <a:sym typeface="+mn-ea"/>
              </a:rPr>
              <a:t>là</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nội</a:t>
            </a:r>
            <a:r>
              <a:rPr lang="en-US" sz="1800" noProof="0" dirty="0">
                <a:ln>
                  <a:noFill/>
                </a:ln>
                <a:effectLst/>
                <a:uLnTx/>
                <a:uFillTx/>
                <a:latin typeface="Times New Roman" panose="02020603050405020304" pitchFamily="18" charset="0"/>
                <a:sym typeface="+mn-ea"/>
              </a:rPr>
              <a:t> dung </a:t>
            </a:r>
            <a:r>
              <a:rPr lang="en-US" sz="1800" noProof="0" dirty="0" err="1">
                <a:ln>
                  <a:noFill/>
                </a:ln>
                <a:effectLst/>
                <a:uLnTx/>
                <a:uFillTx/>
                <a:latin typeface="Times New Roman" panose="02020603050405020304" pitchFamily="18" charset="0"/>
                <a:sym typeface="+mn-ea"/>
              </a:rPr>
              <a:t>quyết</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định</a:t>
            </a:r>
            <a:r>
              <a:rPr lang="en-US" sz="1800" noProof="0" dirty="0">
                <a:ln>
                  <a:noFill/>
                </a:ln>
                <a:effectLst/>
                <a:uLnTx/>
                <a:uFillTx/>
                <a:latin typeface="Times New Roman" panose="02020603050405020304" pitchFamily="18" charset="0"/>
                <a:sym typeface="+mn-ea"/>
              </a:rPr>
              <a:t> QHSX.</a:t>
            </a:r>
            <a:endParaRPr lang="en-US" sz="1800" noProof="0" dirty="0">
              <a:ln>
                <a:noFill/>
              </a:ln>
              <a:effectLst/>
              <a:uLnTx/>
              <a:uFillTx/>
              <a:latin typeface="Times New Roman" panose="02020603050405020304" pitchFamily="18" charset="0"/>
              <a:sym typeface="+mn-ea"/>
            </a:endParaRPr>
          </a:p>
        </p:txBody>
      </p:sp>
      <p:sp>
        <p:nvSpPr>
          <p:cNvPr id="6" name="Oval 5"/>
          <p:cNvSpPr/>
          <p:nvPr/>
        </p:nvSpPr>
        <p:spPr>
          <a:xfrm>
            <a:off x="4190998" y="4259035"/>
            <a:ext cx="7162802" cy="131445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marR="0" lvl="0" algn="just" defTabSz="914400" rtl="0" eaLnBrk="1" fontAlgn="base" latinLnBrk="0" hangingPunct="1">
              <a:lnSpc>
                <a:spcPct val="100000"/>
              </a:lnSpc>
              <a:spcBef>
                <a:spcPct val="0"/>
              </a:spcBef>
              <a:spcAft>
                <a:spcPct val="0"/>
              </a:spcAft>
              <a:buClrTx/>
              <a:buSzTx/>
              <a:buFont typeface="Wingdings" panose="05000000000000000000" charset="0"/>
              <a:buChar char="ü"/>
              <a:defRPr/>
            </a:pPr>
            <a:r>
              <a:rPr lang="en-US" sz="1800" noProof="0" dirty="0">
                <a:ln>
                  <a:noFill/>
                </a:ln>
                <a:effectLst/>
                <a:uLnTx/>
                <a:uFillTx/>
                <a:latin typeface="Times New Roman" panose="02020603050405020304" pitchFamily="18" charset="0"/>
                <a:sym typeface="+mn-ea"/>
              </a:rPr>
              <a:t>LLSX </a:t>
            </a:r>
            <a:r>
              <a:rPr lang="en-US" sz="1800" noProof="0" dirty="0" err="1">
                <a:ln>
                  <a:noFill/>
                </a:ln>
                <a:effectLst/>
                <a:uLnTx/>
                <a:uFillTx/>
                <a:latin typeface="Times New Roman" panose="02020603050405020304" pitchFamily="18" charset="0"/>
                <a:sym typeface="+mn-ea"/>
              </a:rPr>
              <a:t>phát</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triển</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thì</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sớm</a:t>
            </a:r>
            <a:r>
              <a:rPr lang="en-US" sz="1800" noProof="0" dirty="0">
                <a:ln>
                  <a:noFill/>
                </a:ln>
                <a:effectLst/>
                <a:uLnTx/>
                <a:uFillTx/>
                <a:latin typeface="Times New Roman" panose="02020603050405020304" pitchFamily="18" charset="0"/>
                <a:sym typeface="+mn-ea"/>
              </a:rPr>
              <a:t> hay </a:t>
            </a:r>
            <a:r>
              <a:rPr lang="en-US" sz="1800" noProof="0" dirty="0" err="1">
                <a:ln>
                  <a:noFill/>
                </a:ln>
                <a:effectLst/>
                <a:uLnTx/>
                <a:uFillTx/>
                <a:latin typeface="Times New Roman" panose="02020603050405020304" pitchFamily="18" charset="0"/>
                <a:sym typeface="+mn-ea"/>
              </a:rPr>
              <a:t>muộn</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thì</a:t>
            </a:r>
            <a:r>
              <a:rPr lang="en-US" sz="1800" noProof="0" dirty="0">
                <a:ln>
                  <a:noFill/>
                </a:ln>
                <a:effectLst/>
                <a:uLnTx/>
                <a:uFillTx/>
                <a:latin typeface="Times New Roman" panose="02020603050405020304" pitchFamily="18" charset="0"/>
                <a:sym typeface="+mn-ea"/>
              </a:rPr>
              <a:t> QHSX </a:t>
            </a:r>
            <a:r>
              <a:rPr lang="en-US" sz="1800" noProof="0" dirty="0" err="1">
                <a:ln>
                  <a:noFill/>
                </a:ln>
                <a:effectLst/>
                <a:uLnTx/>
                <a:uFillTx/>
                <a:latin typeface="Times New Roman" panose="02020603050405020304" pitchFamily="18" charset="0"/>
                <a:sym typeface="+mn-ea"/>
              </a:rPr>
              <a:t>cũng</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biến</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đổi</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theo</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phù</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hợp</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với</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trình</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độ</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phát</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triển</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của</a:t>
            </a:r>
            <a:r>
              <a:rPr lang="en-US" sz="1800" noProof="0" dirty="0">
                <a:ln>
                  <a:noFill/>
                </a:ln>
                <a:effectLst/>
                <a:uLnTx/>
                <a:uFillTx/>
                <a:latin typeface="Times New Roman" panose="02020603050405020304" pitchFamily="18" charset="0"/>
                <a:sym typeface="+mn-ea"/>
              </a:rPr>
              <a:t> LLSX. </a:t>
            </a:r>
            <a:endParaRPr kumimoji="0" lang="en-US"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cxnSp>
        <p:nvCxnSpPr>
          <p:cNvPr id="8" name="Straight Arrow Connector 7"/>
          <p:cNvCxnSpPr>
            <a:stCxn id="3" idx="3"/>
            <a:endCxn id="4" idx="2"/>
          </p:cNvCxnSpPr>
          <p:nvPr/>
        </p:nvCxnSpPr>
        <p:spPr>
          <a:xfrm flipV="1">
            <a:off x="2917371" y="2017940"/>
            <a:ext cx="1273628" cy="1449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p:cNvCxnSpPr>
            <a:stCxn id="3" idx="3"/>
            <a:endCxn id="5" idx="2"/>
          </p:cNvCxnSpPr>
          <p:nvPr/>
        </p:nvCxnSpPr>
        <p:spPr>
          <a:xfrm flipV="1">
            <a:off x="2917371" y="3399065"/>
            <a:ext cx="1273627" cy="680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a:stCxn id="3" idx="3"/>
            <a:endCxn id="6" idx="2"/>
          </p:cNvCxnSpPr>
          <p:nvPr/>
        </p:nvCxnSpPr>
        <p:spPr>
          <a:xfrm>
            <a:off x="2917371" y="3467100"/>
            <a:ext cx="1273627" cy="1449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p:cNvSpPr/>
          <p:nvPr/>
        </p:nvSpPr>
        <p:spPr>
          <a:xfrm>
            <a:off x="1023257" y="359229"/>
            <a:ext cx="6520544" cy="9361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Wingdings" panose="05000000000000000000" pitchFamily="2" charset="2"/>
              <a:buChar char="v"/>
            </a:pPr>
            <a:r>
              <a:rPr lang="en-US" sz="2200" noProof="0" dirty="0" err="1">
                <a:ln>
                  <a:noFill/>
                </a:ln>
                <a:effectLst/>
                <a:uLnTx/>
                <a:uFillTx/>
                <a:latin typeface="Times New Roman" panose="02020603050405020304" pitchFamily="18" charset="0"/>
                <a:sym typeface="+mn-ea"/>
              </a:rPr>
              <a:t>Sự</a:t>
            </a:r>
            <a:r>
              <a:rPr lang="en-US" sz="2200" noProof="0" dirty="0">
                <a:ln>
                  <a:noFill/>
                </a:ln>
                <a:effectLst/>
                <a:uLnTx/>
                <a:uFillTx/>
                <a:latin typeface="Times New Roman" panose="02020603050405020304" pitchFamily="18" charset="0"/>
                <a:sym typeface="+mn-ea"/>
              </a:rPr>
              <a:t> </a:t>
            </a:r>
            <a:r>
              <a:rPr lang="en-US" sz="2200" noProof="0" dirty="0" err="1">
                <a:ln>
                  <a:noFill/>
                </a:ln>
                <a:effectLst/>
                <a:uLnTx/>
                <a:uFillTx/>
                <a:latin typeface="Times New Roman" panose="02020603050405020304" pitchFamily="18" charset="0"/>
                <a:sym typeface="+mn-ea"/>
              </a:rPr>
              <a:t>vận</a:t>
            </a:r>
            <a:r>
              <a:rPr lang="en-US" sz="2200" noProof="0" dirty="0">
                <a:ln>
                  <a:noFill/>
                </a:ln>
                <a:effectLst/>
                <a:uLnTx/>
                <a:uFillTx/>
                <a:latin typeface="Times New Roman" panose="02020603050405020304" pitchFamily="18" charset="0"/>
                <a:sym typeface="+mn-ea"/>
              </a:rPr>
              <a:t> </a:t>
            </a:r>
            <a:r>
              <a:rPr lang="en-US" sz="2200" noProof="0" dirty="0" err="1">
                <a:ln>
                  <a:noFill/>
                </a:ln>
                <a:effectLst/>
                <a:uLnTx/>
                <a:uFillTx/>
                <a:latin typeface="Times New Roman" panose="02020603050405020304" pitchFamily="18" charset="0"/>
                <a:sym typeface="+mn-ea"/>
              </a:rPr>
              <a:t>động</a:t>
            </a:r>
            <a:r>
              <a:rPr lang="en-US" sz="2200" noProof="0" dirty="0">
                <a:ln>
                  <a:noFill/>
                </a:ln>
                <a:effectLst/>
                <a:uLnTx/>
                <a:uFillTx/>
                <a:latin typeface="Times New Roman" panose="02020603050405020304" pitchFamily="18" charset="0"/>
                <a:sym typeface="+mn-ea"/>
              </a:rPr>
              <a:t> </a:t>
            </a:r>
            <a:r>
              <a:rPr lang="en-US" sz="2200" noProof="0" dirty="0" err="1">
                <a:ln>
                  <a:noFill/>
                </a:ln>
                <a:effectLst/>
                <a:uLnTx/>
                <a:uFillTx/>
                <a:latin typeface="Times New Roman" panose="02020603050405020304" pitchFamily="18" charset="0"/>
                <a:sym typeface="+mn-ea"/>
              </a:rPr>
              <a:t>phát</a:t>
            </a:r>
            <a:r>
              <a:rPr lang="en-US" sz="2200" noProof="0" dirty="0">
                <a:ln>
                  <a:noFill/>
                </a:ln>
                <a:effectLst/>
                <a:uLnTx/>
                <a:uFillTx/>
                <a:latin typeface="Times New Roman" panose="02020603050405020304" pitchFamily="18" charset="0"/>
                <a:sym typeface="+mn-ea"/>
              </a:rPr>
              <a:t> </a:t>
            </a:r>
            <a:r>
              <a:rPr lang="en-US" sz="2200" noProof="0" dirty="0" err="1">
                <a:ln>
                  <a:noFill/>
                </a:ln>
                <a:effectLst/>
                <a:uLnTx/>
                <a:uFillTx/>
                <a:latin typeface="Times New Roman" panose="02020603050405020304" pitchFamily="18" charset="0"/>
                <a:sym typeface="+mn-ea"/>
              </a:rPr>
              <a:t>của</a:t>
            </a:r>
            <a:r>
              <a:rPr lang="en-US" sz="2200" noProof="0" dirty="0">
                <a:ln>
                  <a:noFill/>
                </a:ln>
                <a:effectLst/>
                <a:uLnTx/>
                <a:uFillTx/>
                <a:latin typeface="Times New Roman" panose="02020603050405020304" pitchFamily="18" charset="0"/>
                <a:sym typeface="+mn-ea"/>
              </a:rPr>
              <a:t> </a:t>
            </a:r>
            <a:r>
              <a:rPr lang="vi-VN" altLang="en-US" sz="2200" noProof="0" dirty="0">
                <a:ln>
                  <a:noFill/>
                </a:ln>
                <a:effectLst/>
                <a:uLnTx/>
                <a:uFillTx/>
                <a:latin typeface="Times New Roman" panose="02020603050405020304" pitchFamily="18" charset="0"/>
                <a:sym typeface="+mn-ea"/>
              </a:rPr>
              <a:t>PT</a:t>
            </a:r>
            <a:r>
              <a:rPr lang="en-US" sz="2200" noProof="0" dirty="0">
                <a:ln>
                  <a:noFill/>
                </a:ln>
                <a:effectLst/>
                <a:uLnTx/>
                <a:uFillTx/>
                <a:latin typeface="Times New Roman" panose="02020603050405020304" pitchFamily="18" charset="0"/>
                <a:sym typeface="+mn-ea"/>
              </a:rPr>
              <a:t>SX </a:t>
            </a:r>
            <a:r>
              <a:rPr lang="vi-VN" altLang="en-US" sz="2200" noProof="0" dirty="0">
                <a:ln>
                  <a:noFill/>
                </a:ln>
                <a:effectLst/>
                <a:uLnTx/>
                <a:uFillTx/>
                <a:latin typeface="Times New Roman" panose="02020603050405020304" pitchFamily="18" charset="0"/>
                <a:sym typeface="+mn-ea"/>
              </a:rPr>
              <a:t>bắt đầu từ sự biến đổi của LLSX</a:t>
            </a:r>
            <a:r>
              <a:rPr lang="en-US" sz="2200" noProof="0" dirty="0">
                <a:ln>
                  <a:noFill/>
                </a:ln>
                <a:effectLst/>
                <a:uLnTx/>
                <a:uFillTx/>
                <a:latin typeface="Times New Roman" panose="02020603050405020304" pitchFamily="18" charset="0"/>
                <a:sym typeface="+mn-ea"/>
              </a:rPr>
              <a:t>. </a:t>
            </a:r>
            <a:r>
              <a:rPr lang="en-US" sz="2200" noProof="0" dirty="0" err="1">
                <a:ln>
                  <a:noFill/>
                </a:ln>
                <a:effectLst/>
                <a:uLnTx/>
                <a:uFillTx/>
                <a:latin typeface="Times New Roman" panose="02020603050405020304" pitchFamily="18" charset="0"/>
                <a:sym typeface="+mn-ea"/>
              </a:rPr>
              <a:t>Vậy</a:t>
            </a:r>
            <a:r>
              <a:rPr lang="en-US" sz="2200" noProof="0" dirty="0">
                <a:ln>
                  <a:noFill/>
                </a:ln>
                <a:effectLst/>
                <a:uLnTx/>
                <a:uFillTx/>
                <a:latin typeface="Times New Roman" panose="02020603050405020304" pitchFamily="18" charset="0"/>
                <a:sym typeface="+mn-ea"/>
              </a:rPr>
              <a:t> LLSX </a:t>
            </a:r>
            <a:r>
              <a:rPr lang="en-US" sz="2200" noProof="0" dirty="0" err="1">
                <a:ln>
                  <a:noFill/>
                </a:ln>
                <a:effectLst/>
                <a:uLnTx/>
                <a:uFillTx/>
                <a:latin typeface="Times New Roman" panose="02020603050405020304" pitchFamily="18" charset="0"/>
                <a:sym typeface="+mn-ea"/>
              </a:rPr>
              <a:t>quyết</a:t>
            </a:r>
            <a:r>
              <a:rPr lang="en-US" sz="2200" noProof="0" dirty="0">
                <a:ln>
                  <a:noFill/>
                </a:ln>
                <a:effectLst/>
                <a:uLnTx/>
                <a:uFillTx/>
                <a:latin typeface="Times New Roman" panose="02020603050405020304" pitchFamily="18" charset="0"/>
                <a:sym typeface="+mn-ea"/>
              </a:rPr>
              <a:t> </a:t>
            </a:r>
            <a:r>
              <a:rPr lang="en-US" sz="2200" noProof="0" dirty="0" err="1">
                <a:ln>
                  <a:noFill/>
                </a:ln>
                <a:effectLst/>
                <a:uLnTx/>
                <a:uFillTx/>
                <a:latin typeface="Times New Roman" panose="02020603050405020304" pitchFamily="18" charset="0"/>
                <a:sym typeface="+mn-ea"/>
              </a:rPr>
              <a:t>định</a:t>
            </a:r>
            <a:r>
              <a:rPr lang="en-US" sz="2200" noProof="0" dirty="0">
                <a:ln>
                  <a:noFill/>
                </a:ln>
                <a:effectLst/>
                <a:uLnTx/>
                <a:uFillTx/>
                <a:latin typeface="Times New Roman" panose="02020603050405020304" pitchFamily="18" charset="0"/>
                <a:sym typeface="+mn-ea"/>
              </a:rPr>
              <a:t> QHSX.</a:t>
            </a:r>
            <a:endParaRPr lang="en-US" sz="2200" noProof="0" dirty="0">
              <a:ln>
                <a:noFill/>
              </a:ln>
              <a:effectLst/>
              <a:uLnTx/>
              <a:uFillTx/>
              <a:latin typeface="Times New Roman" panose="02020603050405020304" pitchFamily="18"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03018"/>
          </a:xfrm>
        </p:spPr>
        <p:txBody>
          <a:bodyPr/>
          <a:lstStyle/>
          <a:p>
            <a:endParaRPr lang="en-US" dirty="0"/>
          </a:p>
        </p:txBody>
      </p:sp>
      <p:sp>
        <p:nvSpPr>
          <p:cNvPr id="3" name="Rectangle 2"/>
          <p:cNvSpPr/>
          <p:nvPr/>
        </p:nvSpPr>
        <p:spPr>
          <a:xfrm>
            <a:off x="990601" y="2449285"/>
            <a:ext cx="1611085" cy="18723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ctr">
              <a:buFont typeface="Wingdings" panose="05000000000000000000" pitchFamily="2" charset="2"/>
              <a:buChar char="v"/>
            </a:pPr>
            <a:r>
              <a:rPr lang="vi-VN" altLang="en-US" sz="1800" b="1" dirty="0">
                <a:latin typeface="Times New Roman" panose="02020603050405020304" pitchFamily="18" charset="0"/>
                <a:cs typeface="Times New Roman" panose="02020603050405020304" pitchFamily="18" charset="0"/>
              </a:rPr>
              <a:t>Sự tác động trở lại của QHSX đối với LLSX</a:t>
            </a:r>
            <a:endParaRPr lang="en-US" dirty="0"/>
          </a:p>
        </p:txBody>
      </p:sp>
      <p:sp>
        <p:nvSpPr>
          <p:cNvPr id="4" name="Rectangle: Rounded Corners 3"/>
          <p:cNvSpPr/>
          <p:nvPr/>
        </p:nvSpPr>
        <p:spPr>
          <a:xfrm>
            <a:off x="3733800" y="489857"/>
            <a:ext cx="7467599" cy="9144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R="0" lvl="0" algn="just" defTabSz="914400" rtl="0" eaLnBrk="1" fontAlgn="base" latinLnBrk="0" hangingPunct="1">
              <a:lnSpc>
                <a:spcPct val="100000"/>
              </a:lnSpc>
              <a:spcBef>
                <a:spcPct val="0"/>
              </a:spcBef>
              <a:spcAft>
                <a:spcPct val="0"/>
              </a:spcAft>
              <a:buClrTx/>
              <a:buSzTx/>
              <a:defRPr/>
            </a:pPr>
            <a:r>
              <a:rPr lang="vi-VN"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Nếu</a:t>
            </a:r>
            <a:r>
              <a:rPr lang="en-US" sz="1800" noProof="0" dirty="0">
                <a:ln>
                  <a:noFill/>
                </a:ln>
                <a:effectLst/>
                <a:uLnTx/>
                <a:uFillTx/>
                <a:latin typeface="Times New Roman" panose="02020603050405020304" pitchFamily="18" charset="0"/>
                <a:sym typeface="+mn-ea"/>
              </a:rPr>
              <a:t> QHSX </a:t>
            </a:r>
            <a:r>
              <a:rPr lang="en-US" sz="1800" noProof="0" dirty="0" err="1">
                <a:ln>
                  <a:noFill/>
                </a:ln>
                <a:effectLst/>
                <a:uLnTx/>
                <a:uFillTx/>
                <a:latin typeface="Times New Roman" panose="02020603050405020304" pitchFamily="18" charset="0"/>
                <a:sym typeface="+mn-ea"/>
              </a:rPr>
              <a:t>phù</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hợp</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với</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trình</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độ</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phát</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triển</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của</a:t>
            </a:r>
            <a:r>
              <a:rPr lang="en-US" sz="1800" noProof="0" dirty="0">
                <a:ln>
                  <a:noFill/>
                </a:ln>
                <a:effectLst/>
                <a:uLnTx/>
                <a:uFillTx/>
                <a:latin typeface="Times New Roman" panose="02020603050405020304" pitchFamily="18" charset="0"/>
                <a:sym typeface="+mn-ea"/>
              </a:rPr>
              <a:t> LLSX </a:t>
            </a:r>
            <a:r>
              <a:rPr lang="en-US" sz="1800" noProof="0" dirty="0" err="1">
                <a:ln>
                  <a:noFill/>
                </a:ln>
                <a:effectLst/>
                <a:uLnTx/>
                <a:uFillTx/>
                <a:latin typeface="Times New Roman" panose="02020603050405020304" pitchFamily="18" charset="0"/>
                <a:sym typeface="+mn-ea"/>
              </a:rPr>
              <a:t>thì</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sẽ</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tạo</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địa</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bàn</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rộng</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lớn</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cho</a:t>
            </a:r>
            <a:r>
              <a:rPr lang="en-US" sz="1800" noProof="0" dirty="0">
                <a:ln>
                  <a:noFill/>
                </a:ln>
                <a:effectLst/>
                <a:uLnTx/>
                <a:uFillTx/>
                <a:latin typeface="Times New Roman" panose="02020603050405020304" pitchFamily="18" charset="0"/>
                <a:sym typeface="+mn-ea"/>
              </a:rPr>
              <a:t> LLSX </a:t>
            </a:r>
            <a:r>
              <a:rPr lang="en-US" sz="1800" noProof="0" dirty="0" err="1">
                <a:ln>
                  <a:noFill/>
                </a:ln>
                <a:effectLst/>
                <a:uLnTx/>
                <a:uFillTx/>
                <a:latin typeface="Times New Roman" panose="02020603050405020304" pitchFamily="18" charset="0"/>
                <a:sym typeface="+mn-ea"/>
              </a:rPr>
              <a:t>phát</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triển</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nhờ</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đó</a:t>
            </a:r>
            <a:r>
              <a:rPr lang="en-US" sz="1800" noProof="0" dirty="0">
                <a:ln>
                  <a:noFill/>
                </a:ln>
                <a:effectLst/>
                <a:uLnTx/>
                <a:uFillTx/>
                <a:latin typeface="Times New Roman" panose="02020603050405020304" pitchFamily="18" charset="0"/>
                <a:sym typeface="+mn-ea"/>
              </a:rPr>
              <a:t> QHSX </a:t>
            </a:r>
            <a:r>
              <a:rPr lang="en-US" sz="1800" noProof="0" dirty="0" err="1">
                <a:ln>
                  <a:noFill/>
                </a:ln>
                <a:effectLst/>
                <a:uLnTx/>
                <a:uFillTx/>
                <a:latin typeface="Times New Roman" panose="02020603050405020304" pitchFamily="18" charset="0"/>
                <a:sym typeface="+mn-ea"/>
              </a:rPr>
              <a:t>sẽ</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thúc</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đẩy</a:t>
            </a:r>
            <a:r>
              <a:rPr lang="en-US" sz="1800" noProof="0" dirty="0">
                <a:ln>
                  <a:noFill/>
                </a:ln>
                <a:effectLst/>
                <a:uLnTx/>
                <a:uFillTx/>
                <a:latin typeface="Times New Roman" panose="02020603050405020304" pitchFamily="18" charset="0"/>
                <a:sym typeface="+mn-ea"/>
              </a:rPr>
              <a:t> LLSX </a:t>
            </a:r>
            <a:r>
              <a:rPr lang="en-US" sz="1800" noProof="0" dirty="0" err="1">
                <a:ln>
                  <a:noFill/>
                </a:ln>
                <a:effectLst/>
                <a:uLnTx/>
                <a:uFillTx/>
                <a:latin typeface="Times New Roman" panose="02020603050405020304" pitchFamily="18" charset="0"/>
                <a:sym typeface="+mn-ea"/>
              </a:rPr>
              <a:t>phát</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triển</a:t>
            </a:r>
            <a:r>
              <a:rPr lang="en-US" sz="1800" noProof="0" dirty="0">
                <a:ln>
                  <a:noFill/>
                </a:ln>
                <a:effectLst/>
                <a:uLnTx/>
                <a:uFillTx/>
                <a:latin typeface="Times New Roman" panose="02020603050405020304" pitchFamily="18" charset="0"/>
                <a:sym typeface="+mn-ea"/>
              </a:rPr>
              <a:t>.</a:t>
            </a:r>
            <a:endParaRPr lang="en-US" sz="1800" noProof="0" dirty="0">
              <a:ln>
                <a:noFill/>
              </a:ln>
              <a:effectLst/>
              <a:uLnTx/>
              <a:uFillTx/>
              <a:latin typeface="Times New Roman" panose="02020603050405020304" pitchFamily="18" charset="0"/>
              <a:sym typeface="+mn-ea"/>
            </a:endParaRPr>
          </a:p>
        </p:txBody>
      </p:sp>
      <p:sp>
        <p:nvSpPr>
          <p:cNvPr id="5" name="Rectangle: Rounded Corners 4"/>
          <p:cNvSpPr/>
          <p:nvPr/>
        </p:nvSpPr>
        <p:spPr>
          <a:xfrm>
            <a:off x="3733800" y="1600202"/>
            <a:ext cx="7467599" cy="9144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R="0" lvl="0" algn="just" defTabSz="914400" rtl="0" eaLnBrk="1" fontAlgn="base" latinLnBrk="0" hangingPunct="1">
              <a:lnSpc>
                <a:spcPct val="100000"/>
              </a:lnSpc>
              <a:spcBef>
                <a:spcPct val="0"/>
              </a:spcBef>
              <a:spcAft>
                <a:spcPct val="0"/>
              </a:spcAft>
              <a:buClrTx/>
              <a:buSzTx/>
              <a:defRPr/>
            </a:pPr>
            <a:r>
              <a:rPr lang="vi-VN"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Sự</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phù</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hợp</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của</a:t>
            </a:r>
            <a:r>
              <a:rPr lang="en-US" sz="1800" noProof="0" dirty="0">
                <a:ln>
                  <a:noFill/>
                </a:ln>
                <a:effectLst/>
                <a:uLnTx/>
                <a:uFillTx/>
                <a:latin typeface="Times New Roman" panose="02020603050405020304" pitchFamily="18" charset="0"/>
                <a:sym typeface="+mn-ea"/>
              </a:rPr>
              <a:t> LLSX &amp; QHSX </a:t>
            </a:r>
            <a:r>
              <a:rPr lang="en-US" sz="1800" noProof="0" dirty="0" err="1">
                <a:ln>
                  <a:noFill/>
                </a:ln>
                <a:effectLst/>
                <a:uLnTx/>
                <a:uFillTx/>
                <a:latin typeface="Times New Roman" panose="02020603050405020304" pitchFamily="18" charset="0"/>
                <a:sym typeface="+mn-ea"/>
              </a:rPr>
              <a:t>thể</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hiện</a:t>
            </a:r>
            <a:r>
              <a:rPr lang="en-US" sz="1800" noProof="0" dirty="0">
                <a:ln>
                  <a:noFill/>
                </a:ln>
                <a:effectLst/>
                <a:uLnTx/>
                <a:uFillTx/>
                <a:latin typeface="Times New Roman" panose="02020603050405020304" pitchFamily="18" charset="0"/>
                <a:sym typeface="+mn-ea"/>
              </a:rPr>
              <a:t> ở NSLĐ </a:t>
            </a:r>
            <a:r>
              <a:rPr lang="en-US" sz="1800" noProof="0" dirty="0" err="1">
                <a:ln>
                  <a:noFill/>
                </a:ln>
                <a:effectLst/>
                <a:uLnTx/>
                <a:uFillTx/>
                <a:latin typeface="Times New Roman" panose="02020603050405020304" pitchFamily="18" charset="0"/>
                <a:sym typeface="+mn-ea"/>
              </a:rPr>
              <a:t>tăng</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đời</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sống</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của</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người</a:t>
            </a:r>
            <a:r>
              <a:rPr lang="en-US" sz="1800" noProof="0" dirty="0">
                <a:ln>
                  <a:noFill/>
                </a:ln>
                <a:effectLst/>
                <a:uLnTx/>
                <a:uFillTx/>
                <a:latin typeface="Times New Roman" panose="02020603050405020304" pitchFamily="18" charset="0"/>
                <a:sym typeface="+mn-ea"/>
              </a:rPr>
              <a:t> LĐ </a:t>
            </a:r>
            <a:r>
              <a:rPr lang="en-US" sz="1800" noProof="0" dirty="0" err="1">
                <a:ln>
                  <a:noFill/>
                </a:ln>
                <a:effectLst/>
                <a:uLnTx/>
                <a:uFillTx/>
                <a:latin typeface="Times New Roman" panose="02020603050405020304" pitchFamily="18" charset="0"/>
                <a:sym typeface="+mn-ea"/>
              </a:rPr>
              <a:t>được</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đảm</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bảo</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phù</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hợp</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còn</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có</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nghĩa</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là</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tạo</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đk</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sử</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dụng</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và</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kết</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hợp</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một</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cách</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tối</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ưu</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giữa</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người</a:t>
            </a:r>
            <a:r>
              <a:rPr lang="en-US" sz="1800" noProof="0" dirty="0">
                <a:ln>
                  <a:noFill/>
                </a:ln>
                <a:effectLst/>
                <a:uLnTx/>
                <a:uFillTx/>
                <a:latin typeface="Times New Roman" panose="02020603050405020304" pitchFamily="18" charset="0"/>
                <a:sym typeface="+mn-ea"/>
              </a:rPr>
              <a:t> LĐ </a:t>
            </a:r>
            <a:r>
              <a:rPr lang="en-US" sz="1800" noProof="0" dirty="0" err="1">
                <a:ln>
                  <a:noFill/>
                </a:ln>
                <a:effectLst/>
                <a:uLnTx/>
                <a:uFillTx/>
                <a:latin typeface="Times New Roman" panose="02020603050405020304" pitchFamily="18" charset="0"/>
                <a:sym typeface="+mn-ea"/>
              </a:rPr>
              <a:t>và</a:t>
            </a:r>
            <a:r>
              <a:rPr lang="en-US" sz="1800" noProof="0" dirty="0">
                <a:ln>
                  <a:noFill/>
                </a:ln>
                <a:effectLst/>
                <a:uLnTx/>
                <a:uFillTx/>
                <a:latin typeface="Times New Roman" panose="02020603050405020304" pitchFamily="18" charset="0"/>
                <a:sym typeface="+mn-ea"/>
              </a:rPr>
              <a:t> TLSX.</a:t>
            </a:r>
            <a:endParaRPr lang="en-US" sz="1800" noProof="0" dirty="0">
              <a:ln>
                <a:noFill/>
              </a:ln>
              <a:effectLst/>
              <a:uLnTx/>
              <a:uFillTx/>
              <a:latin typeface="Times New Roman" panose="02020603050405020304" pitchFamily="18" charset="0"/>
              <a:sym typeface="+mn-ea"/>
            </a:endParaRPr>
          </a:p>
        </p:txBody>
      </p:sp>
      <p:sp>
        <p:nvSpPr>
          <p:cNvPr id="6" name="Rectangle: Rounded Corners 5"/>
          <p:cNvSpPr/>
          <p:nvPr/>
        </p:nvSpPr>
        <p:spPr>
          <a:xfrm>
            <a:off x="3733800" y="2656112"/>
            <a:ext cx="7467598" cy="111034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R="0" lvl="0" algn="just" defTabSz="914400" rtl="0" eaLnBrk="1" fontAlgn="base" latinLnBrk="0" hangingPunct="1">
              <a:lnSpc>
                <a:spcPct val="100000"/>
              </a:lnSpc>
              <a:spcBef>
                <a:spcPct val="0"/>
              </a:spcBef>
              <a:spcAft>
                <a:spcPct val="0"/>
              </a:spcAft>
              <a:buClrTx/>
              <a:buSzTx/>
              <a:defRPr/>
            </a:pPr>
            <a:r>
              <a:rPr lang="vi-VN" sz="1800" noProof="0" dirty="0">
                <a:ln>
                  <a:noFill/>
                </a:ln>
                <a:effectLst/>
                <a:uLnTx/>
                <a:uFillTx/>
                <a:latin typeface="Times New Roman" panose="02020603050405020304" pitchFamily="18" charset="0"/>
                <a:sym typeface="+mn-ea"/>
              </a:rPr>
              <a:t>- </a:t>
            </a:r>
            <a:r>
              <a:rPr lang="en-US" sz="1800" noProof="0" dirty="0">
                <a:ln>
                  <a:noFill/>
                </a:ln>
                <a:effectLst/>
                <a:uLnTx/>
                <a:uFillTx/>
                <a:latin typeface="Times New Roman" panose="02020603050405020304" pitchFamily="18" charset="0"/>
                <a:sym typeface="+mn-ea"/>
              </a:rPr>
              <a:t>Khi QHSX </a:t>
            </a:r>
            <a:r>
              <a:rPr lang="en-US" sz="1800" noProof="0" dirty="0" err="1">
                <a:ln>
                  <a:noFill/>
                </a:ln>
                <a:effectLst/>
                <a:uLnTx/>
                <a:uFillTx/>
                <a:latin typeface="Times New Roman" panose="02020603050405020304" pitchFamily="18" charset="0"/>
                <a:sym typeface="+mn-ea"/>
              </a:rPr>
              <a:t>không</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phù</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hợp</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với</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trình</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độ</a:t>
            </a:r>
            <a:r>
              <a:rPr lang="en-US" sz="1800" noProof="0" dirty="0">
                <a:ln>
                  <a:noFill/>
                </a:ln>
                <a:effectLst/>
                <a:uLnTx/>
                <a:uFillTx/>
                <a:latin typeface="Times New Roman" panose="02020603050405020304" pitchFamily="18" charset="0"/>
                <a:sym typeface="+mn-ea"/>
              </a:rPr>
              <a:t> </a:t>
            </a:r>
            <a:r>
              <a:rPr lang="vi-VN" altLang="en-US" sz="1800" noProof="0" dirty="0">
                <a:ln>
                  <a:noFill/>
                </a:ln>
                <a:effectLst/>
                <a:uLnTx/>
                <a:uFillTx/>
                <a:latin typeface="Times New Roman" panose="02020603050405020304" pitchFamily="18" charset="0"/>
                <a:sym typeface="+mn-ea"/>
              </a:rPr>
              <a:t>phát triển</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của</a:t>
            </a:r>
            <a:r>
              <a:rPr lang="en-US" sz="1800" noProof="0" dirty="0">
                <a:ln>
                  <a:noFill/>
                </a:ln>
                <a:effectLst/>
                <a:uLnTx/>
                <a:uFillTx/>
                <a:latin typeface="Times New Roman" panose="02020603050405020304" pitchFamily="18" charset="0"/>
                <a:sym typeface="+mn-ea"/>
              </a:rPr>
              <a:t> LLSX </a:t>
            </a:r>
            <a:r>
              <a:rPr lang="en-US" sz="1800" noProof="0" dirty="0" err="1">
                <a:ln>
                  <a:noFill/>
                </a:ln>
                <a:effectLst/>
                <a:uLnTx/>
                <a:uFillTx/>
                <a:latin typeface="Times New Roman" panose="02020603050405020304" pitchFamily="18" charset="0"/>
                <a:sym typeface="+mn-ea"/>
              </a:rPr>
              <a:t>thì</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nó</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sẽ</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kìm</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hãm</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cản</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trở</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sự</a:t>
            </a:r>
            <a:r>
              <a:rPr lang="en-US" sz="1800" noProof="0" dirty="0">
                <a:ln>
                  <a:noFill/>
                </a:ln>
                <a:effectLst/>
                <a:uLnTx/>
                <a:uFillTx/>
                <a:latin typeface="Times New Roman" panose="02020603050405020304" pitchFamily="18" charset="0"/>
                <a:sym typeface="+mn-ea"/>
              </a:rPr>
              <a:t> PT </a:t>
            </a:r>
            <a:r>
              <a:rPr lang="en-US" sz="1800" noProof="0" dirty="0" err="1">
                <a:ln>
                  <a:noFill/>
                </a:ln>
                <a:effectLst/>
                <a:uLnTx/>
                <a:uFillTx/>
                <a:latin typeface="Times New Roman" panose="02020603050405020304" pitchFamily="18" charset="0"/>
                <a:sym typeface="+mn-ea"/>
              </a:rPr>
              <a:t>của</a:t>
            </a:r>
            <a:r>
              <a:rPr lang="en-US" sz="1800" noProof="0" dirty="0">
                <a:ln>
                  <a:noFill/>
                </a:ln>
                <a:effectLst/>
                <a:uLnTx/>
                <a:uFillTx/>
                <a:latin typeface="Times New Roman" panose="02020603050405020304" pitchFamily="18" charset="0"/>
                <a:sym typeface="+mn-ea"/>
              </a:rPr>
              <a:t> LLSX. QHSX </a:t>
            </a:r>
            <a:r>
              <a:rPr lang="en-US" sz="1800" noProof="0" dirty="0" err="1">
                <a:ln>
                  <a:noFill/>
                </a:ln>
                <a:effectLst/>
                <a:uLnTx/>
                <a:uFillTx/>
                <a:latin typeface="Times New Roman" panose="02020603050405020304" pitchFamily="18" charset="0"/>
                <a:sym typeface="+mn-ea"/>
              </a:rPr>
              <a:t>không</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phù</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hợp</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nghĩa</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là</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nó</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lạc</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hậu</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lỗi</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thời</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hoặc</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vượt</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trước</a:t>
            </a:r>
            <a:r>
              <a:rPr lang="en-US" sz="1800" noProof="0" dirty="0">
                <a:ln>
                  <a:noFill/>
                </a:ln>
                <a:effectLst/>
                <a:uLnTx/>
                <a:uFillTx/>
                <a:latin typeface="Times New Roman" panose="02020603050405020304" pitchFamily="18" charset="0"/>
                <a:sym typeface="+mn-ea"/>
              </a:rPr>
              <a:t> </a:t>
            </a:r>
            <a:r>
              <a:rPr lang="en-US" sz="1800" noProof="0" dirty="0" err="1">
                <a:ln>
                  <a:noFill/>
                </a:ln>
                <a:effectLst/>
                <a:uLnTx/>
                <a:uFillTx/>
                <a:latin typeface="Times New Roman" panose="02020603050405020304" pitchFamily="18" charset="0"/>
                <a:sym typeface="+mn-ea"/>
              </a:rPr>
              <a:t>quá</a:t>
            </a:r>
            <a:r>
              <a:rPr lang="en-US" sz="1800" noProof="0" dirty="0">
                <a:ln>
                  <a:noFill/>
                </a:ln>
                <a:effectLst/>
                <a:uLnTx/>
                <a:uFillTx/>
                <a:latin typeface="Times New Roman" panose="02020603050405020304" pitchFamily="18" charset="0"/>
                <a:sym typeface="+mn-ea"/>
              </a:rPr>
              <a:t> xa so </a:t>
            </a:r>
            <a:r>
              <a:rPr lang="en-US" sz="1800" noProof="0" dirty="0" err="1">
                <a:ln>
                  <a:noFill/>
                </a:ln>
                <a:effectLst/>
                <a:uLnTx/>
                <a:uFillTx/>
                <a:latin typeface="Times New Roman" panose="02020603050405020304" pitchFamily="18" charset="0"/>
                <a:sym typeface="+mn-ea"/>
              </a:rPr>
              <a:t>với</a:t>
            </a:r>
            <a:r>
              <a:rPr lang="en-US" sz="1800" noProof="0" dirty="0">
                <a:ln>
                  <a:noFill/>
                </a:ln>
                <a:effectLst/>
                <a:uLnTx/>
                <a:uFillTx/>
                <a:latin typeface="Times New Roman" panose="02020603050405020304" pitchFamily="18" charset="0"/>
                <a:sym typeface="+mn-ea"/>
              </a:rPr>
              <a:t> LLSX</a:t>
            </a:r>
            <a:endParaRPr lang="en-US" sz="1800" noProof="0" dirty="0">
              <a:ln>
                <a:noFill/>
              </a:ln>
              <a:effectLst/>
              <a:uLnTx/>
              <a:uFillTx/>
              <a:latin typeface="Times New Roman" panose="02020603050405020304" pitchFamily="18" charset="0"/>
              <a:sym typeface="+mn-ea"/>
            </a:endParaRPr>
          </a:p>
        </p:txBody>
      </p:sp>
      <p:sp>
        <p:nvSpPr>
          <p:cNvPr id="7" name="Rectangle: Rounded Corners 6"/>
          <p:cNvSpPr/>
          <p:nvPr/>
        </p:nvSpPr>
        <p:spPr>
          <a:xfrm>
            <a:off x="3733800" y="3907966"/>
            <a:ext cx="7467598" cy="111034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R="0" lvl="0" algn="just" defTabSz="914400" rtl="0" eaLnBrk="1" fontAlgn="base" latinLnBrk="0" hangingPunct="1">
              <a:lnSpc>
                <a:spcPct val="100000"/>
              </a:lnSpc>
              <a:spcBef>
                <a:spcPct val="0"/>
              </a:spcBef>
              <a:spcAft>
                <a:spcPct val="0"/>
              </a:spcAft>
              <a:buClrTx/>
              <a:buSzTx/>
              <a:defRPr/>
            </a:pPr>
            <a:r>
              <a:rPr lang="vi-VN"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Sự</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tác</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động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của</a:t>
            </a:r>
            <a:r>
              <a:rPr lang="en-US" altLang="en-US" sz="1800" dirty="0">
                <a:latin typeface="Times New Roman" panose="02020603050405020304" pitchFamily="18" charset="0"/>
                <a:cs typeface="Times New Roman" panose="02020603050405020304" pitchFamily="18" charset="0"/>
                <a:sym typeface="+mn-ea"/>
              </a:rPr>
              <a:t> QHSX </a:t>
            </a:r>
            <a:r>
              <a:rPr lang="en-US" altLang="en-US" sz="1800" dirty="0" err="1">
                <a:latin typeface="Times New Roman" panose="02020603050405020304" pitchFamily="18" charset="0"/>
                <a:cs typeface="Times New Roman" panose="02020603050405020304" pitchFamily="18" charset="0"/>
                <a:sym typeface="+mn-ea"/>
              </a:rPr>
              <a:t>tới</a:t>
            </a:r>
            <a:r>
              <a:rPr lang="en-US" altLang="en-US" sz="1800" dirty="0">
                <a:latin typeface="Times New Roman" panose="02020603050405020304" pitchFamily="18" charset="0"/>
                <a:cs typeface="Times New Roman" panose="02020603050405020304" pitchFamily="18" charset="0"/>
                <a:sym typeface="+mn-ea"/>
              </a:rPr>
              <a:t> LLSX </a:t>
            </a:r>
            <a:r>
              <a:rPr lang="en-US" altLang="en-US" sz="1800" dirty="0" err="1">
                <a:latin typeface="Times New Roman" panose="02020603050405020304" pitchFamily="18" charset="0"/>
                <a:cs typeface="Times New Roman" panose="02020603050405020304" pitchFamily="18" charset="0"/>
                <a:sym typeface="+mn-ea"/>
              </a:rPr>
              <a:t>cò</a:t>
            </a:r>
            <a:r>
              <a:rPr lang="vi-VN" altLang="en-US" sz="1800" dirty="0">
                <a:latin typeface="Times New Roman" panose="02020603050405020304" pitchFamily="18" charset="0"/>
                <a:cs typeface="Times New Roman" panose="02020603050405020304" pitchFamily="18" charset="0"/>
                <a:sym typeface="+mn-ea"/>
              </a:rPr>
              <a:t>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thể</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hiện</a:t>
            </a:r>
            <a:r>
              <a:rPr lang="en-US" altLang="en-US" sz="1800" dirty="0">
                <a:latin typeface="Times New Roman" panose="02020603050405020304" pitchFamily="18" charset="0"/>
                <a:cs typeface="Times New Roman" panose="02020603050405020304" pitchFamily="18" charset="0"/>
                <a:sym typeface="+mn-ea"/>
              </a:rPr>
              <a:t> ở </a:t>
            </a:r>
            <a:r>
              <a:rPr lang="en-US" altLang="en-US" sz="1800" dirty="0" err="1">
                <a:latin typeface="Times New Roman" panose="02020603050405020304" pitchFamily="18" charset="0"/>
                <a:cs typeface="Times New Roman" panose="02020603050405020304" pitchFamily="18" charset="0"/>
                <a:sym typeface="+mn-ea"/>
              </a:rPr>
              <a:t>chỗ</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nó</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quy</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định</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mục</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đích</a:t>
            </a:r>
            <a:r>
              <a:rPr lang="en-US" altLang="en-US" sz="1800" dirty="0">
                <a:latin typeface="Times New Roman" panose="02020603050405020304" pitchFamily="18" charset="0"/>
                <a:cs typeface="Times New Roman" panose="02020603050405020304" pitchFamily="18" charset="0"/>
                <a:sym typeface="+mn-ea"/>
              </a:rPr>
              <a:t> SX, </a:t>
            </a:r>
            <a:r>
              <a:rPr lang="en-US" altLang="en-US" sz="1800" dirty="0" err="1">
                <a:latin typeface="Times New Roman" panose="02020603050405020304" pitchFamily="18" charset="0"/>
                <a:cs typeface="Times New Roman" panose="02020603050405020304" pitchFamily="18" charset="0"/>
                <a:sym typeface="+mn-ea"/>
              </a:rPr>
              <a:t>ảnh</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hưởng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tới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thái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độ</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lao</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động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của</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người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lao</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động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kích</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thích</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hoặc</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kìm</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hãm</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việc</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cải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tiến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công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cụ</a:t>
            </a:r>
            <a:r>
              <a:rPr lang="en-US" altLang="en-US" sz="1800" dirty="0">
                <a:latin typeface="Times New Roman" panose="02020603050405020304" pitchFamily="18" charset="0"/>
                <a:cs typeface="Times New Roman" panose="02020603050405020304" pitchFamily="18" charset="0"/>
                <a:sym typeface="+mn-ea"/>
              </a:rPr>
              <a:t> LĐ </a:t>
            </a:r>
            <a:r>
              <a:rPr lang="en-US" altLang="en-US" sz="1800" dirty="0" err="1">
                <a:latin typeface="Times New Roman" panose="02020603050405020304" pitchFamily="18" charset="0"/>
                <a:cs typeface="Times New Roman" panose="02020603050405020304" pitchFamily="18" charset="0"/>
                <a:sym typeface="+mn-ea"/>
              </a:rPr>
              <a:t>cũng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như</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việc</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áp</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dụng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a:t>
            </a:r>
            <a:r>
              <a:rPr lang="en-US" altLang="en-US" sz="1800" dirty="0" err="1">
                <a:latin typeface="Times New Roman" panose="02020603050405020304" pitchFamily="18" charset="0"/>
                <a:ea typeface="Times New Roman" panose="02020603050405020304" pitchFamily="18" charset="0"/>
                <a:sym typeface="+mn-ea"/>
              </a:rPr>
              <a:t>à</a:t>
            </a:r>
            <a:r>
              <a:rPr lang="en-US" altLang="en-US" sz="1800" dirty="0" err="1">
                <a:latin typeface="Times New Roman" panose="02020603050405020304" pitchFamily="18" charset="0"/>
                <a:cs typeface="Times New Roman" panose="02020603050405020304" pitchFamily="18" charset="0"/>
                <a:sym typeface="+mn-ea"/>
              </a:rPr>
              <a:t>nh</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tựu</a:t>
            </a:r>
            <a:r>
              <a:rPr lang="en-US" altLang="en-US" sz="1800" dirty="0">
                <a:latin typeface="Times New Roman" panose="02020603050405020304" pitchFamily="18" charset="0"/>
                <a:cs typeface="Times New Roman" panose="02020603050405020304" pitchFamily="18" charset="0"/>
                <a:sym typeface="+mn-ea"/>
              </a:rPr>
              <a:t> KHKT </a:t>
            </a:r>
            <a:r>
              <a:rPr lang="en-US" altLang="en-US" sz="1800" dirty="0" err="1">
                <a:latin typeface="Times New Roman" panose="02020603050405020304" pitchFamily="18" charset="0"/>
                <a:cs typeface="Times New Roman" panose="02020603050405020304" pitchFamily="18" charset="0"/>
                <a:sym typeface="+mn-ea"/>
              </a:rPr>
              <a:t>v</a:t>
            </a:r>
            <a:r>
              <a:rPr lang="en-US" altLang="en-US" sz="1800" dirty="0" err="1">
                <a:latin typeface="Times New Roman" panose="02020603050405020304" pitchFamily="18" charset="0"/>
                <a:ea typeface="Times New Roman" panose="02020603050405020304" pitchFamily="18" charset="0"/>
                <a:sym typeface="+mn-ea"/>
              </a:rPr>
              <a:t>à</a:t>
            </a:r>
            <a:r>
              <a:rPr lang="en-US" altLang="en-US" sz="1800" dirty="0" err="1">
                <a:latin typeface="Times New Roman" panose="02020603050405020304" pitchFamily="18" charset="0"/>
                <a:cs typeface="Times New Roman" panose="02020603050405020304" pitchFamily="18" charset="0"/>
                <a:sym typeface="+mn-ea"/>
              </a:rPr>
              <a:t>o</a:t>
            </a:r>
            <a:r>
              <a:rPr lang="en-US" altLang="en-US" sz="1800" dirty="0">
                <a:latin typeface="Times New Roman" panose="02020603050405020304" pitchFamily="18" charset="0"/>
                <a:cs typeface="Times New Roman" panose="02020603050405020304" pitchFamily="18" charset="0"/>
                <a:sym typeface="+mn-ea"/>
              </a:rPr>
              <a:t> SX.</a:t>
            </a:r>
            <a:endParaRPr lang="en-US" altLang="en-US" sz="1800" dirty="0">
              <a:latin typeface="Times New Roman" panose="02020603050405020304" pitchFamily="18" charset="0"/>
              <a:cs typeface="Times New Roman" panose="02020603050405020304" pitchFamily="18" charset="0"/>
              <a:sym typeface="+mn-ea"/>
            </a:endParaRPr>
          </a:p>
        </p:txBody>
      </p:sp>
      <p:sp>
        <p:nvSpPr>
          <p:cNvPr id="8" name="Rectangle: Rounded Corners 7"/>
          <p:cNvSpPr/>
          <p:nvPr/>
        </p:nvSpPr>
        <p:spPr>
          <a:xfrm>
            <a:off x="3733800" y="5159820"/>
            <a:ext cx="7467598" cy="97972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R="0" lvl="0" algn="l" defTabSz="914400" rtl="0" eaLnBrk="1" fontAlgn="base" latinLnBrk="0" hangingPunct="1">
              <a:lnSpc>
                <a:spcPct val="100000"/>
              </a:lnSpc>
              <a:spcBef>
                <a:spcPct val="0"/>
              </a:spcBef>
              <a:spcAft>
                <a:spcPct val="0"/>
              </a:spcAft>
              <a:buClrTx/>
              <a:buSzTx/>
              <a:defRPr/>
            </a:pPr>
            <a:r>
              <a:rPr lang="vi-VN"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Việc</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giải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quyết</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mâu</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thuẫn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giữa</a:t>
            </a:r>
            <a:r>
              <a:rPr lang="en-US" altLang="en-US" sz="1800" dirty="0">
                <a:latin typeface="Times New Roman" panose="02020603050405020304" pitchFamily="18" charset="0"/>
                <a:cs typeface="Times New Roman" panose="02020603050405020304" pitchFamily="18" charset="0"/>
                <a:sym typeface="+mn-ea"/>
              </a:rPr>
              <a:t> LLSX </a:t>
            </a:r>
            <a:r>
              <a:rPr lang="en-US" altLang="en-US" sz="1800" dirty="0" err="1">
                <a:latin typeface="Times New Roman" panose="02020603050405020304" pitchFamily="18" charset="0"/>
                <a:cs typeface="Times New Roman" panose="02020603050405020304" pitchFamily="18" charset="0"/>
                <a:sym typeface="+mn-ea"/>
              </a:rPr>
              <a:t>v</a:t>
            </a:r>
            <a:r>
              <a:rPr lang="en-US" altLang="en-US" sz="1800" dirty="0" err="1">
                <a:latin typeface="Times New Roman" panose="02020603050405020304" pitchFamily="18" charset="0"/>
                <a:ea typeface="Times New Roman" panose="02020603050405020304" pitchFamily="18" charset="0"/>
                <a:sym typeface="+mn-ea"/>
              </a:rPr>
              <a:t>à</a:t>
            </a:r>
            <a:r>
              <a:rPr lang="en-US" altLang="en-US" sz="1800" dirty="0">
                <a:latin typeface="Times New Roman" panose="02020603050405020304" pitchFamily="18" charset="0"/>
                <a:cs typeface="Times New Roman" panose="02020603050405020304" pitchFamily="18" charset="0"/>
                <a:sym typeface="+mn-ea"/>
              </a:rPr>
              <a:t> QHSX </a:t>
            </a:r>
            <a:r>
              <a:rPr lang="en-US" altLang="en-US" sz="1800" dirty="0" err="1">
                <a:latin typeface="Times New Roman" panose="02020603050405020304" pitchFamily="18" charset="0"/>
                <a:cs typeface="Times New Roman" panose="02020603050405020304" pitchFamily="18" charset="0"/>
                <a:sym typeface="+mn-ea"/>
              </a:rPr>
              <a:t>phải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thông</a:t>
            </a:r>
            <a:r>
              <a:rPr lang="en-US" altLang="en-US" sz="1800" dirty="0">
                <a:latin typeface="Times New Roman" panose="02020603050405020304" pitchFamily="18" charset="0"/>
                <a:cs typeface="Times New Roman" panose="02020603050405020304" pitchFamily="18" charset="0"/>
                <a:sym typeface="+mn-ea"/>
              </a:rPr>
              <a:t> qua </a:t>
            </a:r>
            <a:r>
              <a:rPr lang="en-US" altLang="en-US" sz="1800" dirty="0" err="1">
                <a:latin typeface="Times New Roman" panose="02020603050405020304" pitchFamily="18" charset="0"/>
                <a:cs typeface="Times New Roman" panose="02020603050405020304" pitchFamily="18" charset="0"/>
                <a:sym typeface="+mn-ea"/>
              </a:rPr>
              <a:t>nhận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thức</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v</a:t>
            </a:r>
            <a:r>
              <a:rPr lang="en-US" altLang="en-US" sz="1800" dirty="0" err="1">
                <a:latin typeface="Times New Roman" panose="02020603050405020304" pitchFamily="18" charset="0"/>
                <a:ea typeface="Times New Roman" panose="02020603050405020304" pitchFamily="18" charset="0"/>
                <a:sym typeface="+mn-ea"/>
              </a:rPr>
              <a:t>à</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hoạt</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động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cải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tạo</a:t>
            </a:r>
            <a:r>
              <a:rPr lang="en-US" altLang="en-US" sz="1800" dirty="0">
                <a:latin typeface="Times New Roman" panose="02020603050405020304" pitchFamily="18" charset="0"/>
                <a:cs typeface="Times New Roman" panose="02020603050405020304" pitchFamily="18" charset="0"/>
                <a:sym typeface="+mn-ea"/>
              </a:rPr>
              <a:t> XH </a:t>
            </a:r>
            <a:r>
              <a:rPr lang="en-US" altLang="en-US" sz="1800" dirty="0" err="1">
                <a:latin typeface="Times New Roman" panose="02020603050405020304" pitchFamily="18" charset="0"/>
                <a:cs typeface="Times New Roman" panose="02020603050405020304" pitchFamily="18" charset="0"/>
                <a:sym typeface="+mn-ea"/>
              </a:rPr>
              <a:t>của</a:t>
            </a:r>
            <a:r>
              <a:rPr lang="en-US" altLang="en-US" sz="1800" dirty="0">
                <a:latin typeface="Times New Roman" panose="02020603050405020304" pitchFamily="18" charset="0"/>
                <a:cs typeface="Times New Roman" panose="02020603050405020304" pitchFamily="18" charset="0"/>
                <a:sym typeface="+mn-ea"/>
              </a:rPr>
              <a:t> con </a:t>
            </a:r>
            <a:r>
              <a:rPr lang="en-US" altLang="en-US" sz="1800" dirty="0" err="1">
                <a:latin typeface="Times New Roman" panose="02020603050405020304" pitchFamily="18" charset="0"/>
                <a:cs typeface="Times New Roman" panose="02020603050405020304" pitchFamily="18" charset="0"/>
                <a:sym typeface="+mn-ea"/>
              </a:rPr>
              <a:t>người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trong</a:t>
            </a:r>
            <a:r>
              <a:rPr lang="en-US" altLang="en-US" sz="1800" dirty="0">
                <a:latin typeface="Times New Roman" panose="02020603050405020304" pitchFamily="18" charset="0"/>
                <a:cs typeface="Times New Roman" panose="02020603050405020304" pitchFamily="18" charset="0"/>
                <a:sym typeface="+mn-ea"/>
              </a:rPr>
              <a:t> XH </a:t>
            </a:r>
            <a:r>
              <a:rPr lang="en-US" altLang="en-US" sz="1800" dirty="0" err="1">
                <a:latin typeface="Times New Roman" panose="02020603050405020304" pitchFamily="18" charset="0"/>
                <a:cs typeface="Times New Roman" panose="02020603050405020304" pitchFamily="18" charset="0"/>
                <a:sym typeface="+mn-ea"/>
              </a:rPr>
              <a:t>có</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giai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cấp</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thì</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phải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thông</a:t>
            </a:r>
            <a:r>
              <a:rPr lang="en-US" altLang="en-US" sz="1800" dirty="0">
                <a:latin typeface="Times New Roman" panose="02020603050405020304" pitchFamily="18" charset="0"/>
                <a:cs typeface="Times New Roman" panose="02020603050405020304" pitchFamily="18" charset="0"/>
                <a:sym typeface="+mn-ea"/>
              </a:rPr>
              <a:t> qua </a:t>
            </a:r>
            <a:r>
              <a:rPr lang="en-US" altLang="en-US" sz="1800" dirty="0" err="1">
                <a:latin typeface="Times New Roman" panose="02020603050405020304" pitchFamily="18" charset="0"/>
                <a:cs typeface="Times New Roman" panose="02020603050405020304" pitchFamily="18" charset="0"/>
                <a:sym typeface="+mn-ea"/>
              </a:rPr>
              <a:t>đấu</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tranh</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giai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cấp</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v</a:t>
            </a:r>
            <a:r>
              <a:rPr lang="en-US" altLang="en-US" sz="1800" dirty="0" err="1">
                <a:latin typeface="Times New Roman" panose="02020603050405020304" pitchFamily="18" charset="0"/>
                <a:ea typeface="Times New Roman" panose="02020603050405020304" pitchFamily="18" charset="0"/>
                <a:sym typeface="+mn-ea"/>
              </a:rPr>
              <a:t>à</a:t>
            </a:r>
            <a:r>
              <a:rPr lang="en-US" altLang="en-US" sz="1800" dirty="0">
                <a:latin typeface="Times New Roman" panose="02020603050405020304" pitchFamily="18" charset="0"/>
                <a:cs typeface="Times New Roman" panose="02020603050405020304" pitchFamily="18" charset="0"/>
                <a:sym typeface="+mn-ea"/>
              </a:rPr>
              <a:t> CMXH</a:t>
            </a:r>
            <a:endParaRPr lang="en-US" altLang="en-US" sz="1800" dirty="0">
              <a:solidFill>
                <a:schemeClr val="tx1"/>
              </a:solidFill>
              <a:latin typeface="Times New Roman" panose="02020603050405020304" pitchFamily="18" charset="0"/>
              <a:ea typeface="Times New Roman" panose="02020603050405020304" pitchFamily="18" charset="0"/>
            </a:endParaRPr>
          </a:p>
        </p:txBody>
      </p:sp>
      <p:cxnSp>
        <p:nvCxnSpPr>
          <p:cNvPr id="10" name="Straight Arrow Connector 9"/>
          <p:cNvCxnSpPr>
            <a:stCxn id="3" idx="3"/>
          </p:cNvCxnSpPr>
          <p:nvPr/>
        </p:nvCxnSpPr>
        <p:spPr>
          <a:xfrm flipV="1">
            <a:off x="2601686" y="990600"/>
            <a:ext cx="1132114" cy="23948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a:stCxn id="3" idx="3"/>
            <a:endCxn id="5" idx="1"/>
          </p:cNvCxnSpPr>
          <p:nvPr/>
        </p:nvCxnSpPr>
        <p:spPr>
          <a:xfrm flipV="1">
            <a:off x="2601686" y="2057403"/>
            <a:ext cx="1132114" cy="13280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p:cNvCxnSpPr>
            <a:stCxn id="3" idx="3"/>
            <a:endCxn id="6" idx="1"/>
          </p:cNvCxnSpPr>
          <p:nvPr/>
        </p:nvCxnSpPr>
        <p:spPr>
          <a:xfrm flipV="1">
            <a:off x="2601686" y="3211285"/>
            <a:ext cx="1132114" cy="1741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3" idx="3"/>
            <a:endCxn id="7" idx="1"/>
          </p:cNvCxnSpPr>
          <p:nvPr/>
        </p:nvCxnSpPr>
        <p:spPr>
          <a:xfrm>
            <a:off x="2601686" y="3385457"/>
            <a:ext cx="1132114" cy="10776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3" idx="3"/>
            <a:endCxn id="8" idx="1"/>
          </p:cNvCxnSpPr>
          <p:nvPr/>
        </p:nvCxnSpPr>
        <p:spPr>
          <a:xfrm>
            <a:off x="2601686" y="3385457"/>
            <a:ext cx="1132114" cy="22642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p:nvPr/>
        </p:nvSpPr>
        <p:spPr>
          <a:xfrm>
            <a:off x="2057400" y="609600"/>
            <a:ext cx="8001000" cy="645160"/>
          </a:xfrm>
          <a:prstGeom prst="rect">
            <a:avLst/>
          </a:prstGeom>
          <a:solidFill>
            <a:srgbClr val="FFC000"/>
          </a:solidFill>
          <a:ln w="57150" cap="flat" cmpd="sng">
            <a:solidFill>
              <a:schemeClr val="hlink"/>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gn="ctr" eaLnBrk="1" hangingPunct="1">
              <a:spcBef>
                <a:spcPct val="50000"/>
              </a:spcBef>
              <a:buClrTx/>
              <a:buSzTx/>
              <a:buFontTx/>
              <a:buNone/>
            </a:pPr>
            <a:r>
              <a:rPr lang="en-US" altLang="en-US" sz="3600" b="1" dirty="0">
                <a:solidFill>
                  <a:schemeClr val="tx1"/>
                </a:solidFill>
                <a:latin typeface="Times New Roman" panose="02020603050405020304" pitchFamily="18" charset="0"/>
              </a:rPr>
              <a:t>Phương thức sản xuất của cải vật chất</a:t>
            </a:r>
            <a:endParaRPr lang="en-US" altLang="en-US" sz="3600" b="1" dirty="0">
              <a:solidFill>
                <a:schemeClr val="tx1"/>
              </a:solidFill>
              <a:latin typeface="Times New Roman" panose="02020603050405020304" pitchFamily="18" charset="0"/>
            </a:endParaRPr>
          </a:p>
        </p:txBody>
      </p:sp>
      <p:sp>
        <p:nvSpPr>
          <p:cNvPr id="9219" name="Text Box 3"/>
          <p:cNvSpPr txBox="1"/>
          <p:nvPr/>
        </p:nvSpPr>
        <p:spPr>
          <a:xfrm>
            <a:off x="1676400" y="2016125"/>
            <a:ext cx="3810000" cy="706755"/>
          </a:xfrm>
          <a:prstGeom prst="rect">
            <a:avLst/>
          </a:prstGeom>
          <a:solidFill>
            <a:srgbClr val="FFFF00"/>
          </a:solidFill>
          <a:ln w="57150" cap="flat" cmpd="sng">
            <a:solidFill>
              <a:schemeClr val="hlink"/>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gn="ctr" eaLnBrk="1" hangingPunct="1">
              <a:spcBef>
                <a:spcPct val="50000"/>
              </a:spcBef>
              <a:buClrTx/>
              <a:buSzTx/>
              <a:buFontTx/>
              <a:buNone/>
            </a:pPr>
            <a:r>
              <a:rPr lang="en-US" altLang="en-US" sz="4000" b="1" i="1" dirty="0">
                <a:solidFill>
                  <a:schemeClr val="tx1"/>
                </a:solidFill>
                <a:latin typeface="Times New Roman" panose="02020603050405020304" pitchFamily="18" charset="0"/>
              </a:rPr>
              <a:t>Lực lượng SX</a:t>
            </a:r>
            <a:endParaRPr lang="en-US" altLang="en-US" sz="4000" b="1" i="1" dirty="0">
              <a:solidFill>
                <a:schemeClr val="tx1"/>
              </a:solidFill>
              <a:latin typeface="Times New Roman" panose="02020603050405020304" pitchFamily="18" charset="0"/>
            </a:endParaRPr>
          </a:p>
        </p:txBody>
      </p:sp>
      <p:sp>
        <p:nvSpPr>
          <p:cNvPr id="9220" name="Text Box 4"/>
          <p:cNvSpPr txBox="1"/>
          <p:nvPr/>
        </p:nvSpPr>
        <p:spPr>
          <a:xfrm>
            <a:off x="6096000" y="2001838"/>
            <a:ext cx="3810000" cy="706755"/>
          </a:xfrm>
          <a:prstGeom prst="rect">
            <a:avLst/>
          </a:prstGeom>
          <a:solidFill>
            <a:srgbClr val="FFFF00"/>
          </a:solidFill>
          <a:ln w="57150" cap="flat" cmpd="sng">
            <a:solidFill>
              <a:schemeClr val="hlink"/>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gn="ctr" eaLnBrk="1" hangingPunct="1">
              <a:spcBef>
                <a:spcPct val="50000"/>
              </a:spcBef>
              <a:buClrTx/>
              <a:buSzTx/>
              <a:buFontTx/>
              <a:buNone/>
            </a:pPr>
            <a:r>
              <a:rPr lang="en-US" altLang="en-US" sz="4000" b="1" i="1" dirty="0">
                <a:solidFill>
                  <a:schemeClr val="tx1"/>
                </a:solidFill>
                <a:latin typeface="Times New Roman" panose="02020603050405020304" pitchFamily="18" charset="0"/>
              </a:rPr>
              <a:t>Quan hệ SX</a:t>
            </a:r>
            <a:endParaRPr lang="en-US" altLang="en-US" sz="4000" b="1" i="1" dirty="0">
              <a:solidFill>
                <a:schemeClr val="tx1"/>
              </a:solidFill>
              <a:latin typeface="Times New Roman" panose="02020603050405020304" pitchFamily="18" charset="0"/>
            </a:endParaRPr>
          </a:p>
        </p:txBody>
      </p:sp>
      <p:sp>
        <p:nvSpPr>
          <p:cNvPr id="9221" name="Text Box 5"/>
          <p:cNvSpPr txBox="1"/>
          <p:nvPr/>
        </p:nvSpPr>
        <p:spPr>
          <a:xfrm>
            <a:off x="1752600" y="3660775"/>
            <a:ext cx="1676400" cy="1014730"/>
          </a:xfrm>
          <a:prstGeom prst="rect">
            <a:avLst/>
          </a:prstGeom>
          <a:solidFill>
            <a:srgbClr val="FFFF00"/>
          </a:solidFill>
          <a:ln w="57150" cap="flat" cmpd="sng">
            <a:solidFill>
              <a:schemeClr val="hlink"/>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gn="ctr" eaLnBrk="1" hangingPunct="1">
              <a:spcBef>
                <a:spcPct val="50000"/>
              </a:spcBef>
              <a:buClrTx/>
              <a:buSzTx/>
              <a:buFontTx/>
              <a:buNone/>
            </a:pPr>
            <a:r>
              <a:rPr lang="en-US" altLang="en-US" sz="3000" b="1" dirty="0">
                <a:solidFill>
                  <a:schemeClr val="tx1"/>
                </a:solidFill>
                <a:latin typeface="Times New Roman" panose="02020603050405020304" pitchFamily="18" charset="0"/>
              </a:rPr>
              <a:t>Tư liệu SX</a:t>
            </a:r>
            <a:endParaRPr lang="en-US" altLang="en-US" sz="3000" b="1" dirty="0">
              <a:solidFill>
                <a:schemeClr val="tx1"/>
              </a:solidFill>
              <a:latin typeface="Times New Roman" panose="02020603050405020304" pitchFamily="18" charset="0"/>
            </a:endParaRPr>
          </a:p>
        </p:txBody>
      </p:sp>
      <p:sp>
        <p:nvSpPr>
          <p:cNvPr id="9222" name="Text Box 6"/>
          <p:cNvSpPr txBox="1"/>
          <p:nvPr/>
        </p:nvSpPr>
        <p:spPr>
          <a:xfrm>
            <a:off x="3657600" y="3660775"/>
            <a:ext cx="1524000" cy="1014730"/>
          </a:xfrm>
          <a:prstGeom prst="rect">
            <a:avLst/>
          </a:prstGeom>
          <a:solidFill>
            <a:srgbClr val="FFFF00"/>
          </a:solidFill>
          <a:ln w="57150" cap="flat" cmpd="sng">
            <a:solidFill>
              <a:schemeClr val="hlink"/>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gn="ctr" eaLnBrk="1" hangingPunct="1">
              <a:spcBef>
                <a:spcPct val="50000"/>
              </a:spcBef>
              <a:buClrTx/>
              <a:buSzTx/>
              <a:buFontTx/>
              <a:buNone/>
            </a:pPr>
            <a:r>
              <a:rPr lang="en-US" altLang="en-US" sz="3000" b="1" dirty="0">
                <a:solidFill>
                  <a:schemeClr val="tx1"/>
                </a:solidFill>
                <a:latin typeface="Times New Roman" panose="02020603050405020304" pitchFamily="18" charset="0"/>
              </a:rPr>
              <a:t>Sức lao động</a:t>
            </a:r>
            <a:endParaRPr lang="en-US" altLang="en-US" sz="3000" b="1" dirty="0">
              <a:solidFill>
                <a:schemeClr val="tx1"/>
              </a:solidFill>
              <a:latin typeface="Times New Roman" panose="02020603050405020304" pitchFamily="18" charset="0"/>
            </a:endParaRPr>
          </a:p>
        </p:txBody>
      </p:sp>
      <p:sp>
        <p:nvSpPr>
          <p:cNvPr id="9223" name="Text Box 7"/>
          <p:cNvSpPr txBox="1"/>
          <p:nvPr/>
        </p:nvSpPr>
        <p:spPr>
          <a:xfrm>
            <a:off x="5562600" y="3660775"/>
            <a:ext cx="1524000" cy="2399665"/>
          </a:xfrm>
          <a:prstGeom prst="rect">
            <a:avLst/>
          </a:prstGeom>
          <a:solidFill>
            <a:srgbClr val="FFFF00"/>
          </a:solidFill>
          <a:ln w="57150" cap="flat" cmpd="sng">
            <a:solidFill>
              <a:schemeClr val="hlink"/>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gn="ctr" eaLnBrk="1" hangingPunct="1">
              <a:spcBef>
                <a:spcPct val="50000"/>
              </a:spcBef>
              <a:buClrTx/>
              <a:buSzTx/>
              <a:buFontTx/>
              <a:buNone/>
            </a:pPr>
            <a:r>
              <a:rPr lang="en-US" altLang="en-US" sz="3000" b="1" dirty="0">
                <a:solidFill>
                  <a:schemeClr val="tx1"/>
                </a:solidFill>
                <a:latin typeface="Times New Roman" panose="02020603050405020304" pitchFamily="18" charset="0"/>
              </a:rPr>
              <a:t>Quan hệ </a:t>
            </a:r>
            <a:r>
              <a:rPr lang="en-US" altLang="en-US" sz="3000" b="1" i="1" dirty="0">
                <a:solidFill>
                  <a:schemeClr val="tx1"/>
                </a:solidFill>
                <a:latin typeface="Times New Roman" panose="02020603050405020304" pitchFamily="18" charset="0"/>
              </a:rPr>
              <a:t>sở hữu</a:t>
            </a:r>
            <a:r>
              <a:rPr lang="en-US" altLang="en-US" sz="3000" b="1" dirty="0">
                <a:solidFill>
                  <a:schemeClr val="tx1"/>
                </a:solidFill>
                <a:latin typeface="Times New Roman" panose="02020603050405020304" pitchFamily="18" charset="0"/>
              </a:rPr>
              <a:t> đối với tư liệu SX</a:t>
            </a:r>
            <a:endParaRPr lang="en-US" altLang="en-US" sz="3000" b="1" dirty="0">
              <a:solidFill>
                <a:schemeClr val="tx1"/>
              </a:solidFill>
              <a:latin typeface="Times New Roman" panose="02020603050405020304" pitchFamily="18" charset="0"/>
            </a:endParaRPr>
          </a:p>
        </p:txBody>
      </p:sp>
      <p:sp>
        <p:nvSpPr>
          <p:cNvPr id="9224" name="Text Box 8"/>
          <p:cNvSpPr txBox="1"/>
          <p:nvPr/>
        </p:nvSpPr>
        <p:spPr>
          <a:xfrm>
            <a:off x="7239000" y="3735388"/>
            <a:ext cx="1524000" cy="2245360"/>
          </a:xfrm>
          <a:prstGeom prst="rect">
            <a:avLst/>
          </a:prstGeom>
          <a:solidFill>
            <a:srgbClr val="FFFF00"/>
          </a:solidFill>
          <a:ln w="57150" cap="flat" cmpd="sng">
            <a:solidFill>
              <a:schemeClr val="hlink"/>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gn="ctr" eaLnBrk="1" hangingPunct="1">
              <a:spcBef>
                <a:spcPct val="50000"/>
              </a:spcBef>
              <a:buClrTx/>
              <a:buSzTx/>
              <a:buFontTx/>
              <a:buNone/>
            </a:pPr>
            <a:r>
              <a:rPr lang="en-US" altLang="en-US" sz="2800" b="1" dirty="0">
                <a:solidFill>
                  <a:schemeClr val="tx1"/>
                </a:solidFill>
                <a:latin typeface="Times New Roman" panose="02020603050405020304" pitchFamily="18" charset="0"/>
              </a:rPr>
              <a:t>Quan hệ trong </a:t>
            </a:r>
            <a:r>
              <a:rPr lang="en-US" altLang="en-US" sz="2800" b="1" i="1" dirty="0">
                <a:solidFill>
                  <a:schemeClr val="tx1"/>
                </a:solidFill>
                <a:latin typeface="Times New Roman" panose="02020603050405020304" pitchFamily="18" charset="0"/>
              </a:rPr>
              <a:t>tổ chức</a:t>
            </a:r>
            <a:r>
              <a:rPr lang="en-US" altLang="en-US" sz="2800" b="1" dirty="0">
                <a:solidFill>
                  <a:schemeClr val="tx1"/>
                </a:solidFill>
                <a:latin typeface="Times New Roman" panose="02020603050405020304" pitchFamily="18" charset="0"/>
              </a:rPr>
              <a:t> và </a:t>
            </a:r>
            <a:r>
              <a:rPr lang="en-US" altLang="en-US" sz="2800" b="1" i="1" dirty="0">
                <a:solidFill>
                  <a:schemeClr val="tx1"/>
                </a:solidFill>
                <a:latin typeface="Times New Roman" panose="02020603050405020304" pitchFamily="18" charset="0"/>
              </a:rPr>
              <a:t>quản lý</a:t>
            </a:r>
            <a:r>
              <a:rPr lang="en-US" altLang="en-US" sz="2800" b="1" dirty="0">
                <a:solidFill>
                  <a:schemeClr val="tx1"/>
                </a:solidFill>
                <a:latin typeface="Times New Roman" panose="02020603050405020304" pitchFamily="18" charset="0"/>
              </a:rPr>
              <a:t> SX</a:t>
            </a:r>
            <a:endParaRPr lang="en-US" altLang="en-US" sz="2800" b="1" dirty="0">
              <a:solidFill>
                <a:schemeClr val="tx1"/>
              </a:solidFill>
              <a:latin typeface="Times New Roman" panose="02020603050405020304" pitchFamily="18" charset="0"/>
            </a:endParaRPr>
          </a:p>
        </p:txBody>
      </p:sp>
      <p:sp>
        <p:nvSpPr>
          <p:cNvPr id="9225" name="Text Box 9"/>
          <p:cNvSpPr txBox="1"/>
          <p:nvPr/>
        </p:nvSpPr>
        <p:spPr>
          <a:xfrm>
            <a:off x="8877300" y="3660775"/>
            <a:ext cx="1524000" cy="2399665"/>
          </a:xfrm>
          <a:prstGeom prst="rect">
            <a:avLst/>
          </a:prstGeom>
          <a:solidFill>
            <a:srgbClr val="FFFF00"/>
          </a:solidFill>
          <a:ln w="57150" cap="flat" cmpd="sng">
            <a:solidFill>
              <a:schemeClr val="hlink"/>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gn="ctr" eaLnBrk="1" hangingPunct="1">
              <a:spcBef>
                <a:spcPct val="50000"/>
              </a:spcBef>
              <a:buClrTx/>
              <a:buSzTx/>
              <a:buFontTx/>
              <a:buNone/>
            </a:pPr>
            <a:r>
              <a:rPr lang="en-US" altLang="en-US" sz="3000" b="1" dirty="0">
                <a:solidFill>
                  <a:schemeClr val="tx1"/>
                </a:solidFill>
                <a:latin typeface="Times New Roman" panose="02020603050405020304" pitchFamily="18" charset="0"/>
              </a:rPr>
              <a:t>Quan hệ </a:t>
            </a:r>
            <a:r>
              <a:rPr lang="en-US" altLang="en-US" sz="3000" b="1" i="1" dirty="0">
                <a:solidFill>
                  <a:schemeClr val="tx1"/>
                </a:solidFill>
                <a:latin typeface="Times New Roman" panose="02020603050405020304" pitchFamily="18" charset="0"/>
              </a:rPr>
              <a:t>phân phối</a:t>
            </a:r>
            <a:r>
              <a:rPr lang="en-US" altLang="en-US" sz="3000" b="1" dirty="0">
                <a:solidFill>
                  <a:schemeClr val="tx1"/>
                </a:solidFill>
                <a:latin typeface="Times New Roman" panose="02020603050405020304" pitchFamily="18" charset="0"/>
              </a:rPr>
              <a:t> sản phẩm</a:t>
            </a:r>
            <a:endParaRPr lang="en-US" altLang="en-US" sz="3000" b="1" dirty="0">
              <a:solidFill>
                <a:schemeClr val="tx1"/>
              </a:solidFill>
              <a:latin typeface="Times New Roman" panose="02020603050405020304" pitchFamily="18" charset="0"/>
            </a:endParaRPr>
          </a:p>
        </p:txBody>
      </p:sp>
      <p:sp>
        <p:nvSpPr>
          <p:cNvPr id="9226" name="Line 10"/>
          <p:cNvSpPr/>
          <p:nvPr/>
        </p:nvSpPr>
        <p:spPr>
          <a:xfrm>
            <a:off x="2590800" y="2819400"/>
            <a:ext cx="0" cy="762000"/>
          </a:xfrm>
          <a:prstGeom prst="line">
            <a:avLst/>
          </a:prstGeom>
          <a:ln w="57150" cap="flat" cmpd="sng">
            <a:solidFill>
              <a:srgbClr val="E37FDE"/>
            </a:solidFill>
            <a:prstDash val="solid"/>
            <a:headEnd type="none" w="med" len="med"/>
            <a:tailEnd type="triangle" w="med" len="med"/>
          </a:ln>
        </p:spPr>
      </p:sp>
      <p:sp>
        <p:nvSpPr>
          <p:cNvPr id="9227" name="Line 11"/>
          <p:cNvSpPr/>
          <p:nvPr/>
        </p:nvSpPr>
        <p:spPr>
          <a:xfrm>
            <a:off x="4419600" y="2819400"/>
            <a:ext cx="0" cy="762000"/>
          </a:xfrm>
          <a:prstGeom prst="line">
            <a:avLst/>
          </a:prstGeom>
          <a:ln w="57150" cap="flat" cmpd="sng">
            <a:solidFill>
              <a:srgbClr val="E37FDE"/>
            </a:solidFill>
            <a:prstDash val="solid"/>
            <a:headEnd type="none" w="med" len="med"/>
            <a:tailEnd type="triangle" w="med" len="med"/>
          </a:ln>
        </p:spPr>
      </p:sp>
      <p:sp>
        <p:nvSpPr>
          <p:cNvPr id="9228" name="Line 12"/>
          <p:cNvSpPr/>
          <p:nvPr/>
        </p:nvSpPr>
        <p:spPr>
          <a:xfrm>
            <a:off x="6324600" y="2819400"/>
            <a:ext cx="0" cy="838200"/>
          </a:xfrm>
          <a:prstGeom prst="line">
            <a:avLst/>
          </a:prstGeom>
          <a:ln w="57150" cap="flat" cmpd="sng">
            <a:solidFill>
              <a:srgbClr val="E37FDE"/>
            </a:solidFill>
            <a:prstDash val="solid"/>
            <a:headEnd type="none" w="med" len="med"/>
            <a:tailEnd type="triangle" w="med" len="med"/>
          </a:ln>
        </p:spPr>
      </p:sp>
      <p:sp>
        <p:nvSpPr>
          <p:cNvPr id="9229" name="Line 13"/>
          <p:cNvSpPr/>
          <p:nvPr/>
        </p:nvSpPr>
        <p:spPr>
          <a:xfrm>
            <a:off x="8001000" y="2819400"/>
            <a:ext cx="0" cy="762000"/>
          </a:xfrm>
          <a:prstGeom prst="line">
            <a:avLst/>
          </a:prstGeom>
          <a:ln w="57150" cap="flat" cmpd="sng">
            <a:solidFill>
              <a:srgbClr val="E37FDE"/>
            </a:solidFill>
            <a:prstDash val="solid"/>
            <a:headEnd type="none" w="med" len="med"/>
            <a:tailEnd type="triangle" w="med" len="med"/>
          </a:ln>
        </p:spPr>
      </p:sp>
      <p:sp>
        <p:nvSpPr>
          <p:cNvPr id="9230" name="Line 14"/>
          <p:cNvSpPr/>
          <p:nvPr/>
        </p:nvSpPr>
        <p:spPr>
          <a:xfrm>
            <a:off x="9525000" y="2819400"/>
            <a:ext cx="0" cy="762000"/>
          </a:xfrm>
          <a:prstGeom prst="line">
            <a:avLst/>
          </a:prstGeom>
          <a:ln w="57150" cap="flat" cmpd="sng">
            <a:solidFill>
              <a:srgbClr val="E37FDE"/>
            </a:solidFill>
            <a:prstDash val="solid"/>
            <a:headEnd type="none" w="med" len="med"/>
            <a:tailEnd type="triangle" w="med" len="med"/>
          </a:ln>
        </p:spPr>
      </p:sp>
      <p:sp>
        <p:nvSpPr>
          <p:cNvPr id="9231" name="Line 15"/>
          <p:cNvSpPr/>
          <p:nvPr/>
        </p:nvSpPr>
        <p:spPr>
          <a:xfrm>
            <a:off x="3505200" y="1371600"/>
            <a:ext cx="0" cy="609600"/>
          </a:xfrm>
          <a:prstGeom prst="line">
            <a:avLst/>
          </a:prstGeom>
          <a:ln w="57150" cap="flat" cmpd="sng">
            <a:solidFill>
              <a:srgbClr val="E37FDE"/>
            </a:solidFill>
            <a:prstDash val="solid"/>
            <a:headEnd type="none" w="med" len="med"/>
            <a:tailEnd type="triangle" w="med" len="med"/>
          </a:ln>
        </p:spPr>
      </p:sp>
      <p:sp>
        <p:nvSpPr>
          <p:cNvPr id="9232" name="Line 16"/>
          <p:cNvSpPr/>
          <p:nvPr/>
        </p:nvSpPr>
        <p:spPr>
          <a:xfrm>
            <a:off x="7696200" y="1371600"/>
            <a:ext cx="0" cy="609600"/>
          </a:xfrm>
          <a:prstGeom prst="line">
            <a:avLst/>
          </a:prstGeom>
          <a:ln w="57150" cap="flat" cmpd="sng">
            <a:solidFill>
              <a:srgbClr val="E37FDE"/>
            </a:solidFill>
            <a:prstDash val="solid"/>
            <a:headEnd type="none" w="med" len="med"/>
            <a:tailEnd type="triangle" w="med" len="med"/>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wipe(down)">
                                      <p:cBhvr>
                                        <p:cTn id="7" dur="500"/>
                                        <p:tgtEl>
                                          <p:spTgt spid="92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231"/>
                                        </p:tgtEl>
                                        <p:attrNameLst>
                                          <p:attrName>style.visibility</p:attrName>
                                        </p:attrNameLst>
                                      </p:cBhvr>
                                      <p:to>
                                        <p:strVal val="visible"/>
                                      </p:to>
                                    </p:set>
                                    <p:animEffect transition="in" filter="wipe(down)">
                                      <p:cBhvr>
                                        <p:cTn id="12" dur="500"/>
                                        <p:tgtEl>
                                          <p:spTgt spid="9231"/>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9219"/>
                                        </p:tgtEl>
                                        <p:attrNameLst>
                                          <p:attrName>style.visibility</p:attrName>
                                        </p:attrNameLst>
                                      </p:cBhvr>
                                      <p:to>
                                        <p:strVal val="visible"/>
                                      </p:to>
                                    </p:set>
                                    <p:animEffect transition="in" filter="wipe(down)">
                                      <p:cBhvr>
                                        <p:cTn id="15" dur="500"/>
                                        <p:tgtEl>
                                          <p:spTgt spid="9219"/>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220"/>
                                        </p:tgtEl>
                                        <p:attrNameLst>
                                          <p:attrName>style.visibility</p:attrName>
                                        </p:attrNameLst>
                                      </p:cBhvr>
                                      <p:to>
                                        <p:strVal val="visible"/>
                                      </p:to>
                                    </p:set>
                                    <p:animEffect transition="in" filter="fade">
                                      <p:cBhvr>
                                        <p:cTn id="20" dur="1000"/>
                                        <p:tgtEl>
                                          <p:spTgt spid="9220"/>
                                        </p:tgtEl>
                                      </p:cBhvr>
                                    </p:animEffect>
                                    <p:anim calcmode="lin" valueType="num">
                                      <p:cBhvr>
                                        <p:cTn id="21" dur="1000" fill="hold"/>
                                        <p:tgtEl>
                                          <p:spTgt spid="9220"/>
                                        </p:tgtEl>
                                        <p:attrNameLst>
                                          <p:attrName>ppt_x</p:attrName>
                                        </p:attrNameLst>
                                      </p:cBhvr>
                                      <p:tavLst>
                                        <p:tav tm="0">
                                          <p:val>
                                            <p:strVal val="#ppt_x"/>
                                          </p:val>
                                        </p:tav>
                                        <p:tav tm="100000">
                                          <p:val>
                                            <p:strVal val="#ppt_x"/>
                                          </p:val>
                                        </p:tav>
                                      </p:tavLst>
                                    </p:anim>
                                    <p:anim calcmode="lin" valueType="num">
                                      <p:cBhvr>
                                        <p:cTn id="22" dur="1000" fill="hold"/>
                                        <p:tgtEl>
                                          <p:spTgt spid="9220"/>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9232"/>
                                        </p:tgtEl>
                                        <p:attrNameLst>
                                          <p:attrName>style.visibility</p:attrName>
                                        </p:attrNameLst>
                                      </p:cBhvr>
                                      <p:to>
                                        <p:strVal val="visible"/>
                                      </p:to>
                                    </p:set>
                                    <p:animEffect transition="in" filter="fade">
                                      <p:cBhvr>
                                        <p:cTn id="25" dur="1000"/>
                                        <p:tgtEl>
                                          <p:spTgt spid="9232"/>
                                        </p:tgtEl>
                                      </p:cBhvr>
                                    </p:animEffect>
                                    <p:anim calcmode="lin" valueType="num">
                                      <p:cBhvr>
                                        <p:cTn id="26" dur="1000" fill="hold"/>
                                        <p:tgtEl>
                                          <p:spTgt spid="9232"/>
                                        </p:tgtEl>
                                        <p:attrNameLst>
                                          <p:attrName>ppt_x</p:attrName>
                                        </p:attrNameLst>
                                      </p:cBhvr>
                                      <p:tavLst>
                                        <p:tav tm="0">
                                          <p:val>
                                            <p:strVal val="#ppt_x"/>
                                          </p:val>
                                        </p:tav>
                                        <p:tav tm="100000">
                                          <p:val>
                                            <p:strVal val="#ppt_x"/>
                                          </p:val>
                                        </p:tav>
                                      </p:tavLst>
                                    </p:anim>
                                    <p:anim calcmode="lin" valueType="num">
                                      <p:cBhvr>
                                        <p:cTn id="27" dur="1000" fill="hold"/>
                                        <p:tgtEl>
                                          <p:spTgt spid="9232"/>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9226"/>
                                        </p:tgtEl>
                                        <p:attrNameLst>
                                          <p:attrName>style.visibility</p:attrName>
                                        </p:attrNameLst>
                                      </p:cBhvr>
                                      <p:to>
                                        <p:strVal val="visible"/>
                                      </p:to>
                                    </p:set>
                                    <p:anim calcmode="lin" valueType="num">
                                      <p:cBhvr>
                                        <p:cTn id="32" dur="500" fill="hold"/>
                                        <p:tgtEl>
                                          <p:spTgt spid="9226"/>
                                        </p:tgtEl>
                                        <p:attrNameLst>
                                          <p:attrName>ppt_w</p:attrName>
                                        </p:attrNameLst>
                                      </p:cBhvr>
                                      <p:tavLst>
                                        <p:tav tm="0">
                                          <p:val>
                                            <p:fltVal val="0"/>
                                          </p:val>
                                        </p:tav>
                                        <p:tav tm="100000">
                                          <p:val>
                                            <p:strVal val="#ppt_w"/>
                                          </p:val>
                                        </p:tav>
                                      </p:tavLst>
                                    </p:anim>
                                    <p:anim calcmode="lin" valueType="num">
                                      <p:cBhvr>
                                        <p:cTn id="33" dur="500" fill="hold"/>
                                        <p:tgtEl>
                                          <p:spTgt spid="9226"/>
                                        </p:tgtEl>
                                        <p:attrNameLst>
                                          <p:attrName>ppt_h</p:attrName>
                                        </p:attrNameLst>
                                      </p:cBhvr>
                                      <p:tavLst>
                                        <p:tav tm="0">
                                          <p:val>
                                            <p:fltVal val="0"/>
                                          </p:val>
                                        </p:tav>
                                        <p:tav tm="100000">
                                          <p:val>
                                            <p:strVal val="#ppt_h"/>
                                          </p:val>
                                        </p:tav>
                                      </p:tavLst>
                                    </p:anim>
                                    <p:animEffect transition="in" filter="fade">
                                      <p:cBhvr>
                                        <p:cTn id="34" dur="500"/>
                                        <p:tgtEl>
                                          <p:spTgt spid="9226"/>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9221"/>
                                        </p:tgtEl>
                                        <p:attrNameLst>
                                          <p:attrName>style.visibility</p:attrName>
                                        </p:attrNameLst>
                                      </p:cBhvr>
                                      <p:to>
                                        <p:strVal val="visible"/>
                                      </p:to>
                                    </p:set>
                                    <p:anim calcmode="lin" valueType="num">
                                      <p:cBhvr>
                                        <p:cTn id="37" dur="500" fill="hold"/>
                                        <p:tgtEl>
                                          <p:spTgt spid="9221"/>
                                        </p:tgtEl>
                                        <p:attrNameLst>
                                          <p:attrName>ppt_w</p:attrName>
                                        </p:attrNameLst>
                                      </p:cBhvr>
                                      <p:tavLst>
                                        <p:tav tm="0">
                                          <p:val>
                                            <p:fltVal val="0"/>
                                          </p:val>
                                        </p:tav>
                                        <p:tav tm="100000">
                                          <p:val>
                                            <p:strVal val="#ppt_w"/>
                                          </p:val>
                                        </p:tav>
                                      </p:tavLst>
                                    </p:anim>
                                    <p:anim calcmode="lin" valueType="num">
                                      <p:cBhvr>
                                        <p:cTn id="38" dur="500" fill="hold"/>
                                        <p:tgtEl>
                                          <p:spTgt spid="9221"/>
                                        </p:tgtEl>
                                        <p:attrNameLst>
                                          <p:attrName>ppt_h</p:attrName>
                                        </p:attrNameLst>
                                      </p:cBhvr>
                                      <p:tavLst>
                                        <p:tav tm="0">
                                          <p:val>
                                            <p:fltVal val="0"/>
                                          </p:val>
                                        </p:tav>
                                        <p:tav tm="100000">
                                          <p:val>
                                            <p:strVal val="#ppt_h"/>
                                          </p:val>
                                        </p:tav>
                                      </p:tavLst>
                                    </p:anim>
                                    <p:animEffect transition="in" filter="fade">
                                      <p:cBhvr>
                                        <p:cTn id="39" dur="500"/>
                                        <p:tgtEl>
                                          <p:spTgt spid="9221"/>
                                        </p:tgtEl>
                                      </p:cBhvr>
                                    </p:animEffect>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nodeType="clickEffect">
                                  <p:stCondLst>
                                    <p:cond delay="0"/>
                                  </p:stCondLst>
                                  <p:childTnLst>
                                    <p:set>
                                      <p:cBhvr>
                                        <p:cTn id="43" dur="1" fill="hold">
                                          <p:stCondLst>
                                            <p:cond delay="0"/>
                                          </p:stCondLst>
                                        </p:cTn>
                                        <p:tgtEl>
                                          <p:spTgt spid="9227"/>
                                        </p:tgtEl>
                                        <p:attrNameLst>
                                          <p:attrName>style.visibility</p:attrName>
                                        </p:attrNameLst>
                                      </p:cBhvr>
                                      <p:to>
                                        <p:strVal val="visible"/>
                                      </p:to>
                                    </p:set>
                                    <p:anim calcmode="lin" valueType="num">
                                      <p:cBhvr>
                                        <p:cTn id="44" dur="1000" fill="hold"/>
                                        <p:tgtEl>
                                          <p:spTgt spid="9227"/>
                                        </p:tgtEl>
                                        <p:attrNameLst>
                                          <p:attrName>ppt_w</p:attrName>
                                        </p:attrNameLst>
                                      </p:cBhvr>
                                      <p:tavLst>
                                        <p:tav tm="0">
                                          <p:val>
                                            <p:fltVal val="0"/>
                                          </p:val>
                                        </p:tav>
                                        <p:tav tm="100000">
                                          <p:val>
                                            <p:strVal val="#ppt_w"/>
                                          </p:val>
                                        </p:tav>
                                      </p:tavLst>
                                    </p:anim>
                                    <p:anim calcmode="lin" valueType="num">
                                      <p:cBhvr>
                                        <p:cTn id="45" dur="1000" fill="hold"/>
                                        <p:tgtEl>
                                          <p:spTgt spid="9227"/>
                                        </p:tgtEl>
                                        <p:attrNameLst>
                                          <p:attrName>ppt_h</p:attrName>
                                        </p:attrNameLst>
                                      </p:cBhvr>
                                      <p:tavLst>
                                        <p:tav tm="0">
                                          <p:val>
                                            <p:fltVal val="0"/>
                                          </p:val>
                                        </p:tav>
                                        <p:tav tm="100000">
                                          <p:val>
                                            <p:strVal val="#ppt_h"/>
                                          </p:val>
                                        </p:tav>
                                      </p:tavLst>
                                    </p:anim>
                                    <p:anim calcmode="lin" valueType="num">
                                      <p:cBhvr>
                                        <p:cTn id="46" dur="1000" fill="hold"/>
                                        <p:tgtEl>
                                          <p:spTgt spid="9227"/>
                                        </p:tgtEl>
                                        <p:attrNameLst>
                                          <p:attrName>style.rotation</p:attrName>
                                        </p:attrNameLst>
                                      </p:cBhvr>
                                      <p:tavLst>
                                        <p:tav tm="0">
                                          <p:val>
                                            <p:fltVal val="90"/>
                                          </p:val>
                                        </p:tav>
                                        <p:tav tm="100000">
                                          <p:val>
                                            <p:fltVal val="0"/>
                                          </p:val>
                                        </p:tav>
                                      </p:tavLst>
                                    </p:anim>
                                    <p:animEffect transition="in" filter="fade">
                                      <p:cBhvr>
                                        <p:cTn id="47" dur="1000"/>
                                        <p:tgtEl>
                                          <p:spTgt spid="9227"/>
                                        </p:tgtEl>
                                      </p:cBhvr>
                                    </p:animEffect>
                                  </p:childTnLst>
                                </p:cTn>
                              </p:par>
                              <p:par>
                                <p:cTn id="48" presetID="31" presetClass="entr" presetSubtype="0" fill="hold" grpId="0" nodeType="withEffect">
                                  <p:stCondLst>
                                    <p:cond delay="0"/>
                                  </p:stCondLst>
                                  <p:childTnLst>
                                    <p:set>
                                      <p:cBhvr>
                                        <p:cTn id="49" dur="1" fill="hold">
                                          <p:stCondLst>
                                            <p:cond delay="0"/>
                                          </p:stCondLst>
                                        </p:cTn>
                                        <p:tgtEl>
                                          <p:spTgt spid="9222"/>
                                        </p:tgtEl>
                                        <p:attrNameLst>
                                          <p:attrName>style.visibility</p:attrName>
                                        </p:attrNameLst>
                                      </p:cBhvr>
                                      <p:to>
                                        <p:strVal val="visible"/>
                                      </p:to>
                                    </p:set>
                                    <p:anim calcmode="lin" valueType="num">
                                      <p:cBhvr>
                                        <p:cTn id="50" dur="1000" fill="hold"/>
                                        <p:tgtEl>
                                          <p:spTgt spid="9222"/>
                                        </p:tgtEl>
                                        <p:attrNameLst>
                                          <p:attrName>ppt_w</p:attrName>
                                        </p:attrNameLst>
                                      </p:cBhvr>
                                      <p:tavLst>
                                        <p:tav tm="0">
                                          <p:val>
                                            <p:fltVal val="0"/>
                                          </p:val>
                                        </p:tav>
                                        <p:tav tm="100000">
                                          <p:val>
                                            <p:strVal val="#ppt_w"/>
                                          </p:val>
                                        </p:tav>
                                      </p:tavLst>
                                    </p:anim>
                                    <p:anim calcmode="lin" valueType="num">
                                      <p:cBhvr>
                                        <p:cTn id="51" dur="1000" fill="hold"/>
                                        <p:tgtEl>
                                          <p:spTgt spid="9222"/>
                                        </p:tgtEl>
                                        <p:attrNameLst>
                                          <p:attrName>ppt_h</p:attrName>
                                        </p:attrNameLst>
                                      </p:cBhvr>
                                      <p:tavLst>
                                        <p:tav tm="0">
                                          <p:val>
                                            <p:fltVal val="0"/>
                                          </p:val>
                                        </p:tav>
                                        <p:tav tm="100000">
                                          <p:val>
                                            <p:strVal val="#ppt_h"/>
                                          </p:val>
                                        </p:tav>
                                      </p:tavLst>
                                    </p:anim>
                                    <p:anim calcmode="lin" valueType="num">
                                      <p:cBhvr>
                                        <p:cTn id="52" dur="1000" fill="hold"/>
                                        <p:tgtEl>
                                          <p:spTgt spid="9222"/>
                                        </p:tgtEl>
                                        <p:attrNameLst>
                                          <p:attrName>style.rotation</p:attrName>
                                        </p:attrNameLst>
                                      </p:cBhvr>
                                      <p:tavLst>
                                        <p:tav tm="0">
                                          <p:val>
                                            <p:fltVal val="90"/>
                                          </p:val>
                                        </p:tav>
                                        <p:tav tm="100000">
                                          <p:val>
                                            <p:fltVal val="0"/>
                                          </p:val>
                                        </p:tav>
                                      </p:tavLst>
                                    </p:anim>
                                    <p:animEffect transition="in" filter="fade">
                                      <p:cBhvr>
                                        <p:cTn id="53" dur="1000"/>
                                        <p:tgtEl>
                                          <p:spTgt spid="9222"/>
                                        </p:tgtEl>
                                      </p:cBhvr>
                                    </p:animEffect>
                                  </p:childTnLst>
                                </p:cTn>
                              </p:par>
                            </p:childTnLst>
                          </p:cTn>
                        </p:par>
                      </p:childTnLst>
                    </p:cTn>
                  </p:par>
                  <p:par>
                    <p:cTn id="54" fill="hold">
                      <p:stCondLst>
                        <p:cond delay="indefinite"/>
                      </p:stCondLst>
                      <p:childTnLst>
                        <p:par>
                          <p:cTn id="55" fill="hold">
                            <p:stCondLst>
                              <p:cond delay="0"/>
                            </p:stCondLst>
                            <p:childTnLst>
                              <p:par>
                                <p:cTn id="56" presetID="47" presetClass="entr" presetSubtype="0" fill="hold" nodeType="clickEffect">
                                  <p:stCondLst>
                                    <p:cond delay="0"/>
                                  </p:stCondLst>
                                  <p:childTnLst>
                                    <p:set>
                                      <p:cBhvr>
                                        <p:cTn id="57" dur="1" fill="hold">
                                          <p:stCondLst>
                                            <p:cond delay="0"/>
                                          </p:stCondLst>
                                        </p:cTn>
                                        <p:tgtEl>
                                          <p:spTgt spid="9228"/>
                                        </p:tgtEl>
                                        <p:attrNameLst>
                                          <p:attrName>style.visibility</p:attrName>
                                        </p:attrNameLst>
                                      </p:cBhvr>
                                      <p:to>
                                        <p:strVal val="visible"/>
                                      </p:to>
                                    </p:set>
                                    <p:animEffect transition="in" filter="fade">
                                      <p:cBhvr>
                                        <p:cTn id="58" dur="1000"/>
                                        <p:tgtEl>
                                          <p:spTgt spid="9228"/>
                                        </p:tgtEl>
                                      </p:cBhvr>
                                    </p:animEffect>
                                    <p:anim calcmode="lin" valueType="num">
                                      <p:cBhvr>
                                        <p:cTn id="59" dur="1000" fill="hold"/>
                                        <p:tgtEl>
                                          <p:spTgt spid="9228"/>
                                        </p:tgtEl>
                                        <p:attrNameLst>
                                          <p:attrName>ppt_x</p:attrName>
                                        </p:attrNameLst>
                                      </p:cBhvr>
                                      <p:tavLst>
                                        <p:tav tm="0">
                                          <p:val>
                                            <p:strVal val="#ppt_x"/>
                                          </p:val>
                                        </p:tav>
                                        <p:tav tm="100000">
                                          <p:val>
                                            <p:strVal val="#ppt_x"/>
                                          </p:val>
                                        </p:tav>
                                      </p:tavLst>
                                    </p:anim>
                                    <p:anim calcmode="lin" valueType="num">
                                      <p:cBhvr>
                                        <p:cTn id="60" dur="1000" fill="hold"/>
                                        <p:tgtEl>
                                          <p:spTgt spid="9228"/>
                                        </p:tgtEl>
                                        <p:attrNameLst>
                                          <p:attrName>ppt_y</p:attrName>
                                        </p:attrNameLst>
                                      </p:cBhvr>
                                      <p:tavLst>
                                        <p:tav tm="0">
                                          <p:val>
                                            <p:strVal val="#ppt_y-.1"/>
                                          </p:val>
                                        </p:tav>
                                        <p:tav tm="100000">
                                          <p:val>
                                            <p:strVal val="#ppt_y"/>
                                          </p:val>
                                        </p:tav>
                                      </p:tavLst>
                                    </p:anim>
                                  </p:childTnLst>
                                </p:cTn>
                              </p:par>
                              <p:par>
                                <p:cTn id="61" presetID="47" presetClass="entr" presetSubtype="0" fill="hold" grpId="0" nodeType="withEffect">
                                  <p:stCondLst>
                                    <p:cond delay="0"/>
                                  </p:stCondLst>
                                  <p:childTnLst>
                                    <p:set>
                                      <p:cBhvr>
                                        <p:cTn id="62" dur="1" fill="hold">
                                          <p:stCondLst>
                                            <p:cond delay="0"/>
                                          </p:stCondLst>
                                        </p:cTn>
                                        <p:tgtEl>
                                          <p:spTgt spid="9223"/>
                                        </p:tgtEl>
                                        <p:attrNameLst>
                                          <p:attrName>style.visibility</p:attrName>
                                        </p:attrNameLst>
                                      </p:cBhvr>
                                      <p:to>
                                        <p:strVal val="visible"/>
                                      </p:to>
                                    </p:set>
                                    <p:animEffect transition="in" filter="fade">
                                      <p:cBhvr>
                                        <p:cTn id="63" dur="1000"/>
                                        <p:tgtEl>
                                          <p:spTgt spid="9223"/>
                                        </p:tgtEl>
                                      </p:cBhvr>
                                    </p:animEffect>
                                    <p:anim calcmode="lin" valueType="num">
                                      <p:cBhvr>
                                        <p:cTn id="64" dur="1000" fill="hold"/>
                                        <p:tgtEl>
                                          <p:spTgt spid="9223"/>
                                        </p:tgtEl>
                                        <p:attrNameLst>
                                          <p:attrName>ppt_x</p:attrName>
                                        </p:attrNameLst>
                                      </p:cBhvr>
                                      <p:tavLst>
                                        <p:tav tm="0">
                                          <p:val>
                                            <p:strVal val="#ppt_x"/>
                                          </p:val>
                                        </p:tav>
                                        <p:tav tm="100000">
                                          <p:val>
                                            <p:strVal val="#ppt_x"/>
                                          </p:val>
                                        </p:tav>
                                      </p:tavLst>
                                    </p:anim>
                                    <p:anim calcmode="lin" valueType="num">
                                      <p:cBhvr>
                                        <p:cTn id="65" dur="1000" fill="hold"/>
                                        <p:tgtEl>
                                          <p:spTgt spid="9223"/>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1" presetClass="entr" presetSubtype="1" fill="hold" grpId="0" nodeType="clickEffect">
                                  <p:stCondLst>
                                    <p:cond delay="0"/>
                                  </p:stCondLst>
                                  <p:childTnLst>
                                    <p:set>
                                      <p:cBhvr>
                                        <p:cTn id="69" dur="1" fill="hold">
                                          <p:stCondLst>
                                            <p:cond delay="0"/>
                                          </p:stCondLst>
                                        </p:cTn>
                                        <p:tgtEl>
                                          <p:spTgt spid="9224"/>
                                        </p:tgtEl>
                                        <p:attrNameLst>
                                          <p:attrName>style.visibility</p:attrName>
                                        </p:attrNameLst>
                                      </p:cBhvr>
                                      <p:to>
                                        <p:strVal val="visible"/>
                                      </p:to>
                                    </p:set>
                                    <p:animEffect transition="in" filter="wheel(1)">
                                      <p:cBhvr>
                                        <p:cTn id="70" dur="2000"/>
                                        <p:tgtEl>
                                          <p:spTgt spid="9224"/>
                                        </p:tgtEl>
                                      </p:cBhvr>
                                    </p:animEffect>
                                  </p:childTnLst>
                                </p:cTn>
                              </p:par>
                              <p:par>
                                <p:cTn id="71" presetID="21" presetClass="entr" presetSubtype="1" fill="hold" nodeType="withEffect">
                                  <p:stCondLst>
                                    <p:cond delay="0"/>
                                  </p:stCondLst>
                                  <p:childTnLst>
                                    <p:set>
                                      <p:cBhvr>
                                        <p:cTn id="72" dur="1" fill="hold">
                                          <p:stCondLst>
                                            <p:cond delay="0"/>
                                          </p:stCondLst>
                                        </p:cTn>
                                        <p:tgtEl>
                                          <p:spTgt spid="9229"/>
                                        </p:tgtEl>
                                        <p:attrNameLst>
                                          <p:attrName>style.visibility</p:attrName>
                                        </p:attrNameLst>
                                      </p:cBhvr>
                                      <p:to>
                                        <p:strVal val="visible"/>
                                      </p:to>
                                    </p:set>
                                    <p:animEffect transition="in" filter="wheel(1)">
                                      <p:cBhvr>
                                        <p:cTn id="73" dur="2000"/>
                                        <p:tgtEl>
                                          <p:spTgt spid="9229"/>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16" fill="hold" nodeType="clickEffect">
                                  <p:stCondLst>
                                    <p:cond delay="0"/>
                                  </p:stCondLst>
                                  <p:childTnLst>
                                    <p:set>
                                      <p:cBhvr>
                                        <p:cTn id="77" dur="1" fill="hold">
                                          <p:stCondLst>
                                            <p:cond delay="0"/>
                                          </p:stCondLst>
                                        </p:cTn>
                                        <p:tgtEl>
                                          <p:spTgt spid="9230"/>
                                        </p:tgtEl>
                                        <p:attrNameLst>
                                          <p:attrName>style.visibility</p:attrName>
                                        </p:attrNameLst>
                                      </p:cBhvr>
                                      <p:to>
                                        <p:strVal val="visible"/>
                                      </p:to>
                                    </p:set>
                                    <p:anim calcmode="lin" valueType="num">
                                      <p:cBhvr>
                                        <p:cTn id="78" dur="500" fill="hold"/>
                                        <p:tgtEl>
                                          <p:spTgt spid="9230"/>
                                        </p:tgtEl>
                                        <p:attrNameLst>
                                          <p:attrName>ppt_w</p:attrName>
                                        </p:attrNameLst>
                                      </p:cBhvr>
                                      <p:tavLst>
                                        <p:tav tm="0">
                                          <p:val>
                                            <p:fltVal val="0"/>
                                          </p:val>
                                        </p:tav>
                                        <p:tav tm="100000">
                                          <p:val>
                                            <p:strVal val="#ppt_w"/>
                                          </p:val>
                                        </p:tav>
                                      </p:tavLst>
                                    </p:anim>
                                    <p:anim calcmode="lin" valueType="num">
                                      <p:cBhvr>
                                        <p:cTn id="79" dur="500" fill="hold"/>
                                        <p:tgtEl>
                                          <p:spTgt spid="9230"/>
                                        </p:tgtEl>
                                        <p:attrNameLst>
                                          <p:attrName>ppt_h</p:attrName>
                                        </p:attrNameLst>
                                      </p:cBhvr>
                                      <p:tavLst>
                                        <p:tav tm="0">
                                          <p:val>
                                            <p:fltVal val="0"/>
                                          </p:val>
                                        </p:tav>
                                        <p:tav tm="100000">
                                          <p:val>
                                            <p:strVal val="#ppt_h"/>
                                          </p:val>
                                        </p:tav>
                                      </p:tavLst>
                                    </p:anim>
                                    <p:animEffect transition="in" filter="fade">
                                      <p:cBhvr>
                                        <p:cTn id="80" dur="500"/>
                                        <p:tgtEl>
                                          <p:spTgt spid="9230"/>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9225"/>
                                        </p:tgtEl>
                                        <p:attrNameLst>
                                          <p:attrName>style.visibility</p:attrName>
                                        </p:attrNameLst>
                                      </p:cBhvr>
                                      <p:to>
                                        <p:strVal val="visible"/>
                                      </p:to>
                                    </p:set>
                                    <p:anim calcmode="lin" valueType="num">
                                      <p:cBhvr>
                                        <p:cTn id="83" dur="500" fill="hold"/>
                                        <p:tgtEl>
                                          <p:spTgt spid="9225"/>
                                        </p:tgtEl>
                                        <p:attrNameLst>
                                          <p:attrName>ppt_w</p:attrName>
                                        </p:attrNameLst>
                                      </p:cBhvr>
                                      <p:tavLst>
                                        <p:tav tm="0">
                                          <p:val>
                                            <p:fltVal val="0"/>
                                          </p:val>
                                        </p:tav>
                                        <p:tav tm="100000">
                                          <p:val>
                                            <p:strVal val="#ppt_w"/>
                                          </p:val>
                                        </p:tav>
                                      </p:tavLst>
                                    </p:anim>
                                    <p:anim calcmode="lin" valueType="num">
                                      <p:cBhvr>
                                        <p:cTn id="84" dur="500" fill="hold"/>
                                        <p:tgtEl>
                                          <p:spTgt spid="9225"/>
                                        </p:tgtEl>
                                        <p:attrNameLst>
                                          <p:attrName>ppt_h</p:attrName>
                                        </p:attrNameLst>
                                      </p:cBhvr>
                                      <p:tavLst>
                                        <p:tav tm="0">
                                          <p:val>
                                            <p:fltVal val="0"/>
                                          </p:val>
                                        </p:tav>
                                        <p:tav tm="100000">
                                          <p:val>
                                            <p:strVal val="#ppt_h"/>
                                          </p:val>
                                        </p:tav>
                                      </p:tavLst>
                                    </p:anim>
                                    <p:animEffect transition="in" filter="fade">
                                      <p:cBhvr>
                                        <p:cTn id="85" dur="500"/>
                                        <p:tgtEl>
                                          <p:spTgt spid="9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ldLvl="0" animBg="1"/>
      <p:bldP spid="9219" grpId="0" bldLvl="0" animBg="1"/>
      <p:bldP spid="9220" grpId="0" bldLvl="0" animBg="1"/>
      <p:bldP spid="9221" grpId="0" bldLvl="0" animBg="1"/>
      <p:bldP spid="9222" grpId="0" bldLvl="0" animBg="1"/>
      <p:bldP spid="9223" grpId="0" bldLvl="0" animBg="1"/>
      <p:bldP spid="9224" grpId="0" bldLvl="0" animBg="1"/>
      <p:bldP spid="9225"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975995"/>
          </a:xfrm>
        </p:spPr>
        <p:txBody>
          <a:bodyPr/>
          <a:lstStyle/>
          <a:p>
            <a:pPr marL="457200" indent="-457200">
              <a:buFont typeface="Wingdings" panose="05000000000000000000" charset="0"/>
              <a:buChar char="v"/>
            </a:pPr>
            <a:r>
              <a:rPr lang="en-US" altLang="en-US" sz="2800" b="1" dirty="0">
                <a:latin typeface="Times New Roman" panose="02020603050405020304" pitchFamily="18" charset="0"/>
                <a:cs typeface="Times New Roman" panose="02020603050405020304" pitchFamily="18" charset="0"/>
                <a:sym typeface="+mn-ea"/>
              </a:rPr>
              <a:t>Ý nghĩa</a:t>
            </a:r>
            <a:r>
              <a:rPr lang="vi-VN" altLang="en-US" sz="2800" b="1" dirty="0">
                <a:latin typeface="Times New Roman" panose="02020603050405020304" pitchFamily="18" charset="0"/>
                <a:cs typeface="Times New Roman" panose="02020603050405020304" pitchFamily="18" charset="0"/>
                <a:sym typeface="+mn-ea"/>
              </a:rPr>
              <a:t> trong đời sống XH</a:t>
            </a:r>
            <a:endParaRPr lang="vi-VN" altLang="en-US" sz="2800" b="1" dirty="0">
              <a:latin typeface="Times New Roman" panose="02020603050405020304" pitchFamily="18" charset="0"/>
              <a:cs typeface="Times New Roman" panose="02020603050405020304" pitchFamily="18" charset="0"/>
              <a:sym typeface="+mn-ea"/>
            </a:endParaRPr>
          </a:p>
        </p:txBody>
      </p:sp>
      <p:sp>
        <p:nvSpPr>
          <p:cNvPr id="5" name="Content Placeholder 4"/>
          <p:cNvSpPr>
            <a:spLocks noGrp="1"/>
          </p:cNvSpPr>
          <p:nvPr>
            <p:ph idx="1"/>
          </p:nvPr>
        </p:nvSpPr>
        <p:spPr>
          <a:xfrm>
            <a:off x="838200" y="1582420"/>
            <a:ext cx="10515600" cy="4594860"/>
          </a:xfrm>
        </p:spPr>
        <p:txBody>
          <a:bodyPr/>
          <a:lstStyle/>
          <a:p>
            <a:pPr algn="just"/>
            <a:r>
              <a:rPr lang="vi-VN" altLang="en-US">
                <a:latin typeface="Times New Roman" panose="02020603050405020304" pitchFamily="18" charset="0"/>
                <a:cs typeface="Times New Roman" panose="02020603050405020304" pitchFamily="18" charset="0"/>
              </a:rPr>
              <a:t>Quy luật QHSX phù hợp với trình độ của LLSX có ý nghĩa rất quan trọng.</a:t>
            </a:r>
            <a:endParaRPr lang="vi-VN" altLang="en-US">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vi-VN" altLang="en-US">
                <a:latin typeface="Times New Roman" panose="02020603050405020304" pitchFamily="18" charset="0"/>
                <a:cs typeface="Times New Roman" panose="02020603050405020304" pitchFamily="18" charset="0"/>
              </a:rPr>
              <a:t>muốn phát triển kinh tế phải bắt đầu từ phát triển LLSX,  trước hết LL lao động và CCLĐ.</a:t>
            </a:r>
            <a:endParaRPr lang="vi-VN" altLang="en-US">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vi-VN" altLang="en-US">
                <a:latin typeface="Times New Roman" panose="02020603050405020304" pitchFamily="18" charset="0"/>
                <a:cs typeface="Times New Roman" panose="02020603050405020304" pitchFamily="18" charset="0"/>
              </a:rPr>
              <a:t>Muốn xóa bỏ QHSX cũ, thiết lập QHSX mới phải căn cứ vào trình độ phát triển của LLSX</a:t>
            </a:r>
            <a:endParaRPr lang="vi-V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r>
              <a:rPr lang="vi-VN" altLang="en-US" b="1" dirty="0">
                <a:latin typeface="Times New Roman" panose="02020603050405020304" pitchFamily="18" charset="0"/>
                <a:cs typeface="Times New Roman" panose="02020603050405020304" pitchFamily="18" charset="0"/>
              </a:rPr>
              <a:t>3. </a:t>
            </a:r>
            <a:r>
              <a:rPr lang="vi-VN" altLang="en-US" sz="4400" b="1" dirty="0">
                <a:latin typeface="Times New Roman" panose="02020603050405020304" pitchFamily="18" charset="0"/>
                <a:cs typeface="Times New Roman" panose="02020603050405020304" pitchFamily="18" charset="0"/>
              </a:rPr>
              <a:t>Biện chứng giữa CSHT và KTTT</a:t>
            </a:r>
            <a:endParaRPr lang="en-US" dirty="0"/>
          </a:p>
        </p:txBody>
      </p:sp>
      <p:sp>
        <p:nvSpPr>
          <p:cNvPr id="3" name="Content Placeholder 2"/>
          <p:cNvSpPr>
            <a:spLocks noGrp="1"/>
          </p:cNvSpPr>
          <p:nvPr>
            <p:ph idx="1"/>
          </p:nvPr>
        </p:nvSpPr>
        <p:spPr>
          <a:xfrm>
            <a:off x="838200" y="1208314"/>
            <a:ext cx="10515600" cy="4968649"/>
          </a:xfrm>
        </p:spPr>
        <p:txBody>
          <a:bodyPr/>
          <a:lstStyle/>
          <a:p>
            <a:pPr marL="514350" indent="-514350" algn="just">
              <a:lnSpc>
                <a:spcPct val="100000"/>
              </a:lnSpc>
              <a:buAutoNum type="alphaLcPeriod"/>
            </a:pPr>
            <a:r>
              <a:rPr lang="vi-VN" altLang="en-US" b="1" dirty="0">
                <a:latin typeface="Times New Roman" panose="02020603050405020304" pitchFamily="18" charset="0"/>
                <a:cs typeface="Times New Roman" panose="02020603050405020304" pitchFamily="18" charset="0"/>
              </a:rPr>
              <a:t>Khái niệm CSHT và KTTT</a:t>
            </a:r>
            <a:endParaRPr lang="vi-VN" altLang="en-US" b="1" dirty="0">
              <a:latin typeface="Times New Roman" panose="02020603050405020304" pitchFamily="18" charset="0"/>
              <a:cs typeface="Times New Roman" panose="02020603050405020304" pitchFamily="18" charset="0"/>
            </a:endParaRPr>
          </a:p>
          <a:p>
            <a:pPr lvl="0" algn="just" eaLnBrk="1" hangingPunct="1">
              <a:lnSpc>
                <a:spcPct val="100000"/>
              </a:lnSpc>
              <a:spcBef>
                <a:spcPct val="0"/>
              </a:spcBef>
              <a:buClrTx/>
              <a:buSzTx/>
              <a:buFont typeface="Wingdings" panose="05000000000000000000" charset="0"/>
              <a:buChar char="v"/>
            </a:pPr>
            <a:r>
              <a:rPr lang="en-US" altLang="en-US" b="1" i="1" dirty="0" err="1">
                <a:latin typeface="Times New Roman" panose="02020603050405020304" pitchFamily="18" charset="0"/>
                <a:sym typeface="+mn-ea"/>
              </a:rPr>
              <a:t>Cơ</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sở</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hạ</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tầng</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là</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toàn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bộ</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những</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quan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hệ</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sản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xuất</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hợp</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thành</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cơ</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cấu</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kinh</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tế</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của</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một</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xã</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hội</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nhất</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định</a:t>
            </a:r>
            <a:r>
              <a:rPr lang="en-US" altLang="en-US" dirty="0">
                <a:latin typeface="Times New Roman" panose="02020603050405020304" pitchFamily="18" charset="0"/>
                <a:sym typeface="+mn-ea"/>
              </a:rPr>
              <a:t>.</a:t>
            </a:r>
            <a:endParaRPr lang="vi-VN" altLang="en-US" dirty="0">
              <a:latin typeface="Times New Roman" panose="02020603050405020304" pitchFamily="18" charset="0"/>
              <a:sym typeface="+mn-ea"/>
            </a:endParaRPr>
          </a:p>
          <a:p>
            <a:pPr marL="0" indent="0">
              <a:buNone/>
            </a:pPr>
            <a:endParaRPr lang="en-US" dirty="0"/>
          </a:p>
        </p:txBody>
      </p:sp>
      <p:sp>
        <p:nvSpPr>
          <p:cNvPr id="4" name="Rectangle: Rounded Corners 3"/>
          <p:cNvSpPr/>
          <p:nvPr/>
        </p:nvSpPr>
        <p:spPr>
          <a:xfrm>
            <a:off x="1328057" y="3069771"/>
            <a:ext cx="1415143" cy="16328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en-US" b="1" dirty="0" err="1">
                <a:latin typeface="Times New Roman" panose="02020603050405020304" pitchFamily="18" charset="0"/>
                <a:sym typeface="+mn-ea"/>
              </a:rPr>
              <a:t>Các</a:t>
            </a:r>
            <a:r>
              <a:rPr lang="en-US" altLang="en-US" b="1" dirty="0">
                <a:latin typeface="Times New Roman" panose="02020603050405020304" pitchFamily="18" charset="0"/>
                <a:sym typeface="+mn-ea"/>
              </a:rPr>
              <a:t> </a:t>
            </a:r>
            <a:r>
              <a:rPr lang="en-US" altLang="en-US" b="1" dirty="0" err="1">
                <a:latin typeface="Times New Roman" panose="02020603050405020304" pitchFamily="18" charset="0"/>
                <a:sym typeface="+mn-ea"/>
              </a:rPr>
              <a:t>yếu</a:t>
            </a:r>
            <a:r>
              <a:rPr lang="en-US" altLang="en-US" b="1" dirty="0">
                <a:latin typeface="Times New Roman" panose="02020603050405020304" pitchFamily="18" charset="0"/>
                <a:sym typeface="+mn-ea"/>
              </a:rPr>
              <a:t> </a:t>
            </a:r>
            <a:r>
              <a:rPr lang="en-US" altLang="en-US" b="1" dirty="0" err="1">
                <a:latin typeface="Times New Roman" panose="02020603050405020304" pitchFamily="18" charset="0"/>
                <a:sym typeface="+mn-ea"/>
              </a:rPr>
              <a:t>tố</a:t>
            </a:r>
            <a:r>
              <a:rPr lang="en-US" altLang="en-US" b="1" dirty="0">
                <a:latin typeface="Times New Roman" panose="02020603050405020304" pitchFamily="18" charset="0"/>
                <a:sym typeface="+mn-ea"/>
              </a:rPr>
              <a:t> </a:t>
            </a:r>
            <a:r>
              <a:rPr lang="en-US" altLang="en-US" b="1" dirty="0" err="1">
                <a:latin typeface="Times New Roman" panose="02020603050405020304" pitchFamily="18" charset="0"/>
                <a:sym typeface="+mn-ea"/>
              </a:rPr>
              <a:t>cấu</a:t>
            </a:r>
            <a:r>
              <a:rPr lang="en-US" altLang="en-US" b="1" dirty="0">
                <a:latin typeface="Times New Roman" panose="02020603050405020304" pitchFamily="18" charset="0"/>
                <a:sym typeface="+mn-ea"/>
              </a:rPr>
              <a:t> </a:t>
            </a:r>
            <a:r>
              <a:rPr lang="en-US" altLang="en-US" b="1" dirty="0" err="1">
                <a:latin typeface="Times New Roman" panose="02020603050405020304" pitchFamily="18" charset="0"/>
                <a:sym typeface="+mn-ea"/>
              </a:rPr>
              <a:t>thành</a:t>
            </a:r>
            <a:r>
              <a:rPr lang="en-US" altLang="en-US" b="1" dirty="0">
                <a:latin typeface="Times New Roman" panose="02020603050405020304" pitchFamily="18" charset="0"/>
                <a:sym typeface="+mn-ea"/>
              </a:rPr>
              <a:t> </a:t>
            </a:r>
            <a:r>
              <a:rPr lang="en-US" altLang="en-US" b="1" dirty="0" err="1">
                <a:latin typeface="Times New Roman" panose="02020603050405020304" pitchFamily="18" charset="0"/>
                <a:sym typeface="+mn-ea"/>
              </a:rPr>
              <a:t>nên</a:t>
            </a:r>
            <a:r>
              <a:rPr lang="en-US" altLang="en-US" b="1" dirty="0">
                <a:latin typeface="Times New Roman" panose="02020603050405020304" pitchFamily="18" charset="0"/>
                <a:sym typeface="+mn-ea"/>
              </a:rPr>
              <a:t> CSHT</a:t>
            </a:r>
            <a:endParaRPr lang="en-US" b="1" dirty="0"/>
          </a:p>
        </p:txBody>
      </p:sp>
      <p:sp>
        <p:nvSpPr>
          <p:cNvPr id="5" name="Oval 4"/>
          <p:cNvSpPr/>
          <p:nvPr/>
        </p:nvSpPr>
        <p:spPr>
          <a:xfrm>
            <a:off x="3287485" y="2667001"/>
            <a:ext cx="3341915" cy="762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lvl="0" algn="ctr" eaLnBrk="1" hangingPunct="1">
              <a:lnSpc>
                <a:spcPct val="100000"/>
              </a:lnSpc>
              <a:spcBef>
                <a:spcPct val="0"/>
              </a:spcBef>
              <a:buClrTx/>
              <a:buSzTx/>
              <a:buFont typeface="Wingdings" panose="05000000000000000000" pitchFamily="2" charset="2"/>
              <a:buChar char="§"/>
            </a:pPr>
            <a:r>
              <a:rPr lang="en-US" altLang="en-US" b="1">
                <a:latin typeface="Times New Roman" panose="02020603050405020304" pitchFamily="18" charset="0"/>
                <a:sym typeface="+mn-ea"/>
              </a:rPr>
              <a:t>QHSX thống</a:t>
            </a:r>
            <a:r>
              <a:rPr lang="en-US" altLang="en-US">
                <a:latin typeface="Times New Roman" panose="02020603050405020304" pitchFamily="18" charset="0"/>
                <a:sym typeface="+mn-ea"/>
              </a:rPr>
              <a:t> </a:t>
            </a:r>
            <a:r>
              <a:rPr lang="en-US" altLang="en-US" b="1">
                <a:latin typeface="Times New Roman" panose="02020603050405020304" pitchFamily="18" charset="0"/>
                <a:sym typeface="+mn-ea"/>
              </a:rPr>
              <a:t>trị</a:t>
            </a:r>
            <a:r>
              <a:rPr lang="en-US" altLang="en-US">
                <a:latin typeface="Times New Roman" panose="02020603050405020304" pitchFamily="18" charset="0"/>
                <a:sym typeface="+mn-ea"/>
              </a:rPr>
              <a:t> (đóng vai trò chủ yếu)</a:t>
            </a:r>
            <a:endParaRPr lang="vi-VN" altLang="en-US" dirty="0">
              <a:latin typeface="Times New Roman" panose="02020603050405020304" pitchFamily="18" charset="0"/>
              <a:sym typeface="+mn-ea"/>
            </a:endParaRPr>
          </a:p>
        </p:txBody>
      </p:sp>
      <p:sp>
        <p:nvSpPr>
          <p:cNvPr id="6" name="Oval 5"/>
          <p:cNvSpPr/>
          <p:nvPr/>
        </p:nvSpPr>
        <p:spPr>
          <a:xfrm>
            <a:off x="3287486" y="3592285"/>
            <a:ext cx="3341914" cy="762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lvl="0" algn="ctr" eaLnBrk="1" hangingPunct="1">
              <a:lnSpc>
                <a:spcPct val="100000"/>
              </a:lnSpc>
              <a:spcBef>
                <a:spcPct val="0"/>
              </a:spcBef>
              <a:buClrTx/>
              <a:buSzTx/>
              <a:buFont typeface="Wingdings" panose="05000000000000000000" pitchFamily="2" charset="2"/>
              <a:buChar char="§"/>
            </a:pPr>
            <a:r>
              <a:rPr lang="en-US" altLang="en-US" b="1">
                <a:latin typeface="Times New Roman" panose="02020603050405020304" pitchFamily="18" charset="0"/>
                <a:sym typeface="+mn-ea"/>
              </a:rPr>
              <a:t>QHSX tàn dư của XH cũ</a:t>
            </a:r>
            <a:r>
              <a:rPr lang="vi-VN" altLang="en-US" b="1">
                <a:latin typeface="Times New Roman" panose="02020603050405020304" pitchFamily="18" charset="0"/>
                <a:sym typeface="+mn-ea"/>
              </a:rPr>
              <a:t>.</a:t>
            </a:r>
            <a:endParaRPr lang="vi-VN" altLang="en-US" b="1" dirty="0">
              <a:latin typeface="Times New Roman" panose="02020603050405020304" pitchFamily="18" charset="0"/>
              <a:sym typeface="+mn-ea"/>
            </a:endParaRPr>
          </a:p>
        </p:txBody>
      </p:sp>
      <p:sp>
        <p:nvSpPr>
          <p:cNvPr id="7" name="Oval 6"/>
          <p:cNvSpPr/>
          <p:nvPr/>
        </p:nvSpPr>
        <p:spPr>
          <a:xfrm>
            <a:off x="3287485" y="4517569"/>
            <a:ext cx="3341913" cy="762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lvl="0" algn="just" eaLnBrk="1" hangingPunct="1">
              <a:lnSpc>
                <a:spcPct val="100000"/>
              </a:lnSpc>
              <a:spcBef>
                <a:spcPct val="0"/>
              </a:spcBef>
              <a:buClrTx/>
              <a:buSzTx/>
              <a:buFont typeface="Wingdings" panose="05000000000000000000" pitchFamily="2" charset="2"/>
              <a:buChar char="§"/>
            </a:pPr>
            <a:endParaRPr lang="vi-VN" altLang="en-US" b="1" dirty="0">
              <a:latin typeface="Times New Roman" panose="02020603050405020304" pitchFamily="18" charset="0"/>
              <a:sym typeface="+mn-ea"/>
            </a:endParaRPr>
          </a:p>
          <a:p>
            <a:pPr lvl="0" algn="just" eaLnBrk="1" hangingPunct="1">
              <a:lnSpc>
                <a:spcPct val="100000"/>
              </a:lnSpc>
              <a:spcBef>
                <a:spcPct val="0"/>
              </a:spcBef>
              <a:buClrTx/>
              <a:buSzTx/>
              <a:buFont typeface="Wingdings" panose="05000000000000000000" pitchFamily="2" charset="2"/>
              <a:buChar char="§"/>
            </a:pPr>
            <a:r>
              <a:rPr lang="en-US" altLang="en-US" b="1" dirty="0">
                <a:latin typeface="Times New Roman" panose="02020603050405020304" pitchFamily="18" charset="0"/>
                <a:sym typeface="+mn-ea"/>
              </a:rPr>
              <a:t>QHSX </a:t>
            </a:r>
            <a:r>
              <a:rPr lang="en-US" altLang="en-US" b="1" dirty="0" err="1">
                <a:latin typeface="Times New Roman" panose="02020603050405020304" pitchFamily="18" charset="0"/>
                <a:sym typeface="+mn-ea"/>
              </a:rPr>
              <a:t>mầm</a:t>
            </a:r>
            <a:r>
              <a:rPr lang="en-US" altLang="en-US" b="1" dirty="0">
                <a:latin typeface="Times New Roman" panose="02020603050405020304" pitchFamily="18" charset="0"/>
                <a:sym typeface="+mn-ea"/>
              </a:rPr>
              <a:t> </a:t>
            </a:r>
            <a:r>
              <a:rPr lang="en-US" altLang="en-US" b="1" dirty="0" err="1">
                <a:latin typeface="Times New Roman" panose="02020603050405020304" pitchFamily="18" charset="0"/>
                <a:sym typeface="+mn-ea"/>
              </a:rPr>
              <a:t>mống</a:t>
            </a:r>
            <a:r>
              <a:rPr lang="en-US" altLang="en-US" b="1" dirty="0">
                <a:latin typeface="Times New Roman" panose="02020603050405020304" pitchFamily="18" charset="0"/>
                <a:sym typeface="+mn-ea"/>
              </a:rPr>
              <a:t> </a:t>
            </a:r>
            <a:r>
              <a:rPr lang="en-US" altLang="en-US" dirty="0" err="1">
                <a:latin typeface="Times New Roman" panose="02020603050405020304" pitchFamily="18" charset="0"/>
                <a:sym typeface="+mn-ea"/>
              </a:rPr>
              <a:t>của</a:t>
            </a:r>
            <a:r>
              <a:rPr lang="en-US" altLang="en-US" dirty="0">
                <a:latin typeface="Times New Roman" panose="02020603050405020304" pitchFamily="18" charset="0"/>
                <a:sym typeface="+mn-ea"/>
              </a:rPr>
              <a:t> XH </a:t>
            </a:r>
            <a:r>
              <a:rPr lang="en-US" altLang="en-US" dirty="0" err="1">
                <a:latin typeface="Times New Roman" panose="02020603050405020304" pitchFamily="18" charset="0"/>
                <a:sym typeface="+mn-ea"/>
              </a:rPr>
              <a:t>tương</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lai</a:t>
            </a:r>
            <a:r>
              <a:rPr lang="en-US" altLang="en-US" dirty="0">
                <a:latin typeface="Times New Roman" panose="02020603050405020304" pitchFamily="18" charset="0"/>
                <a:sym typeface="+mn-ea"/>
              </a:rPr>
              <a:t>.</a:t>
            </a:r>
            <a:endParaRPr lang="vi-VN" altLang="en-US" dirty="0">
              <a:latin typeface="Times New Roman" panose="02020603050405020304" pitchFamily="18" charset="0"/>
              <a:sym typeface="+mn-ea"/>
            </a:endParaRPr>
          </a:p>
          <a:p>
            <a:pPr marL="0" lvl="0" indent="0" algn="just" eaLnBrk="1" hangingPunct="1">
              <a:lnSpc>
                <a:spcPct val="100000"/>
              </a:lnSpc>
              <a:spcBef>
                <a:spcPct val="0"/>
              </a:spcBef>
              <a:buClrTx/>
              <a:buSzTx/>
              <a:buNone/>
            </a:pPr>
            <a:endParaRPr lang="en-US" altLang="en-US" dirty="0">
              <a:solidFill>
                <a:schemeClr val="tx1"/>
              </a:solidFill>
              <a:latin typeface="Times New Roman" panose="02020603050405020304" pitchFamily="18" charset="0"/>
            </a:endParaRPr>
          </a:p>
        </p:txBody>
      </p:sp>
      <p:cxnSp>
        <p:nvCxnSpPr>
          <p:cNvPr id="9" name="Straight Arrow Connector 8"/>
          <p:cNvCxnSpPr>
            <a:stCxn id="4" idx="3"/>
            <a:endCxn id="5" idx="2"/>
          </p:cNvCxnSpPr>
          <p:nvPr/>
        </p:nvCxnSpPr>
        <p:spPr>
          <a:xfrm flipV="1">
            <a:off x="2743200" y="3048001"/>
            <a:ext cx="544285" cy="8381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a:stCxn id="4" idx="3"/>
            <a:endCxn id="6" idx="2"/>
          </p:cNvCxnSpPr>
          <p:nvPr/>
        </p:nvCxnSpPr>
        <p:spPr>
          <a:xfrm>
            <a:off x="2743200" y="3886200"/>
            <a:ext cx="544286" cy="870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a:stCxn id="4" idx="3"/>
            <a:endCxn id="7" idx="2"/>
          </p:cNvCxnSpPr>
          <p:nvPr/>
        </p:nvCxnSpPr>
        <p:spPr>
          <a:xfrm>
            <a:off x="2743200" y="3886200"/>
            <a:ext cx="544285" cy="10123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Rectangle: Single Corner Snipped 13"/>
          <p:cNvSpPr/>
          <p:nvPr/>
        </p:nvSpPr>
        <p:spPr>
          <a:xfrm>
            <a:off x="1023258" y="5551716"/>
            <a:ext cx="9274628" cy="788531"/>
          </a:xfrm>
          <a:prstGeom prst="snip1Rect">
            <a:avLst/>
          </a:prstGeom>
        </p:spPr>
        <p:style>
          <a:lnRef idx="2">
            <a:schemeClr val="accent6"/>
          </a:lnRef>
          <a:fillRef idx="1">
            <a:schemeClr val="lt1"/>
          </a:fillRef>
          <a:effectRef idx="0">
            <a:schemeClr val="accent6"/>
          </a:effectRef>
          <a:fontRef idx="minor">
            <a:schemeClr val="dk1"/>
          </a:fontRef>
        </p:style>
        <p:txBody>
          <a:bodyPr rtlCol="0" anchor="ctr"/>
          <a:lstStyle/>
          <a:p>
            <a:pPr marL="0" lvl="0" indent="0" algn="just" eaLnBrk="1" hangingPunct="1">
              <a:lnSpc>
                <a:spcPct val="100000"/>
              </a:lnSpc>
              <a:spcBef>
                <a:spcPct val="0"/>
              </a:spcBef>
              <a:buClrTx/>
              <a:buSzTx/>
              <a:buFontTx/>
              <a:buNone/>
            </a:pPr>
            <a:endParaRPr lang="vi-VN" altLang="en-US" dirty="0">
              <a:latin typeface="Times New Roman" panose="02020603050405020304" pitchFamily="18" charset="0"/>
              <a:sym typeface="+mn-ea"/>
            </a:endParaRPr>
          </a:p>
          <a:p>
            <a:pPr marL="0" lvl="0" indent="0" algn="just" eaLnBrk="1" hangingPunct="1">
              <a:lnSpc>
                <a:spcPct val="100000"/>
              </a:lnSpc>
              <a:spcBef>
                <a:spcPct val="0"/>
              </a:spcBef>
              <a:buClrTx/>
              <a:buSzTx/>
              <a:buFontTx/>
              <a:buNone/>
            </a:pPr>
            <a:r>
              <a:rPr lang="en-US" altLang="en-US" dirty="0">
                <a:latin typeface="Times New Roman" panose="02020603050405020304" pitchFamily="18" charset="0"/>
                <a:sym typeface="+mn-ea"/>
              </a:rPr>
              <a:t> </a:t>
            </a:r>
            <a:r>
              <a:rPr lang="vi-VN"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Cơ</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sở</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hạ</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tầng</a:t>
            </a:r>
            <a:r>
              <a:rPr lang="en-US" altLang="en-US" dirty="0">
                <a:latin typeface="Times New Roman" panose="02020603050405020304" pitchFamily="18" charset="0"/>
                <a:sym typeface="+mn-ea"/>
              </a:rPr>
              <a:t> bao </a:t>
            </a:r>
            <a:r>
              <a:rPr lang="en-US" altLang="en-US" dirty="0" err="1">
                <a:latin typeface="Times New Roman" panose="02020603050405020304" pitchFamily="18" charset="0"/>
                <a:sym typeface="+mn-ea"/>
              </a:rPr>
              <a:t>giờ</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cũng</a:t>
            </a:r>
            <a:r>
              <a:rPr lang="en-US" altLang="en-US" dirty="0">
                <a:latin typeface="Times New Roman" panose="02020603050405020304" pitchFamily="18" charset="0"/>
                <a:sym typeface="+mn-ea"/>
              </a:rPr>
              <a:t> do QHSX </a:t>
            </a:r>
            <a:r>
              <a:rPr lang="en-US" altLang="en-US" dirty="0" err="1">
                <a:latin typeface="Times New Roman" panose="02020603050405020304" pitchFamily="18" charset="0"/>
                <a:sym typeface="+mn-ea"/>
              </a:rPr>
              <a:t>thống</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trị</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giữ</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vai</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trò</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chủ</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đạo</a:t>
            </a:r>
            <a:r>
              <a:rPr lang="en-US" altLang="en-US" dirty="0">
                <a:latin typeface="Times New Roman" panose="02020603050405020304" pitchFamily="18" charset="0"/>
                <a:sym typeface="+mn-ea"/>
              </a:rPr>
              <a:t>, chi </a:t>
            </a:r>
            <a:r>
              <a:rPr lang="en-US" altLang="en-US" dirty="0" err="1">
                <a:latin typeface="Times New Roman" panose="02020603050405020304" pitchFamily="18" charset="0"/>
                <a:sym typeface="+mn-ea"/>
              </a:rPr>
              <a:t>phối</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các</a:t>
            </a:r>
            <a:r>
              <a:rPr lang="en-US" altLang="en-US" dirty="0">
                <a:latin typeface="Times New Roman" panose="02020603050405020304" pitchFamily="18" charset="0"/>
                <a:sym typeface="+mn-ea"/>
              </a:rPr>
              <a:t> QHSX </a:t>
            </a:r>
            <a:r>
              <a:rPr lang="en-US" altLang="en-US" dirty="0" err="1">
                <a:latin typeface="Times New Roman" panose="02020603050405020304" pitchFamily="18" charset="0"/>
                <a:sym typeface="+mn-ea"/>
              </a:rPr>
              <a:t>khác</a:t>
            </a:r>
            <a:r>
              <a:rPr lang="en-US" altLang="en-US" dirty="0">
                <a:latin typeface="Times New Roman" panose="02020603050405020304" pitchFamily="18" charset="0"/>
                <a:sym typeface="+mn-ea"/>
              </a:rPr>
              <a:t>.</a:t>
            </a:r>
            <a:endParaRPr lang="en-US" altLang="en-US" dirty="0">
              <a:solidFill>
                <a:schemeClr val="tx1"/>
              </a:solidFill>
              <a:latin typeface="Times New Roman" panose="02020603050405020304" pitchFamily="18" charset="0"/>
            </a:endParaRPr>
          </a:p>
          <a:p>
            <a:pPr marL="0" lvl="0" indent="0" algn="just" eaLnBrk="1" hangingPunct="1">
              <a:lnSpc>
                <a:spcPct val="100000"/>
              </a:lnSpc>
              <a:spcBef>
                <a:spcPct val="0"/>
              </a:spcBef>
              <a:buClrTx/>
              <a:buSzTx/>
              <a:buNone/>
            </a:pPr>
            <a:endParaRPr lang="en-US" altLang="en-US" dirty="0">
              <a:solidFill>
                <a:schemeClr val="tx1"/>
              </a:solidFill>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marL="342900" indent="-342900" algn="just">
              <a:buFont typeface="Wingdings" panose="05000000000000000000" charset="0"/>
              <a:buChar char="v"/>
            </a:pPr>
            <a:r>
              <a:rPr lang="en-US" sz="2800" b="1" i="1" noProof="0">
                <a:ln>
                  <a:noFill/>
                </a:ln>
                <a:effectLst/>
                <a:uLnTx/>
                <a:uFillTx/>
                <a:latin typeface="Times New Roman" panose="02020603050405020304" pitchFamily="18" charset="0"/>
                <a:ea typeface="+mn-ea"/>
                <a:cs typeface="+mn-cs"/>
                <a:sym typeface="+mn-ea"/>
              </a:rPr>
              <a:t>Kiến trúc thượng tầng</a:t>
            </a:r>
            <a:r>
              <a:rPr lang="en-US" sz="2800" b="1" noProof="0">
                <a:ln>
                  <a:noFill/>
                </a:ln>
                <a:effectLst/>
                <a:uLnTx/>
                <a:uFillTx/>
                <a:latin typeface="Times New Roman" panose="02020603050405020304" pitchFamily="18" charset="0"/>
                <a:ea typeface="+mn-ea"/>
                <a:cs typeface="+mn-cs"/>
                <a:sym typeface="+mn-ea"/>
              </a:rPr>
              <a:t> </a:t>
            </a:r>
            <a:r>
              <a:rPr lang="en-US" sz="2800" noProof="0">
                <a:ln>
                  <a:noFill/>
                </a:ln>
                <a:effectLst/>
                <a:uLnTx/>
                <a:uFillTx/>
                <a:latin typeface="Times New Roman" panose="02020603050405020304" pitchFamily="18" charset="0"/>
                <a:ea typeface="+mn-ea"/>
                <a:cs typeface="+mn-cs"/>
                <a:sym typeface="+mn-ea"/>
              </a:rPr>
              <a:t>là toàn bộ những quan điểm chính trị, pháp quyền, triết học, đạo đức, tôn giáo, nghệ thuật…cùng với thiết chế XH tương  ứng như: nhà nước, đảng phái, giáo hội, các đoàn thể XH…được hình thành trên CSHT nhất định.</a:t>
            </a:r>
            <a:endParaRPr lang="en-US" sz="280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marL="457200" marR="0" lvl="0" indent="-457200" algn="just" defTabSz="914400" rtl="0" eaLnBrk="1" fontAlgn="base" latinLnBrk="0" hangingPunct="1">
              <a:lnSpc>
                <a:spcPct val="100000"/>
              </a:lnSpc>
              <a:spcBef>
                <a:spcPct val="0"/>
              </a:spcBef>
              <a:spcAft>
                <a:spcPct val="0"/>
              </a:spcAft>
              <a:buClrTx/>
              <a:buSzTx/>
              <a:buFontTx/>
              <a:buChar char="-"/>
              <a:defRPr/>
            </a:pPr>
            <a:endParaRPr lang="en-US" noProof="0" dirty="0">
              <a:ln>
                <a:noFill/>
              </a:ln>
              <a:effectLst/>
              <a:uLnTx/>
              <a:uFillTx/>
              <a:latin typeface="Times New Roman" panose="02020603050405020304" pitchFamily="18" charset="0"/>
              <a:sym typeface="+mn-ea"/>
            </a:endParaRPr>
          </a:p>
          <a:p>
            <a:pPr marL="457200" marR="0" lvl="0" indent="-457200" algn="just" defTabSz="914400" rtl="0" eaLnBrk="1" fontAlgn="base" latinLnBrk="0" hangingPunct="1">
              <a:lnSpc>
                <a:spcPct val="100000"/>
              </a:lnSpc>
              <a:spcBef>
                <a:spcPct val="0"/>
              </a:spcBef>
              <a:spcAft>
                <a:spcPct val="0"/>
              </a:spcAft>
              <a:buClrTx/>
              <a:buSzTx/>
              <a:buFontTx/>
              <a:buChar char="-"/>
              <a:defRPr/>
            </a:pPr>
            <a:r>
              <a:rPr lang="en-US" noProof="0" dirty="0">
                <a:ln>
                  <a:noFill/>
                </a:ln>
                <a:effectLst/>
                <a:uLnTx/>
                <a:uFillTx/>
                <a:latin typeface="Times New Roman" panose="02020603050405020304" pitchFamily="18" charset="0"/>
                <a:sym typeface="+mn-ea"/>
              </a:rPr>
              <a:t>Trong </a:t>
            </a:r>
            <a:r>
              <a:rPr lang="en-US" noProof="0" dirty="0" err="1">
                <a:ln>
                  <a:noFill/>
                </a:ln>
                <a:effectLst/>
                <a:uLnTx/>
                <a:uFillTx/>
                <a:latin typeface="Times New Roman" panose="02020603050405020304" pitchFamily="18" charset="0"/>
                <a:sym typeface="+mn-ea"/>
              </a:rPr>
              <a:t>các</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yếu</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tố</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tạo</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nên</a:t>
            </a:r>
            <a:r>
              <a:rPr lang="en-US" noProof="0" dirty="0">
                <a:ln>
                  <a:noFill/>
                </a:ln>
                <a:effectLst/>
                <a:uLnTx/>
                <a:uFillTx/>
                <a:latin typeface="Times New Roman" panose="02020603050405020304" pitchFamily="18" charset="0"/>
                <a:sym typeface="+mn-ea"/>
              </a:rPr>
              <a:t> KTTT, </a:t>
            </a:r>
            <a:r>
              <a:rPr lang="en-US" noProof="0" dirty="0" err="1">
                <a:ln>
                  <a:noFill/>
                </a:ln>
                <a:effectLst/>
                <a:uLnTx/>
                <a:uFillTx/>
                <a:latin typeface="Times New Roman" panose="02020603050405020304" pitchFamily="18" charset="0"/>
                <a:sym typeface="+mn-ea"/>
              </a:rPr>
              <a:t>thì</a:t>
            </a:r>
            <a:r>
              <a:rPr lang="en-US"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yếu</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tố</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chính</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trị</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và</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pháp</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quyền</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có</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quan</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hệ</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trực</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tiếp</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với</a:t>
            </a:r>
            <a:r>
              <a:rPr lang="en-US" b="1" i="1" noProof="0" dirty="0">
                <a:ln>
                  <a:noFill/>
                </a:ln>
                <a:effectLst/>
                <a:uLnTx/>
                <a:uFillTx/>
                <a:latin typeface="Times New Roman" panose="02020603050405020304" pitchFamily="18" charset="0"/>
                <a:sym typeface="+mn-ea"/>
              </a:rPr>
              <a:t> CSHT</a:t>
            </a:r>
            <a:r>
              <a:rPr lang="en-US" noProof="0" dirty="0">
                <a:ln>
                  <a:noFill/>
                </a:ln>
                <a:effectLst/>
                <a:uLnTx/>
                <a:uFillTx/>
                <a:latin typeface="Times New Roman" panose="02020603050405020304" pitchFamily="18" charset="0"/>
                <a:sym typeface="+mn-ea"/>
              </a:rPr>
              <a:t>. Trong </a:t>
            </a:r>
            <a:r>
              <a:rPr lang="en-US" noProof="0" dirty="0" err="1">
                <a:ln>
                  <a:noFill/>
                </a:ln>
                <a:effectLst/>
                <a:uLnTx/>
                <a:uFillTx/>
                <a:latin typeface="Times New Roman" panose="02020603050405020304" pitchFamily="18" charset="0"/>
                <a:sym typeface="+mn-ea"/>
              </a:rPr>
              <a:t>thiết</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chế</a:t>
            </a:r>
            <a:r>
              <a:rPr lang="en-US" noProof="0" dirty="0">
                <a:ln>
                  <a:noFill/>
                </a:ln>
                <a:effectLst/>
                <a:uLnTx/>
                <a:uFillTx/>
                <a:latin typeface="Times New Roman" panose="02020603050405020304" pitchFamily="18" charset="0"/>
                <a:sym typeface="+mn-ea"/>
              </a:rPr>
              <a:t> XH, </a:t>
            </a:r>
            <a:r>
              <a:rPr lang="en-US" noProof="0" dirty="0" err="1">
                <a:ln>
                  <a:noFill/>
                </a:ln>
                <a:effectLst/>
                <a:uLnTx/>
                <a:uFillTx/>
                <a:latin typeface="Times New Roman" panose="02020603050405020304" pitchFamily="18" charset="0"/>
                <a:sym typeface="+mn-ea"/>
              </a:rPr>
              <a:t>nhà</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nước</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có</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vai</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trò</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đặc</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biệt</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quan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trọng</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nhất</a:t>
            </a:r>
            <a:r>
              <a:rPr lang="en-US" noProof="0" dirty="0">
                <a:ln>
                  <a:noFill/>
                </a:ln>
                <a:effectLst/>
                <a:uLnTx/>
                <a:uFillTx/>
                <a:latin typeface="Times New Roman" panose="02020603050405020304" pitchFamily="18" charset="0"/>
                <a:sym typeface="+mn-ea"/>
              </a:rPr>
              <a:t>.</a:t>
            </a:r>
            <a:endPar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457200" marR="0" lvl="0" indent="-457200" algn="just" defTabSz="914400" rtl="0" eaLnBrk="1" fontAlgn="base" latinLnBrk="0" hangingPunct="1">
              <a:lnSpc>
                <a:spcPct val="100000"/>
              </a:lnSpc>
              <a:spcBef>
                <a:spcPct val="0"/>
              </a:spcBef>
              <a:spcAft>
                <a:spcPct val="0"/>
              </a:spcAft>
              <a:buClrTx/>
              <a:buSzTx/>
              <a:buFontTx/>
              <a:buChar char="-"/>
              <a:defRPr/>
            </a:pPr>
            <a:r>
              <a:rPr lang="en-US" noProof="0" dirty="0" err="1">
                <a:ln>
                  <a:noFill/>
                </a:ln>
                <a:effectLst/>
                <a:uLnTx/>
                <a:uFillTx/>
                <a:latin typeface="Times New Roman" panose="02020603050405020304" pitchFamily="18" charset="0"/>
                <a:sym typeface="+mn-ea"/>
              </a:rPr>
              <a:t>Các</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yếu</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tố</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của</a:t>
            </a:r>
            <a:r>
              <a:rPr lang="en-US" noProof="0" dirty="0">
                <a:ln>
                  <a:noFill/>
                </a:ln>
                <a:effectLst/>
                <a:uLnTx/>
                <a:uFillTx/>
                <a:latin typeface="Times New Roman" panose="02020603050405020304" pitchFamily="18" charset="0"/>
                <a:sym typeface="+mn-ea"/>
              </a:rPr>
              <a:t> KTTT </a:t>
            </a:r>
            <a:r>
              <a:rPr lang="en-US" noProof="0" dirty="0" err="1">
                <a:ln>
                  <a:noFill/>
                </a:ln>
                <a:effectLst/>
                <a:uLnTx/>
                <a:uFillTx/>
                <a:latin typeface="Times New Roman" panose="02020603050405020304" pitchFamily="18" charset="0"/>
                <a:sym typeface="+mn-ea"/>
              </a:rPr>
              <a:t>có</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đặc</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điểm</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riêng</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nhưng</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chúng</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liên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hệ</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tác</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động</a:t>
            </a:r>
            <a:r>
              <a:rPr lang="en-US" noProof="0" dirty="0">
                <a:ln>
                  <a:noFill/>
                </a:ln>
                <a:effectLst/>
                <a:uLnTx/>
                <a:uFillTx/>
                <a:latin typeface="Times New Roman" panose="02020603050405020304" pitchFamily="18" charset="0"/>
                <a:sym typeface="+mn-ea"/>
              </a:rPr>
              <a:t> qua </a:t>
            </a:r>
            <a:r>
              <a:rPr lang="en-US" noProof="0" dirty="0" err="1">
                <a:ln>
                  <a:noFill/>
                </a:ln>
                <a:effectLst/>
                <a:uLnTx/>
                <a:uFillTx/>
                <a:latin typeface="Times New Roman" panose="02020603050405020304" pitchFamily="18" charset="0"/>
                <a:sym typeface="+mn-ea"/>
              </a:rPr>
              <a:t>lại</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lẫn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nhau</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và</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đều</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hình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thành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trên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một</a:t>
            </a:r>
            <a:r>
              <a:rPr lang="en-US" noProof="0" dirty="0">
                <a:ln>
                  <a:noFill/>
                </a:ln>
                <a:effectLst/>
                <a:uLnTx/>
                <a:uFillTx/>
                <a:latin typeface="Times New Roman" panose="02020603050405020304" pitchFamily="18" charset="0"/>
                <a:sym typeface="+mn-ea"/>
              </a:rPr>
              <a:t> CSHT </a:t>
            </a:r>
            <a:r>
              <a:rPr lang="en-US" noProof="0" dirty="0" err="1">
                <a:ln>
                  <a:noFill/>
                </a:ln>
                <a:effectLst/>
                <a:uLnTx/>
                <a:uFillTx/>
                <a:latin typeface="Times New Roman" panose="02020603050405020304" pitchFamily="18" charset="0"/>
                <a:sym typeface="+mn-ea"/>
              </a:rPr>
              <a:t>nhất</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định</a:t>
            </a:r>
            <a:endPar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457200" marR="0" lvl="0" indent="-457200" algn="just" defTabSz="914400" rtl="0" eaLnBrk="1" fontAlgn="base" latinLnBrk="0" hangingPunct="1">
              <a:lnSpc>
                <a:spcPct val="100000"/>
              </a:lnSpc>
              <a:spcBef>
                <a:spcPct val="0"/>
              </a:spcBef>
              <a:spcAft>
                <a:spcPct val="0"/>
              </a:spcAft>
              <a:buClrTx/>
              <a:buSzTx/>
              <a:buFontTx/>
              <a:buChar char="-"/>
              <a:defRPr/>
            </a:pPr>
            <a:r>
              <a:rPr lang="en-US" noProof="0" dirty="0">
                <a:ln>
                  <a:noFill/>
                </a:ln>
                <a:effectLst/>
                <a:uLnTx/>
                <a:uFillTx/>
                <a:latin typeface="Times New Roman" panose="02020603050405020304" pitchFamily="18" charset="0"/>
                <a:sym typeface="+mn-ea"/>
              </a:rPr>
              <a:t>KTTT </a:t>
            </a:r>
            <a:r>
              <a:rPr lang="en-US" noProof="0" dirty="0" err="1">
                <a:ln>
                  <a:noFill/>
                </a:ln>
                <a:effectLst/>
                <a:uLnTx/>
                <a:uFillTx/>
                <a:latin typeface="Times New Roman" panose="02020603050405020304" pitchFamily="18" charset="0"/>
                <a:sym typeface="+mn-ea"/>
              </a:rPr>
              <a:t>manh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tính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giai</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cấp</a:t>
            </a:r>
            <a:r>
              <a:rPr lang="en-US" noProof="0" dirty="0">
                <a:ln>
                  <a:noFill/>
                </a:ln>
                <a:effectLst/>
                <a:uLnTx/>
                <a:uFillTx/>
                <a:latin typeface="Times New Roman" panose="02020603050405020304" pitchFamily="18" charset="0"/>
                <a:sym typeface="+mn-ea"/>
              </a:rPr>
              <a:t>. </a:t>
            </a:r>
            <a:endPar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indent="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34331"/>
          </a:xfrm>
        </p:spPr>
        <p:txBody>
          <a:bodyPr>
            <a:normAutofit/>
          </a:bodyPr>
          <a:lstStyle/>
          <a:p>
            <a:pPr algn="just"/>
            <a:r>
              <a:rPr lang="vi-VN" altLang="en-US" sz="2400" b="1" dirty="0">
                <a:latin typeface="Times New Roman" panose="02020603050405020304" pitchFamily="18" charset="0"/>
                <a:cs typeface="Times New Roman" panose="02020603050405020304" pitchFamily="18" charset="0"/>
              </a:rPr>
              <a:t>b. Quy luật về mối quan hệ biện chứng giữa CSHT và KTTT của xã hội</a:t>
            </a:r>
            <a:endParaRPr lang="en-US" sz="2400" dirty="0"/>
          </a:p>
        </p:txBody>
      </p:sp>
      <p:sp>
        <p:nvSpPr>
          <p:cNvPr id="3" name="Content Placeholder 2"/>
          <p:cNvSpPr>
            <a:spLocks noGrp="1"/>
          </p:cNvSpPr>
          <p:nvPr>
            <p:ph idx="1"/>
          </p:nvPr>
        </p:nvSpPr>
        <p:spPr>
          <a:xfrm>
            <a:off x="838200" y="1099457"/>
            <a:ext cx="10515600" cy="5077506"/>
          </a:xfrm>
        </p:spPr>
        <p:txBody>
          <a:bodyPr/>
          <a:lstStyle/>
          <a:p>
            <a:pPr marL="0" indent="0">
              <a:buNone/>
            </a:pPr>
            <a:endParaRPr lang="en-US" dirty="0"/>
          </a:p>
        </p:txBody>
      </p:sp>
      <p:sp>
        <p:nvSpPr>
          <p:cNvPr id="4" name="Oval 3"/>
          <p:cNvSpPr/>
          <p:nvPr/>
        </p:nvSpPr>
        <p:spPr>
          <a:xfrm>
            <a:off x="2383971" y="1447800"/>
            <a:ext cx="1164772"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a:latin typeface="Times New Roman" panose="02020603050405020304" pitchFamily="18" charset="0"/>
                <a:cs typeface="Times New Roman" panose="02020603050405020304" pitchFamily="18" charset="0"/>
              </a:rPr>
              <a:t>Vị trí</a:t>
            </a:r>
            <a:endParaRPr lang="en-US" dirty="0">
              <a:latin typeface="Times New Roman" panose="02020603050405020304" pitchFamily="18" charset="0"/>
              <a:cs typeface="Times New Roman" panose="02020603050405020304" pitchFamily="18" charset="0"/>
            </a:endParaRPr>
          </a:p>
        </p:txBody>
      </p:sp>
      <p:sp>
        <p:nvSpPr>
          <p:cNvPr id="5" name="Rectangle: Rounded Corners 4"/>
          <p:cNvSpPr/>
          <p:nvPr/>
        </p:nvSpPr>
        <p:spPr>
          <a:xfrm>
            <a:off x="3548743" y="1447801"/>
            <a:ext cx="5540828"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Đây là một trong hai quy luật cơ bản của sự vận động phát triển lịch sử xã hội</a:t>
            </a:r>
            <a:endParaRPr lang="en-US" dirty="0">
              <a:latin typeface="Times New Roman" panose="02020603050405020304" pitchFamily="18" charset="0"/>
              <a:cs typeface="Times New Roman" panose="02020603050405020304" pitchFamily="18" charset="0"/>
            </a:endParaRPr>
          </a:p>
        </p:txBody>
      </p:sp>
      <p:sp>
        <p:nvSpPr>
          <p:cNvPr id="6" name="Oval 5"/>
          <p:cNvSpPr/>
          <p:nvPr/>
        </p:nvSpPr>
        <p:spPr>
          <a:xfrm>
            <a:off x="2383971" y="2710543"/>
            <a:ext cx="1164772"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a:latin typeface="Times New Roman" panose="02020603050405020304" pitchFamily="18" charset="0"/>
                <a:cs typeface="Times New Roman" panose="02020603050405020304" pitchFamily="18" charset="0"/>
              </a:rPr>
              <a:t>Nội dung</a:t>
            </a:r>
            <a:endParaRPr lang="en-US" dirty="0">
              <a:latin typeface="Times New Roman" panose="02020603050405020304" pitchFamily="18" charset="0"/>
              <a:cs typeface="Times New Roman" panose="02020603050405020304" pitchFamily="18" charset="0"/>
            </a:endParaRPr>
          </a:p>
        </p:txBody>
      </p:sp>
      <p:sp>
        <p:nvSpPr>
          <p:cNvPr id="7" name="Rectangle: Rounded Corners 6"/>
          <p:cNvSpPr/>
          <p:nvPr/>
        </p:nvSpPr>
        <p:spPr>
          <a:xfrm>
            <a:off x="3548742" y="2710543"/>
            <a:ext cx="5540827"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CSHT và KTTT là hai mặt cơ bản của XH, tác động biện chứng, trong đó CSHT quyết định KTTT còn KTTT tác động lại to lớn</a:t>
            </a:r>
            <a:endParaRPr lang="en-US" dirty="0">
              <a:latin typeface="Times New Roman" panose="02020603050405020304" pitchFamily="18" charset="0"/>
              <a:cs typeface="Times New Roman" panose="02020603050405020304" pitchFamily="18" charset="0"/>
            </a:endParaRPr>
          </a:p>
        </p:txBody>
      </p:sp>
      <p:sp>
        <p:nvSpPr>
          <p:cNvPr id="8" name="Rectangle: Single Corner Snipped 7"/>
          <p:cNvSpPr/>
          <p:nvPr/>
        </p:nvSpPr>
        <p:spPr>
          <a:xfrm>
            <a:off x="1349829" y="4637314"/>
            <a:ext cx="8066314" cy="914400"/>
          </a:xfrm>
          <a:prstGeom prst="snip1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 Sự hình thành, vận động và phát triển các quan điểm tư tưởng cùng với nhứng thể chế chính trị xã hội tương ứng xét đến cùng phụ thuộc vào quá trình sản xuất và tái sản xuất các quan hệ kinh tế</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99645"/>
          </a:xfrm>
        </p:spPr>
        <p:txBody>
          <a:bodyPr>
            <a:normAutofit/>
          </a:bodyPr>
          <a:lstStyle/>
          <a:p>
            <a:r>
              <a:rPr lang="vi-VN" altLang="en-US" sz="2600" b="1" dirty="0">
                <a:latin typeface="Times New Roman" panose="02020603050405020304" pitchFamily="18" charset="0"/>
                <a:cs typeface="Times New Roman" panose="02020603050405020304" pitchFamily="18" charset="0"/>
              </a:rPr>
              <a:t>b. Quy luật về mối quan hệ biện chứng giữa CSHT và KTTT của xã hội</a:t>
            </a:r>
            <a:endParaRPr lang="en-US" sz="2600" dirty="0"/>
          </a:p>
        </p:txBody>
      </p:sp>
      <p:sp>
        <p:nvSpPr>
          <p:cNvPr id="3" name="Content Placeholder 2"/>
          <p:cNvSpPr>
            <a:spLocks noGrp="1"/>
          </p:cNvSpPr>
          <p:nvPr>
            <p:ph idx="1"/>
          </p:nvPr>
        </p:nvSpPr>
        <p:spPr>
          <a:xfrm>
            <a:off x="838200" y="1164771"/>
            <a:ext cx="10515600" cy="5012192"/>
          </a:xfrm>
        </p:spPr>
        <p:txBody>
          <a:bodyPr/>
          <a:lstStyle/>
          <a:p>
            <a:pPr marL="0" indent="0">
              <a:buNone/>
            </a:pPr>
            <a:endParaRPr lang="en-US" dirty="0"/>
          </a:p>
        </p:txBody>
      </p:sp>
      <p:sp>
        <p:nvSpPr>
          <p:cNvPr id="4" name="Rectangle 3"/>
          <p:cNvSpPr/>
          <p:nvPr/>
        </p:nvSpPr>
        <p:spPr>
          <a:xfrm>
            <a:off x="1066800" y="2449286"/>
            <a:ext cx="1393371" cy="24819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buFont typeface="Wingdings" panose="05000000000000000000" charset="0"/>
              <a:buChar char="v"/>
            </a:pPr>
            <a:r>
              <a:rPr lang="en-US" altLang="en-US" b="1" i="1" dirty="0">
                <a:latin typeface="Times New Roman" panose="02020603050405020304" pitchFamily="18" charset="0"/>
                <a:sym typeface="+mn-ea"/>
              </a:rPr>
              <a:t>Vai </a:t>
            </a:r>
            <a:r>
              <a:rPr lang="en-US" altLang="en-US" b="1" i="1" dirty="0" err="1">
                <a:latin typeface="Times New Roman" panose="02020603050405020304" pitchFamily="18" charset="0"/>
                <a:sym typeface="+mn-ea"/>
              </a:rPr>
              <a:t>trò</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quyết</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định</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của</a:t>
            </a:r>
            <a:r>
              <a:rPr lang="en-US" altLang="en-US" b="1" i="1" dirty="0">
                <a:latin typeface="Times New Roman" panose="02020603050405020304" pitchFamily="18" charset="0"/>
                <a:sym typeface="+mn-ea"/>
              </a:rPr>
              <a:t> CSHT </a:t>
            </a:r>
            <a:r>
              <a:rPr lang="en-US" altLang="en-US" b="1" i="1" dirty="0" err="1">
                <a:latin typeface="Times New Roman" panose="02020603050405020304" pitchFamily="18" charset="0"/>
                <a:sym typeface="+mn-ea"/>
              </a:rPr>
              <a:t>đối</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với</a:t>
            </a:r>
            <a:r>
              <a:rPr lang="en-US" altLang="en-US" b="1" i="1" dirty="0">
                <a:latin typeface="Times New Roman" panose="02020603050405020304" pitchFamily="18" charset="0"/>
                <a:sym typeface="+mn-ea"/>
              </a:rPr>
              <a:t> KTTT</a:t>
            </a:r>
            <a:endParaRPr lang="en-US" altLang="en-US" b="1" i="1" dirty="0">
              <a:solidFill>
                <a:schemeClr val="tx1"/>
              </a:solidFill>
              <a:latin typeface="Times New Roman" panose="02020603050405020304" pitchFamily="18" charset="0"/>
            </a:endParaRPr>
          </a:p>
        </p:txBody>
      </p:sp>
      <p:sp>
        <p:nvSpPr>
          <p:cNvPr id="5" name="Rectangle: Rounded Corners 4"/>
          <p:cNvSpPr/>
          <p:nvPr/>
        </p:nvSpPr>
        <p:spPr>
          <a:xfrm>
            <a:off x="3407228" y="1937655"/>
            <a:ext cx="6324601" cy="91440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457200" marR="0" lvl="0" indent="-457200" algn="just" defTabSz="914400" rtl="0" eaLnBrk="1" fontAlgn="base" latinLnBrk="0" hangingPunct="1">
              <a:lnSpc>
                <a:spcPct val="100000"/>
              </a:lnSpc>
              <a:spcBef>
                <a:spcPts val="1200"/>
              </a:spcBef>
              <a:spcAft>
                <a:spcPts val="1200"/>
              </a:spcAft>
              <a:buClrTx/>
              <a:buSzTx/>
              <a:buFontTx/>
              <a:buChar char="-"/>
              <a:defRPr/>
            </a:pPr>
            <a:r>
              <a:rPr lang="en-US" noProof="0" dirty="0">
                <a:ln>
                  <a:noFill/>
                </a:ln>
                <a:effectLst/>
                <a:uLnTx/>
                <a:uFillTx/>
                <a:latin typeface="Times New Roman" panose="02020603050405020304" pitchFamily="18" charset="0"/>
                <a:sym typeface="+mn-ea"/>
              </a:rPr>
              <a:t>CSHT </a:t>
            </a:r>
            <a:r>
              <a:rPr lang="en-US" noProof="0" dirty="0" err="1">
                <a:ln>
                  <a:noFill/>
                </a:ln>
                <a:effectLst/>
                <a:uLnTx/>
                <a:uFillTx/>
                <a:latin typeface="Times New Roman" panose="02020603050405020304" pitchFamily="18" charset="0"/>
                <a:sym typeface="+mn-ea"/>
              </a:rPr>
              <a:t>nào</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thì</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sẽ</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sinh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ra</a:t>
            </a:r>
            <a:r>
              <a:rPr lang="en-US" noProof="0" dirty="0">
                <a:ln>
                  <a:noFill/>
                </a:ln>
                <a:effectLst/>
                <a:uLnTx/>
                <a:uFillTx/>
                <a:latin typeface="Times New Roman" panose="02020603050405020304" pitchFamily="18" charset="0"/>
                <a:sym typeface="+mn-ea"/>
              </a:rPr>
              <a:t> KTTT </a:t>
            </a:r>
            <a:r>
              <a:rPr lang="en-US" noProof="0" dirty="0" err="1">
                <a:ln>
                  <a:noFill/>
                </a:ln>
                <a:effectLst/>
                <a:uLnTx/>
                <a:uFillTx/>
                <a:latin typeface="Times New Roman" panose="02020603050405020304" pitchFamily="18" charset="0"/>
                <a:sym typeface="+mn-ea"/>
              </a:rPr>
              <a:t>đó</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bởi</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vì</a:t>
            </a:r>
            <a:r>
              <a:rPr lang="en-US" noProof="0" dirty="0">
                <a:ln>
                  <a:noFill/>
                </a:ln>
                <a:effectLst/>
                <a:uLnTx/>
                <a:uFillTx/>
                <a:latin typeface="Times New Roman" panose="02020603050405020304" pitchFamily="18" charset="0"/>
                <a:sym typeface="+mn-ea"/>
              </a:rPr>
              <a:t> QHSX </a:t>
            </a:r>
            <a:r>
              <a:rPr lang="en-US" noProof="0" dirty="0" err="1">
                <a:ln>
                  <a:noFill/>
                </a:ln>
                <a:effectLst/>
                <a:uLnTx/>
                <a:uFillTx/>
                <a:latin typeface="Times New Roman" panose="02020603050405020304" pitchFamily="18" charset="0"/>
                <a:sym typeface="+mn-ea"/>
              </a:rPr>
              <a:t>quyết</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định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các</a:t>
            </a:r>
            <a:r>
              <a:rPr lang="en-US" noProof="0" dirty="0">
                <a:ln>
                  <a:noFill/>
                </a:ln>
                <a:effectLst/>
                <a:uLnTx/>
                <a:uFillTx/>
                <a:latin typeface="Times New Roman" panose="02020603050405020304" pitchFamily="18" charset="0"/>
                <a:sym typeface="+mn-ea"/>
              </a:rPr>
              <a:t> QH </a:t>
            </a:r>
            <a:r>
              <a:rPr lang="en-US" noProof="0" dirty="0" err="1">
                <a:ln>
                  <a:noFill/>
                </a:ln>
                <a:effectLst/>
                <a:uLnTx/>
                <a:uFillTx/>
                <a:latin typeface="Times New Roman" panose="02020603050405020304" pitchFamily="18" charset="0"/>
                <a:sym typeface="+mn-ea"/>
              </a:rPr>
              <a:t>khác</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mâu</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thuẫn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trong</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đời</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sống</a:t>
            </a:r>
            <a:r>
              <a:rPr lang="en-US" noProof="0" dirty="0">
                <a:ln>
                  <a:noFill/>
                </a:ln>
                <a:effectLst/>
                <a:uLnTx/>
                <a:uFillTx/>
                <a:latin typeface="Times New Roman" panose="02020603050405020304" pitchFamily="18" charset="0"/>
                <a:sym typeface="+mn-ea"/>
              </a:rPr>
              <a:t> KTXH </a:t>
            </a:r>
            <a:r>
              <a:rPr lang="en-US" noProof="0" dirty="0" err="1">
                <a:ln>
                  <a:noFill/>
                </a:ln>
                <a:effectLst/>
                <a:uLnTx/>
                <a:uFillTx/>
                <a:latin typeface="Times New Roman" panose="02020603050405020304" pitchFamily="18" charset="0"/>
                <a:sym typeface="+mn-ea"/>
              </a:rPr>
              <a:t>xét</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đến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cùng</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quyế</a:t>
            </a:r>
            <a:r>
              <a:rPr lang="vi-VN" noProof="0" dirty="0">
                <a:ln>
                  <a:noFill/>
                </a:ln>
                <a:effectLst/>
                <a:uLnTx/>
                <a:uFillTx/>
                <a:latin typeface="Times New Roman" panose="02020603050405020304" pitchFamily="18" charset="0"/>
                <a:sym typeface="+mn-ea"/>
              </a:rPr>
              <a:t>t</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định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mâu</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thuẫn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trong</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lĩnh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vực</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chính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trị</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tư</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tưởng</a:t>
            </a:r>
            <a:r>
              <a:rPr lang="en-US" noProof="0" dirty="0">
                <a:ln>
                  <a:noFill/>
                </a:ln>
                <a:effectLst/>
                <a:uLnTx/>
                <a:uFillTx/>
                <a:latin typeface="Times New Roman" panose="02020603050405020304" pitchFamily="18" charset="0"/>
                <a:sym typeface="+mn-ea"/>
              </a:rPr>
              <a:t>.</a:t>
            </a:r>
            <a:endPar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
        <p:nvSpPr>
          <p:cNvPr id="6" name="Rectangle: Rounded Corners 5"/>
          <p:cNvSpPr/>
          <p:nvPr/>
        </p:nvSpPr>
        <p:spPr>
          <a:xfrm>
            <a:off x="3407228" y="3167742"/>
            <a:ext cx="6324601"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457200" marR="0" lvl="0" indent="-457200" algn="just" defTabSz="914400" rtl="0" eaLnBrk="1" fontAlgn="base" latinLnBrk="0" hangingPunct="1">
              <a:lnSpc>
                <a:spcPct val="100000"/>
              </a:lnSpc>
              <a:spcBef>
                <a:spcPts val="1200"/>
              </a:spcBef>
              <a:spcAft>
                <a:spcPts val="1200"/>
              </a:spcAft>
              <a:buClrTx/>
              <a:buSzTx/>
              <a:buFontTx/>
              <a:buChar char="-"/>
              <a:defRPr/>
            </a:pPr>
            <a:r>
              <a:rPr lang="en-US" noProof="0" dirty="0">
                <a:ln>
                  <a:noFill/>
                </a:ln>
                <a:effectLst/>
                <a:uLnTx/>
                <a:uFillTx/>
                <a:latin typeface="Times New Roman" panose="02020603050405020304" pitchFamily="18" charset="0"/>
                <a:sym typeface="+mn-ea"/>
              </a:rPr>
              <a:t>CSHT </a:t>
            </a:r>
            <a:r>
              <a:rPr lang="en-US" noProof="0" dirty="0" err="1">
                <a:ln>
                  <a:noFill/>
                </a:ln>
                <a:effectLst/>
                <a:uLnTx/>
                <a:uFillTx/>
                <a:latin typeface="Times New Roman" panose="02020603050405020304" pitchFamily="18" charset="0"/>
                <a:sym typeface="+mn-ea"/>
              </a:rPr>
              <a:t>quyết</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định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sự</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hình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thành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tính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chất</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của</a:t>
            </a:r>
            <a:r>
              <a:rPr lang="en-US" noProof="0" dirty="0">
                <a:ln>
                  <a:noFill/>
                </a:ln>
                <a:effectLst/>
                <a:uLnTx/>
                <a:uFillTx/>
                <a:latin typeface="Times New Roman" panose="02020603050405020304" pitchFamily="18" charset="0"/>
                <a:sym typeface="+mn-ea"/>
              </a:rPr>
              <a:t> KTTT, CSHT </a:t>
            </a:r>
            <a:r>
              <a:rPr lang="en-US" noProof="0" dirty="0" err="1">
                <a:ln>
                  <a:noFill/>
                </a:ln>
                <a:effectLst/>
                <a:uLnTx/>
                <a:uFillTx/>
                <a:latin typeface="Times New Roman" panose="02020603050405020304" pitchFamily="18" charset="0"/>
                <a:sym typeface="+mn-ea"/>
              </a:rPr>
              <a:t>biến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đổi</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sớm</a:t>
            </a:r>
            <a:r>
              <a:rPr lang="en-US" noProof="0" dirty="0">
                <a:ln>
                  <a:noFill/>
                </a:ln>
                <a:effectLst/>
                <a:uLnTx/>
                <a:uFillTx/>
                <a:latin typeface="Times New Roman" panose="02020603050405020304" pitchFamily="18" charset="0"/>
                <a:sym typeface="+mn-ea"/>
              </a:rPr>
              <a:t> hay </a:t>
            </a:r>
            <a:r>
              <a:rPr lang="en-US" noProof="0" dirty="0" err="1">
                <a:ln>
                  <a:noFill/>
                </a:ln>
                <a:effectLst/>
                <a:uLnTx/>
                <a:uFillTx/>
                <a:latin typeface="Times New Roman" panose="02020603050405020304" pitchFamily="18" charset="0"/>
                <a:sym typeface="+mn-ea"/>
              </a:rPr>
              <a:t>muộn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cũng</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dẫn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đến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biến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đổi</a:t>
            </a:r>
            <a:r>
              <a:rPr lang="en-US" noProof="0" dirty="0">
                <a:ln>
                  <a:noFill/>
                </a:ln>
                <a:effectLst/>
                <a:uLnTx/>
                <a:uFillTx/>
                <a:latin typeface="Times New Roman" panose="02020603050405020304" pitchFamily="18" charset="0"/>
                <a:sym typeface="+mn-ea"/>
              </a:rPr>
              <a:t> KTTT.</a:t>
            </a:r>
            <a:endParaRPr lang="en-US" noProof="0" dirty="0">
              <a:ln>
                <a:noFill/>
              </a:ln>
              <a:effectLst/>
              <a:uLnTx/>
              <a:uFillTx/>
              <a:latin typeface="Times New Roman" panose="02020603050405020304" pitchFamily="18" charset="0"/>
              <a:sym typeface="+mn-ea"/>
            </a:endParaRPr>
          </a:p>
        </p:txBody>
      </p:sp>
      <p:sp>
        <p:nvSpPr>
          <p:cNvPr id="7" name="Rectangle: Rounded Corners 6"/>
          <p:cNvSpPr/>
          <p:nvPr/>
        </p:nvSpPr>
        <p:spPr>
          <a:xfrm>
            <a:off x="3407228" y="4397828"/>
            <a:ext cx="6324601"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457200" marR="0" lvl="0" indent="-457200" algn="just" defTabSz="914400" rtl="0" eaLnBrk="1" fontAlgn="base" latinLnBrk="0" hangingPunct="1">
              <a:lnSpc>
                <a:spcPct val="100000"/>
              </a:lnSpc>
              <a:spcBef>
                <a:spcPts val="1200"/>
              </a:spcBef>
              <a:spcAft>
                <a:spcPts val="1200"/>
              </a:spcAft>
              <a:buClrTx/>
              <a:buSzTx/>
              <a:buFontTx/>
              <a:buChar char="-"/>
              <a:defRPr/>
            </a:pPr>
            <a:r>
              <a:rPr lang="en-US" noProof="0" dirty="0">
                <a:ln>
                  <a:noFill/>
                </a:ln>
                <a:effectLst/>
                <a:uLnTx/>
                <a:uFillTx/>
                <a:latin typeface="Times New Roman" panose="02020603050405020304" pitchFamily="18" charset="0"/>
                <a:sym typeface="+mn-ea"/>
              </a:rPr>
              <a:t>CSHT </a:t>
            </a:r>
            <a:r>
              <a:rPr lang="en-US" noProof="0" dirty="0" err="1">
                <a:ln>
                  <a:noFill/>
                </a:ln>
                <a:effectLst/>
                <a:uLnTx/>
                <a:uFillTx/>
                <a:latin typeface="Times New Roman" panose="02020603050405020304" pitchFamily="18" charset="0"/>
                <a:sym typeface="+mn-ea"/>
              </a:rPr>
              <a:t>quyết</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định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sự</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hình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thành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tính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chất</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của</a:t>
            </a:r>
            <a:r>
              <a:rPr lang="en-US" noProof="0" dirty="0">
                <a:ln>
                  <a:noFill/>
                </a:ln>
                <a:effectLst/>
                <a:uLnTx/>
                <a:uFillTx/>
                <a:latin typeface="Times New Roman" panose="02020603050405020304" pitchFamily="18" charset="0"/>
                <a:sym typeface="+mn-ea"/>
              </a:rPr>
              <a:t> KTTT, CSHT </a:t>
            </a:r>
            <a:r>
              <a:rPr lang="en-US" noProof="0" dirty="0" err="1">
                <a:ln>
                  <a:noFill/>
                </a:ln>
                <a:effectLst/>
                <a:uLnTx/>
                <a:uFillTx/>
                <a:latin typeface="Times New Roman" panose="02020603050405020304" pitchFamily="18" charset="0"/>
                <a:sym typeface="+mn-ea"/>
              </a:rPr>
              <a:t>biến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đổi</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sớm</a:t>
            </a:r>
            <a:r>
              <a:rPr lang="en-US" noProof="0" dirty="0">
                <a:ln>
                  <a:noFill/>
                </a:ln>
                <a:effectLst/>
                <a:uLnTx/>
                <a:uFillTx/>
                <a:latin typeface="Times New Roman" panose="02020603050405020304" pitchFamily="18" charset="0"/>
                <a:sym typeface="+mn-ea"/>
              </a:rPr>
              <a:t> hay </a:t>
            </a:r>
            <a:r>
              <a:rPr lang="en-US" noProof="0" dirty="0" err="1">
                <a:ln>
                  <a:noFill/>
                </a:ln>
                <a:effectLst/>
                <a:uLnTx/>
                <a:uFillTx/>
                <a:latin typeface="Times New Roman" panose="02020603050405020304" pitchFamily="18" charset="0"/>
                <a:sym typeface="+mn-ea"/>
              </a:rPr>
              <a:t>muộn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cũng</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dẫn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đến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biến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đổi</a:t>
            </a:r>
            <a:r>
              <a:rPr lang="en-US" noProof="0" dirty="0">
                <a:ln>
                  <a:noFill/>
                </a:ln>
                <a:effectLst/>
                <a:uLnTx/>
                <a:uFillTx/>
                <a:latin typeface="Times New Roman" panose="02020603050405020304" pitchFamily="18" charset="0"/>
                <a:sym typeface="+mn-ea"/>
              </a:rPr>
              <a:t> KTTT.</a:t>
            </a:r>
            <a:endParaRPr lang="en-US" noProof="0" dirty="0">
              <a:ln>
                <a:noFill/>
              </a:ln>
              <a:effectLst/>
              <a:uLnTx/>
              <a:uFillTx/>
              <a:latin typeface="Times New Roman" panose="02020603050405020304" pitchFamily="18" charset="0"/>
              <a:sym typeface="+mn-ea"/>
            </a:endParaRPr>
          </a:p>
        </p:txBody>
      </p:sp>
      <p:cxnSp>
        <p:nvCxnSpPr>
          <p:cNvPr id="9" name="Straight Arrow Connector 8"/>
          <p:cNvCxnSpPr>
            <a:stCxn id="4" idx="3"/>
          </p:cNvCxnSpPr>
          <p:nvPr/>
        </p:nvCxnSpPr>
        <p:spPr>
          <a:xfrm flipV="1">
            <a:off x="2460171" y="2340429"/>
            <a:ext cx="947057" cy="13498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a:stCxn id="4" idx="3"/>
            <a:endCxn id="6" idx="1"/>
          </p:cNvCxnSpPr>
          <p:nvPr/>
        </p:nvCxnSpPr>
        <p:spPr>
          <a:xfrm flipV="1">
            <a:off x="2460171" y="3624942"/>
            <a:ext cx="947057" cy="653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a:off x="2460171" y="3685496"/>
            <a:ext cx="947057" cy="12675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94161"/>
          </a:xfrm>
        </p:spPr>
        <p:txBody>
          <a:bodyPr/>
          <a:lstStyle/>
          <a:p>
            <a:endParaRPr lang="en-US" dirty="0"/>
          </a:p>
        </p:txBody>
      </p:sp>
      <p:sp>
        <p:nvSpPr>
          <p:cNvPr id="3" name="Rectangle 2"/>
          <p:cNvSpPr/>
          <p:nvPr/>
        </p:nvSpPr>
        <p:spPr>
          <a:xfrm>
            <a:off x="914399" y="990600"/>
            <a:ext cx="1360715" cy="10341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latin typeface="Times New Roman" panose="02020603050405020304" pitchFamily="18" charset="0"/>
                <a:cs typeface="Times New Roman" panose="02020603050405020304" pitchFamily="18" charset="0"/>
              </a:rPr>
              <a:t>Vì sao quyết định</a:t>
            </a:r>
            <a:endParaRPr lang="en-US" b="1" dirty="0">
              <a:latin typeface="Times New Roman" panose="02020603050405020304" pitchFamily="18" charset="0"/>
              <a:cs typeface="Times New Roman" panose="02020603050405020304" pitchFamily="18" charset="0"/>
            </a:endParaRPr>
          </a:p>
        </p:txBody>
      </p:sp>
      <p:sp>
        <p:nvSpPr>
          <p:cNvPr id="4" name="Oval 3"/>
          <p:cNvSpPr/>
          <p:nvPr/>
        </p:nvSpPr>
        <p:spPr>
          <a:xfrm>
            <a:off x="2830285" y="598714"/>
            <a:ext cx="4103916" cy="7837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Từ quan hệ vật chất quyết định quan hệ tinh thần</a:t>
            </a:r>
            <a:endParaRPr lang="en-US" dirty="0">
              <a:latin typeface="Times New Roman" panose="02020603050405020304" pitchFamily="18" charset="0"/>
              <a:cs typeface="Times New Roman" panose="02020603050405020304" pitchFamily="18" charset="0"/>
            </a:endParaRPr>
          </a:p>
        </p:txBody>
      </p:sp>
      <p:sp>
        <p:nvSpPr>
          <p:cNvPr id="5" name="Oval 4"/>
          <p:cNvSpPr/>
          <p:nvPr/>
        </p:nvSpPr>
        <p:spPr>
          <a:xfrm>
            <a:off x="2830285" y="1616075"/>
            <a:ext cx="5529944" cy="7837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Từ tính tất yếu kinh tế xét đến cùng quyết định tính tất yếu chính trị - xã hội</a:t>
            </a:r>
            <a:endParaRPr lang="en-US" dirty="0">
              <a:latin typeface="Times New Roman" panose="02020603050405020304" pitchFamily="18" charset="0"/>
              <a:cs typeface="Times New Roman" panose="02020603050405020304" pitchFamily="18" charset="0"/>
            </a:endParaRPr>
          </a:p>
        </p:txBody>
      </p:sp>
      <p:sp>
        <p:nvSpPr>
          <p:cNvPr id="10" name="Oval 9"/>
          <p:cNvSpPr/>
          <p:nvPr/>
        </p:nvSpPr>
        <p:spPr>
          <a:xfrm>
            <a:off x="914399" y="3516086"/>
            <a:ext cx="1360715" cy="163285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latin typeface="Times New Roman" panose="02020603050405020304" pitchFamily="18" charset="0"/>
                <a:cs typeface="Times New Roman" panose="02020603050405020304" pitchFamily="18" charset="0"/>
              </a:rPr>
              <a:t>Nội dung quyết định</a:t>
            </a:r>
            <a:endParaRPr lang="en-US" b="1" dirty="0">
              <a:latin typeface="Times New Roman" panose="02020603050405020304" pitchFamily="18" charset="0"/>
              <a:cs typeface="Times New Roman" panose="02020603050405020304" pitchFamily="18" charset="0"/>
            </a:endParaRPr>
          </a:p>
        </p:txBody>
      </p:sp>
      <p:sp>
        <p:nvSpPr>
          <p:cNvPr id="11" name="Rectangle: Rounded Corners 10"/>
          <p:cNvSpPr/>
          <p:nvPr/>
        </p:nvSpPr>
        <p:spPr>
          <a:xfrm>
            <a:off x="2830285" y="2764972"/>
            <a:ext cx="3265715" cy="50573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Quyết định sự ra đời của KTTT</a:t>
            </a:r>
            <a:endParaRPr lang="en-US" dirty="0">
              <a:latin typeface="Times New Roman" panose="02020603050405020304" pitchFamily="18" charset="0"/>
              <a:cs typeface="Times New Roman" panose="02020603050405020304" pitchFamily="18" charset="0"/>
            </a:endParaRPr>
          </a:p>
        </p:txBody>
      </p:sp>
      <p:sp>
        <p:nvSpPr>
          <p:cNvPr id="14" name="Rectangle: Rounded Corners 13"/>
          <p:cNvSpPr/>
          <p:nvPr/>
        </p:nvSpPr>
        <p:spPr>
          <a:xfrm>
            <a:off x="2830285" y="3650797"/>
            <a:ext cx="3265715" cy="50573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Quyết định cơ cấu của KTTT</a:t>
            </a:r>
            <a:endParaRPr lang="en-US" dirty="0">
              <a:latin typeface="Times New Roman" panose="02020603050405020304" pitchFamily="18" charset="0"/>
              <a:cs typeface="Times New Roman" panose="02020603050405020304" pitchFamily="18" charset="0"/>
            </a:endParaRPr>
          </a:p>
        </p:txBody>
      </p:sp>
      <p:sp>
        <p:nvSpPr>
          <p:cNvPr id="15" name="Rectangle: Rounded Corners 14"/>
          <p:cNvSpPr/>
          <p:nvPr/>
        </p:nvSpPr>
        <p:spPr>
          <a:xfrm>
            <a:off x="2830285" y="4452257"/>
            <a:ext cx="3265715" cy="50573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Quyết định tính chất của KTTT</a:t>
            </a:r>
            <a:endParaRPr lang="en-US" dirty="0">
              <a:latin typeface="Times New Roman" panose="02020603050405020304" pitchFamily="18" charset="0"/>
              <a:cs typeface="Times New Roman" panose="02020603050405020304" pitchFamily="18" charset="0"/>
            </a:endParaRPr>
          </a:p>
        </p:txBody>
      </p:sp>
      <p:sp>
        <p:nvSpPr>
          <p:cNvPr id="16" name="Rectangle: Rounded Corners 15"/>
          <p:cNvSpPr/>
          <p:nvPr/>
        </p:nvSpPr>
        <p:spPr>
          <a:xfrm>
            <a:off x="2830284" y="5355771"/>
            <a:ext cx="4463145" cy="50573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Quyết định sự vận động, phát triển của KTTT</a:t>
            </a:r>
            <a:endParaRPr lang="en-US" dirty="0">
              <a:latin typeface="Times New Roman" panose="02020603050405020304" pitchFamily="18" charset="0"/>
              <a:cs typeface="Times New Roman" panose="02020603050405020304" pitchFamily="18" charset="0"/>
            </a:endParaRPr>
          </a:p>
        </p:txBody>
      </p:sp>
      <p:cxnSp>
        <p:nvCxnSpPr>
          <p:cNvPr id="18" name="Straight Arrow Connector 17"/>
          <p:cNvCxnSpPr>
            <a:stCxn id="10" idx="6"/>
          </p:cNvCxnSpPr>
          <p:nvPr/>
        </p:nvCxnSpPr>
        <p:spPr>
          <a:xfrm flipV="1">
            <a:off x="2275114" y="3004457"/>
            <a:ext cx="555170" cy="13280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0" idx="6"/>
            <a:endCxn id="14" idx="1"/>
          </p:cNvCxnSpPr>
          <p:nvPr/>
        </p:nvCxnSpPr>
        <p:spPr>
          <a:xfrm flipV="1">
            <a:off x="2275114" y="3903663"/>
            <a:ext cx="555171" cy="4288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0" idx="6"/>
            <a:endCxn id="15" idx="1"/>
          </p:cNvCxnSpPr>
          <p:nvPr/>
        </p:nvCxnSpPr>
        <p:spPr>
          <a:xfrm>
            <a:off x="2275114" y="4332515"/>
            <a:ext cx="555171" cy="3726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10" idx="6"/>
            <a:endCxn id="16" idx="1"/>
          </p:cNvCxnSpPr>
          <p:nvPr/>
        </p:nvCxnSpPr>
        <p:spPr>
          <a:xfrm>
            <a:off x="2275114" y="4332515"/>
            <a:ext cx="555170" cy="12761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p:cNvCxnSpPr>
            <a:stCxn id="3" idx="3"/>
            <a:endCxn id="4" idx="2"/>
          </p:cNvCxnSpPr>
          <p:nvPr/>
        </p:nvCxnSpPr>
        <p:spPr>
          <a:xfrm flipV="1">
            <a:off x="2275114" y="990600"/>
            <a:ext cx="555171" cy="5170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p:cNvCxnSpPr>
            <a:stCxn id="3" idx="3"/>
          </p:cNvCxnSpPr>
          <p:nvPr/>
        </p:nvCxnSpPr>
        <p:spPr>
          <a:xfrm>
            <a:off x="2275114" y="1507672"/>
            <a:ext cx="674915" cy="5170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24789"/>
          </a:xfrm>
        </p:spPr>
        <p:txBody>
          <a:bodyPr/>
          <a:lstStyle/>
          <a:p>
            <a:endParaRPr lang="en-US" dirty="0"/>
          </a:p>
        </p:txBody>
      </p:sp>
      <p:sp>
        <p:nvSpPr>
          <p:cNvPr id="3" name="Rectangle 2"/>
          <p:cNvSpPr/>
          <p:nvPr/>
        </p:nvSpPr>
        <p:spPr>
          <a:xfrm>
            <a:off x="1894114" y="2275113"/>
            <a:ext cx="1273629" cy="227511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ctr">
              <a:buFont typeface="Wingdings" panose="05000000000000000000" pitchFamily="2" charset="2"/>
              <a:buChar char="v"/>
            </a:pPr>
            <a:r>
              <a:rPr lang="vi-VN" altLang="en-US" sz="1800" b="1" i="1" dirty="0">
                <a:latin typeface="Times New Roman" panose="02020603050405020304" pitchFamily="18" charset="0"/>
                <a:sym typeface="+mn-ea"/>
              </a:rPr>
              <a:t>Sự </a:t>
            </a:r>
            <a:r>
              <a:rPr lang="vi-VN" altLang="en-US" b="1" i="1" dirty="0">
                <a:latin typeface="Times New Roman" panose="02020603050405020304" pitchFamily="18" charset="0"/>
                <a:sym typeface="+mn-ea"/>
              </a:rPr>
              <a:t>t</a:t>
            </a:r>
            <a:r>
              <a:rPr lang="en-US" altLang="en-US" sz="1800" b="1" i="1" dirty="0" err="1">
                <a:latin typeface="Times New Roman" panose="02020603050405020304" pitchFamily="18" charset="0"/>
                <a:sym typeface="+mn-ea"/>
              </a:rPr>
              <a:t>ác</a:t>
            </a:r>
            <a:r>
              <a:rPr lang="en-US" altLang="en-US" sz="1800" b="1" i="1" dirty="0">
                <a:latin typeface="Times New Roman" panose="02020603050405020304" pitchFamily="18" charset="0"/>
                <a:sym typeface="+mn-ea"/>
              </a:rPr>
              <a:t> </a:t>
            </a:r>
            <a:r>
              <a:rPr lang="en-US" altLang="en-US" sz="1800" b="1" i="1" dirty="0" err="1">
                <a:latin typeface="Times New Roman" panose="02020603050405020304" pitchFamily="18" charset="0"/>
                <a:sym typeface="+mn-ea"/>
              </a:rPr>
              <a:t>động</a:t>
            </a:r>
            <a:r>
              <a:rPr lang="en-US" altLang="en-US" sz="1800" b="1" i="1" dirty="0">
                <a:latin typeface="Times New Roman" panose="02020603050405020304" pitchFamily="18" charset="0"/>
                <a:sym typeface="+mn-ea"/>
              </a:rPr>
              <a:t> </a:t>
            </a:r>
            <a:r>
              <a:rPr lang="en-US" altLang="en-US" sz="1800" b="1" i="1" dirty="0" err="1">
                <a:latin typeface="Times New Roman" panose="02020603050405020304" pitchFamily="18" charset="0"/>
                <a:sym typeface="+mn-ea"/>
              </a:rPr>
              <a:t>trở</a:t>
            </a:r>
            <a:r>
              <a:rPr lang="en-US" altLang="en-US" sz="1800" b="1" i="1" dirty="0">
                <a:latin typeface="Times New Roman" panose="02020603050405020304" pitchFamily="18" charset="0"/>
                <a:sym typeface="+mn-ea"/>
              </a:rPr>
              <a:t> </a:t>
            </a:r>
            <a:r>
              <a:rPr lang="en-US" altLang="en-US" sz="1800" b="1" i="1" dirty="0" err="1">
                <a:latin typeface="Times New Roman" panose="02020603050405020304" pitchFamily="18" charset="0"/>
                <a:sym typeface="+mn-ea"/>
              </a:rPr>
              <a:t>lại</a:t>
            </a:r>
            <a:r>
              <a:rPr lang="en-US" altLang="en-US" sz="1800" b="1" i="1" dirty="0">
                <a:latin typeface="Times New Roman" panose="02020603050405020304" pitchFamily="18" charset="0"/>
                <a:sym typeface="+mn-ea"/>
              </a:rPr>
              <a:t> </a:t>
            </a:r>
            <a:r>
              <a:rPr lang="en-US" altLang="en-US" sz="1800" b="1" i="1" dirty="0" err="1">
                <a:latin typeface="Times New Roman" panose="02020603050405020304" pitchFamily="18" charset="0"/>
                <a:sym typeface="+mn-ea"/>
              </a:rPr>
              <a:t>của</a:t>
            </a:r>
            <a:r>
              <a:rPr lang="en-US" altLang="en-US" sz="1800" b="1" i="1" dirty="0">
                <a:latin typeface="Times New Roman" panose="02020603050405020304" pitchFamily="18" charset="0"/>
                <a:sym typeface="+mn-ea"/>
              </a:rPr>
              <a:t> KTTT </a:t>
            </a:r>
            <a:r>
              <a:rPr lang="en-US" altLang="en-US" sz="1800" b="1" i="1" dirty="0" err="1">
                <a:latin typeface="Times New Roman" panose="02020603050405020304" pitchFamily="18" charset="0"/>
                <a:sym typeface="+mn-ea"/>
              </a:rPr>
              <a:t>đối</a:t>
            </a:r>
            <a:r>
              <a:rPr lang="en-US" altLang="en-US" sz="1800" b="1" i="1" dirty="0">
                <a:latin typeface="Times New Roman" panose="02020603050405020304" pitchFamily="18" charset="0"/>
                <a:sym typeface="+mn-ea"/>
              </a:rPr>
              <a:t> </a:t>
            </a:r>
            <a:r>
              <a:rPr lang="en-US" altLang="en-US" sz="1800" b="1" i="1" dirty="0" err="1">
                <a:latin typeface="Times New Roman" panose="02020603050405020304" pitchFamily="18" charset="0"/>
                <a:sym typeface="+mn-ea"/>
              </a:rPr>
              <a:t>với</a:t>
            </a:r>
            <a:r>
              <a:rPr lang="en-US" altLang="en-US" sz="1800" b="1" i="1" dirty="0">
                <a:latin typeface="Times New Roman" panose="02020603050405020304" pitchFamily="18" charset="0"/>
                <a:sym typeface="+mn-ea"/>
              </a:rPr>
              <a:t> CSHT.</a:t>
            </a:r>
            <a:endParaRPr lang="en-US" dirty="0"/>
          </a:p>
        </p:txBody>
      </p:sp>
      <p:sp>
        <p:nvSpPr>
          <p:cNvPr id="4" name="Rectangle: Rounded Corners 3"/>
          <p:cNvSpPr/>
          <p:nvPr/>
        </p:nvSpPr>
        <p:spPr>
          <a:xfrm>
            <a:off x="4223657" y="1611086"/>
            <a:ext cx="6945086"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altLang="en-US" dirty="0">
                <a:latin typeface="Times New Roman" panose="02020603050405020304" pitchFamily="18" charset="0"/>
                <a:sym typeface="+mn-ea"/>
              </a:rPr>
              <a:t>- </a:t>
            </a:r>
            <a:r>
              <a:rPr lang="vi-VN" altLang="en-US" sz="2000" dirty="0">
                <a:latin typeface="Times New Roman" panose="02020603050405020304" pitchFamily="18" charset="0"/>
                <a:sym typeface="+mn-ea"/>
              </a:rPr>
              <a:t>T</a:t>
            </a:r>
            <a:r>
              <a:rPr lang="en-US" altLang="en-US" sz="2000" dirty="0" err="1">
                <a:latin typeface="Times New Roman" panose="02020603050405020304" pitchFamily="18" charset="0"/>
                <a:sym typeface="+mn-ea"/>
              </a:rPr>
              <a:t>hể</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hiện</a:t>
            </a:r>
            <a:r>
              <a:rPr lang="en-US" altLang="en-US" sz="2000" dirty="0">
                <a:latin typeface="Times New Roman" panose="02020603050405020304" pitchFamily="18" charset="0"/>
                <a:sym typeface="+mn-ea"/>
              </a:rPr>
              <a:t> ở </a:t>
            </a:r>
            <a:r>
              <a:rPr lang="en-US" altLang="en-US" sz="2000" dirty="0" err="1">
                <a:latin typeface="Times New Roman" panose="02020603050405020304" pitchFamily="18" charset="0"/>
                <a:sym typeface="+mn-ea"/>
              </a:rPr>
              <a:t>chức</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năng</a:t>
            </a:r>
            <a:r>
              <a:rPr lang="en-US" altLang="en-US" sz="2000" dirty="0">
                <a:latin typeface="Times New Roman" panose="02020603050405020304" pitchFamily="18" charset="0"/>
                <a:sym typeface="+mn-ea"/>
              </a:rPr>
              <a:t> XH </a:t>
            </a:r>
            <a:r>
              <a:rPr lang="en-US" altLang="en-US" sz="2000" dirty="0" err="1">
                <a:latin typeface="Times New Roman" panose="02020603050405020304" pitchFamily="18" charset="0"/>
                <a:sym typeface="+mn-ea"/>
              </a:rPr>
              <a:t>của</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nó</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nghĩa</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là</a:t>
            </a:r>
            <a:r>
              <a:rPr lang="en-US" altLang="en-US" sz="2000" dirty="0">
                <a:latin typeface="Times New Roman" panose="02020603050405020304" pitchFamily="18" charset="0"/>
                <a:sym typeface="+mn-ea"/>
              </a:rPr>
              <a:t> KTTT </a:t>
            </a:r>
            <a:r>
              <a:rPr lang="en-US" altLang="en-US" sz="2000" dirty="0" err="1">
                <a:latin typeface="Times New Roman" panose="02020603050405020304" pitchFamily="18" charset="0"/>
                <a:sym typeface="+mn-ea"/>
              </a:rPr>
              <a:t>thực</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hiện</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sự</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bảo</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vệ</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duy</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trì</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củng</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cố</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phát</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triển</a:t>
            </a:r>
            <a:r>
              <a:rPr lang="en-US" altLang="en-US" sz="2000" dirty="0">
                <a:latin typeface="Times New Roman" panose="02020603050405020304" pitchFamily="18" charset="0"/>
                <a:sym typeface="+mn-ea"/>
              </a:rPr>
              <a:t> CSHT </a:t>
            </a:r>
            <a:r>
              <a:rPr lang="en-US" altLang="en-US" sz="2000" dirty="0" err="1">
                <a:latin typeface="Times New Roman" panose="02020603050405020304" pitchFamily="18" charset="0"/>
                <a:sym typeface="+mn-ea"/>
              </a:rPr>
              <a:t>đã</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sinh</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ra</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nó</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hoặc</a:t>
            </a:r>
            <a:r>
              <a:rPr lang="en-US" altLang="en-US" sz="2000" dirty="0">
                <a:latin typeface="Times New Roman" panose="02020603050405020304" pitchFamily="18" charset="0"/>
                <a:sym typeface="+mn-ea"/>
              </a:rPr>
              <a:t> đ</a:t>
            </a:r>
            <a:r>
              <a:rPr lang="vi-VN" altLang="en-US" sz="2000" dirty="0">
                <a:latin typeface="Times New Roman" panose="02020603050405020304" pitchFamily="18" charset="0"/>
                <a:sym typeface="+mn-ea"/>
              </a:rPr>
              <a:t>ấu </a:t>
            </a:r>
            <a:r>
              <a:rPr lang="en-US" altLang="en-US" sz="2000" dirty="0" err="1">
                <a:latin typeface="Times New Roman" panose="02020603050405020304" pitchFamily="18" charset="0"/>
                <a:sym typeface="+mn-ea"/>
              </a:rPr>
              <a:t>tranh</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xóa</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bỏ</a:t>
            </a:r>
            <a:r>
              <a:rPr lang="en-US" altLang="en-US" sz="2000" dirty="0">
                <a:latin typeface="Times New Roman" panose="02020603050405020304" pitchFamily="18" charset="0"/>
                <a:sym typeface="+mn-ea"/>
              </a:rPr>
              <a:t> CSHT </a:t>
            </a:r>
            <a:r>
              <a:rPr lang="en-US" altLang="en-US" sz="2000" dirty="0" err="1">
                <a:latin typeface="Times New Roman" panose="02020603050405020304" pitchFamily="18" charset="0"/>
                <a:sym typeface="+mn-ea"/>
              </a:rPr>
              <a:t>cũng</a:t>
            </a:r>
            <a:r>
              <a:rPr lang="en-US" altLang="en-US" sz="2000" dirty="0">
                <a:latin typeface="Times New Roman" panose="02020603050405020304" pitchFamily="18" charset="0"/>
                <a:sym typeface="+mn-ea"/>
              </a:rPr>
              <a:t> </a:t>
            </a:r>
            <a:r>
              <a:rPr lang="en-US" altLang="en-US" sz="2000" dirty="0" err="1">
                <a:latin typeface="Times New Roman" panose="02020603050405020304" pitchFamily="18" charset="0"/>
                <a:sym typeface="+mn-ea"/>
              </a:rPr>
              <a:t>như</a:t>
            </a:r>
            <a:r>
              <a:rPr lang="en-US" altLang="en-US" sz="2000" dirty="0">
                <a:latin typeface="Times New Roman" panose="02020603050405020304" pitchFamily="18" charset="0"/>
                <a:sym typeface="+mn-ea"/>
              </a:rPr>
              <a:t> KTTT </a:t>
            </a:r>
            <a:r>
              <a:rPr lang="en-US" altLang="en-US" sz="2000" dirty="0" err="1">
                <a:latin typeface="Times New Roman" panose="02020603050405020304" pitchFamily="18" charset="0"/>
                <a:sym typeface="+mn-ea"/>
              </a:rPr>
              <a:t>cũ</a:t>
            </a:r>
            <a:endParaRPr lang="en-US" sz="2000" dirty="0"/>
          </a:p>
        </p:txBody>
      </p:sp>
      <p:sp>
        <p:nvSpPr>
          <p:cNvPr id="5" name="Rectangle: Rounded Corners 4"/>
          <p:cNvSpPr/>
          <p:nvPr/>
        </p:nvSpPr>
        <p:spPr>
          <a:xfrm>
            <a:off x="4223657" y="2852057"/>
            <a:ext cx="6945086"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Các</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bộ</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phận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khác</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nhau</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của</a:t>
            </a:r>
            <a:r>
              <a:rPr lang="en-US" altLang="en-US" dirty="0">
                <a:latin typeface="Times New Roman" panose="02020603050405020304" pitchFamily="18" charset="0"/>
                <a:sym typeface="+mn-ea"/>
              </a:rPr>
              <a:t> KTTT </a:t>
            </a:r>
            <a:r>
              <a:rPr lang="en-US" altLang="en-US" dirty="0" err="1">
                <a:latin typeface="Times New Roman" panose="02020603050405020304" pitchFamily="18" charset="0"/>
                <a:sym typeface="+mn-ea"/>
              </a:rPr>
              <a:t>đều</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tác</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đông</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đến</a:t>
            </a:r>
            <a:r>
              <a:rPr lang="en-US" altLang="en-US" dirty="0">
                <a:latin typeface="Times New Roman" panose="02020603050405020304" pitchFamily="18" charset="0"/>
                <a:sym typeface="+mn-ea"/>
              </a:rPr>
              <a:t> CSHT </a:t>
            </a:r>
            <a:r>
              <a:rPr lang="en-US" altLang="en-US" dirty="0" err="1">
                <a:latin typeface="Times New Roman" panose="02020603050405020304" pitchFamily="18" charset="0"/>
                <a:sym typeface="+mn-ea"/>
              </a:rPr>
              <a:t>dưới</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nhiều</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hình</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thức</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khác</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nhau</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đồng</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thời</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các</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bộ</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phận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của</a:t>
            </a:r>
            <a:r>
              <a:rPr lang="en-US" altLang="en-US" dirty="0">
                <a:latin typeface="Times New Roman" panose="02020603050405020304" pitchFamily="18" charset="0"/>
                <a:sym typeface="+mn-ea"/>
              </a:rPr>
              <a:t> KTTT </a:t>
            </a:r>
            <a:r>
              <a:rPr lang="en-US" altLang="en-US" dirty="0" err="1">
                <a:latin typeface="Times New Roman" panose="02020603050405020304" pitchFamily="18" charset="0"/>
                <a:sym typeface="+mn-ea"/>
              </a:rPr>
              <a:t>cũng</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tác</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động</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lẫn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nhau</a:t>
            </a:r>
            <a:endParaRPr lang="en-US" dirty="0"/>
          </a:p>
        </p:txBody>
      </p:sp>
      <p:sp>
        <p:nvSpPr>
          <p:cNvPr id="6" name="Rectangle: Rounded Corners 5"/>
          <p:cNvSpPr/>
          <p:nvPr/>
        </p:nvSpPr>
        <p:spPr>
          <a:xfrm>
            <a:off x="4223657" y="4093028"/>
            <a:ext cx="6945086"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lvl="0" algn="just" eaLnBrk="1" hangingPunct="1">
              <a:spcBef>
                <a:spcPct val="0"/>
              </a:spcBef>
              <a:buClrTx/>
              <a:buSzTx/>
            </a:pPr>
            <a:r>
              <a:rPr lang="vi-VN" altLang="en-US" dirty="0">
                <a:latin typeface="Times New Roman" panose="02020603050405020304" pitchFamily="18" charset="0"/>
                <a:sym typeface="+mn-ea"/>
              </a:rPr>
              <a:t>- D</a:t>
            </a:r>
            <a:r>
              <a:rPr lang="en-US" altLang="en-US" dirty="0" err="1">
                <a:latin typeface="Times New Roman" panose="02020603050405020304" pitchFamily="18" charset="0"/>
                <a:sym typeface="+mn-ea"/>
              </a:rPr>
              <a:t>iễn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ra</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theo</a:t>
            </a:r>
            <a:r>
              <a:rPr lang="en-US" altLang="en-US" dirty="0">
                <a:latin typeface="Times New Roman" panose="02020603050405020304" pitchFamily="18" charset="0"/>
                <a:sym typeface="+mn-ea"/>
              </a:rPr>
              <a:t> 2 </a:t>
            </a:r>
            <a:r>
              <a:rPr lang="en-US" altLang="en-US" dirty="0" err="1">
                <a:latin typeface="Times New Roman" panose="02020603050405020304" pitchFamily="18" charset="0"/>
                <a:sym typeface="+mn-ea"/>
              </a:rPr>
              <a:t>hướng</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khi</a:t>
            </a:r>
            <a:r>
              <a:rPr lang="en-US" altLang="en-US" dirty="0">
                <a:latin typeface="Times New Roman" panose="02020603050405020304" pitchFamily="18" charset="0"/>
                <a:sym typeface="+mn-ea"/>
              </a:rPr>
              <a:t> KTTT </a:t>
            </a:r>
            <a:r>
              <a:rPr lang="en-US" altLang="en-US" dirty="0" err="1">
                <a:latin typeface="Times New Roman" panose="02020603050405020304" pitchFamily="18" charset="0"/>
                <a:sym typeface="+mn-ea"/>
              </a:rPr>
              <a:t>tác</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động</a:t>
            </a:r>
            <a:r>
              <a:rPr lang="en-US" altLang="en-US" dirty="0">
                <a:latin typeface="Times New Roman" panose="02020603050405020304" pitchFamily="18" charset="0"/>
                <a:sym typeface="+mn-ea"/>
              </a:rPr>
              <a:t> </a:t>
            </a:r>
            <a:r>
              <a:rPr lang="vi-VN" altLang="en-US" dirty="0">
                <a:latin typeface="Times New Roman" panose="02020603050405020304" pitchFamily="18" charset="0"/>
                <a:sym typeface="+mn-ea"/>
              </a:rPr>
              <a:t>cùng chiều với CSHT, sẽ thúc đẩy CSHT phát triển, và nếu tác động ngược chiều với sự phát triển của CSHT </a:t>
            </a:r>
            <a:r>
              <a:rPr lang="en-US" altLang="en-US" dirty="0" err="1">
                <a:latin typeface="Times New Roman" panose="02020603050405020304" pitchFamily="18" charset="0"/>
                <a:sym typeface="+mn-ea"/>
              </a:rPr>
              <a:t>sẽ</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kìm</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hãm</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sự</a:t>
            </a:r>
            <a:r>
              <a:rPr lang="en-US" altLang="en-US" dirty="0">
                <a:latin typeface="Times New Roman" panose="02020603050405020304" pitchFamily="18" charset="0"/>
                <a:sym typeface="+mn-ea"/>
              </a:rPr>
              <a:t> </a:t>
            </a:r>
            <a:r>
              <a:rPr lang="vi-VN" altLang="en-US" dirty="0">
                <a:latin typeface="Times New Roman" panose="02020603050405020304" pitchFamily="18" charset="0"/>
                <a:sym typeface="+mn-ea"/>
              </a:rPr>
              <a:t>phát triển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của</a:t>
            </a:r>
            <a:r>
              <a:rPr lang="en-US" altLang="en-US" dirty="0">
                <a:latin typeface="Times New Roman" panose="02020603050405020304" pitchFamily="18" charset="0"/>
                <a:sym typeface="+mn-ea"/>
              </a:rPr>
              <a:t> CSHT.</a:t>
            </a:r>
            <a:endParaRPr lang="en-US" altLang="en-US" i="1" dirty="0">
              <a:solidFill>
                <a:schemeClr val="tx1"/>
              </a:solidFill>
              <a:latin typeface="Times New Roman" panose="02020603050405020304" pitchFamily="18" charset="0"/>
            </a:endParaRPr>
          </a:p>
        </p:txBody>
      </p:sp>
      <p:cxnSp>
        <p:nvCxnSpPr>
          <p:cNvPr id="8" name="Straight Arrow Connector 7"/>
          <p:cNvCxnSpPr>
            <a:endCxn id="4" idx="1"/>
          </p:cNvCxnSpPr>
          <p:nvPr/>
        </p:nvCxnSpPr>
        <p:spPr>
          <a:xfrm flipV="1">
            <a:off x="3167743" y="2046514"/>
            <a:ext cx="1055914" cy="1382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p:cNvCxnSpPr>
            <a:stCxn id="3" idx="3"/>
            <a:endCxn id="5" idx="1"/>
          </p:cNvCxnSpPr>
          <p:nvPr/>
        </p:nvCxnSpPr>
        <p:spPr>
          <a:xfrm flipV="1">
            <a:off x="3167743" y="3309257"/>
            <a:ext cx="1055914" cy="1034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a:stCxn id="3" idx="3"/>
            <a:endCxn id="6" idx="1"/>
          </p:cNvCxnSpPr>
          <p:nvPr/>
        </p:nvCxnSpPr>
        <p:spPr>
          <a:xfrm>
            <a:off x="3167743" y="3412671"/>
            <a:ext cx="1055914" cy="1137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88075"/>
          </a:xfrm>
        </p:spPr>
        <p:txBody>
          <a:bodyPr/>
          <a:lstStyle/>
          <a:p>
            <a:endParaRPr lang="en-US" dirty="0"/>
          </a:p>
        </p:txBody>
      </p:sp>
      <p:sp>
        <p:nvSpPr>
          <p:cNvPr id="3" name="Rectangle 2"/>
          <p:cNvSpPr/>
          <p:nvPr/>
        </p:nvSpPr>
        <p:spPr>
          <a:xfrm>
            <a:off x="1556657" y="794658"/>
            <a:ext cx="1153886" cy="103414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latin typeface="Times New Roman" panose="02020603050405020304" pitchFamily="18" charset="0"/>
                <a:cs typeface="Times New Roman" panose="02020603050405020304" pitchFamily="18" charset="0"/>
              </a:rPr>
              <a:t>Vì sao tác động trở lại</a:t>
            </a:r>
            <a:endParaRPr lang="en-US" dirty="0"/>
          </a:p>
        </p:txBody>
      </p:sp>
      <p:sp>
        <p:nvSpPr>
          <p:cNvPr id="4" name="Rectangle: Rounded Corners 3"/>
          <p:cNvSpPr/>
          <p:nvPr/>
        </p:nvSpPr>
        <p:spPr>
          <a:xfrm>
            <a:off x="3385456" y="489858"/>
            <a:ext cx="4452257" cy="59871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Do tính độc lập tương đối của KTTT, tính năng động sáng tạo của ý thức, tinh thần</a:t>
            </a:r>
            <a:endParaRPr lang="en-US" dirty="0">
              <a:latin typeface="Times New Roman" panose="02020603050405020304" pitchFamily="18" charset="0"/>
              <a:cs typeface="Times New Roman" panose="02020603050405020304" pitchFamily="18" charset="0"/>
            </a:endParaRPr>
          </a:p>
        </p:txBody>
      </p:sp>
      <p:sp>
        <p:nvSpPr>
          <p:cNvPr id="5" name="Rectangle: Rounded Corners 4"/>
          <p:cNvSpPr/>
          <p:nvPr/>
        </p:nvSpPr>
        <p:spPr>
          <a:xfrm>
            <a:off x="3385457" y="1404257"/>
            <a:ext cx="4027714" cy="59871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Do vai trò sức mạnh vật chất của bộ máy tổ chức – thể chế</a:t>
            </a: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1556657" y="2797629"/>
            <a:ext cx="1153886" cy="113211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latin typeface="Times New Roman" panose="02020603050405020304" pitchFamily="18" charset="0"/>
                <a:cs typeface="Times New Roman" panose="02020603050405020304" pitchFamily="18" charset="0"/>
              </a:rPr>
              <a:t>Nội dung tác động trở lại</a:t>
            </a:r>
            <a:endParaRPr lang="en-US" b="1" dirty="0">
              <a:latin typeface="Times New Roman" panose="02020603050405020304" pitchFamily="18" charset="0"/>
              <a:cs typeface="Times New Roman" panose="02020603050405020304" pitchFamily="18" charset="0"/>
            </a:endParaRPr>
          </a:p>
        </p:txBody>
      </p:sp>
      <p:sp>
        <p:nvSpPr>
          <p:cNvPr id="7" name="Rectangle: Rounded Corners 6"/>
          <p:cNvSpPr/>
          <p:nvPr/>
        </p:nvSpPr>
        <p:spPr>
          <a:xfrm>
            <a:off x="3385457" y="2383972"/>
            <a:ext cx="5497286" cy="59871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Củng cố, hoàn thiện và bảo vệ CSHT sinh ra nó, thực chất là bảo vệ lợi ích kinh tế của giai cấp thống trị</a:t>
            </a:r>
            <a:endParaRPr lang="en-US" dirty="0">
              <a:latin typeface="Times New Roman" panose="02020603050405020304" pitchFamily="18" charset="0"/>
              <a:cs typeface="Times New Roman" panose="02020603050405020304" pitchFamily="18" charset="0"/>
            </a:endParaRPr>
          </a:p>
        </p:txBody>
      </p:sp>
      <p:sp>
        <p:nvSpPr>
          <p:cNvPr id="8" name="Rectangle: Rounded Corners 7"/>
          <p:cNvSpPr/>
          <p:nvPr/>
        </p:nvSpPr>
        <p:spPr>
          <a:xfrm>
            <a:off x="3385456" y="3107418"/>
            <a:ext cx="4844143" cy="59871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Ngăn chặn CSHT mới, xóa bỏ tàn dư CSHT cũ</a:t>
            </a:r>
            <a:endParaRPr lang="en-US" dirty="0">
              <a:latin typeface="Times New Roman" panose="02020603050405020304" pitchFamily="18" charset="0"/>
              <a:cs typeface="Times New Roman" panose="02020603050405020304" pitchFamily="18" charset="0"/>
            </a:endParaRPr>
          </a:p>
        </p:txBody>
      </p:sp>
      <p:sp>
        <p:nvSpPr>
          <p:cNvPr id="9" name="Rectangle: Rounded Corners 8"/>
          <p:cNvSpPr/>
          <p:nvPr/>
        </p:nvSpPr>
        <p:spPr>
          <a:xfrm>
            <a:off x="3385456" y="3830864"/>
            <a:ext cx="4844143" cy="59871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Định hướng tổ chức, xây dựng chế độ kinh tế</a:t>
            </a:r>
            <a:endParaRPr lang="en-US" dirty="0">
              <a:latin typeface="Times New Roman" panose="02020603050405020304" pitchFamily="18" charset="0"/>
              <a:cs typeface="Times New Roman" panose="02020603050405020304" pitchFamily="18" charset="0"/>
            </a:endParaRPr>
          </a:p>
        </p:txBody>
      </p:sp>
      <p:sp>
        <p:nvSpPr>
          <p:cNvPr id="10" name="Rectangle 9"/>
          <p:cNvSpPr/>
          <p:nvPr/>
        </p:nvSpPr>
        <p:spPr>
          <a:xfrm>
            <a:off x="1338943" y="5181600"/>
            <a:ext cx="13716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latin typeface="Times New Roman" panose="02020603050405020304" pitchFamily="18" charset="0"/>
                <a:cs typeface="Times New Roman" panose="02020603050405020304" pitchFamily="18" charset="0"/>
              </a:rPr>
              <a:t>Phương thức tác động trở lại</a:t>
            </a:r>
            <a:endParaRPr lang="en-US" b="1" dirty="0">
              <a:latin typeface="Times New Roman" panose="02020603050405020304" pitchFamily="18" charset="0"/>
              <a:cs typeface="Times New Roman" panose="02020603050405020304" pitchFamily="18" charset="0"/>
            </a:endParaRPr>
          </a:p>
        </p:txBody>
      </p:sp>
      <p:sp>
        <p:nvSpPr>
          <p:cNvPr id="11" name="Rectangle: Rounded Corners 10"/>
          <p:cNvSpPr/>
          <p:nvPr/>
        </p:nvSpPr>
        <p:spPr>
          <a:xfrm>
            <a:off x="3385455" y="4810579"/>
            <a:ext cx="6172201" cy="64316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Tác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thúc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đẩy</a:t>
            </a:r>
            <a:r>
              <a:rPr lang="en-US" dirty="0">
                <a:latin typeface="Times New Roman" panose="02020603050405020304" pitchFamily="18" charset="0"/>
                <a:cs typeface="Times New Roman" panose="02020603050405020304" pitchFamily="18" charset="0"/>
              </a:rPr>
              <a:t> XH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kìm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hãm</a:t>
            </a:r>
            <a:endParaRPr lang="en-US" dirty="0">
              <a:latin typeface="Times New Roman" panose="02020603050405020304" pitchFamily="18" charset="0"/>
              <a:cs typeface="Times New Roman" panose="02020603050405020304" pitchFamily="18" charset="0"/>
            </a:endParaRPr>
          </a:p>
        </p:txBody>
      </p:sp>
      <p:sp>
        <p:nvSpPr>
          <p:cNvPr id="12" name="Rectangle: Rounded Corners 11"/>
          <p:cNvSpPr/>
          <p:nvPr/>
        </p:nvSpPr>
        <p:spPr>
          <a:xfrm>
            <a:off x="3385456" y="5724978"/>
            <a:ext cx="6172200" cy="64316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KTTT </a:t>
            </a:r>
            <a:r>
              <a:rPr lang="en-US" dirty="0" err="1">
                <a:latin typeface="Times New Roman" panose="02020603050405020304" pitchFamily="18" charset="0"/>
                <a:cs typeface="Times New Roman" panose="02020603050405020304" pitchFamily="18" charset="0"/>
              </a:rPr>
              <a:t>chính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trò</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lớn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nhất</a:t>
            </a:r>
            <a:r>
              <a:rPr lang="en-US" dirty="0">
                <a:latin typeface="Times New Roman" panose="02020603050405020304" pitchFamily="18" charset="0"/>
                <a:cs typeface="Times New Roman" panose="02020603050405020304" pitchFamily="18" charset="0"/>
              </a:rPr>
              <a:t> do </a:t>
            </a:r>
            <a:r>
              <a:rPr lang="en-US" dirty="0" err="1">
                <a:latin typeface="Times New Roman" panose="02020603050405020304" pitchFamily="18" charset="0"/>
                <a:cs typeface="Times New Roman" panose="02020603050405020304" pitchFamily="18" charset="0"/>
              </a:rPr>
              <a:t>trực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tiếp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ánh</a:t>
            </a:r>
            <a:r>
              <a:rPr lang="en-US" dirty="0">
                <a:latin typeface="Times New Roman" panose="02020603050405020304" pitchFamily="18" charset="0"/>
                <a:cs typeface="Times New Roman" panose="02020603050405020304" pitchFamily="18" charset="0"/>
              </a:rPr>
              <a:t> CSHT,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biểu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trung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tế</a:t>
            </a:r>
            <a:endParaRPr lang="en-US" dirty="0">
              <a:latin typeface="Times New Roman" panose="02020603050405020304" pitchFamily="18" charset="0"/>
              <a:cs typeface="Times New Roman" panose="02020603050405020304" pitchFamily="18" charset="0"/>
            </a:endParaRPr>
          </a:p>
        </p:txBody>
      </p:sp>
      <p:cxnSp>
        <p:nvCxnSpPr>
          <p:cNvPr id="14" name="Straight Arrow Connector 13"/>
          <p:cNvCxnSpPr>
            <a:stCxn id="3" idx="3"/>
          </p:cNvCxnSpPr>
          <p:nvPr/>
        </p:nvCxnSpPr>
        <p:spPr>
          <a:xfrm flipV="1">
            <a:off x="2710543" y="794658"/>
            <a:ext cx="674912" cy="5170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3" idx="3"/>
          </p:cNvCxnSpPr>
          <p:nvPr/>
        </p:nvCxnSpPr>
        <p:spPr>
          <a:xfrm>
            <a:off x="2710543" y="1311729"/>
            <a:ext cx="674912" cy="3973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6" idx="3"/>
            <a:endCxn id="7" idx="1"/>
          </p:cNvCxnSpPr>
          <p:nvPr/>
        </p:nvCxnSpPr>
        <p:spPr>
          <a:xfrm flipV="1">
            <a:off x="2710543" y="2683329"/>
            <a:ext cx="674914" cy="6803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6" idx="3"/>
            <a:endCxn id="8" idx="1"/>
          </p:cNvCxnSpPr>
          <p:nvPr/>
        </p:nvCxnSpPr>
        <p:spPr>
          <a:xfrm>
            <a:off x="2710543" y="3363687"/>
            <a:ext cx="674913" cy="430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6" idx="3"/>
          </p:cNvCxnSpPr>
          <p:nvPr/>
        </p:nvCxnSpPr>
        <p:spPr>
          <a:xfrm>
            <a:off x="2710543" y="3363687"/>
            <a:ext cx="674912" cy="7234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10" idx="3"/>
          </p:cNvCxnSpPr>
          <p:nvPr/>
        </p:nvCxnSpPr>
        <p:spPr>
          <a:xfrm flipV="1">
            <a:off x="2710543" y="5109935"/>
            <a:ext cx="674912" cy="5288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p:cNvCxnSpPr>
            <a:stCxn id="10" idx="3"/>
            <a:endCxn id="12" idx="1"/>
          </p:cNvCxnSpPr>
          <p:nvPr/>
        </p:nvCxnSpPr>
        <p:spPr>
          <a:xfrm>
            <a:off x="2710543" y="5638800"/>
            <a:ext cx="674912" cy="4245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859790"/>
          </a:xfrm>
        </p:spPr>
        <p:txBody>
          <a:bodyPr/>
          <a:lstStyle/>
          <a:p>
            <a:pPr marL="457200" indent="-457200">
              <a:buFont typeface="Wingdings" panose="05000000000000000000" charset="0"/>
              <a:buChar char="v"/>
            </a:pPr>
            <a:r>
              <a:rPr lang="en-US" altLang="en-US" sz="2800" b="1" dirty="0">
                <a:latin typeface="Times New Roman" panose="02020603050405020304" pitchFamily="18" charset="0"/>
                <a:cs typeface="Times New Roman" panose="02020603050405020304" pitchFamily="18" charset="0"/>
                <a:sym typeface="+mn-ea"/>
              </a:rPr>
              <a:t>Ý nghĩa</a:t>
            </a:r>
            <a:r>
              <a:rPr lang="vi-VN" altLang="en-US" sz="2800" b="1" dirty="0">
                <a:latin typeface="Times New Roman" panose="02020603050405020304" pitchFamily="18" charset="0"/>
                <a:cs typeface="Times New Roman" panose="02020603050405020304" pitchFamily="18" charset="0"/>
                <a:sym typeface="+mn-ea"/>
              </a:rPr>
              <a:t> trong đời sống XH</a:t>
            </a:r>
            <a:endParaRPr lang="en-US" sz="28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370965"/>
            <a:ext cx="10515600" cy="4806315"/>
          </a:xfrm>
        </p:spPr>
        <p:txBody>
          <a:bodyPr/>
          <a:lstStyle/>
          <a:p>
            <a:pPr algn="just">
              <a:buFont typeface="Arial" panose="020B0604020202020204" pitchFamily="34" charset="0"/>
              <a:buChar char="•"/>
            </a:pPr>
            <a:r>
              <a:rPr lang="vi-VN" altLang="en-US" dirty="0">
                <a:latin typeface="Times New Roman" panose="02020603050405020304" pitchFamily="18" charset="0"/>
                <a:cs typeface="Times New Roman" panose="02020603050405020304" pitchFamily="18" charset="0"/>
                <a:sym typeface="+mn-ea"/>
              </a:rPr>
              <a:t>Quy luật về mối quan hệ biện chứng giữa CSHT và KTTT là cơ sở khoa học cho việc nhận thức đúng đắn về mqh giữa kinh tế và chính trị.</a:t>
            </a:r>
            <a:endParaRPr lang="vi-VN" altLang="en-US" dirty="0">
              <a:latin typeface="Times New Roman" panose="02020603050405020304" pitchFamily="18" charset="0"/>
              <a:cs typeface="Times New Roman" panose="02020603050405020304" pitchFamily="18" charset="0"/>
              <a:sym typeface="+mn-ea"/>
            </a:endParaRPr>
          </a:p>
          <a:p>
            <a:pPr algn="just">
              <a:buFont typeface="Arial" panose="020B0604020202020204" pitchFamily="34" charset="0"/>
              <a:buChar char="•"/>
            </a:pPr>
            <a:r>
              <a:rPr lang="vi-VN" altLang="en-US" dirty="0">
                <a:latin typeface="Times New Roman" panose="02020603050405020304" pitchFamily="18" charset="0"/>
                <a:cs typeface="Times New Roman" panose="02020603050405020304" pitchFamily="18" charset="0"/>
              </a:rPr>
              <a:t>trong nhận thức và thực tiễn, nếu tách rời hoặc tuyệt đối hóa một yếu tố nào giữa kinh tế và chính trị đều là sai lầm.</a:t>
            </a:r>
            <a:endParaRPr lang="vi-V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4075"/>
          </a:xfrm>
        </p:spPr>
        <p:txBody>
          <a:bodyPr>
            <a:normAutofit/>
          </a:bodyPr>
          <a:lstStyle/>
          <a:p>
            <a:r>
              <a:rPr lang="vi-VN" altLang="en-US" sz="2600" b="1" dirty="0">
                <a:latin typeface="Times New Roman" panose="02020603050405020304" pitchFamily="18" charset="0"/>
                <a:cs typeface="Times New Roman" panose="02020603050405020304" pitchFamily="18" charset="0"/>
              </a:rPr>
              <a:t>4. Sự phát triển các hình thái KT - XH là một quá trình lịch sử - tự nhiên</a:t>
            </a:r>
            <a:endParaRPr lang="en-US" sz="2600" dirty="0"/>
          </a:p>
        </p:txBody>
      </p:sp>
      <p:sp>
        <p:nvSpPr>
          <p:cNvPr id="3" name="Content Placeholder 2"/>
          <p:cNvSpPr>
            <a:spLocks noGrp="1"/>
          </p:cNvSpPr>
          <p:nvPr>
            <p:ph idx="1"/>
          </p:nvPr>
        </p:nvSpPr>
        <p:spPr>
          <a:xfrm>
            <a:off x="838200" y="1132114"/>
            <a:ext cx="10515600" cy="5044849"/>
          </a:xfrm>
        </p:spPr>
        <p:txBody>
          <a:bodyPr/>
          <a:lstStyle/>
          <a:p>
            <a:pPr marL="0" indent="0" algn="just">
              <a:buNone/>
            </a:pPr>
            <a:r>
              <a:rPr lang="vi-VN" altLang="en-US" b="1" i="1" dirty="0">
                <a:latin typeface="Times New Roman" panose="02020603050405020304" pitchFamily="18" charset="0"/>
                <a:cs typeface="Times New Roman" panose="02020603050405020304" pitchFamily="18" charset="0"/>
              </a:rPr>
              <a:t>a. Phạm trù hình thái KT - XH</a:t>
            </a:r>
            <a:endParaRPr lang="vi-VN" altLang="en-US" b="1" i="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altLang="en-US"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Hình</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thái</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kinh</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tế</a:t>
            </a:r>
            <a:r>
              <a:rPr lang="en-US" altLang="en-US" sz="2200" b="1" i="1" dirty="0">
                <a:latin typeface="Times New Roman" panose="02020603050405020304" pitchFamily="18" charset="0"/>
                <a:sym typeface="+mn-ea"/>
              </a:rPr>
              <a:t> - </a:t>
            </a:r>
            <a:r>
              <a:rPr lang="en-US" altLang="en-US" sz="2200" b="1" i="1" dirty="0" err="1">
                <a:latin typeface="Times New Roman" panose="02020603050405020304" pitchFamily="18" charset="0"/>
                <a:sym typeface="+mn-ea"/>
              </a:rPr>
              <a:t>xã</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hội</a:t>
            </a:r>
            <a:r>
              <a:rPr lang="en-US" altLang="en-US" sz="2200" b="1" dirty="0">
                <a:latin typeface="Times New Roman" panose="02020603050405020304" pitchFamily="18" charset="0"/>
                <a:sym typeface="+mn-ea"/>
              </a:rPr>
              <a:t> </a:t>
            </a:r>
            <a:r>
              <a:rPr lang="en-US" altLang="en-US" sz="2200" b="1" dirty="0" err="1">
                <a:latin typeface="Times New Roman" panose="02020603050405020304" pitchFamily="18" charset="0"/>
                <a:sym typeface="+mn-ea"/>
              </a:rPr>
              <a:t>dùng</a:t>
            </a:r>
            <a:r>
              <a:rPr lang="en-US" altLang="en-US" sz="2200" b="1" dirty="0">
                <a:latin typeface="Times New Roman" panose="02020603050405020304" pitchFamily="18" charset="0"/>
                <a:sym typeface="+mn-ea"/>
              </a:rPr>
              <a:t> </a:t>
            </a:r>
            <a:r>
              <a:rPr lang="en-US" altLang="en-US" sz="2200" b="1" dirty="0" err="1">
                <a:latin typeface="Times New Roman" panose="02020603050405020304" pitchFamily="18" charset="0"/>
                <a:sym typeface="+mn-ea"/>
              </a:rPr>
              <a:t>để</a:t>
            </a:r>
            <a:r>
              <a:rPr lang="en-US" altLang="en-US" sz="2200" b="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chỉ</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xã</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hội</a:t>
            </a:r>
            <a:r>
              <a:rPr lang="en-US" altLang="en-US" sz="2200" b="1" i="1" dirty="0">
                <a:latin typeface="Times New Roman" panose="02020603050405020304" pitchFamily="18" charset="0"/>
                <a:sym typeface="+mn-ea"/>
              </a:rPr>
              <a:t> ở </a:t>
            </a:r>
            <a:r>
              <a:rPr lang="en-US" altLang="en-US" sz="2200" b="1" i="1" dirty="0" err="1">
                <a:latin typeface="Times New Roman" panose="02020603050405020304" pitchFamily="18" charset="0"/>
                <a:sym typeface="+mn-ea"/>
              </a:rPr>
              <a:t>từng</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giai</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đoạn</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lịch</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sử</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nhất</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định</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với</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một</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kiểu</a:t>
            </a:r>
            <a:r>
              <a:rPr lang="en-US" altLang="en-US" sz="2200" b="1" i="1" dirty="0">
                <a:latin typeface="Times New Roman" panose="02020603050405020304" pitchFamily="18" charset="0"/>
                <a:sym typeface="+mn-ea"/>
              </a:rPr>
              <a:t> QHSX </a:t>
            </a:r>
            <a:r>
              <a:rPr lang="en-US" altLang="en-US" sz="2200" b="1" i="1" dirty="0" err="1">
                <a:latin typeface="Times New Roman" panose="02020603050405020304" pitchFamily="18" charset="0"/>
                <a:sym typeface="+mn-ea"/>
              </a:rPr>
              <a:t>đặc</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trưng</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cho</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xã</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hội</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đó</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phù</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hợp</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với</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một</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trình</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độ</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nhất</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định</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của</a:t>
            </a:r>
            <a:r>
              <a:rPr lang="en-US" altLang="en-US" sz="2200" b="1" i="1" dirty="0">
                <a:latin typeface="Times New Roman" panose="02020603050405020304" pitchFamily="18" charset="0"/>
                <a:sym typeface="+mn-ea"/>
              </a:rPr>
              <a:t> LLSX </a:t>
            </a:r>
            <a:r>
              <a:rPr lang="en-US" altLang="en-US" sz="2200" b="1" i="1" dirty="0" err="1">
                <a:latin typeface="Times New Roman" panose="02020603050405020304" pitchFamily="18" charset="0"/>
                <a:sym typeface="+mn-ea"/>
              </a:rPr>
              <a:t>và</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với</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một</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kiến</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trúc</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thượng</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tầng</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tương</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ứng</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được</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xây</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dựng</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trên</a:t>
            </a:r>
            <a:r>
              <a:rPr lang="en-US" altLang="en-US" sz="2200" b="1" i="1" dirty="0">
                <a:latin typeface="Times New Roman" panose="02020603050405020304" pitchFamily="18" charset="0"/>
                <a:sym typeface="+mn-ea"/>
              </a:rPr>
              <a:t> </a:t>
            </a:r>
            <a:r>
              <a:rPr lang="en-US" altLang="en-US" sz="2200" b="1" i="1" dirty="0" err="1">
                <a:latin typeface="Times New Roman" panose="02020603050405020304" pitchFamily="18" charset="0"/>
                <a:sym typeface="+mn-ea"/>
              </a:rPr>
              <a:t>những</a:t>
            </a:r>
            <a:r>
              <a:rPr lang="en-US" altLang="en-US" sz="2200" b="1" i="1" dirty="0">
                <a:latin typeface="Times New Roman" panose="02020603050405020304" pitchFamily="18" charset="0"/>
                <a:sym typeface="+mn-ea"/>
              </a:rPr>
              <a:t> QHSX </a:t>
            </a:r>
            <a:r>
              <a:rPr lang="en-US" altLang="en-US" sz="2200" b="1" i="1" dirty="0" err="1">
                <a:latin typeface="Times New Roman" panose="02020603050405020304" pitchFamily="18" charset="0"/>
                <a:sym typeface="+mn-ea"/>
              </a:rPr>
              <a:t>ấy</a:t>
            </a:r>
            <a:r>
              <a:rPr lang="en-US" altLang="en-US" sz="2200" b="1" dirty="0">
                <a:latin typeface="Times New Roman" panose="02020603050405020304" pitchFamily="18" charset="0"/>
                <a:sym typeface="+mn-ea"/>
              </a:rPr>
              <a:t>.</a:t>
            </a:r>
            <a:endParaRPr lang="en-US" altLang="en-US" sz="2200" b="1" dirty="0">
              <a:solidFill>
                <a:schemeClr val="tx1"/>
              </a:solidFill>
              <a:latin typeface="Times New Roman" panose="02020603050405020304" pitchFamily="18" charset="0"/>
            </a:endParaRPr>
          </a:p>
          <a:p>
            <a:pPr marL="0" indent="0">
              <a:buNone/>
            </a:pPr>
            <a:endParaRPr lang="en-US" dirty="0"/>
          </a:p>
        </p:txBody>
      </p:sp>
      <p:sp>
        <p:nvSpPr>
          <p:cNvPr id="4" name="Rectangle: Rounded Corners 3"/>
          <p:cNvSpPr/>
          <p:nvPr/>
        </p:nvSpPr>
        <p:spPr>
          <a:xfrm>
            <a:off x="3929743" y="2884714"/>
            <a:ext cx="3407228" cy="75111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altLang="en-US" sz="2000" b="1" dirty="0">
                <a:latin typeface="Times New Roman" panose="02020603050405020304" pitchFamily="18" charset="0"/>
                <a:cs typeface="Times New Roman" panose="02020603050405020304" pitchFamily="18" charset="0"/>
              </a:rPr>
              <a:t>kết cấu xh trong mỗi giai đoạn lịch sử gồm</a:t>
            </a:r>
            <a:endParaRPr lang="en-US" sz="2000" b="1" dirty="0"/>
          </a:p>
        </p:txBody>
      </p:sp>
      <p:sp>
        <p:nvSpPr>
          <p:cNvPr id="5" name="Rectangle 4"/>
          <p:cNvSpPr/>
          <p:nvPr/>
        </p:nvSpPr>
        <p:spPr>
          <a:xfrm>
            <a:off x="2960914" y="4038599"/>
            <a:ext cx="1186543" cy="14913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LỰC LƯỢNG SẢN XUẤT</a:t>
            </a: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203371" y="4038599"/>
            <a:ext cx="1186543" cy="149134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QUAN HỆ SẢN XUẤT</a:t>
            </a:r>
            <a:endParaRPr lang="en-US" dirty="0">
              <a:latin typeface="Times New Roman" panose="02020603050405020304" pitchFamily="18" charset="0"/>
              <a:cs typeface="Times New Roman" panose="02020603050405020304" pitchFamily="18" charset="0"/>
            </a:endParaRPr>
          </a:p>
        </p:txBody>
      </p:sp>
      <p:sp>
        <p:nvSpPr>
          <p:cNvPr id="7" name="Rectangle 6"/>
          <p:cNvSpPr/>
          <p:nvPr/>
        </p:nvSpPr>
        <p:spPr>
          <a:xfrm>
            <a:off x="7184571" y="4038599"/>
            <a:ext cx="1186543" cy="149134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KIẾN TRÚC THƯỢNG TẦNG</a:t>
            </a:r>
            <a:endParaRPr lang="en-US" dirty="0">
              <a:latin typeface="Times New Roman" panose="02020603050405020304" pitchFamily="18" charset="0"/>
              <a:cs typeface="Times New Roman" panose="02020603050405020304" pitchFamily="18" charset="0"/>
            </a:endParaRPr>
          </a:p>
        </p:txBody>
      </p:sp>
      <p:cxnSp>
        <p:nvCxnSpPr>
          <p:cNvPr id="9" name="Straight Arrow Connector 8"/>
          <p:cNvCxnSpPr>
            <a:stCxn id="4" idx="2"/>
            <a:endCxn id="5" idx="0"/>
          </p:cNvCxnSpPr>
          <p:nvPr/>
        </p:nvCxnSpPr>
        <p:spPr>
          <a:xfrm flipH="1">
            <a:off x="3554186" y="3635829"/>
            <a:ext cx="2079171" cy="402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a:stCxn id="4" idx="2"/>
            <a:endCxn id="6" idx="0"/>
          </p:cNvCxnSpPr>
          <p:nvPr/>
        </p:nvCxnSpPr>
        <p:spPr>
          <a:xfrm>
            <a:off x="5633357" y="3635829"/>
            <a:ext cx="163286" cy="402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a:stCxn id="4" idx="2"/>
            <a:endCxn id="7" idx="0"/>
          </p:cNvCxnSpPr>
          <p:nvPr/>
        </p:nvCxnSpPr>
        <p:spPr>
          <a:xfrm>
            <a:off x="5633357" y="3635829"/>
            <a:ext cx="2144486" cy="402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5475"/>
          </a:xfrm>
        </p:spPr>
        <p:txBody>
          <a:bodyPr>
            <a:normAutofit/>
          </a:bodyPr>
          <a:lstStyle/>
          <a:p>
            <a:r>
              <a:rPr lang="vi-VN" altLang="en-US" sz="2800" b="1" i="1" dirty="0">
                <a:latin typeface="Times New Roman" panose="02020603050405020304" pitchFamily="18" charset="0"/>
                <a:cs typeface="Times New Roman" panose="02020603050405020304" pitchFamily="18" charset="0"/>
              </a:rPr>
              <a:t>b. Tiến</a:t>
            </a:r>
            <a:r>
              <a:rPr lang="vi-VN" altLang="en-US" sz="2800" dirty="0">
                <a:latin typeface="Times New Roman" panose="02020603050405020304" pitchFamily="18" charset="0"/>
                <a:cs typeface="Times New Roman" panose="02020603050405020304" pitchFamily="18" charset="0"/>
              </a:rPr>
              <a:t> </a:t>
            </a:r>
            <a:r>
              <a:rPr lang="en-US" altLang="en-US" sz="2800" b="1" i="1" dirty="0" err="1">
                <a:latin typeface="Times New Roman" panose="02020603050405020304" pitchFamily="18" charset="0"/>
                <a:sym typeface="+mn-ea"/>
              </a:rPr>
              <a:t>trình</a:t>
            </a:r>
            <a:r>
              <a:rPr lang="en-US" altLang="en-US" sz="2800" b="1" i="1" dirty="0">
                <a:latin typeface="Times New Roman" panose="02020603050405020304" pitchFamily="18" charset="0"/>
                <a:sym typeface="+mn-ea"/>
              </a:rPr>
              <a:t> </a:t>
            </a:r>
            <a:r>
              <a:rPr lang="en-US" altLang="en-US" sz="2800" b="1" i="1" dirty="0" err="1">
                <a:latin typeface="Times New Roman" panose="02020603050405020304" pitchFamily="18" charset="0"/>
                <a:sym typeface="+mn-ea"/>
              </a:rPr>
              <a:t>lịch</a:t>
            </a:r>
            <a:r>
              <a:rPr lang="en-US" altLang="en-US" sz="2800" b="1" i="1" dirty="0">
                <a:latin typeface="Times New Roman" panose="02020603050405020304" pitchFamily="18" charset="0"/>
                <a:sym typeface="+mn-ea"/>
              </a:rPr>
              <a:t> </a:t>
            </a:r>
            <a:r>
              <a:rPr lang="en-US" altLang="en-US" sz="2800" b="1" i="1" dirty="0" err="1">
                <a:latin typeface="Times New Roman" panose="02020603050405020304" pitchFamily="18" charset="0"/>
                <a:sym typeface="+mn-ea"/>
              </a:rPr>
              <a:t>sử</a:t>
            </a:r>
            <a:r>
              <a:rPr lang="en-US" altLang="en-US" sz="2800" b="1" i="1" dirty="0">
                <a:latin typeface="Times New Roman" panose="02020603050405020304" pitchFamily="18" charset="0"/>
                <a:sym typeface="+mn-ea"/>
              </a:rPr>
              <a:t> - </a:t>
            </a:r>
            <a:r>
              <a:rPr lang="en-US" altLang="en-US" sz="2800" b="1" i="1" dirty="0" err="1">
                <a:latin typeface="Times New Roman" panose="02020603050405020304" pitchFamily="18" charset="0"/>
                <a:sym typeface="+mn-ea"/>
              </a:rPr>
              <a:t>tự</a:t>
            </a:r>
            <a:r>
              <a:rPr lang="en-US" altLang="en-US" sz="2800" b="1" i="1" dirty="0">
                <a:latin typeface="Times New Roman" panose="02020603050405020304" pitchFamily="18" charset="0"/>
                <a:sym typeface="+mn-ea"/>
              </a:rPr>
              <a:t> </a:t>
            </a:r>
            <a:r>
              <a:rPr lang="en-US" altLang="en-US" sz="2800" b="1" i="1" dirty="0" err="1">
                <a:latin typeface="Times New Roman" panose="02020603050405020304" pitchFamily="18" charset="0"/>
                <a:sym typeface="+mn-ea"/>
              </a:rPr>
              <a:t>nhiên</a:t>
            </a:r>
            <a:r>
              <a:rPr lang="en-US" altLang="en-US" sz="2800" b="1" i="1" dirty="0">
                <a:latin typeface="Times New Roman" panose="02020603050405020304" pitchFamily="18" charset="0"/>
                <a:sym typeface="+mn-ea"/>
              </a:rPr>
              <a:t> </a:t>
            </a:r>
            <a:r>
              <a:rPr lang="en-US" altLang="en-US" sz="2800" b="1" i="1" dirty="0" err="1">
                <a:latin typeface="Times New Roman" panose="02020603050405020304" pitchFamily="18" charset="0"/>
                <a:sym typeface="+mn-ea"/>
              </a:rPr>
              <a:t>của</a:t>
            </a:r>
            <a:r>
              <a:rPr lang="en-US" altLang="en-US" sz="2800" b="1" i="1" dirty="0">
                <a:latin typeface="Times New Roman" panose="02020603050405020304" pitchFamily="18" charset="0"/>
                <a:sym typeface="+mn-ea"/>
              </a:rPr>
              <a:t> </a:t>
            </a:r>
            <a:r>
              <a:rPr lang="vi-VN" altLang="en-US" sz="2800" b="1" i="1" dirty="0">
                <a:latin typeface="Times New Roman" panose="02020603050405020304" pitchFamily="18" charset="0"/>
                <a:sym typeface="+mn-ea"/>
              </a:rPr>
              <a:t>XH loài người</a:t>
            </a:r>
            <a:endParaRPr lang="en-US" sz="2800" dirty="0"/>
          </a:p>
        </p:txBody>
      </p:sp>
      <p:sp>
        <p:nvSpPr>
          <p:cNvPr id="3" name="Content Placeholder 2"/>
          <p:cNvSpPr>
            <a:spLocks noGrp="1"/>
          </p:cNvSpPr>
          <p:nvPr>
            <p:ph idx="1"/>
          </p:nvPr>
        </p:nvSpPr>
        <p:spPr>
          <a:xfrm>
            <a:off x="838200" y="990600"/>
            <a:ext cx="10515600" cy="5186363"/>
          </a:xfrm>
        </p:spPr>
        <p:txBody>
          <a:bodyPr/>
          <a:lstStyle/>
          <a:p>
            <a:pPr marL="0" indent="0">
              <a:buNone/>
            </a:pPr>
            <a:endParaRPr lang="en-US" dirty="0"/>
          </a:p>
        </p:txBody>
      </p:sp>
      <p:sp>
        <p:nvSpPr>
          <p:cNvPr id="4" name="Rectangle: Single Corner Snipped 3"/>
          <p:cNvSpPr/>
          <p:nvPr/>
        </p:nvSpPr>
        <p:spPr>
          <a:xfrm>
            <a:off x="914399" y="990600"/>
            <a:ext cx="5529943" cy="783771"/>
          </a:xfrm>
          <a:prstGeom prst="snip1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000" b="1" i="1" dirty="0">
                <a:latin typeface="Times New Roman" panose="02020603050405020304" pitchFamily="18" charset="0"/>
                <a:cs typeface="Times New Roman" panose="02020603050405020304" pitchFamily="18" charset="0"/>
              </a:rPr>
              <a:t>C. Mac </a:t>
            </a:r>
            <a:r>
              <a:rPr lang="en-US" sz="2000" b="1" i="1" dirty="0" err="1">
                <a:latin typeface="Times New Roman" panose="02020603050405020304" pitchFamily="18" charset="0"/>
                <a:cs typeface="Times New Roman" panose="02020603050405020304" pitchFamily="18" charset="0"/>
              </a:rPr>
              <a:t>viết</a:t>
            </a:r>
            <a:r>
              <a:rPr lang="en-US" sz="2000" b="1" i="1" dirty="0">
                <a:latin typeface="Times New Roman" panose="02020603050405020304" pitchFamily="18" charset="0"/>
                <a:cs typeface="Times New Roman" panose="02020603050405020304" pitchFamily="18" charset="0"/>
              </a:rPr>
              <a:t>: “</a:t>
            </a:r>
            <a:r>
              <a:rPr lang="en-US" sz="2000" b="1" i="1" dirty="0" err="1">
                <a:latin typeface="Times New Roman" panose="02020603050405020304" pitchFamily="18" charset="0"/>
                <a:cs typeface="Times New Roman" panose="02020603050405020304" pitchFamily="18" charset="0"/>
              </a:rPr>
              <a:t>Tôi</a:t>
            </a:r>
            <a:r>
              <a:rPr lang="en-US" sz="2000" b="1" i="1" dirty="0">
                <a:latin typeface="Times New Roman" panose="02020603050405020304" pitchFamily="18" charset="0"/>
                <a:cs typeface="Times New Roman" panose="02020603050405020304" pitchFamily="18" charset="0"/>
              </a:rPr>
              <a:t> </a:t>
            </a:r>
            <a:r>
              <a:rPr lang="en-US" sz="2000" b="1" i="1" dirty="0" err="1">
                <a:latin typeface="Times New Roman" panose="02020603050405020304" pitchFamily="18" charset="0"/>
                <a:cs typeface="Times New Roman" panose="02020603050405020304" pitchFamily="18" charset="0"/>
              </a:rPr>
              <a:t>coi</a:t>
            </a:r>
            <a:r>
              <a:rPr lang="en-US" sz="2000" b="1" i="1" dirty="0">
                <a:latin typeface="Times New Roman" panose="02020603050405020304" pitchFamily="18" charset="0"/>
                <a:cs typeface="Times New Roman" panose="02020603050405020304" pitchFamily="18" charset="0"/>
              </a:rPr>
              <a:t> </a:t>
            </a:r>
            <a:r>
              <a:rPr lang="en-US" sz="2000" b="1" i="1" dirty="0" err="1">
                <a:latin typeface="Times New Roman" panose="02020603050405020304" pitchFamily="18" charset="0"/>
                <a:cs typeface="Times New Roman" panose="02020603050405020304" pitchFamily="18" charset="0"/>
              </a:rPr>
              <a:t>sự</a:t>
            </a:r>
            <a:r>
              <a:rPr lang="en-US" sz="2000" b="1" i="1" dirty="0">
                <a:latin typeface="Times New Roman" panose="02020603050405020304" pitchFamily="18" charset="0"/>
                <a:cs typeface="Times New Roman" panose="02020603050405020304" pitchFamily="18" charset="0"/>
              </a:rPr>
              <a:t> </a:t>
            </a:r>
            <a:r>
              <a:rPr lang="en-US" sz="2000" b="1" i="1" dirty="0" err="1">
                <a:latin typeface="Times New Roman" panose="02020603050405020304" pitchFamily="18" charset="0"/>
                <a:cs typeface="Times New Roman" panose="02020603050405020304" pitchFamily="18" charset="0"/>
              </a:rPr>
              <a:t>phát</a:t>
            </a:r>
            <a:r>
              <a:rPr lang="en-US" sz="2000" b="1" i="1" dirty="0">
                <a:latin typeface="Times New Roman" panose="02020603050405020304" pitchFamily="18" charset="0"/>
                <a:cs typeface="Times New Roman" panose="02020603050405020304" pitchFamily="18" charset="0"/>
              </a:rPr>
              <a:t> </a:t>
            </a:r>
            <a:r>
              <a:rPr lang="en-US" sz="2000" b="1" i="1" dirty="0" err="1">
                <a:latin typeface="Times New Roman" panose="02020603050405020304" pitchFamily="18" charset="0"/>
                <a:cs typeface="Times New Roman" panose="02020603050405020304" pitchFamily="18" charset="0"/>
              </a:rPr>
              <a:t>triển</a:t>
            </a:r>
            <a:r>
              <a:rPr lang="en-US" sz="2000" b="1" i="1" dirty="0">
                <a:latin typeface="Times New Roman" panose="02020603050405020304" pitchFamily="18" charset="0"/>
                <a:cs typeface="Times New Roman" panose="02020603050405020304" pitchFamily="18" charset="0"/>
              </a:rPr>
              <a:t> </a:t>
            </a:r>
            <a:r>
              <a:rPr lang="en-US" sz="2000" b="1" i="1" dirty="0" err="1">
                <a:latin typeface="Times New Roman" panose="02020603050405020304" pitchFamily="18" charset="0"/>
                <a:cs typeface="Times New Roman" panose="02020603050405020304" pitchFamily="18" charset="0"/>
              </a:rPr>
              <a:t>của</a:t>
            </a:r>
            <a:r>
              <a:rPr lang="en-US" sz="2000" b="1" i="1" dirty="0">
                <a:latin typeface="Times New Roman" panose="02020603050405020304" pitchFamily="18" charset="0"/>
                <a:cs typeface="Times New Roman" panose="02020603050405020304" pitchFamily="18" charset="0"/>
              </a:rPr>
              <a:t> </a:t>
            </a:r>
            <a:r>
              <a:rPr lang="en-US" sz="2000" b="1" i="1" dirty="0" err="1">
                <a:latin typeface="Times New Roman" panose="02020603050405020304" pitchFamily="18" charset="0"/>
                <a:cs typeface="Times New Roman" panose="02020603050405020304" pitchFamily="18" charset="0"/>
              </a:rPr>
              <a:t>các</a:t>
            </a:r>
            <a:r>
              <a:rPr lang="en-US" sz="2000" b="1" i="1" dirty="0">
                <a:latin typeface="Times New Roman" panose="02020603050405020304" pitchFamily="18" charset="0"/>
                <a:cs typeface="Times New Roman" panose="02020603050405020304" pitchFamily="18" charset="0"/>
              </a:rPr>
              <a:t> HTKT – XH </a:t>
            </a:r>
            <a:r>
              <a:rPr lang="en-US" sz="2000" b="1" i="1" dirty="0" err="1">
                <a:latin typeface="Times New Roman" panose="02020603050405020304" pitchFamily="18" charset="0"/>
                <a:cs typeface="Times New Roman" panose="02020603050405020304" pitchFamily="18" charset="0"/>
              </a:rPr>
              <a:t>là</a:t>
            </a:r>
            <a:r>
              <a:rPr lang="en-US" sz="2000" b="1" i="1" dirty="0">
                <a:latin typeface="Times New Roman" panose="02020603050405020304" pitchFamily="18" charset="0"/>
                <a:cs typeface="Times New Roman" panose="02020603050405020304" pitchFamily="18" charset="0"/>
              </a:rPr>
              <a:t> </a:t>
            </a:r>
            <a:r>
              <a:rPr lang="en-US" sz="2000" b="1" i="1" dirty="0" err="1">
                <a:latin typeface="Times New Roman" panose="02020603050405020304" pitchFamily="18" charset="0"/>
                <a:cs typeface="Times New Roman" panose="02020603050405020304" pitchFamily="18" charset="0"/>
              </a:rPr>
              <a:t>một</a:t>
            </a:r>
            <a:r>
              <a:rPr lang="en-US" sz="2000" b="1" i="1" dirty="0">
                <a:latin typeface="Times New Roman" panose="02020603050405020304" pitchFamily="18" charset="0"/>
                <a:cs typeface="Times New Roman" panose="02020603050405020304" pitchFamily="18" charset="0"/>
              </a:rPr>
              <a:t> </a:t>
            </a:r>
            <a:r>
              <a:rPr lang="en-US" sz="2000" b="1" i="1" dirty="0" err="1">
                <a:latin typeface="Times New Roman" panose="02020603050405020304" pitchFamily="18" charset="0"/>
                <a:cs typeface="Times New Roman" panose="02020603050405020304" pitchFamily="18" charset="0"/>
              </a:rPr>
              <a:t>quá</a:t>
            </a:r>
            <a:r>
              <a:rPr lang="en-US" sz="2000" b="1" i="1" dirty="0">
                <a:latin typeface="Times New Roman" panose="02020603050405020304" pitchFamily="18" charset="0"/>
                <a:cs typeface="Times New Roman" panose="02020603050405020304" pitchFamily="18" charset="0"/>
              </a:rPr>
              <a:t> </a:t>
            </a:r>
            <a:r>
              <a:rPr lang="en-US" sz="2000" b="1" i="1" dirty="0" err="1">
                <a:latin typeface="Times New Roman" panose="02020603050405020304" pitchFamily="18" charset="0"/>
                <a:cs typeface="Times New Roman" panose="02020603050405020304" pitchFamily="18" charset="0"/>
              </a:rPr>
              <a:t>trình</a:t>
            </a:r>
            <a:r>
              <a:rPr lang="en-US" sz="2000" b="1" i="1" dirty="0">
                <a:latin typeface="Times New Roman" panose="02020603050405020304" pitchFamily="18" charset="0"/>
                <a:cs typeface="Times New Roman" panose="02020603050405020304" pitchFamily="18" charset="0"/>
              </a:rPr>
              <a:t> </a:t>
            </a:r>
            <a:r>
              <a:rPr lang="en-US" sz="2000" b="1" i="1" dirty="0" err="1">
                <a:latin typeface="Times New Roman" panose="02020603050405020304" pitchFamily="18" charset="0"/>
                <a:cs typeface="Times New Roman" panose="02020603050405020304" pitchFamily="18" charset="0"/>
              </a:rPr>
              <a:t>lịch</a:t>
            </a:r>
            <a:r>
              <a:rPr lang="en-US" sz="2000" b="1" i="1" dirty="0">
                <a:latin typeface="Times New Roman" panose="02020603050405020304" pitchFamily="18" charset="0"/>
                <a:cs typeface="Times New Roman" panose="02020603050405020304" pitchFamily="18" charset="0"/>
              </a:rPr>
              <a:t> </a:t>
            </a:r>
            <a:r>
              <a:rPr lang="en-US" sz="2000" b="1" i="1" dirty="0" err="1">
                <a:latin typeface="Times New Roman" panose="02020603050405020304" pitchFamily="18" charset="0"/>
                <a:cs typeface="Times New Roman" panose="02020603050405020304" pitchFamily="18" charset="0"/>
              </a:rPr>
              <a:t>sử</a:t>
            </a:r>
            <a:r>
              <a:rPr lang="en-US" sz="2000" b="1" i="1" dirty="0">
                <a:latin typeface="Times New Roman" panose="02020603050405020304" pitchFamily="18" charset="0"/>
                <a:cs typeface="Times New Roman" panose="02020603050405020304" pitchFamily="18" charset="0"/>
              </a:rPr>
              <a:t> - </a:t>
            </a:r>
            <a:r>
              <a:rPr lang="en-US" sz="2000" b="1" i="1" dirty="0" err="1">
                <a:latin typeface="Times New Roman" panose="02020603050405020304" pitchFamily="18" charset="0"/>
                <a:cs typeface="Times New Roman" panose="02020603050405020304" pitchFamily="18" charset="0"/>
              </a:rPr>
              <a:t>tự</a:t>
            </a:r>
            <a:r>
              <a:rPr lang="en-US" sz="2000" b="1" i="1" dirty="0">
                <a:latin typeface="Times New Roman" panose="02020603050405020304" pitchFamily="18" charset="0"/>
                <a:cs typeface="Times New Roman" panose="02020603050405020304" pitchFamily="18" charset="0"/>
              </a:rPr>
              <a:t> </a:t>
            </a:r>
            <a:r>
              <a:rPr lang="en-US" sz="2000" b="1" i="1" dirty="0" err="1">
                <a:latin typeface="Times New Roman" panose="02020603050405020304" pitchFamily="18" charset="0"/>
                <a:cs typeface="Times New Roman" panose="02020603050405020304" pitchFamily="18" charset="0"/>
              </a:rPr>
              <a:t>nhiên</a:t>
            </a:r>
            <a:r>
              <a:rPr lang="en-US" sz="2000" b="1" i="1" dirty="0">
                <a:latin typeface="Times New Roman" panose="02020603050405020304" pitchFamily="18" charset="0"/>
                <a:cs typeface="Times New Roman" panose="02020603050405020304" pitchFamily="18" charset="0"/>
              </a:rPr>
              <a:t>”</a:t>
            </a:r>
            <a:endParaRPr lang="en-US" sz="2000" b="1" i="1" dirty="0">
              <a:latin typeface="Times New Roman" panose="02020603050405020304" pitchFamily="18" charset="0"/>
              <a:cs typeface="Times New Roman" panose="02020603050405020304" pitchFamily="18" charset="0"/>
            </a:endParaRPr>
          </a:p>
        </p:txBody>
      </p:sp>
      <p:sp>
        <p:nvSpPr>
          <p:cNvPr id="5" name="Oval 4"/>
          <p:cNvSpPr/>
          <p:nvPr/>
        </p:nvSpPr>
        <p:spPr>
          <a:xfrm>
            <a:off x="1534885" y="2819401"/>
            <a:ext cx="1872343" cy="191588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altLang="en-US" sz="1800" b="1" i="1">
                <a:latin typeface="Times New Roman" panose="02020603050405020304" pitchFamily="18" charset="0"/>
                <a:cs typeface="Times New Roman" panose="02020603050405020304" pitchFamily="18" charset="0"/>
              </a:rPr>
              <a:t>Tiến</a:t>
            </a:r>
            <a:r>
              <a:rPr lang="vi-VN" altLang="en-US" sz="1800">
                <a:latin typeface="Times New Roman" panose="02020603050405020304" pitchFamily="18" charset="0"/>
                <a:cs typeface="Times New Roman" panose="02020603050405020304" pitchFamily="18" charset="0"/>
              </a:rPr>
              <a:t> </a:t>
            </a:r>
            <a:r>
              <a:rPr lang="en-US" altLang="en-US" sz="1800" b="1" i="1">
                <a:latin typeface="Times New Roman" panose="02020603050405020304" pitchFamily="18" charset="0"/>
                <a:sym typeface="+mn-ea"/>
              </a:rPr>
              <a:t>trình lịch sử - tự nhiên của </a:t>
            </a:r>
            <a:r>
              <a:rPr lang="vi-VN" altLang="en-US" sz="1800" b="1" i="1">
                <a:latin typeface="Times New Roman" panose="02020603050405020304" pitchFamily="18" charset="0"/>
                <a:sym typeface="+mn-ea"/>
              </a:rPr>
              <a:t>XH loài người</a:t>
            </a:r>
            <a:endParaRPr lang="en-US"/>
          </a:p>
        </p:txBody>
      </p:sp>
      <p:sp>
        <p:nvSpPr>
          <p:cNvPr id="6" name="Rectangle: Rounded Corners 5"/>
          <p:cNvSpPr/>
          <p:nvPr/>
        </p:nvSpPr>
        <p:spPr>
          <a:xfrm>
            <a:off x="3962400" y="2057400"/>
            <a:ext cx="6008914"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lvl="0" indent="-285750" algn="just" eaLnBrk="1" hangingPunct="1">
              <a:spcBef>
                <a:spcPct val="0"/>
              </a:spcBef>
              <a:buClrTx/>
              <a:buSzTx/>
              <a:buFont typeface="Arial" panose="020B0604020202020204" pitchFamily="34" charset="0"/>
              <a:buChar char="•"/>
            </a:pPr>
            <a:r>
              <a:rPr lang="en-US" altLang="en-US" dirty="0" err="1">
                <a:latin typeface="Times New Roman" panose="02020603050405020304" pitchFamily="18" charset="0"/>
                <a:sym typeface="+mn-ea"/>
              </a:rPr>
              <a:t>sự</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vận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động</a:t>
            </a:r>
            <a:r>
              <a:rPr lang="en-US" altLang="en-US" dirty="0">
                <a:latin typeface="Times New Roman" panose="02020603050405020304" pitchFamily="18" charset="0"/>
                <a:sym typeface="+mn-ea"/>
              </a:rPr>
              <a:t> &amp; PT </a:t>
            </a:r>
            <a:r>
              <a:rPr lang="en-US" altLang="en-US" dirty="0" err="1">
                <a:latin typeface="Times New Roman" panose="02020603050405020304" pitchFamily="18" charset="0"/>
                <a:sym typeface="+mn-ea"/>
              </a:rPr>
              <a:t>của</a:t>
            </a:r>
            <a:r>
              <a:rPr lang="en-US" altLang="en-US" dirty="0">
                <a:latin typeface="Times New Roman" panose="02020603050405020304" pitchFamily="18" charset="0"/>
                <a:sym typeface="+mn-ea"/>
              </a:rPr>
              <a:t> XH </a:t>
            </a:r>
            <a:r>
              <a:rPr lang="en-US" altLang="en-US" dirty="0" err="1">
                <a:latin typeface="Times New Roman" panose="02020603050405020304" pitchFamily="18" charset="0"/>
                <a:sym typeface="+mn-ea"/>
              </a:rPr>
              <a:t>không</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tuân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theo</a:t>
            </a:r>
            <a:r>
              <a:rPr lang="en-US" altLang="en-US" dirty="0">
                <a:latin typeface="Times New Roman" panose="02020603050405020304" pitchFamily="18" charset="0"/>
                <a:sym typeface="+mn-ea"/>
              </a:rPr>
              <a:t> ý </a:t>
            </a:r>
            <a:r>
              <a:rPr lang="en-US" altLang="en-US" dirty="0" err="1">
                <a:latin typeface="Times New Roman" panose="02020603050405020304" pitchFamily="18" charset="0"/>
                <a:sym typeface="+mn-ea"/>
              </a:rPr>
              <a:t>chí</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chủ</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quan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của</a:t>
            </a:r>
            <a:r>
              <a:rPr lang="en-US" altLang="en-US" dirty="0">
                <a:latin typeface="Times New Roman" panose="02020603050405020304" pitchFamily="18" charset="0"/>
                <a:sym typeface="+mn-ea"/>
              </a:rPr>
              <a:t> con </a:t>
            </a:r>
            <a:r>
              <a:rPr lang="en-US" altLang="en-US" dirty="0" err="1">
                <a:latin typeface="Times New Roman" panose="02020603050405020304" pitchFamily="18" charset="0"/>
                <a:sym typeface="+mn-ea"/>
              </a:rPr>
              <a:t>người</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mà</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tuân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theo</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các</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quy</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luật</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khách</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quan</a:t>
            </a:r>
            <a:endParaRPr lang="en-US" altLang="en-US" dirty="0">
              <a:latin typeface="Times New Roman" panose="02020603050405020304" pitchFamily="18" charset="0"/>
              <a:sym typeface="+mn-ea"/>
            </a:endParaRPr>
          </a:p>
        </p:txBody>
      </p:sp>
      <p:sp>
        <p:nvSpPr>
          <p:cNvPr id="7" name="Rectangle: Rounded Corners 6"/>
          <p:cNvSpPr/>
          <p:nvPr/>
        </p:nvSpPr>
        <p:spPr>
          <a:xfrm>
            <a:off x="3962399" y="3254829"/>
            <a:ext cx="6008914"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en-US" altLang="en-US" dirty="0" err="1">
                <a:latin typeface="Times New Roman" panose="02020603050405020304" pitchFamily="18" charset="0"/>
                <a:sym typeface="+mn-ea"/>
              </a:rPr>
              <a:t>nguồn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gốc</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sâu</a:t>
            </a:r>
            <a:r>
              <a:rPr lang="en-US" altLang="en-US" dirty="0">
                <a:latin typeface="Times New Roman" panose="02020603050405020304" pitchFamily="18" charset="0"/>
                <a:sym typeface="+mn-ea"/>
              </a:rPr>
              <a:t> xa </a:t>
            </a:r>
            <a:r>
              <a:rPr lang="en-US" altLang="en-US" dirty="0" err="1">
                <a:latin typeface="Times New Roman" panose="02020603050405020304" pitchFamily="18" charset="0"/>
                <a:sym typeface="+mn-ea"/>
              </a:rPr>
              <a:t>của</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sự</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vận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động</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và</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phát</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triển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của</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các</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Hình</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thái</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kinh</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tế</a:t>
            </a:r>
            <a:r>
              <a:rPr lang="en-US" altLang="en-US" dirty="0">
                <a:latin typeface="Times New Roman" panose="02020603050405020304" pitchFamily="18" charset="0"/>
                <a:sym typeface="+mn-ea"/>
              </a:rPr>
              <a:t> - </a:t>
            </a:r>
            <a:r>
              <a:rPr lang="en-US" altLang="en-US" dirty="0" err="1">
                <a:latin typeface="Times New Roman" panose="02020603050405020304" pitchFamily="18" charset="0"/>
                <a:sym typeface="+mn-ea"/>
              </a:rPr>
              <a:t>xã</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hội</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là</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sự</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phát</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triển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của</a:t>
            </a:r>
            <a:r>
              <a:rPr lang="en-US" altLang="en-US" dirty="0">
                <a:latin typeface="Times New Roman" panose="02020603050405020304" pitchFamily="18" charset="0"/>
                <a:sym typeface="+mn-ea"/>
              </a:rPr>
              <a:t> LLSX</a:t>
            </a:r>
            <a:endParaRPr lang="en-US" dirty="0"/>
          </a:p>
        </p:txBody>
      </p:sp>
      <p:sp>
        <p:nvSpPr>
          <p:cNvPr id="8" name="Rectangle: Rounded Corners 7"/>
          <p:cNvSpPr/>
          <p:nvPr/>
        </p:nvSpPr>
        <p:spPr>
          <a:xfrm>
            <a:off x="3962398" y="4452258"/>
            <a:ext cx="6008914"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lvl="0" indent="-285750" algn="just" eaLnBrk="1" hangingPunct="1">
              <a:spcBef>
                <a:spcPct val="0"/>
              </a:spcBef>
              <a:buClrTx/>
              <a:buSzTx/>
              <a:buFont typeface="Arial" panose="020B0604020202020204" pitchFamily="34" charset="0"/>
              <a:buChar char="•"/>
            </a:pPr>
            <a:r>
              <a:rPr lang="en-US" altLang="en-US" dirty="0" err="1">
                <a:latin typeface="Times New Roman" panose="02020603050405020304" pitchFamily="18" charset="0"/>
                <a:sym typeface="+mn-ea"/>
              </a:rPr>
              <a:t>sự</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tác</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động</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của</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các</a:t>
            </a:r>
            <a:r>
              <a:rPr lang="en-US" altLang="en-US" dirty="0">
                <a:latin typeface="Times New Roman" panose="02020603050405020304" pitchFamily="18" charset="0"/>
                <a:sym typeface="+mn-ea"/>
              </a:rPr>
              <a:t> QL </a:t>
            </a:r>
            <a:r>
              <a:rPr lang="en-US" altLang="en-US" dirty="0" err="1">
                <a:latin typeface="Times New Roman" panose="02020603050405020304" pitchFamily="18" charset="0"/>
                <a:sym typeface="+mn-ea"/>
              </a:rPr>
              <a:t>khách</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quan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làm</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cho</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các</a:t>
            </a:r>
            <a:r>
              <a:rPr lang="en-US" altLang="en-US" dirty="0">
                <a:latin typeface="Times New Roman" panose="02020603050405020304" pitchFamily="18" charset="0"/>
                <a:sym typeface="+mn-ea"/>
              </a:rPr>
              <a:t> HTKT-XH </a:t>
            </a:r>
            <a:r>
              <a:rPr lang="en-US" altLang="en-US" dirty="0" err="1">
                <a:latin typeface="Times New Roman" panose="02020603050405020304" pitchFamily="18" charset="0"/>
                <a:sym typeface="+mn-ea"/>
              </a:rPr>
              <a:t>phát</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triển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thay</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thế</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nhau</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từ</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thấp</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đến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cao</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Đó</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là</a:t>
            </a:r>
            <a:r>
              <a:rPr lang="en-US" altLang="en-US" dirty="0">
                <a:latin typeface="Times New Roman" panose="02020603050405020304" pitchFamily="18" charset="0"/>
                <a:sym typeface="+mn-ea"/>
              </a:rPr>
              <a:t> con </a:t>
            </a:r>
            <a:r>
              <a:rPr lang="en-US" altLang="en-US" dirty="0" err="1">
                <a:latin typeface="Times New Roman" panose="02020603050405020304" pitchFamily="18" charset="0"/>
                <a:sym typeface="+mn-ea"/>
              </a:rPr>
              <a:t>đường</a:t>
            </a:r>
            <a:r>
              <a:rPr lang="en-US" altLang="en-US" dirty="0">
                <a:latin typeface="Times New Roman" panose="02020603050405020304" pitchFamily="18" charset="0"/>
                <a:sym typeface="+mn-ea"/>
              </a:rPr>
              <a:t> PT </a:t>
            </a:r>
            <a:r>
              <a:rPr lang="en-US" altLang="en-US" dirty="0" err="1">
                <a:latin typeface="Times New Roman" panose="02020603050405020304" pitchFamily="18" charset="0"/>
                <a:sym typeface="+mn-ea"/>
              </a:rPr>
              <a:t>chung</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của</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nhân</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loại</a:t>
            </a:r>
            <a:r>
              <a:rPr lang="en-US" altLang="en-US" dirty="0">
                <a:latin typeface="Times New Roman" panose="02020603050405020304" pitchFamily="18" charset="0"/>
                <a:sym typeface="+mn-ea"/>
              </a:rPr>
              <a:t>.</a:t>
            </a:r>
            <a:endParaRPr lang="en-US" altLang="en-US" dirty="0">
              <a:solidFill>
                <a:schemeClr val="tx1"/>
              </a:solidFill>
              <a:latin typeface="Times New Roman" panose="02020603050405020304" pitchFamily="18" charset="0"/>
            </a:endParaRPr>
          </a:p>
        </p:txBody>
      </p:sp>
      <p:cxnSp>
        <p:nvCxnSpPr>
          <p:cNvPr id="10" name="Straight Arrow Connector 9"/>
          <p:cNvCxnSpPr>
            <a:stCxn id="5" idx="6"/>
          </p:cNvCxnSpPr>
          <p:nvPr/>
        </p:nvCxnSpPr>
        <p:spPr>
          <a:xfrm flipV="1">
            <a:off x="3407228" y="2525486"/>
            <a:ext cx="555170" cy="12518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a:stCxn id="5" idx="6"/>
            <a:endCxn id="7" idx="1"/>
          </p:cNvCxnSpPr>
          <p:nvPr/>
        </p:nvCxnSpPr>
        <p:spPr>
          <a:xfrm flipV="1">
            <a:off x="3407228" y="3712029"/>
            <a:ext cx="555171" cy="653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a:off x="3407228" y="3777344"/>
            <a:ext cx="555170" cy="11865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206375"/>
            <a:ext cx="10515600" cy="913130"/>
          </a:xfrm>
        </p:spPr>
        <p:txBody>
          <a:bodyPr/>
          <a:lstStyle/>
          <a:p>
            <a:pPr algn="just"/>
            <a:r>
              <a:rPr lang="vi-VN" altLang="en-US" sz="2800" b="1" i="1" dirty="0">
                <a:latin typeface="Times New Roman" panose="02020603050405020304" pitchFamily="18" charset="0"/>
                <a:sym typeface="+mn-ea"/>
              </a:rPr>
              <a:t>c. </a:t>
            </a:r>
            <a:r>
              <a:rPr lang="en-US" altLang="en-US" sz="2800" b="1" i="1" dirty="0">
                <a:latin typeface="Times New Roman" panose="02020603050405020304" pitchFamily="18" charset="0"/>
                <a:sym typeface="+mn-ea"/>
              </a:rPr>
              <a:t>Giá trị khoa học</a:t>
            </a:r>
            <a:r>
              <a:rPr lang="vi-VN" altLang="en-US" sz="2800" b="1" i="1" dirty="0">
                <a:latin typeface="Times New Roman" panose="02020603050405020304" pitchFamily="18" charset="0"/>
                <a:sym typeface="+mn-ea"/>
              </a:rPr>
              <a:t> bền vững và ý nghĩa cách mạng</a:t>
            </a:r>
            <a:endParaRPr lang="vi-VN" altLang="en-US" sz="2800" b="1" i="1" dirty="0">
              <a:latin typeface="Times New Roman" panose="02020603050405020304" pitchFamily="18" charset="0"/>
              <a:cs typeface="Times New Roman" panose="02020603050405020304" pitchFamily="18" charset="0"/>
              <a:sym typeface="+mn-ea"/>
            </a:endParaRPr>
          </a:p>
        </p:txBody>
      </p:sp>
      <p:sp>
        <p:nvSpPr>
          <p:cNvPr id="5" name="Content Placeholder 4"/>
          <p:cNvSpPr>
            <a:spLocks noGrp="1"/>
          </p:cNvSpPr>
          <p:nvPr>
            <p:ph idx="1"/>
          </p:nvPr>
        </p:nvSpPr>
        <p:spPr>
          <a:xfrm>
            <a:off x="838200" y="1254125"/>
            <a:ext cx="10515600" cy="4923155"/>
          </a:xfrm>
        </p:spPr>
        <p:txBody>
          <a:bodyPr>
            <a:normAutofit fontScale="92500" lnSpcReduction="10000"/>
          </a:bodyPr>
          <a:lstStyle/>
          <a:p>
            <a:pPr marL="457200" lvl="0" indent="-457200" algn="just" eaLnBrk="1" hangingPunct="1">
              <a:spcBef>
                <a:spcPct val="0"/>
              </a:spcBef>
              <a:buClrTx/>
              <a:buSzTx/>
              <a:buFontTx/>
              <a:buChar char="-"/>
            </a:pPr>
            <a:r>
              <a:rPr lang="en-US" altLang="en-US" dirty="0">
                <a:latin typeface="Times New Roman" panose="02020603050405020304" pitchFamily="18" charset="0"/>
                <a:sym typeface="+mn-ea"/>
              </a:rPr>
              <a:t>SXVC là cơ sở của đời sống XH, PTSX quyết định các mặt của đời sống XH. </a:t>
            </a:r>
            <a:r>
              <a:rPr lang="en-US" altLang="en-US" b="1" i="1" dirty="0">
                <a:latin typeface="Times New Roman" panose="02020603050405020304" pitchFamily="18" charset="0"/>
                <a:sym typeface="+mn-ea"/>
              </a:rPr>
              <a:t>Cho </a:t>
            </a:r>
            <a:r>
              <a:rPr lang="en-US" altLang="en-US" b="1" i="1" dirty="0" err="1">
                <a:latin typeface="Times New Roman" panose="02020603050405020304" pitchFamily="18" charset="0"/>
                <a:sym typeface="+mn-ea"/>
              </a:rPr>
              <a:t>nên</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không</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thể</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xuất</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phát</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từ</a:t>
            </a:r>
            <a:r>
              <a:rPr lang="en-US" altLang="en-US" b="1" i="1" dirty="0">
                <a:latin typeface="Times New Roman" panose="02020603050405020304" pitchFamily="18" charset="0"/>
                <a:sym typeface="+mn-ea"/>
              </a:rPr>
              <a:t> ý </a:t>
            </a:r>
            <a:r>
              <a:rPr lang="en-US" altLang="en-US" b="1" i="1" dirty="0" err="1">
                <a:latin typeface="Times New Roman" panose="02020603050405020304" pitchFamily="18" charset="0"/>
                <a:sym typeface="+mn-ea"/>
              </a:rPr>
              <a:t>thức</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tư</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tưởng</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từ</a:t>
            </a:r>
            <a:r>
              <a:rPr lang="en-US" altLang="en-US" b="1" i="1" dirty="0">
                <a:latin typeface="Times New Roman" panose="02020603050405020304" pitchFamily="18" charset="0"/>
                <a:sym typeface="+mn-ea"/>
              </a:rPr>
              <a:t> ý </a:t>
            </a:r>
            <a:r>
              <a:rPr lang="en-US" altLang="en-US" b="1" i="1" dirty="0" err="1">
                <a:latin typeface="Times New Roman" panose="02020603050405020304" pitchFamily="18" charset="0"/>
                <a:sym typeface="+mn-ea"/>
              </a:rPr>
              <a:t>chí</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chủ</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quan</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của</a:t>
            </a:r>
            <a:r>
              <a:rPr lang="en-US" altLang="en-US" b="1" i="1" dirty="0">
                <a:latin typeface="Times New Roman" panose="02020603050405020304" pitchFamily="18" charset="0"/>
                <a:sym typeface="+mn-ea"/>
              </a:rPr>
              <a:t> con </a:t>
            </a:r>
            <a:r>
              <a:rPr lang="en-US" altLang="en-US" b="1" i="1" dirty="0" err="1">
                <a:latin typeface="Times New Roman" panose="02020603050405020304" pitchFamily="18" charset="0"/>
                <a:sym typeface="+mn-ea"/>
              </a:rPr>
              <a:t>người</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để</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giải</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thích</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các</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hiện</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tượng</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trong</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đời</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sống</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Xh</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mà</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phải</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xuất</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phát</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từ</a:t>
            </a:r>
            <a:r>
              <a:rPr lang="en-US" altLang="en-US" b="1" i="1" dirty="0">
                <a:latin typeface="Times New Roman" panose="02020603050405020304" pitchFamily="18" charset="0"/>
                <a:sym typeface="+mn-ea"/>
              </a:rPr>
              <a:t> PTSX.</a:t>
            </a:r>
            <a:endParaRPr lang="en-US" altLang="en-US" b="1" i="1" dirty="0">
              <a:latin typeface="Times New Roman" panose="02020603050405020304" pitchFamily="18" charset="0"/>
              <a:sym typeface="+mn-ea"/>
            </a:endParaRPr>
          </a:p>
          <a:p>
            <a:pPr marL="0" lvl="0" indent="0" algn="just" eaLnBrk="1" hangingPunct="1">
              <a:spcBef>
                <a:spcPct val="0"/>
              </a:spcBef>
              <a:buClrTx/>
              <a:buSzTx/>
              <a:buFontTx/>
              <a:buNone/>
            </a:pPr>
            <a:endParaRPr lang="en-US" altLang="en-US" dirty="0">
              <a:solidFill>
                <a:schemeClr val="tx1"/>
              </a:solidFill>
              <a:latin typeface="Times New Roman" panose="02020603050405020304" pitchFamily="18" charset="0"/>
            </a:endParaRPr>
          </a:p>
          <a:p>
            <a:pPr marL="457200" lvl="0" indent="-457200" algn="just" eaLnBrk="1" hangingPunct="1">
              <a:spcBef>
                <a:spcPct val="0"/>
              </a:spcBef>
              <a:buClrTx/>
              <a:buSzTx/>
              <a:buFontTx/>
              <a:buChar char="-"/>
            </a:pPr>
            <a:r>
              <a:rPr lang="en-US" altLang="en-US" dirty="0" err="1">
                <a:latin typeface="Times New Roman" panose="02020603050405020304" pitchFamily="18" charset="0"/>
                <a:sym typeface="+mn-ea"/>
              </a:rPr>
              <a:t>Xh</a:t>
            </a:r>
            <a:r>
              <a:rPr lang="en-US" altLang="en-US" dirty="0">
                <a:latin typeface="Times New Roman" panose="02020603050405020304" pitchFamily="18" charset="0"/>
                <a:sym typeface="+mn-ea"/>
              </a:rPr>
              <a:t> không phải là sự kết hợp một </a:t>
            </a:r>
            <a:r>
              <a:rPr lang="en-US" altLang="en-US" dirty="0" err="1">
                <a:latin typeface="Times New Roman" panose="02020603050405020304" pitchFamily="18" charset="0"/>
                <a:sym typeface="+mn-ea"/>
              </a:rPr>
              <a:t>cách</a:t>
            </a:r>
            <a:r>
              <a:rPr lang="en-US" altLang="en-US" dirty="0">
                <a:latin typeface="Times New Roman" panose="02020603050405020304" pitchFamily="18" charset="0"/>
                <a:sym typeface="+mn-ea"/>
              </a:rPr>
              <a:t> </a:t>
            </a:r>
            <a:r>
              <a:rPr lang="en-US" altLang="en-US" dirty="0" err="1">
                <a:latin typeface="Times New Roman" panose="02020603050405020304" pitchFamily="18" charset="0"/>
                <a:sym typeface="+mn-ea"/>
              </a:rPr>
              <a:t>ngẫu</a:t>
            </a:r>
            <a:r>
              <a:rPr lang="en-US" altLang="en-US" dirty="0">
                <a:latin typeface="Times New Roman" panose="02020603050405020304" pitchFamily="18" charset="0"/>
                <a:sym typeface="+mn-ea"/>
              </a:rPr>
              <a:t> nhiên, máy móc giữa các cá nhân, mà là một cơ thể sống sinh động, các mặt thống nhất chặt chẽ với nhau, tác động qua lại lẫn nhau. </a:t>
            </a:r>
            <a:r>
              <a:rPr lang="en-US" altLang="en-US" b="1" i="1" dirty="0" err="1">
                <a:latin typeface="Times New Roman" panose="02020603050405020304" pitchFamily="18" charset="0"/>
                <a:sym typeface="+mn-ea"/>
              </a:rPr>
              <a:t>Vì</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vậy</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muốn</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nhận</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thức</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đúng</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đời</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sống</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Xh</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phải</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phân</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tích</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sâu</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sắc</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các</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mặt</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của</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đời</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sống</a:t>
            </a:r>
            <a:r>
              <a:rPr lang="en-US" altLang="en-US" b="1" i="1" dirty="0">
                <a:latin typeface="Times New Roman" panose="02020603050405020304" pitchFamily="18" charset="0"/>
                <a:sym typeface="+mn-ea"/>
              </a:rPr>
              <a:t> XH &amp; MQH </a:t>
            </a:r>
            <a:r>
              <a:rPr lang="en-US" altLang="en-US" b="1" i="1" dirty="0" err="1">
                <a:latin typeface="Times New Roman" panose="02020603050405020304" pitchFamily="18" charset="0"/>
                <a:sym typeface="+mn-ea"/>
              </a:rPr>
              <a:t>lẫn</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nhau</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giữa</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chúng</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Đặc</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biệt</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là</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đi</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sâu</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phân</a:t>
            </a:r>
            <a:r>
              <a:rPr lang="en-US" altLang="en-US" b="1" i="1" dirty="0">
                <a:latin typeface="Times New Roman" panose="02020603050405020304" pitchFamily="18" charset="0"/>
                <a:sym typeface="+mn-ea"/>
              </a:rPr>
              <a:t> </a:t>
            </a:r>
            <a:r>
              <a:rPr lang="en-US" altLang="en-US" b="1" i="1" dirty="0" err="1">
                <a:latin typeface="Times New Roman" panose="02020603050405020304" pitchFamily="18" charset="0"/>
                <a:sym typeface="+mn-ea"/>
              </a:rPr>
              <a:t>tích</a:t>
            </a:r>
            <a:r>
              <a:rPr lang="en-US" altLang="en-US" b="1" i="1" dirty="0">
                <a:latin typeface="Times New Roman" panose="02020603050405020304" pitchFamily="18" charset="0"/>
                <a:sym typeface="+mn-ea"/>
              </a:rPr>
              <a:t> QHSX.</a:t>
            </a:r>
            <a:endParaRPr lang="en-US" altLang="en-US" b="1" i="1" dirty="0">
              <a:latin typeface="Times New Roman" panose="02020603050405020304" pitchFamily="18" charset="0"/>
              <a:sym typeface="+mn-ea"/>
            </a:endParaRPr>
          </a:p>
          <a:p>
            <a:pPr marL="0" lvl="0" indent="0" algn="just" eaLnBrk="1" hangingPunct="1">
              <a:spcBef>
                <a:spcPct val="0"/>
              </a:spcBef>
              <a:buClrTx/>
              <a:buSzTx/>
              <a:buFontTx/>
              <a:buNone/>
            </a:pPr>
            <a:endParaRPr lang="en-US" altLang="en-US" dirty="0">
              <a:latin typeface="Times New Roman" panose="02020603050405020304" pitchFamily="18" charset="0"/>
              <a:sym typeface="+mn-ea"/>
            </a:endParaRPr>
          </a:p>
          <a:p>
            <a:pPr marL="457200" lvl="0" indent="-457200" algn="just" eaLnBrk="1" hangingPunct="1">
              <a:spcBef>
                <a:spcPct val="0"/>
              </a:spcBef>
              <a:buClrTx/>
              <a:buSzTx/>
              <a:buFontTx/>
              <a:buChar char="-"/>
            </a:pPr>
            <a:r>
              <a:rPr lang="en-US" altLang="en-US" dirty="0" err="1">
                <a:latin typeface="Times New Roman" panose="02020603050405020304" pitchFamily="18" charset="0"/>
                <a:cs typeface="Times New Roman" panose="02020603050405020304" pitchFamily="18" charset="0"/>
                <a:sym typeface="+mn-ea"/>
              </a:rPr>
              <a:t>Sự</a:t>
            </a:r>
            <a:r>
              <a:rPr lang="en-US" altLang="en-US" dirty="0">
                <a:latin typeface="Times New Roman" panose="02020603050405020304" pitchFamily="18" charset="0"/>
                <a:cs typeface="Times New Roman" panose="02020603050405020304" pitchFamily="18" charset="0"/>
                <a:sym typeface="+mn-ea"/>
              </a:rPr>
              <a:t> phát triển của các HTKT-XH l</a:t>
            </a:r>
            <a:r>
              <a:rPr lang="en-US" altLang="en-US" dirty="0">
                <a:latin typeface="Times New Roman" panose="02020603050405020304" pitchFamily="18" charset="0"/>
                <a:ea typeface="Times New Roman" panose="02020603050405020304" pitchFamily="18" charset="0"/>
                <a:sym typeface="+mn-ea"/>
              </a:rPr>
              <a:t>à</a:t>
            </a:r>
            <a:r>
              <a:rPr lang="en-US" altLang="en-US" dirty="0">
                <a:latin typeface="Times New Roman" panose="02020603050405020304" pitchFamily="18" charset="0"/>
                <a:cs typeface="Times New Roman" panose="02020603050405020304" pitchFamily="18" charset="0"/>
                <a:sym typeface="+mn-ea"/>
              </a:rPr>
              <a:t> một quá trình LS tự nhiên. </a:t>
            </a:r>
            <a:r>
              <a:rPr lang="en-US" altLang="en-US" b="1" i="1" dirty="0">
                <a:latin typeface="Times New Roman" panose="02020603050405020304" pitchFamily="18" charset="0"/>
                <a:cs typeface="Times New Roman" panose="02020603050405020304" pitchFamily="18" charset="0"/>
                <a:sym typeface="+mn-ea"/>
              </a:rPr>
              <a:t>Cho nên muốn nhận thức đúng đời sống XH phải đi sâu nghiên cứu các quy luật vận động v</a:t>
            </a:r>
            <a:r>
              <a:rPr lang="en-US" altLang="en-US" b="1" i="1" dirty="0">
                <a:latin typeface="Times New Roman" panose="02020603050405020304" pitchFamily="18" charset="0"/>
                <a:ea typeface="Times New Roman" panose="02020603050405020304" pitchFamily="18" charset="0"/>
                <a:sym typeface="+mn-ea"/>
              </a:rPr>
              <a:t>à</a:t>
            </a:r>
            <a:r>
              <a:rPr lang="en-US" altLang="en-US" b="1" i="1" dirty="0">
                <a:latin typeface="Times New Roman" panose="02020603050405020304" pitchFamily="18" charset="0"/>
                <a:cs typeface="Times New Roman" panose="02020603050405020304" pitchFamily="18" charset="0"/>
                <a:sym typeface="+mn-ea"/>
              </a:rPr>
              <a:t> phát triển của XH</a:t>
            </a:r>
            <a:endParaRPr lang="en-US" altLang="en-US" b="1" i="1" dirty="0">
              <a:solidFill>
                <a:schemeClr val="tx1"/>
              </a:solidFill>
              <a:latin typeface="Times New Roman" panose="02020603050405020304" pitchFamily="18" charset="0"/>
              <a:ea typeface="Times New Roman" panose="02020603050405020304" pitchFamily="18" charset="0"/>
            </a:endParaRPr>
          </a:p>
          <a:p>
            <a:pPr marL="0" lvl="0" indent="0" algn="just" eaLnBrk="1" hangingPunct="1">
              <a:spcBef>
                <a:spcPct val="0"/>
              </a:spcBef>
              <a:buClrTx/>
              <a:buSzTx/>
              <a:buFontTx/>
              <a:buNone/>
            </a:pPr>
            <a:endParaRPr lang="en-US" altLang="en-US" dirty="0">
              <a:solidFill>
                <a:schemeClr val="tx1"/>
              </a:solidFill>
              <a:latin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754380"/>
          </a:xfrm>
        </p:spPr>
        <p:txBody>
          <a:bodyPr>
            <a:normAutofit/>
          </a:bodyPr>
          <a:lstStyle/>
          <a:p>
            <a:r>
              <a:rPr lang="vi-VN" altLang="en-US" sz="3200" b="1" dirty="0">
                <a:solidFill>
                  <a:srgbClr val="FF0000"/>
                </a:solidFill>
                <a:latin typeface="Times New Roman" panose="02020603050405020304" pitchFamily="18" charset="0"/>
                <a:cs typeface="Times New Roman" panose="02020603050405020304" pitchFamily="18" charset="0"/>
              </a:rPr>
              <a:t>II. Giai cấp và dân tộc</a:t>
            </a:r>
            <a:endParaRPr lang="vi-VN" altLang="en-US" sz="3200" b="1" dirty="0">
              <a:solidFill>
                <a:srgbClr val="FF000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295400"/>
            <a:ext cx="10515600" cy="4881880"/>
          </a:xfrm>
        </p:spPr>
        <p:txBody>
          <a:bodyPr/>
          <a:lstStyle/>
          <a:p>
            <a:pPr marL="0" indent="0" algn="just">
              <a:buNone/>
            </a:pPr>
            <a:r>
              <a:rPr lang="vi-VN" altLang="en-US" b="1" dirty="0">
                <a:latin typeface="Times New Roman" panose="02020603050405020304" pitchFamily="18" charset="0"/>
                <a:cs typeface="Times New Roman" panose="02020603050405020304" pitchFamily="18" charset="0"/>
              </a:rPr>
              <a:t>1. Giai cấp và đấu tranh giai cấp</a:t>
            </a:r>
            <a:endParaRPr lang="vi-VN" altLang="en-US" b="1" dirty="0">
              <a:latin typeface="Times New Roman" panose="02020603050405020304" pitchFamily="18" charset="0"/>
              <a:cs typeface="Times New Roman" panose="02020603050405020304" pitchFamily="18" charset="0"/>
            </a:endParaRPr>
          </a:p>
          <a:p>
            <a:pPr marL="0" indent="0" algn="just">
              <a:buNone/>
            </a:pPr>
            <a:r>
              <a:rPr lang="vi-VN" altLang="en-US" b="1" dirty="0">
                <a:latin typeface="Times New Roman" panose="02020603050405020304" pitchFamily="18" charset="0"/>
                <a:cs typeface="Times New Roman" panose="02020603050405020304" pitchFamily="18" charset="0"/>
              </a:rPr>
              <a:t>a. Giai cấp</a:t>
            </a:r>
            <a:endParaRPr lang="vi-VN" altLang="en-US" b="1" dirty="0">
              <a:latin typeface="Times New Roman" panose="02020603050405020304" pitchFamily="18" charset="0"/>
              <a:cs typeface="Times New Roman" panose="02020603050405020304" pitchFamily="18" charset="0"/>
            </a:endParaRPr>
          </a:p>
          <a:p>
            <a:pPr marL="0" indent="0" algn="just">
              <a:buNone/>
            </a:pPr>
            <a:r>
              <a:rPr lang="en-US" noProof="0" dirty="0">
                <a:ln>
                  <a:noFill/>
                </a:ln>
                <a:effectLst/>
                <a:uLnTx/>
                <a:uFillTx/>
                <a:latin typeface="Times New Roman" panose="02020603050405020304" pitchFamily="18" charset="0"/>
                <a:sym typeface="+mn-ea"/>
              </a:rPr>
              <a:t>Trong </a:t>
            </a:r>
            <a:r>
              <a:rPr lang="en-US" noProof="0" dirty="0" err="1">
                <a:ln>
                  <a:noFill/>
                </a:ln>
                <a:effectLst/>
                <a:uLnTx/>
                <a:uFillTx/>
                <a:latin typeface="Times New Roman" panose="02020603050405020304" pitchFamily="18" charset="0"/>
                <a:sym typeface="+mn-ea"/>
              </a:rPr>
              <a:t>tác</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phẩm</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sáng</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kiến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vĩ</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đại</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Lênin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định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nghĩa</a:t>
            </a:r>
            <a:r>
              <a:rPr lang="en-US" noProof="0" dirty="0">
                <a:ln>
                  <a:noFill/>
                </a:ln>
                <a:effectLst/>
                <a:uLnTx/>
                <a:uFillTx/>
                <a:latin typeface="Times New Roman" panose="02020603050405020304" pitchFamily="18" charset="0"/>
                <a:sym typeface="+mn-ea"/>
              </a:rPr>
              <a:t>:	</a:t>
            </a:r>
            <a:r>
              <a:rPr lang="en-US" sz="2600" b="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Người</a:t>
            </a:r>
            <a:r>
              <a:rPr lang="en-US" sz="2600" b="1" i="1" noProof="0" dirty="0">
                <a:ln>
                  <a:noFill/>
                </a:ln>
                <a:effectLst/>
                <a:uLnTx/>
                <a:uFillTx/>
                <a:latin typeface="Times New Roman" panose="02020603050405020304" pitchFamily="18" charset="0"/>
                <a:sym typeface="+mn-ea"/>
              </a:rPr>
              <a:t> ta </a:t>
            </a:r>
            <a:r>
              <a:rPr lang="en-US" sz="2600" b="1" i="1" noProof="0" dirty="0" err="1">
                <a:ln>
                  <a:noFill/>
                </a:ln>
                <a:effectLst/>
                <a:uLnTx/>
                <a:uFillTx/>
                <a:latin typeface="Times New Roman" panose="02020603050405020304" pitchFamily="18" charset="0"/>
                <a:sym typeface="+mn-ea"/>
              </a:rPr>
              <a:t>gọi</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là</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giai</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cấp</a:t>
            </a:r>
            <a:r>
              <a:rPr lang="en-US" sz="2600" b="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những</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tập</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đoàn</a:t>
            </a:r>
            <a:r>
              <a:rPr lang="en-US" sz="2600" b="1" i="1" noProof="0" dirty="0">
                <a:ln>
                  <a:noFill/>
                </a:ln>
                <a:effectLst/>
                <a:uLnTx/>
                <a:uFillTx/>
                <a:latin typeface="Times New Roman" panose="02020603050405020304" pitchFamily="18" charset="0"/>
                <a:sym typeface="+mn-ea"/>
              </a:rPr>
              <a:t> to </a:t>
            </a:r>
            <a:r>
              <a:rPr lang="en-US" sz="2600" b="1" i="1" noProof="0" dirty="0" err="1">
                <a:ln>
                  <a:noFill/>
                </a:ln>
                <a:effectLst/>
                <a:uLnTx/>
                <a:uFillTx/>
                <a:latin typeface="Times New Roman" panose="02020603050405020304" pitchFamily="18" charset="0"/>
                <a:sym typeface="+mn-ea"/>
              </a:rPr>
              <a:t>lớn</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gồm</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những</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người</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khác</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nhau</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về</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địa</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vị</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của</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họ</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trong</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một</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hệ</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thống</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sản</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xuất</a:t>
            </a:r>
            <a:r>
              <a:rPr lang="en-US" sz="2600" b="1" i="1" noProof="0" dirty="0">
                <a:ln>
                  <a:noFill/>
                </a:ln>
                <a:effectLst/>
                <a:uLnTx/>
                <a:uFillTx/>
                <a:latin typeface="Times New Roman" panose="02020603050405020304" pitchFamily="18" charset="0"/>
                <a:sym typeface="+mn-ea"/>
              </a:rPr>
              <a:t> XH </a:t>
            </a:r>
            <a:r>
              <a:rPr lang="en-US" sz="2600" b="1" i="1" noProof="0" dirty="0" err="1">
                <a:ln>
                  <a:noFill/>
                </a:ln>
                <a:effectLst/>
                <a:uLnTx/>
                <a:uFillTx/>
                <a:latin typeface="Times New Roman" panose="02020603050405020304" pitchFamily="18" charset="0"/>
                <a:sym typeface="+mn-ea"/>
              </a:rPr>
              <a:t>nhất</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định</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trong</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lịch</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sử</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khác</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nhau</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về</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quan</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hệ</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của</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họ</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thường</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thường</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thì</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những</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quan</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hệ</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này</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được</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pháp</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luật</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quy</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định</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và</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thừa</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nhận</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đối</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với</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những</a:t>
            </a:r>
            <a:r>
              <a:rPr lang="en-US" sz="2600" b="1" i="1" noProof="0" dirty="0">
                <a:ln>
                  <a:noFill/>
                </a:ln>
                <a:effectLst/>
                <a:uLnTx/>
                <a:uFillTx/>
                <a:latin typeface="Times New Roman" panose="02020603050405020304" pitchFamily="18" charset="0"/>
                <a:sym typeface="+mn-ea"/>
              </a:rPr>
              <a:t> TLSX, </a:t>
            </a:r>
            <a:r>
              <a:rPr lang="en-US" sz="2600" b="1" i="1" noProof="0" dirty="0" err="1">
                <a:ln>
                  <a:noFill/>
                </a:ln>
                <a:effectLst/>
                <a:uLnTx/>
                <a:uFillTx/>
                <a:latin typeface="Times New Roman" panose="02020603050405020304" pitchFamily="18" charset="0"/>
                <a:sym typeface="+mn-ea"/>
              </a:rPr>
              <a:t>về</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vai</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trò</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của</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họ</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trong</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tổ</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chức</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lao</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động</a:t>
            </a:r>
            <a:r>
              <a:rPr lang="en-US" sz="2600" b="1" i="1" noProof="0" dirty="0">
                <a:ln>
                  <a:noFill/>
                </a:ln>
                <a:effectLst/>
                <a:uLnTx/>
                <a:uFillTx/>
                <a:latin typeface="Times New Roman" panose="02020603050405020304" pitchFamily="18" charset="0"/>
                <a:sym typeface="+mn-ea"/>
              </a:rPr>
              <a:t> XH, </a:t>
            </a:r>
            <a:r>
              <a:rPr lang="en-US" sz="2600" b="1" i="1" noProof="0" dirty="0" err="1">
                <a:ln>
                  <a:noFill/>
                </a:ln>
                <a:effectLst/>
                <a:uLnTx/>
                <a:uFillTx/>
                <a:latin typeface="Times New Roman" panose="02020603050405020304" pitchFamily="18" charset="0"/>
                <a:sym typeface="+mn-ea"/>
              </a:rPr>
              <a:t>và</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như</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vậy</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là</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khác</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nhau</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về</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cách</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thức</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hưởng</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thụ</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và</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về</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phần</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của</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cải</a:t>
            </a:r>
            <a:r>
              <a:rPr lang="en-US" sz="2600" b="1" i="1" noProof="0" dirty="0">
                <a:ln>
                  <a:noFill/>
                </a:ln>
                <a:effectLst/>
                <a:uLnTx/>
                <a:uFillTx/>
                <a:latin typeface="Times New Roman" panose="02020603050405020304" pitchFamily="18" charset="0"/>
                <a:sym typeface="+mn-ea"/>
              </a:rPr>
              <a:t> XH </a:t>
            </a:r>
            <a:r>
              <a:rPr lang="en-US" sz="2600" b="1" i="1" noProof="0" dirty="0" err="1">
                <a:ln>
                  <a:noFill/>
                </a:ln>
                <a:effectLst/>
                <a:uLnTx/>
                <a:uFillTx/>
                <a:latin typeface="Times New Roman" panose="02020603050405020304" pitchFamily="18" charset="0"/>
                <a:sym typeface="+mn-ea"/>
              </a:rPr>
              <a:t>ít</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hoặc</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nhiều</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mà</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họ</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được</a:t>
            </a:r>
            <a:r>
              <a:rPr lang="en-US" sz="2600" b="1" i="1" noProof="0" dirty="0">
                <a:ln>
                  <a:noFill/>
                </a:ln>
                <a:effectLst/>
                <a:uLnTx/>
                <a:uFillTx/>
                <a:latin typeface="Times New Roman" panose="02020603050405020304" pitchFamily="18" charset="0"/>
                <a:sym typeface="+mn-ea"/>
              </a:rPr>
              <a:t> </a:t>
            </a:r>
            <a:r>
              <a:rPr lang="en-US" sz="2600" b="1" i="1" noProof="0" dirty="0" err="1">
                <a:ln>
                  <a:noFill/>
                </a:ln>
                <a:effectLst/>
                <a:uLnTx/>
                <a:uFillTx/>
                <a:latin typeface="Times New Roman" panose="02020603050405020304" pitchFamily="18" charset="0"/>
                <a:sym typeface="+mn-ea"/>
              </a:rPr>
              <a:t>hưởng</a:t>
            </a:r>
            <a:r>
              <a:rPr lang="en-US" sz="2600" b="1" noProof="0" dirty="0">
                <a:ln>
                  <a:noFill/>
                </a:ln>
                <a:effectLst/>
                <a:uLnTx/>
                <a:uFillTx/>
                <a:latin typeface="Times New Roman" panose="02020603050405020304" pitchFamily="18" charset="0"/>
                <a:sym typeface="+mn-ea"/>
              </a:rPr>
              <a:t>” </a:t>
            </a:r>
            <a:endParaRPr kumimoji="0" lang="en-US" sz="2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indent="0" algn="just">
              <a:buNone/>
            </a:pPr>
            <a:endParaRPr lang="vi-V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955675"/>
          </a:xfrm>
        </p:spPr>
        <p:txBody>
          <a:bodyPr/>
          <a:lstStyle/>
          <a:p>
            <a:pPr marL="457200" indent="-457200" algn="just">
              <a:buFont typeface="Wingdings" panose="05000000000000000000" charset="0"/>
              <a:buChar char="v"/>
            </a:pPr>
            <a:r>
              <a:rPr lang="en-US" altLang="en-US" sz="2800" b="1" i="1" dirty="0">
                <a:latin typeface="Times New Roman" panose="02020603050405020304" pitchFamily="18" charset="0"/>
                <a:sym typeface="+mn-ea"/>
              </a:rPr>
              <a:t>Ý nghĩa định nghĩa “giai cấp” của Lê-nin</a:t>
            </a:r>
            <a:r>
              <a:rPr lang="en-US" altLang="en-US" sz="2800" dirty="0">
                <a:latin typeface="Times New Roman" panose="02020603050405020304" pitchFamily="18" charset="0"/>
                <a:sym typeface="+mn-ea"/>
              </a:rPr>
              <a:t>:</a:t>
            </a:r>
            <a:endParaRPr lang="en-US" sz="280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320800"/>
            <a:ext cx="10515600" cy="4856480"/>
          </a:xfrm>
        </p:spPr>
        <p:txBody>
          <a:bodyPr>
            <a:normAutofit/>
          </a:bodyPr>
          <a:lstStyle/>
          <a:p>
            <a:pPr marL="0" lvl="0" indent="0" algn="just" eaLnBrk="1" hangingPunct="1">
              <a:lnSpc>
                <a:spcPct val="90000"/>
              </a:lnSpc>
              <a:spcBef>
                <a:spcPct val="0"/>
              </a:spcBef>
              <a:buClrTx/>
              <a:buSzTx/>
              <a:buFont typeface="Arial" panose="020B0604020202020204" pitchFamily="34" charset="0"/>
              <a:buNone/>
            </a:pPr>
            <a:endParaRPr lang="en-US" altLang="en-US" dirty="0">
              <a:latin typeface="Times New Roman" panose="02020603050405020304" pitchFamily="18" charset="0"/>
              <a:sym typeface="+mn-ea"/>
            </a:endParaRPr>
          </a:p>
          <a:p>
            <a:pPr lvl="0" algn="just" eaLnBrk="1" hangingPunct="1">
              <a:lnSpc>
                <a:spcPct val="90000"/>
              </a:lnSpc>
              <a:spcBef>
                <a:spcPct val="0"/>
              </a:spcBef>
              <a:buClrTx/>
              <a:buSzTx/>
              <a:buFont typeface="Arial" panose="020B0604020202020204" pitchFamily="34" charset="0"/>
              <a:buChar char="•"/>
            </a:pPr>
            <a:r>
              <a:rPr lang="en-US" altLang="en-US" dirty="0">
                <a:latin typeface="Times New Roman" panose="02020603050405020304" pitchFamily="18" charset="0"/>
                <a:sym typeface="+mn-ea"/>
              </a:rPr>
              <a:t>Định nghĩa đã vạch ra bản chất của xung đột giai cấp trong các XH có giai cấp đối kháng là do sự chiếm hữu tư nhân về TLSX.</a:t>
            </a:r>
            <a:endParaRPr lang="en-US" altLang="en-US" dirty="0">
              <a:latin typeface="Times New Roman" panose="02020603050405020304" pitchFamily="18" charset="0"/>
              <a:sym typeface="+mn-ea"/>
            </a:endParaRPr>
          </a:p>
          <a:p>
            <a:pPr marL="0" lvl="0" indent="0" algn="just" eaLnBrk="1" hangingPunct="1">
              <a:lnSpc>
                <a:spcPct val="90000"/>
              </a:lnSpc>
              <a:spcBef>
                <a:spcPct val="0"/>
              </a:spcBef>
              <a:buClrTx/>
              <a:buSzTx/>
              <a:buFont typeface="Arial" panose="020B0604020202020204" pitchFamily="34" charset="0"/>
              <a:buNone/>
            </a:pPr>
            <a:endParaRPr lang="en-US" altLang="en-US" dirty="0">
              <a:latin typeface="Times New Roman" panose="02020603050405020304" pitchFamily="18" charset="0"/>
              <a:sym typeface="+mn-ea"/>
            </a:endParaRPr>
          </a:p>
          <a:p>
            <a:pPr lvl="0" algn="just" eaLnBrk="1" hangingPunct="1">
              <a:lnSpc>
                <a:spcPct val="90000"/>
              </a:lnSpc>
              <a:spcBef>
                <a:spcPct val="0"/>
              </a:spcBef>
              <a:buClrTx/>
              <a:buSzTx/>
              <a:buFont typeface="Arial" panose="020B0604020202020204" pitchFamily="34" charset="0"/>
              <a:buChar char="•"/>
            </a:pPr>
            <a:r>
              <a:rPr lang="en-US" altLang="en-US" dirty="0">
                <a:latin typeface="Times New Roman" panose="02020603050405020304" pitchFamily="18" charset="0"/>
                <a:sym typeface="+mn-ea"/>
              </a:rPr>
              <a:t>Là định nghĩa khoa học có giá trị to lớn về lý luận và thực tiễn trong thời đại hiện nay. </a:t>
            </a:r>
            <a:endParaRPr lang="en-US" altLang="en-US" dirty="0">
              <a:latin typeface="Times New Roman" panose="02020603050405020304" pitchFamily="18" charset="0"/>
              <a:sym typeface="+mn-ea"/>
            </a:endParaRPr>
          </a:p>
          <a:p>
            <a:pPr marL="0" lvl="0" indent="0" algn="just" eaLnBrk="1" hangingPunct="1">
              <a:lnSpc>
                <a:spcPct val="90000"/>
              </a:lnSpc>
              <a:spcBef>
                <a:spcPct val="0"/>
              </a:spcBef>
              <a:buClrTx/>
              <a:buSzTx/>
              <a:buFont typeface="Arial" panose="020B0604020202020204" pitchFamily="34" charset="0"/>
              <a:buNone/>
            </a:pPr>
            <a:endParaRPr lang="en-US" altLang="en-US" dirty="0">
              <a:latin typeface="Times New Roman" panose="02020603050405020304" pitchFamily="18" charset="0"/>
              <a:sym typeface="+mn-ea"/>
            </a:endParaRPr>
          </a:p>
          <a:p>
            <a:pPr lvl="0" algn="just" eaLnBrk="1" hangingPunct="1">
              <a:lnSpc>
                <a:spcPct val="90000"/>
              </a:lnSpc>
              <a:spcBef>
                <a:spcPct val="0"/>
              </a:spcBef>
              <a:buClrTx/>
              <a:buSzTx/>
              <a:buFont typeface="Arial" panose="020B0604020202020204" pitchFamily="34" charset="0"/>
              <a:buChar char="•"/>
            </a:pPr>
            <a:r>
              <a:rPr lang="en-US" altLang="en-US" dirty="0">
                <a:latin typeface="Times New Roman" panose="02020603050405020304" pitchFamily="18" charset="0"/>
                <a:sym typeface="+mn-ea"/>
              </a:rPr>
              <a:t>Nó vạch ra con đường đúng đắn cho các Đảng CM trong thời đại ngày nay đi tới xây dựng XH CNCS không có áp bức, bóc lột và bất công.</a:t>
            </a:r>
            <a:endParaRPr lang="en-US" altLang="en-US" dirty="0">
              <a:latin typeface="Times New Roman" panose="02020603050405020304" pitchFamily="18" charset="0"/>
              <a:sym typeface="+mn-ea"/>
            </a:endParaRPr>
          </a:p>
          <a:p>
            <a:pPr marL="0" lvl="0" indent="0" algn="just" eaLnBrk="1" hangingPunct="1">
              <a:lnSpc>
                <a:spcPct val="90000"/>
              </a:lnSpc>
              <a:spcBef>
                <a:spcPct val="0"/>
              </a:spcBef>
              <a:buClrTx/>
              <a:buSzTx/>
              <a:buFont typeface="Arial" panose="020B0604020202020204" pitchFamily="34" charset="0"/>
              <a:buNone/>
            </a:pPr>
            <a:endParaRPr lang="en-US" altLang="en-US" dirty="0">
              <a:latin typeface="Times New Roman" panose="02020603050405020304" pitchFamily="18" charset="0"/>
              <a:sym typeface="+mn-ea"/>
            </a:endParaRPr>
          </a:p>
          <a:p>
            <a:pPr lvl="0" algn="just" eaLnBrk="1" hangingPunct="1">
              <a:lnSpc>
                <a:spcPct val="90000"/>
              </a:lnSpc>
              <a:spcBef>
                <a:spcPct val="0"/>
              </a:spcBef>
              <a:buClrTx/>
              <a:buSzTx/>
              <a:buFont typeface="Arial" panose="020B0604020202020204" pitchFamily="34" charset="0"/>
              <a:buChar char="•"/>
            </a:pPr>
            <a:r>
              <a:rPr lang="en-US" altLang="en-US" dirty="0">
                <a:latin typeface="Times New Roman" panose="02020603050405020304" pitchFamily="18" charset="0"/>
                <a:sym typeface="+mn-ea"/>
              </a:rPr>
              <a:t>Là cơ sở để bác bỏ quan điểm sai lầm về vấn đề giai cấp.</a:t>
            </a:r>
            <a:endParaRPr lang="en-US" altLang="en-US" dirty="0">
              <a:solidFill>
                <a:schemeClr val="tx1"/>
              </a:solidFill>
              <a:latin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68332"/>
          </a:xfrm>
        </p:spPr>
        <p:txBody>
          <a:bodyPr/>
          <a:lstStyle/>
          <a:p>
            <a:endParaRPr lang="en-US" dirty="0"/>
          </a:p>
        </p:txBody>
      </p:sp>
      <p:sp>
        <p:nvSpPr>
          <p:cNvPr id="3" name="Rectangle 2"/>
          <p:cNvSpPr/>
          <p:nvPr/>
        </p:nvSpPr>
        <p:spPr>
          <a:xfrm>
            <a:off x="1034143" y="576943"/>
            <a:ext cx="7837714"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Wingdings" panose="05000000000000000000" pitchFamily="2" charset="2"/>
              <a:buChar char="Ø"/>
            </a:pPr>
            <a:r>
              <a:rPr lang="en-US" sz="2000" b="1" noProof="0" dirty="0" err="1">
                <a:ln>
                  <a:noFill/>
                </a:ln>
                <a:effectLst/>
                <a:uLnTx/>
                <a:uFillTx/>
                <a:latin typeface="Times New Roman" panose="02020603050405020304" pitchFamily="18" charset="0"/>
                <a:ea typeface="+mn-ea"/>
                <a:cs typeface="+mn-cs"/>
                <a:sym typeface="+mn-ea"/>
              </a:rPr>
              <a:t>Như</a:t>
            </a:r>
            <a:r>
              <a:rPr lang="en-US" sz="2000" b="1" noProof="0" dirty="0">
                <a:ln>
                  <a:noFill/>
                </a:ln>
                <a:effectLst/>
                <a:uLnTx/>
                <a:uFillTx/>
                <a:latin typeface="Times New Roman" panose="02020603050405020304" pitchFamily="18" charset="0"/>
                <a:ea typeface="+mn-ea"/>
                <a:cs typeface="+mn-cs"/>
                <a:sym typeface="+mn-ea"/>
              </a:rPr>
              <a:t> </a:t>
            </a:r>
            <a:r>
              <a:rPr lang="en-US" sz="2000" b="1" noProof="0" dirty="0" err="1">
                <a:ln>
                  <a:noFill/>
                </a:ln>
                <a:effectLst/>
                <a:uLnTx/>
                <a:uFillTx/>
                <a:latin typeface="Times New Roman" panose="02020603050405020304" pitchFamily="18" charset="0"/>
                <a:ea typeface="+mn-ea"/>
                <a:cs typeface="+mn-cs"/>
                <a:sym typeface="+mn-ea"/>
              </a:rPr>
              <a:t>vậy</a:t>
            </a:r>
            <a:r>
              <a:rPr lang="en-US" sz="2000" b="1" noProof="0" dirty="0">
                <a:ln>
                  <a:noFill/>
                </a:ln>
                <a:effectLst/>
                <a:uLnTx/>
                <a:uFillTx/>
                <a:latin typeface="Times New Roman" panose="02020603050405020304" pitchFamily="18" charset="0"/>
                <a:ea typeface="+mn-ea"/>
                <a:cs typeface="+mn-cs"/>
                <a:sym typeface="+mn-ea"/>
              </a:rPr>
              <a:t>, </a:t>
            </a:r>
            <a:r>
              <a:rPr lang="en-US" sz="2000" noProof="0" dirty="0" err="1">
                <a:ln>
                  <a:noFill/>
                </a:ln>
                <a:effectLst/>
                <a:uLnTx/>
                <a:uFillTx/>
                <a:latin typeface="Times New Roman" panose="02020603050405020304" pitchFamily="18" charset="0"/>
                <a:ea typeface="+mn-ea"/>
                <a:cs typeface="+mn-cs"/>
                <a:sym typeface="+mn-ea"/>
              </a:rPr>
              <a:t>Sự</a:t>
            </a:r>
            <a:r>
              <a:rPr lang="en-US" sz="2000" noProof="0" dirty="0">
                <a:ln>
                  <a:noFill/>
                </a:ln>
                <a:effectLst/>
                <a:uLnTx/>
                <a:uFillTx/>
                <a:latin typeface="Times New Roman" panose="02020603050405020304" pitchFamily="18" charset="0"/>
                <a:ea typeface="+mn-ea"/>
                <a:cs typeface="+mn-cs"/>
                <a:sym typeface="+mn-ea"/>
              </a:rPr>
              <a:t> </a:t>
            </a:r>
            <a:r>
              <a:rPr lang="en-US" sz="2000" noProof="0" dirty="0" err="1">
                <a:ln>
                  <a:noFill/>
                </a:ln>
                <a:effectLst/>
                <a:uLnTx/>
                <a:uFillTx/>
                <a:latin typeface="Times New Roman" panose="02020603050405020304" pitchFamily="18" charset="0"/>
                <a:ea typeface="+mn-ea"/>
                <a:cs typeface="+mn-cs"/>
                <a:sym typeface="+mn-ea"/>
              </a:rPr>
              <a:t>ra</a:t>
            </a:r>
            <a:r>
              <a:rPr lang="en-US" sz="2000" noProof="0" dirty="0">
                <a:ln>
                  <a:noFill/>
                </a:ln>
                <a:effectLst/>
                <a:uLnTx/>
                <a:uFillTx/>
                <a:latin typeface="Times New Roman" panose="02020603050405020304" pitchFamily="18" charset="0"/>
                <a:ea typeface="+mn-ea"/>
                <a:cs typeface="+mn-cs"/>
                <a:sym typeface="+mn-ea"/>
              </a:rPr>
              <a:t> </a:t>
            </a:r>
            <a:r>
              <a:rPr lang="en-US" sz="2000" noProof="0" dirty="0" err="1">
                <a:ln>
                  <a:noFill/>
                </a:ln>
                <a:effectLst/>
                <a:uLnTx/>
                <a:uFillTx/>
                <a:latin typeface="Times New Roman" panose="02020603050405020304" pitchFamily="18" charset="0"/>
                <a:ea typeface="+mn-ea"/>
                <a:cs typeface="+mn-cs"/>
                <a:sym typeface="+mn-ea"/>
              </a:rPr>
              <a:t>đời</a:t>
            </a:r>
            <a:r>
              <a:rPr lang="en-US" sz="2000" noProof="0" dirty="0">
                <a:ln>
                  <a:noFill/>
                </a:ln>
                <a:effectLst/>
                <a:uLnTx/>
                <a:uFillTx/>
                <a:latin typeface="Times New Roman" panose="02020603050405020304" pitchFamily="18" charset="0"/>
                <a:ea typeface="+mn-ea"/>
                <a:cs typeface="+mn-cs"/>
                <a:sym typeface="+mn-ea"/>
              </a:rPr>
              <a:t>, </a:t>
            </a:r>
            <a:r>
              <a:rPr lang="en-US" sz="2000" noProof="0" dirty="0" err="1">
                <a:ln>
                  <a:noFill/>
                </a:ln>
                <a:effectLst/>
                <a:uLnTx/>
                <a:uFillTx/>
                <a:latin typeface="Times New Roman" panose="02020603050405020304" pitchFamily="18" charset="0"/>
                <a:ea typeface="+mn-ea"/>
                <a:cs typeface="+mn-cs"/>
                <a:sym typeface="+mn-ea"/>
              </a:rPr>
              <a:t>tồn</a:t>
            </a:r>
            <a:r>
              <a:rPr lang="en-US" sz="2000" noProof="0" dirty="0">
                <a:ln>
                  <a:noFill/>
                </a:ln>
                <a:effectLst/>
                <a:uLnTx/>
                <a:uFillTx/>
                <a:latin typeface="Times New Roman" panose="02020603050405020304" pitchFamily="18" charset="0"/>
                <a:ea typeface="+mn-ea"/>
                <a:cs typeface="+mn-cs"/>
                <a:sym typeface="+mn-ea"/>
              </a:rPr>
              <a:t> </a:t>
            </a:r>
            <a:r>
              <a:rPr lang="en-US" sz="2000" noProof="0" dirty="0" err="1">
                <a:ln>
                  <a:noFill/>
                </a:ln>
                <a:effectLst/>
                <a:uLnTx/>
                <a:uFillTx/>
                <a:latin typeface="Times New Roman" panose="02020603050405020304" pitchFamily="18" charset="0"/>
                <a:ea typeface="+mn-ea"/>
                <a:cs typeface="+mn-cs"/>
                <a:sym typeface="+mn-ea"/>
              </a:rPr>
              <a:t>tại</a:t>
            </a:r>
            <a:r>
              <a:rPr lang="en-US" sz="2000" noProof="0" dirty="0">
                <a:ln>
                  <a:noFill/>
                </a:ln>
                <a:effectLst/>
                <a:uLnTx/>
                <a:uFillTx/>
                <a:latin typeface="Times New Roman" panose="02020603050405020304" pitchFamily="18" charset="0"/>
                <a:ea typeface="+mn-ea"/>
                <a:cs typeface="+mn-cs"/>
                <a:sym typeface="+mn-ea"/>
              </a:rPr>
              <a:t> </a:t>
            </a:r>
            <a:r>
              <a:rPr lang="en-US" sz="2000" noProof="0" dirty="0" err="1">
                <a:ln>
                  <a:noFill/>
                </a:ln>
                <a:effectLst/>
                <a:uLnTx/>
                <a:uFillTx/>
                <a:latin typeface="Times New Roman" panose="02020603050405020304" pitchFamily="18" charset="0"/>
                <a:ea typeface="+mn-ea"/>
                <a:cs typeface="+mn-cs"/>
                <a:sym typeface="+mn-ea"/>
              </a:rPr>
              <a:t>của</a:t>
            </a:r>
            <a:r>
              <a:rPr lang="en-US" sz="2000" noProof="0" dirty="0">
                <a:ln>
                  <a:noFill/>
                </a:ln>
                <a:effectLst/>
                <a:uLnTx/>
                <a:uFillTx/>
                <a:latin typeface="Times New Roman" panose="02020603050405020304" pitchFamily="18" charset="0"/>
                <a:ea typeface="+mn-ea"/>
                <a:cs typeface="+mn-cs"/>
                <a:sym typeface="+mn-ea"/>
              </a:rPr>
              <a:t> </a:t>
            </a:r>
            <a:r>
              <a:rPr lang="en-US" sz="2000" noProof="0" dirty="0" err="1">
                <a:ln>
                  <a:noFill/>
                </a:ln>
                <a:effectLst/>
                <a:uLnTx/>
                <a:uFillTx/>
                <a:latin typeface="Times New Roman" panose="02020603050405020304" pitchFamily="18" charset="0"/>
                <a:ea typeface="+mn-ea"/>
                <a:cs typeface="+mn-cs"/>
                <a:sym typeface="+mn-ea"/>
              </a:rPr>
              <a:t>giai</a:t>
            </a:r>
            <a:r>
              <a:rPr lang="en-US" sz="2000" noProof="0" dirty="0">
                <a:ln>
                  <a:noFill/>
                </a:ln>
                <a:effectLst/>
                <a:uLnTx/>
                <a:uFillTx/>
                <a:latin typeface="Times New Roman" panose="02020603050405020304" pitchFamily="18" charset="0"/>
                <a:ea typeface="+mn-ea"/>
                <a:cs typeface="+mn-cs"/>
                <a:sym typeface="+mn-ea"/>
              </a:rPr>
              <a:t> </a:t>
            </a:r>
            <a:r>
              <a:rPr lang="en-US" sz="2000" noProof="0" dirty="0" err="1">
                <a:ln>
                  <a:noFill/>
                </a:ln>
                <a:effectLst/>
                <a:uLnTx/>
                <a:uFillTx/>
                <a:latin typeface="Times New Roman" panose="02020603050405020304" pitchFamily="18" charset="0"/>
                <a:ea typeface="+mn-ea"/>
                <a:cs typeface="+mn-cs"/>
                <a:sym typeface="+mn-ea"/>
              </a:rPr>
              <a:t>cấp</a:t>
            </a:r>
            <a:r>
              <a:rPr lang="en-US" sz="2000" noProof="0" dirty="0">
                <a:ln>
                  <a:noFill/>
                </a:ln>
                <a:effectLst/>
                <a:uLnTx/>
                <a:uFillTx/>
                <a:latin typeface="Times New Roman" panose="02020603050405020304" pitchFamily="18" charset="0"/>
                <a:ea typeface="+mn-ea"/>
                <a:cs typeface="+mn-cs"/>
                <a:sym typeface="+mn-ea"/>
              </a:rPr>
              <a:t> </a:t>
            </a:r>
            <a:r>
              <a:rPr lang="en-US" sz="2000" noProof="0" dirty="0" err="1">
                <a:ln>
                  <a:noFill/>
                </a:ln>
                <a:effectLst/>
                <a:uLnTx/>
                <a:uFillTx/>
                <a:latin typeface="Times New Roman" panose="02020603050405020304" pitchFamily="18" charset="0"/>
                <a:ea typeface="+mn-ea"/>
                <a:cs typeface="+mn-cs"/>
                <a:sym typeface="+mn-ea"/>
              </a:rPr>
              <a:t>gắn</a:t>
            </a:r>
            <a:r>
              <a:rPr lang="en-US" sz="2000" noProof="0" dirty="0">
                <a:ln>
                  <a:noFill/>
                </a:ln>
                <a:effectLst/>
                <a:uLnTx/>
                <a:uFillTx/>
                <a:latin typeface="Times New Roman" panose="02020603050405020304" pitchFamily="18" charset="0"/>
                <a:ea typeface="+mn-ea"/>
                <a:cs typeface="+mn-cs"/>
                <a:sym typeface="+mn-ea"/>
              </a:rPr>
              <a:t> </a:t>
            </a:r>
            <a:r>
              <a:rPr lang="en-US" sz="2000" noProof="0" dirty="0" err="1">
                <a:ln>
                  <a:noFill/>
                </a:ln>
                <a:effectLst/>
                <a:uLnTx/>
                <a:uFillTx/>
                <a:latin typeface="Times New Roman" panose="02020603050405020304" pitchFamily="18" charset="0"/>
                <a:ea typeface="+mn-ea"/>
                <a:cs typeface="+mn-cs"/>
                <a:sym typeface="+mn-ea"/>
              </a:rPr>
              <a:t>với</a:t>
            </a:r>
            <a:r>
              <a:rPr lang="en-US" sz="2000" noProof="0" dirty="0">
                <a:ln>
                  <a:noFill/>
                </a:ln>
                <a:effectLst/>
                <a:uLnTx/>
                <a:uFillTx/>
                <a:latin typeface="Times New Roman" panose="02020603050405020304" pitchFamily="18" charset="0"/>
                <a:ea typeface="+mn-ea"/>
                <a:cs typeface="+mn-cs"/>
                <a:sym typeface="+mn-ea"/>
              </a:rPr>
              <a:t>  </a:t>
            </a:r>
            <a:r>
              <a:rPr lang="vi-VN" sz="2000" noProof="0" dirty="0">
                <a:ln>
                  <a:noFill/>
                </a:ln>
                <a:effectLst/>
                <a:uLnTx/>
                <a:uFillTx/>
                <a:latin typeface="Times New Roman" panose="02020603050405020304" pitchFamily="18" charset="0"/>
                <a:ea typeface="+mn-ea"/>
                <a:cs typeface="+mn-cs"/>
                <a:sym typeface="+mn-ea"/>
              </a:rPr>
              <a:t>những </a:t>
            </a:r>
            <a:r>
              <a:rPr lang="en-US" sz="2000" noProof="0" dirty="0" err="1">
                <a:ln>
                  <a:noFill/>
                </a:ln>
                <a:effectLst/>
                <a:uLnTx/>
                <a:uFillTx/>
                <a:latin typeface="Times New Roman" panose="02020603050405020304" pitchFamily="18" charset="0"/>
                <a:ea typeface="+mn-ea"/>
                <a:cs typeface="+mn-cs"/>
                <a:sym typeface="+mn-ea"/>
              </a:rPr>
              <a:t>hệ</a:t>
            </a:r>
            <a:r>
              <a:rPr lang="en-US" sz="2000" noProof="0" dirty="0">
                <a:ln>
                  <a:noFill/>
                </a:ln>
                <a:effectLst/>
                <a:uLnTx/>
                <a:uFillTx/>
                <a:latin typeface="Times New Roman" panose="02020603050405020304" pitchFamily="18" charset="0"/>
                <a:ea typeface="+mn-ea"/>
                <a:cs typeface="+mn-cs"/>
                <a:sym typeface="+mn-ea"/>
              </a:rPr>
              <a:t> </a:t>
            </a:r>
            <a:r>
              <a:rPr lang="en-US" sz="2000" noProof="0" dirty="0" err="1">
                <a:ln>
                  <a:noFill/>
                </a:ln>
                <a:effectLst/>
                <a:uLnTx/>
                <a:uFillTx/>
                <a:latin typeface="Times New Roman" panose="02020603050405020304" pitchFamily="18" charset="0"/>
                <a:ea typeface="+mn-ea"/>
                <a:cs typeface="+mn-cs"/>
                <a:sym typeface="+mn-ea"/>
              </a:rPr>
              <a:t>thống</a:t>
            </a:r>
            <a:r>
              <a:rPr lang="en-US" sz="2000" noProof="0" dirty="0">
                <a:ln>
                  <a:noFill/>
                </a:ln>
                <a:effectLst/>
                <a:uLnTx/>
                <a:uFillTx/>
                <a:latin typeface="Times New Roman" panose="02020603050405020304" pitchFamily="18" charset="0"/>
                <a:ea typeface="+mn-ea"/>
                <a:cs typeface="+mn-cs"/>
                <a:sym typeface="+mn-ea"/>
              </a:rPr>
              <a:t> SX </a:t>
            </a:r>
            <a:r>
              <a:rPr lang="en-US" sz="2000" noProof="0" dirty="0" err="1">
                <a:ln>
                  <a:noFill/>
                </a:ln>
                <a:effectLst/>
                <a:uLnTx/>
                <a:uFillTx/>
                <a:latin typeface="Times New Roman" panose="02020603050405020304" pitchFamily="18" charset="0"/>
                <a:ea typeface="+mn-ea"/>
                <a:cs typeface="+mn-cs"/>
                <a:sym typeface="+mn-ea"/>
              </a:rPr>
              <a:t>nhất</a:t>
            </a:r>
            <a:r>
              <a:rPr lang="en-US" sz="2000" noProof="0" dirty="0">
                <a:ln>
                  <a:noFill/>
                </a:ln>
                <a:effectLst/>
                <a:uLnTx/>
                <a:uFillTx/>
                <a:latin typeface="Times New Roman" panose="02020603050405020304" pitchFamily="18" charset="0"/>
                <a:ea typeface="+mn-ea"/>
                <a:cs typeface="+mn-cs"/>
                <a:sym typeface="+mn-ea"/>
              </a:rPr>
              <a:t> </a:t>
            </a:r>
            <a:r>
              <a:rPr lang="en-US" sz="2000" noProof="0" dirty="0" err="1">
                <a:ln>
                  <a:noFill/>
                </a:ln>
                <a:effectLst/>
                <a:uLnTx/>
                <a:uFillTx/>
                <a:latin typeface="Times New Roman" panose="02020603050405020304" pitchFamily="18" charset="0"/>
                <a:ea typeface="+mn-ea"/>
                <a:cs typeface="+mn-cs"/>
                <a:sym typeface="+mn-ea"/>
              </a:rPr>
              <a:t>định</a:t>
            </a:r>
            <a:r>
              <a:rPr lang="en-US" sz="2000" noProof="0" dirty="0">
                <a:ln>
                  <a:noFill/>
                </a:ln>
                <a:effectLst/>
                <a:uLnTx/>
                <a:uFillTx/>
                <a:latin typeface="Times New Roman" panose="02020603050405020304" pitchFamily="18" charset="0"/>
                <a:ea typeface="+mn-ea"/>
                <a:cs typeface="+mn-cs"/>
                <a:sym typeface="+mn-ea"/>
              </a:rPr>
              <a:t>. </a:t>
            </a:r>
            <a:endParaRPr lang="en-US" sz="2000" dirty="0"/>
          </a:p>
        </p:txBody>
      </p:sp>
      <p:sp>
        <p:nvSpPr>
          <p:cNvPr id="4" name="Rectangle: Rounded Corners 3"/>
          <p:cNvSpPr/>
          <p:nvPr/>
        </p:nvSpPr>
        <p:spPr>
          <a:xfrm>
            <a:off x="1349830" y="2481943"/>
            <a:ext cx="1643742" cy="271054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noProof="0" dirty="0" err="1">
                <a:ln>
                  <a:noFill/>
                </a:ln>
                <a:effectLst/>
                <a:uLnTx/>
                <a:uFillTx/>
                <a:latin typeface="Times New Roman" panose="02020603050405020304" pitchFamily="18" charset="0"/>
                <a:ea typeface="+mn-ea"/>
                <a:cs typeface="+mn-cs"/>
                <a:sym typeface="+mn-ea"/>
              </a:rPr>
              <a:t>Sự</a:t>
            </a:r>
            <a:r>
              <a:rPr lang="en-US" sz="2000" b="1" noProof="0" dirty="0">
                <a:ln>
                  <a:noFill/>
                </a:ln>
                <a:effectLst/>
                <a:uLnTx/>
                <a:uFillTx/>
                <a:latin typeface="Times New Roman" panose="02020603050405020304" pitchFamily="18" charset="0"/>
                <a:ea typeface="+mn-ea"/>
                <a:cs typeface="+mn-cs"/>
                <a:sym typeface="+mn-ea"/>
              </a:rPr>
              <a:t> </a:t>
            </a:r>
            <a:r>
              <a:rPr lang="en-US" sz="2000" b="1" noProof="0" dirty="0" err="1">
                <a:ln>
                  <a:noFill/>
                </a:ln>
                <a:effectLst/>
                <a:uLnTx/>
                <a:uFillTx/>
                <a:latin typeface="Times New Roman" panose="02020603050405020304" pitchFamily="18" charset="0"/>
                <a:ea typeface="+mn-ea"/>
                <a:cs typeface="+mn-cs"/>
                <a:sym typeface="+mn-ea"/>
              </a:rPr>
              <a:t>khác</a:t>
            </a:r>
            <a:r>
              <a:rPr lang="en-US" sz="2000" b="1" noProof="0" dirty="0">
                <a:ln>
                  <a:noFill/>
                </a:ln>
                <a:effectLst/>
                <a:uLnTx/>
                <a:uFillTx/>
                <a:latin typeface="Times New Roman" panose="02020603050405020304" pitchFamily="18" charset="0"/>
                <a:ea typeface="+mn-ea"/>
                <a:cs typeface="+mn-cs"/>
                <a:sym typeface="+mn-ea"/>
              </a:rPr>
              <a:t> </a:t>
            </a:r>
            <a:r>
              <a:rPr lang="en-US" sz="2000" b="1" noProof="0" dirty="0" err="1">
                <a:ln>
                  <a:noFill/>
                </a:ln>
                <a:effectLst/>
                <a:uLnTx/>
                <a:uFillTx/>
                <a:latin typeface="Times New Roman" panose="02020603050405020304" pitchFamily="18" charset="0"/>
                <a:ea typeface="+mn-ea"/>
                <a:cs typeface="+mn-cs"/>
                <a:sym typeface="+mn-ea"/>
              </a:rPr>
              <a:t>nhau</a:t>
            </a:r>
            <a:r>
              <a:rPr lang="en-US" sz="2000" b="1" noProof="0" dirty="0">
                <a:ln>
                  <a:noFill/>
                </a:ln>
                <a:effectLst/>
                <a:uLnTx/>
                <a:uFillTx/>
                <a:latin typeface="Times New Roman" panose="02020603050405020304" pitchFamily="18" charset="0"/>
                <a:ea typeface="+mn-ea"/>
                <a:cs typeface="+mn-cs"/>
                <a:sym typeface="+mn-ea"/>
              </a:rPr>
              <a:t> </a:t>
            </a:r>
            <a:r>
              <a:rPr lang="en-US" sz="2000" b="1" noProof="0" dirty="0" err="1">
                <a:ln>
                  <a:noFill/>
                </a:ln>
                <a:effectLst/>
                <a:uLnTx/>
                <a:uFillTx/>
                <a:latin typeface="Times New Roman" panose="02020603050405020304" pitchFamily="18" charset="0"/>
                <a:ea typeface="+mn-ea"/>
                <a:cs typeface="+mn-cs"/>
                <a:sym typeface="+mn-ea"/>
              </a:rPr>
              <a:t>về</a:t>
            </a:r>
            <a:r>
              <a:rPr lang="en-US" sz="2000" b="1" noProof="0" dirty="0">
                <a:ln>
                  <a:noFill/>
                </a:ln>
                <a:effectLst/>
                <a:uLnTx/>
                <a:uFillTx/>
                <a:latin typeface="Times New Roman" panose="02020603050405020304" pitchFamily="18" charset="0"/>
                <a:ea typeface="+mn-ea"/>
                <a:cs typeface="+mn-cs"/>
                <a:sym typeface="+mn-ea"/>
              </a:rPr>
              <a:t> </a:t>
            </a:r>
            <a:r>
              <a:rPr lang="en-US" sz="2000" b="1" noProof="0" dirty="0" err="1">
                <a:ln>
                  <a:noFill/>
                </a:ln>
                <a:effectLst/>
                <a:uLnTx/>
                <a:uFillTx/>
                <a:latin typeface="Times New Roman" panose="02020603050405020304" pitchFamily="18" charset="0"/>
                <a:ea typeface="+mn-ea"/>
                <a:cs typeface="+mn-cs"/>
                <a:sym typeface="+mn-ea"/>
              </a:rPr>
              <a:t>địa</a:t>
            </a:r>
            <a:r>
              <a:rPr lang="en-US" sz="2000" b="1" noProof="0" dirty="0">
                <a:ln>
                  <a:noFill/>
                </a:ln>
                <a:effectLst/>
                <a:uLnTx/>
                <a:uFillTx/>
                <a:latin typeface="Times New Roman" panose="02020603050405020304" pitchFamily="18" charset="0"/>
                <a:ea typeface="+mn-ea"/>
                <a:cs typeface="+mn-cs"/>
                <a:sym typeface="+mn-ea"/>
              </a:rPr>
              <a:t> </a:t>
            </a:r>
            <a:r>
              <a:rPr lang="en-US" sz="2000" b="1" noProof="0" dirty="0" err="1">
                <a:ln>
                  <a:noFill/>
                </a:ln>
                <a:effectLst/>
                <a:uLnTx/>
                <a:uFillTx/>
                <a:latin typeface="Times New Roman" panose="02020603050405020304" pitchFamily="18" charset="0"/>
                <a:ea typeface="+mn-ea"/>
                <a:cs typeface="+mn-cs"/>
                <a:sym typeface="+mn-ea"/>
              </a:rPr>
              <a:t>vị</a:t>
            </a:r>
            <a:r>
              <a:rPr lang="en-US" sz="2000" b="1" noProof="0" dirty="0">
                <a:ln>
                  <a:noFill/>
                </a:ln>
                <a:effectLst/>
                <a:uLnTx/>
                <a:uFillTx/>
                <a:latin typeface="Times New Roman" panose="02020603050405020304" pitchFamily="18" charset="0"/>
                <a:ea typeface="+mn-ea"/>
                <a:cs typeface="+mn-cs"/>
                <a:sym typeface="+mn-ea"/>
              </a:rPr>
              <a:t> </a:t>
            </a:r>
            <a:r>
              <a:rPr lang="en-US" sz="2000" b="1" noProof="0" dirty="0" err="1">
                <a:ln>
                  <a:noFill/>
                </a:ln>
                <a:effectLst/>
                <a:uLnTx/>
                <a:uFillTx/>
                <a:latin typeface="Times New Roman" panose="02020603050405020304" pitchFamily="18" charset="0"/>
                <a:ea typeface="+mn-ea"/>
                <a:cs typeface="+mn-cs"/>
                <a:sym typeface="+mn-ea"/>
              </a:rPr>
              <a:t>của</a:t>
            </a:r>
            <a:r>
              <a:rPr lang="en-US" sz="2000" b="1" noProof="0" dirty="0">
                <a:ln>
                  <a:noFill/>
                </a:ln>
                <a:effectLst/>
                <a:uLnTx/>
                <a:uFillTx/>
                <a:latin typeface="Times New Roman" panose="02020603050405020304" pitchFamily="18" charset="0"/>
                <a:ea typeface="+mn-ea"/>
                <a:cs typeface="+mn-cs"/>
                <a:sym typeface="+mn-ea"/>
              </a:rPr>
              <a:t> </a:t>
            </a:r>
            <a:r>
              <a:rPr lang="en-US" sz="2000" b="1" noProof="0" dirty="0" err="1">
                <a:ln>
                  <a:noFill/>
                </a:ln>
                <a:effectLst/>
                <a:uLnTx/>
                <a:uFillTx/>
                <a:latin typeface="Times New Roman" panose="02020603050405020304" pitchFamily="18" charset="0"/>
                <a:ea typeface="+mn-ea"/>
                <a:cs typeface="+mn-cs"/>
                <a:sym typeface="+mn-ea"/>
              </a:rPr>
              <a:t>giai</a:t>
            </a:r>
            <a:r>
              <a:rPr lang="en-US" sz="2000" b="1" noProof="0" dirty="0">
                <a:ln>
                  <a:noFill/>
                </a:ln>
                <a:effectLst/>
                <a:uLnTx/>
                <a:uFillTx/>
                <a:latin typeface="Times New Roman" panose="02020603050405020304" pitchFamily="18" charset="0"/>
                <a:ea typeface="+mn-ea"/>
                <a:cs typeface="+mn-cs"/>
                <a:sym typeface="+mn-ea"/>
              </a:rPr>
              <a:t> </a:t>
            </a:r>
            <a:r>
              <a:rPr lang="en-US" sz="2000" b="1" noProof="0" dirty="0" err="1">
                <a:ln>
                  <a:noFill/>
                </a:ln>
                <a:effectLst/>
                <a:uLnTx/>
                <a:uFillTx/>
                <a:latin typeface="Times New Roman" panose="02020603050405020304" pitchFamily="18" charset="0"/>
                <a:ea typeface="+mn-ea"/>
                <a:cs typeface="+mn-cs"/>
                <a:sym typeface="+mn-ea"/>
              </a:rPr>
              <a:t>cấp</a:t>
            </a:r>
            <a:r>
              <a:rPr lang="en-US" sz="2000" b="1" noProof="0" dirty="0">
                <a:ln>
                  <a:noFill/>
                </a:ln>
                <a:effectLst/>
                <a:uLnTx/>
                <a:uFillTx/>
                <a:latin typeface="Times New Roman" panose="02020603050405020304" pitchFamily="18" charset="0"/>
                <a:ea typeface="+mn-ea"/>
                <a:cs typeface="+mn-cs"/>
                <a:sym typeface="+mn-ea"/>
              </a:rPr>
              <a:t> </a:t>
            </a:r>
            <a:r>
              <a:rPr lang="en-US" sz="2000" b="1" noProof="0" dirty="0" err="1">
                <a:ln>
                  <a:noFill/>
                </a:ln>
                <a:effectLst/>
                <a:uLnTx/>
                <a:uFillTx/>
                <a:latin typeface="Times New Roman" panose="02020603050405020304" pitchFamily="18" charset="0"/>
                <a:ea typeface="+mn-ea"/>
                <a:cs typeface="+mn-cs"/>
                <a:sym typeface="+mn-ea"/>
              </a:rPr>
              <a:t>trong</a:t>
            </a:r>
            <a:r>
              <a:rPr lang="en-US" sz="2000" b="1" noProof="0" dirty="0">
                <a:ln>
                  <a:noFill/>
                </a:ln>
                <a:effectLst/>
                <a:uLnTx/>
                <a:uFillTx/>
                <a:latin typeface="Times New Roman" panose="02020603050405020304" pitchFamily="18" charset="0"/>
                <a:ea typeface="+mn-ea"/>
                <a:cs typeface="+mn-cs"/>
                <a:sym typeface="+mn-ea"/>
              </a:rPr>
              <a:t> </a:t>
            </a:r>
            <a:r>
              <a:rPr lang="en-US" sz="2000" b="1" noProof="0" dirty="0" err="1">
                <a:ln>
                  <a:noFill/>
                </a:ln>
                <a:effectLst/>
                <a:uLnTx/>
                <a:uFillTx/>
                <a:latin typeface="Times New Roman" panose="02020603050405020304" pitchFamily="18" charset="0"/>
                <a:ea typeface="+mn-ea"/>
                <a:cs typeface="+mn-cs"/>
                <a:sym typeface="+mn-ea"/>
              </a:rPr>
              <a:t>hệ</a:t>
            </a:r>
            <a:r>
              <a:rPr lang="en-US" sz="2000" b="1" noProof="0" dirty="0">
                <a:ln>
                  <a:noFill/>
                </a:ln>
                <a:effectLst/>
                <a:uLnTx/>
                <a:uFillTx/>
                <a:latin typeface="Times New Roman" panose="02020603050405020304" pitchFamily="18" charset="0"/>
                <a:ea typeface="+mn-ea"/>
                <a:cs typeface="+mn-cs"/>
                <a:sym typeface="+mn-ea"/>
              </a:rPr>
              <a:t> </a:t>
            </a:r>
            <a:r>
              <a:rPr lang="en-US" sz="2000" b="1" noProof="0" dirty="0" err="1">
                <a:ln>
                  <a:noFill/>
                </a:ln>
                <a:effectLst/>
                <a:uLnTx/>
                <a:uFillTx/>
                <a:latin typeface="Times New Roman" panose="02020603050405020304" pitchFamily="18" charset="0"/>
                <a:ea typeface="+mn-ea"/>
                <a:cs typeface="+mn-cs"/>
                <a:sym typeface="+mn-ea"/>
              </a:rPr>
              <a:t>thống</a:t>
            </a:r>
            <a:r>
              <a:rPr lang="en-US" sz="2000" b="1" noProof="0" dirty="0">
                <a:ln>
                  <a:noFill/>
                </a:ln>
                <a:effectLst/>
                <a:uLnTx/>
                <a:uFillTx/>
                <a:latin typeface="Times New Roman" panose="02020603050405020304" pitchFamily="18" charset="0"/>
                <a:ea typeface="+mn-ea"/>
                <a:cs typeface="+mn-cs"/>
                <a:sym typeface="+mn-ea"/>
              </a:rPr>
              <a:t> SX </a:t>
            </a:r>
            <a:r>
              <a:rPr lang="en-US" sz="2000" b="1" noProof="0" dirty="0" err="1">
                <a:ln>
                  <a:noFill/>
                </a:ln>
                <a:effectLst/>
                <a:uLnTx/>
                <a:uFillTx/>
                <a:latin typeface="Times New Roman" panose="02020603050405020304" pitchFamily="18" charset="0"/>
                <a:ea typeface="+mn-ea"/>
                <a:cs typeface="+mn-cs"/>
                <a:sym typeface="+mn-ea"/>
              </a:rPr>
              <a:t>là</a:t>
            </a:r>
            <a:r>
              <a:rPr lang="en-US" sz="2000" b="1" noProof="0" dirty="0">
                <a:ln>
                  <a:noFill/>
                </a:ln>
                <a:effectLst/>
                <a:uLnTx/>
                <a:uFillTx/>
                <a:latin typeface="Times New Roman" panose="02020603050405020304" pitchFamily="18" charset="0"/>
                <a:ea typeface="+mn-ea"/>
                <a:cs typeface="+mn-cs"/>
                <a:sym typeface="+mn-ea"/>
              </a:rPr>
              <a:t> do </a:t>
            </a:r>
            <a:r>
              <a:rPr lang="en-US" sz="2000" b="1" noProof="0" dirty="0" err="1">
                <a:ln>
                  <a:noFill/>
                </a:ln>
                <a:effectLst/>
                <a:uLnTx/>
                <a:uFillTx/>
                <a:latin typeface="Times New Roman" panose="02020603050405020304" pitchFamily="18" charset="0"/>
                <a:ea typeface="+mn-ea"/>
                <a:cs typeface="+mn-cs"/>
                <a:sym typeface="+mn-ea"/>
              </a:rPr>
              <a:t>những</a:t>
            </a:r>
            <a:r>
              <a:rPr lang="en-US" sz="2000" b="1" noProof="0" dirty="0">
                <a:ln>
                  <a:noFill/>
                </a:ln>
                <a:effectLst/>
                <a:uLnTx/>
                <a:uFillTx/>
                <a:latin typeface="Times New Roman" panose="02020603050405020304" pitchFamily="18" charset="0"/>
                <a:ea typeface="+mn-ea"/>
                <a:cs typeface="+mn-cs"/>
                <a:sym typeface="+mn-ea"/>
              </a:rPr>
              <a:t> </a:t>
            </a:r>
            <a:r>
              <a:rPr lang="en-US" sz="2000" b="1" noProof="0" dirty="0" err="1">
                <a:ln>
                  <a:noFill/>
                </a:ln>
                <a:effectLst/>
                <a:uLnTx/>
                <a:uFillTx/>
                <a:latin typeface="Times New Roman" panose="02020603050405020304" pitchFamily="18" charset="0"/>
                <a:ea typeface="+mn-ea"/>
                <a:cs typeface="+mn-cs"/>
                <a:sym typeface="+mn-ea"/>
              </a:rPr>
              <a:t>đặc</a:t>
            </a:r>
            <a:r>
              <a:rPr lang="en-US" sz="2000" b="1" noProof="0" dirty="0">
                <a:ln>
                  <a:noFill/>
                </a:ln>
                <a:effectLst/>
                <a:uLnTx/>
                <a:uFillTx/>
                <a:latin typeface="Times New Roman" panose="02020603050405020304" pitchFamily="18" charset="0"/>
                <a:ea typeface="+mn-ea"/>
                <a:cs typeface="+mn-cs"/>
                <a:sym typeface="+mn-ea"/>
              </a:rPr>
              <a:t> </a:t>
            </a:r>
            <a:r>
              <a:rPr lang="en-US" sz="2000" b="1" noProof="0" dirty="0" err="1">
                <a:ln>
                  <a:noFill/>
                </a:ln>
                <a:effectLst/>
                <a:uLnTx/>
                <a:uFillTx/>
                <a:latin typeface="Times New Roman" panose="02020603050405020304" pitchFamily="18" charset="0"/>
                <a:ea typeface="+mn-ea"/>
                <a:cs typeface="+mn-cs"/>
                <a:sym typeface="+mn-ea"/>
              </a:rPr>
              <a:t>trưng</a:t>
            </a:r>
            <a:r>
              <a:rPr lang="en-US" sz="2000" b="1" noProof="0" dirty="0">
                <a:ln>
                  <a:noFill/>
                </a:ln>
                <a:effectLst/>
                <a:uLnTx/>
                <a:uFillTx/>
                <a:latin typeface="Times New Roman" panose="02020603050405020304" pitchFamily="18" charset="0"/>
                <a:ea typeface="+mn-ea"/>
                <a:cs typeface="+mn-cs"/>
                <a:sym typeface="+mn-ea"/>
              </a:rPr>
              <a:t> </a:t>
            </a:r>
            <a:r>
              <a:rPr lang="en-US" sz="2000" b="1" noProof="0" dirty="0" err="1">
                <a:ln>
                  <a:noFill/>
                </a:ln>
                <a:effectLst/>
                <a:uLnTx/>
                <a:uFillTx/>
                <a:latin typeface="Times New Roman" panose="02020603050405020304" pitchFamily="18" charset="0"/>
                <a:ea typeface="+mn-ea"/>
                <a:cs typeface="+mn-cs"/>
                <a:sym typeface="+mn-ea"/>
              </a:rPr>
              <a:t>sau</a:t>
            </a:r>
            <a:r>
              <a:rPr lang="en-US" sz="2000" noProof="0" dirty="0">
                <a:ln>
                  <a:noFill/>
                </a:ln>
                <a:effectLst/>
                <a:uLnTx/>
                <a:uFillTx/>
                <a:latin typeface="Times New Roman" panose="02020603050405020304" pitchFamily="18" charset="0"/>
                <a:ea typeface="+mn-ea"/>
                <a:cs typeface="+mn-cs"/>
                <a:sym typeface="+mn-ea"/>
              </a:rPr>
              <a:t>:</a:t>
            </a:r>
            <a:endParaRPr lang="en-US" sz="2000" dirty="0"/>
          </a:p>
        </p:txBody>
      </p:sp>
      <p:sp>
        <p:nvSpPr>
          <p:cNvPr id="5" name="Oval 4"/>
          <p:cNvSpPr/>
          <p:nvPr/>
        </p:nvSpPr>
        <p:spPr>
          <a:xfrm>
            <a:off x="4180114" y="1937657"/>
            <a:ext cx="5889172" cy="10885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dirty="0">
                <a:latin typeface="Times New Roman" panose="02020603050405020304" pitchFamily="18" charset="0"/>
                <a:cs typeface="Times New Roman" panose="02020603050405020304" pitchFamily="18" charset="0"/>
              </a:rPr>
              <a:t>- Khác nhau về quan hệ của họ đối với việc sở hữu những TLSX  của xã hội </a:t>
            </a:r>
            <a:endParaRPr lang="en-US" sz="2000" dirty="0">
              <a:latin typeface="Times New Roman" panose="02020603050405020304" pitchFamily="18" charset="0"/>
              <a:cs typeface="Times New Roman" panose="02020603050405020304" pitchFamily="18" charset="0"/>
            </a:endParaRPr>
          </a:p>
        </p:txBody>
      </p:sp>
      <p:sp>
        <p:nvSpPr>
          <p:cNvPr id="6" name="Oval 5"/>
          <p:cNvSpPr/>
          <p:nvPr/>
        </p:nvSpPr>
        <p:spPr>
          <a:xfrm>
            <a:off x="4180114" y="3227615"/>
            <a:ext cx="6041572" cy="10885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1800" dirty="0">
                <a:latin typeface="Times New Roman" panose="02020603050405020304" pitchFamily="18" charset="0"/>
                <a:cs typeface="Times New Roman" panose="02020603050405020304" pitchFamily="18" charset="0"/>
              </a:rPr>
              <a:t>- Khác nhau về vai trò của họ trong tổ chức, quản lý sản xuất, tổ chức quản lý lao động </a:t>
            </a:r>
            <a:endParaRPr lang="en-US" dirty="0"/>
          </a:p>
        </p:txBody>
      </p:sp>
      <p:sp>
        <p:nvSpPr>
          <p:cNvPr id="7" name="Oval 6"/>
          <p:cNvSpPr/>
          <p:nvPr/>
        </p:nvSpPr>
        <p:spPr>
          <a:xfrm>
            <a:off x="4103914" y="4517573"/>
            <a:ext cx="5889172" cy="101237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sz="1800" dirty="0">
                <a:latin typeface="Times New Roman" panose="02020603050405020304" pitchFamily="18" charset="0"/>
                <a:cs typeface="Times New Roman" panose="02020603050405020304" pitchFamily="18" charset="0"/>
              </a:rPr>
              <a:t>- Khác nhau về phương thức và quy mô thu nhập</a:t>
            </a:r>
            <a:endParaRPr lang="en-US" dirty="0"/>
          </a:p>
        </p:txBody>
      </p:sp>
      <p:cxnSp>
        <p:nvCxnSpPr>
          <p:cNvPr id="9" name="Straight Arrow Connector 8"/>
          <p:cNvCxnSpPr>
            <a:stCxn id="4" idx="3"/>
            <a:endCxn id="5" idx="2"/>
          </p:cNvCxnSpPr>
          <p:nvPr/>
        </p:nvCxnSpPr>
        <p:spPr>
          <a:xfrm flipV="1">
            <a:off x="2993572" y="2481943"/>
            <a:ext cx="1186542" cy="13552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a:stCxn id="4" idx="3"/>
            <a:endCxn id="6" idx="2"/>
          </p:cNvCxnSpPr>
          <p:nvPr/>
        </p:nvCxnSpPr>
        <p:spPr>
          <a:xfrm flipV="1">
            <a:off x="2993572" y="3771901"/>
            <a:ext cx="1186542" cy="653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a:stCxn id="4" idx="3"/>
            <a:endCxn id="7" idx="2"/>
          </p:cNvCxnSpPr>
          <p:nvPr/>
        </p:nvCxnSpPr>
        <p:spPr>
          <a:xfrm>
            <a:off x="2993572" y="3837215"/>
            <a:ext cx="1110342" cy="11865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61257"/>
            <a:ext cx="10515600" cy="707573"/>
          </a:xfrm>
        </p:spPr>
        <p:txBody>
          <a:bodyPr>
            <a:normAutofit/>
          </a:bodyPr>
          <a:lstStyle/>
          <a:p>
            <a:pPr marL="571500" indent="-571500">
              <a:buFont typeface="Wingdings" panose="05000000000000000000" pitchFamily="2" charset="2"/>
              <a:buChar char="v"/>
            </a:pPr>
            <a:r>
              <a:rPr lang="en-US" sz="4400" b="1" i="1" noProof="0" dirty="0" err="1">
                <a:ln>
                  <a:noFill/>
                </a:ln>
                <a:effectLst/>
                <a:uLnTx/>
                <a:uFillTx/>
                <a:latin typeface="Times New Roman" panose="02020603050405020304" pitchFamily="18" charset="0"/>
                <a:ea typeface="+mn-ea"/>
                <a:cs typeface="+mn-cs"/>
                <a:sym typeface="+mn-ea"/>
              </a:rPr>
              <a:t>Nguồn</a:t>
            </a:r>
            <a:r>
              <a:rPr lang="en-US" sz="4400" b="1" i="1" noProof="0" dirty="0">
                <a:ln>
                  <a:noFill/>
                </a:ln>
                <a:effectLst/>
                <a:uLnTx/>
                <a:uFillTx/>
                <a:latin typeface="Times New Roman" panose="02020603050405020304" pitchFamily="18" charset="0"/>
                <a:ea typeface="+mn-ea"/>
                <a:cs typeface="+mn-cs"/>
                <a:sym typeface="+mn-ea"/>
              </a:rPr>
              <a:t> </a:t>
            </a:r>
            <a:r>
              <a:rPr lang="en-US" sz="4400" b="1" i="1" noProof="0" dirty="0" err="1">
                <a:ln>
                  <a:noFill/>
                </a:ln>
                <a:effectLst/>
                <a:uLnTx/>
                <a:uFillTx/>
                <a:latin typeface="Times New Roman" panose="02020603050405020304" pitchFamily="18" charset="0"/>
                <a:ea typeface="+mn-ea"/>
                <a:cs typeface="+mn-cs"/>
                <a:sym typeface="+mn-ea"/>
              </a:rPr>
              <a:t>gốc</a:t>
            </a:r>
            <a:r>
              <a:rPr lang="en-US" sz="4400" b="1" i="1" noProof="0" dirty="0">
                <a:ln>
                  <a:noFill/>
                </a:ln>
                <a:effectLst/>
                <a:uLnTx/>
                <a:uFillTx/>
                <a:latin typeface="Times New Roman" panose="02020603050405020304" pitchFamily="18" charset="0"/>
                <a:ea typeface="+mn-ea"/>
                <a:cs typeface="+mn-cs"/>
                <a:sym typeface="+mn-ea"/>
              </a:rPr>
              <a:t> </a:t>
            </a:r>
            <a:r>
              <a:rPr lang="en-US" sz="4400" b="1" i="1" noProof="0" dirty="0" err="1">
                <a:ln>
                  <a:noFill/>
                </a:ln>
                <a:effectLst/>
                <a:uLnTx/>
                <a:uFillTx/>
                <a:latin typeface="Times New Roman" panose="02020603050405020304" pitchFamily="18" charset="0"/>
                <a:ea typeface="+mn-ea"/>
                <a:cs typeface="+mn-cs"/>
                <a:sym typeface="+mn-ea"/>
              </a:rPr>
              <a:t>giai</a:t>
            </a:r>
            <a:r>
              <a:rPr lang="en-US" sz="4400" b="1" i="1" noProof="0" dirty="0">
                <a:ln>
                  <a:noFill/>
                </a:ln>
                <a:effectLst/>
                <a:uLnTx/>
                <a:uFillTx/>
                <a:latin typeface="Times New Roman" panose="02020603050405020304" pitchFamily="18" charset="0"/>
                <a:ea typeface="+mn-ea"/>
                <a:cs typeface="+mn-cs"/>
                <a:sym typeface="+mn-ea"/>
              </a:rPr>
              <a:t> </a:t>
            </a:r>
            <a:r>
              <a:rPr lang="en-US" sz="4400" b="1" i="1" noProof="0" dirty="0" err="1">
                <a:ln>
                  <a:noFill/>
                </a:ln>
                <a:effectLst/>
                <a:uLnTx/>
                <a:uFillTx/>
                <a:latin typeface="Times New Roman" panose="02020603050405020304" pitchFamily="18" charset="0"/>
                <a:ea typeface="+mn-ea"/>
                <a:cs typeface="+mn-cs"/>
                <a:sym typeface="+mn-ea"/>
              </a:rPr>
              <a:t>cấp</a:t>
            </a:r>
            <a:r>
              <a:rPr lang="en-US" sz="4400" b="1" i="1" noProof="0" dirty="0">
                <a:ln>
                  <a:noFill/>
                </a:ln>
                <a:effectLst/>
                <a:uLnTx/>
                <a:uFillTx/>
                <a:latin typeface="Times New Roman" panose="02020603050405020304" pitchFamily="18" charset="0"/>
                <a:ea typeface="+mn-ea"/>
                <a:cs typeface="+mn-cs"/>
                <a:sym typeface="+mn-ea"/>
              </a:rPr>
              <a:t>:</a:t>
            </a:r>
            <a:endParaRPr lang="en-US" dirty="0"/>
          </a:p>
        </p:txBody>
      </p:sp>
      <p:sp>
        <p:nvSpPr>
          <p:cNvPr id="3" name="Content Placeholder 2"/>
          <p:cNvSpPr>
            <a:spLocks noGrp="1"/>
          </p:cNvSpPr>
          <p:nvPr>
            <p:ph idx="1"/>
          </p:nvPr>
        </p:nvSpPr>
        <p:spPr>
          <a:xfrm>
            <a:off x="838200" y="1110344"/>
            <a:ext cx="10515600" cy="5066620"/>
          </a:xfrm>
        </p:spPr>
        <p:txBody>
          <a:bodyPr/>
          <a:lstStyle/>
          <a:p>
            <a:pPr marL="0" indent="0">
              <a:buNone/>
            </a:pPr>
            <a:endParaRPr lang="en-US" dirty="0"/>
          </a:p>
        </p:txBody>
      </p:sp>
      <p:sp>
        <p:nvSpPr>
          <p:cNvPr id="4" name="Rectangle: Single Corner Snipped 3"/>
          <p:cNvSpPr/>
          <p:nvPr/>
        </p:nvSpPr>
        <p:spPr>
          <a:xfrm>
            <a:off x="914400" y="1404257"/>
            <a:ext cx="7565571" cy="1121229"/>
          </a:xfrm>
          <a:prstGeom prst="snip1Rect">
            <a:avLst/>
          </a:prstGeom>
        </p:spPr>
        <p:style>
          <a:lnRef idx="2">
            <a:schemeClr val="accent6"/>
          </a:lnRef>
          <a:fillRef idx="1">
            <a:schemeClr val="lt1"/>
          </a:fillRef>
          <a:effectRef idx="0">
            <a:schemeClr val="accent6"/>
          </a:effectRef>
          <a:fontRef idx="minor">
            <a:schemeClr val="dk1"/>
          </a:fontRef>
        </p:style>
        <p:txBody>
          <a:bodyPr rtlCol="0" anchor="ctr"/>
          <a:lstStyle/>
          <a:p>
            <a:pPr marR="0" lvl="0" algn="just" defTabSz="914400" rtl="0" eaLnBrk="1" fontAlgn="auto" latinLnBrk="0" hangingPunct="1">
              <a:lnSpc>
                <a:spcPct val="100000"/>
              </a:lnSpc>
              <a:spcBef>
                <a:spcPts val="1200"/>
              </a:spcBef>
              <a:spcAft>
                <a:spcPts val="1200"/>
              </a:spcAft>
              <a:buClr>
                <a:schemeClr val="accent1"/>
              </a:buClr>
              <a:buSzPct val="100000"/>
              <a:buFont typeface="Wingdings" panose="05000000000000000000" charset="0"/>
              <a:buChar char="Ø"/>
              <a:defRPr/>
            </a:pPr>
            <a:r>
              <a:rPr lang="en-US" sz="2200" noProof="0" dirty="0" err="1">
                <a:ln>
                  <a:noFill/>
                </a:ln>
                <a:effectLst/>
                <a:uLnTx/>
                <a:uFillTx/>
                <a:latin typeface="Times New Roman" panose="02020603050405020304" pitchFamily="18" charset="0"/>
                <a:sym typeface="+mn-ea"/>
              </a:rPr>
              <a:t>Mác</a:t>
            </a:r>
            <a:r>
              <a:rPr lang="en-US" sz="2200" noProof="0" dirty="0">
                <a:ln>
                  <a:noFill/>
                </a:ln>
                <a:effectLst/>
                <a:uLnTx/>
                <a:uFillTx/>
                <a:latin typeface="Times New Roman" panose="02020603050405020304" pitchFamily="18" charset="0"/>
                <a:sym typeface="+mn-ea"/>
              </a:rPr>
              <a:t> </a:t>
            </a:r>
            <a:r>
              <a:rPr lang="en-US" sz="2200" noProof="0" dirty="0" err="1">
                <a:ln>
                  <a:noFill/>
                </a:ln>
                <a:effectLst/>
                <a:uLnTx/>
                <a:uFillTx/>
                <a:latin typeface="Times New Roman" panose="02020603050405020304" pitchFamily="18" charset="0"/>
                <a:sym typeface="+mn-ea"/>
              </a:rPr>
              <a:t>chỉ</a:t>
            </a:r>
            <a:r>
              <a:rPr lang="en-US" sz="2200" noProof="0" dirty="0">
                <a:ln>
                  <a:noFill/>
                </a:ln>
                <a:effectLst/>
                <a:uLnTx/>
                <a:uFillTx/>
                <a:latin typeface="Times New Roman" panose="02020603050405020304" pitchFamily="18" charset="0"/>
                <a:sym typeface="+mn-ea"/>
              </a:rPr>
              <a:t> </a:t>
            </a:r>
            <a:r>
              <a:rPr lang="en-US" sz="2200" noProof="0" dirty="0" err="1">
                <a:ln>
                  <a:noFill/>
                </a:ln>
                <a:effectLst/>
                <a:uLnTx/>
                <a:uFillTx/>
                <a:latin typeface="Times New Roman" panose="02020603050405020304" pitchFamily="18" charset="0"/>
                <a:sym typeface="+mn-ea"/>
              </a:rPr>
              <a:t>ra</a:t>
            </a:r>
            <a:r>
              <a:rPr lang="en-US" sz="2200" noProof="0" dirty="0">
                <a:ln>
                  <a:noFill/>
                </a:ln>
                <a:effectLst/>
                <a:uLnTx/>
                <a:uFillTx/>
                <a:latin typeface="Times New Roman" panose="02020603050405020304" pitchFamily="18" charset="0"/>
                <a:sym typeface="+mn-ea"/>
              </a:rPr>
              <a:t> </a:t>
            </a:r>
            <a:r>
              <a:rPr lang="en-US" sz="2200" noProof="0" dirty="0" err="1">
                <a:ln>
                  <a:noFill/>
                </a:ln>
                <a:effectLst/>
                <a:uLnTx/>
                <a:uFillTx/>
                <a:latin typeface="Times New Roman" panose="02020603050405020304" pitchFamily="18" charset="0"/>
                <a:sym typeface="+mn-ea"/>
              </a:rPr>
              <a:t>rằng</a:t>
            </a:r>
            <a:r>
              <a:rPr lang="en-US" sz="2200" noProof="0" dirty="0">
                <a:ln>
                  <a:noFill/>
                </a:ln>
                <a:effectLst/>
                <a:uLnTx/>
                <a:uFillTx/>
                <a:latin typeface="Times New Roman" panose="02020603050405020304" pitchFamily="18" charset="0"/>
                <a:sym typeface="+mn-ea"/>
              </a:rPr>
              <a:t>: </a:t>
            </a:r>
            <a:r>
              <a:rPr lang="en-US" sz="2200" b="1" noProof="0" dirty="0">
                <a:ln>
                  <a:noFill/>
                </a:ln>
                <a:effectLst/>
                <a:uLnTx/>
                <a:uFillTx/>
                <a:latin typeface="Times New Roman" panose="02020603050405020304" pitchFamily="18" charset="0"/>
                <a:sym typeface="+mn-ea"/>
              </a:rPr>
              <a:t>“</a:t>
            </a:r>
            <a:r>
              <a:rPr lang="en-US" sz="2200" b="1" i="1" noProof="0" dirty="0" err="1">
                <a:ln>
                  <a:noFill/>
                </a:ln>
                <a:effectLst/>
                <a:uLnTx/>
                <a:uFillTx/>
                <a:latin typeface="Times New Roman" panose="02020603050405020304" pitchFamily="18" charset="0"/>
                <a:sym typeface="+mn-ea"/>
              </a:rPr>
              <a:t>Sự</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tồn</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tại</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của</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các</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giai</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cấp</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chỉ</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gắn</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liền</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với</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những</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giai</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đoạn</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phát</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triển</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lịch</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sử</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nhất</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định</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của</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sản</a:t>
            </a:r>
            <a:r>
              <a:rPr lang="en-US" sz="2200" b="1" i="1" noProof="0" dirty="0">
                <a:ln>
                  <a:noFill/>
                </a:ln>
                <a:effectLst/>
                <a:uLnTx/>
                <a:uFillTx/>
                <a:latin typeface="Times New Roman" panose="02020603050405020304" pitchFamily="18" charset="0"/>
                <a:sym typeface="+mn-ea"/>
              </a:rPr>
              <a:t> </a:t>
            </a:r>
            <a:r>
              <a:rPr lang="en-US" sz="2200" b="1" i="1" noProof="0" dirty="0" err="1">
                <a:ln>
                  <a:noFill/>
                </a:ln>
                <a:effectLst/>
                <a:uLnTx/>
                <a:uFillTx/>
                <a:latin typeface="Times New Roman" panose="02020603050405020304" pitchFamily="18" charset="0"/>
                <a:sym typeface="+mn-ea"/>
              </a:rPr>
              <a:t>xuất</a:t>
            </a:r>
            <a:r>
              <a:rPr lang="en-US" sz="2200" b="1" noProof="0" dirty="0">
                <a:ln>
                  <a:noFill/>
                </a:ln>
                <a:effectLst/>
                <a:uLnTx/>
                <a:uFillTx/>
                <a:latin typeface="Times New Roman" panose="02020603050405020304" pitchFamily="18" charset="0"/>
                <a:sym typeface="+mn-ea"/>
              </a:rPr>
              <a:t>”</a:t>
            </a:r>
            <a:endPar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
        <p:nvSpPr>
          <p:cNvPr id="5" name="Rectangle 4"/>
          <p:cNvSpPr/>
          <p:nvPr/>
        </p:nvSpPr>
        <p:spPr>
          <a:xfrm>
            <a:off x="1175657" y="3211285"/>
            <a:ext cx="1447800" cy="150222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b="1" i="1" noProof="0" dirty="0" err="1">
                <a:ln>
                  <a:noFill/>
                </a:ln>
                <a:effectLst/>
                <a:uLnTx/>
                <a:uFillTx/>
                <a:latin typeface="Times New Roman" panose="02020603050405020304" pitchFamily="18" charset="0"/>
                <a:ea typeface="+mn-ea"/>
                <a:cs typeface="+mn-cs"/>
                <a:sym typeface="+mn-ea"/>
              </a:rPr>
              <a:t>Nguồn</a:t>
            </a:r>
            <a:r>
              <a:rPr lang="en-US" sz="1800" b="1" i="1" noProof="0" dirty="0">
                <a:ln>
                  <a:noFill/>
                </a:ln>
                <a:effectLst/>
                <a:uLnTx/>
                <a:uFillTx/>
                <a:latin typeface="Times New Roman" panose="02020603050405020304" pitchFamily="18" charset="0"/>
                <a:ea typeface="+mn-ea"/>
                <a:cs typeface="+mn-cs"/>
                <a:sym typeface="+mn-ea"/>
              </a:rPr>
              <a:t> </a:t>
            </a:r>
            <a:r>
              <a:rPr lang="en-US" sz="1800" b="1" i="1" noProof="0" dirty="0" err="1">
                <a:ln>
                  <a:noFill/>
                </a:ln>
                <a:effectLst/>
                <a:uLnTx/>
                <a:uFillTx/>
                <a:latin typeface="Times New Roman" panose="02020603050405020304" pitchFamily="18" charset="0"/>
                <a:ea typeface="+mn-ea"/>
                <a:cs typeface="+mn-cs"/>
                <a:sym typeface="+mn-ea"/>
              </a:rPr>
              <a:t>gốc</a:t>
            </a:r>
            <a:r>
              <a:rPr lang="en-US" sz="1800" b="1" i="1" noProof="0" dirty="0">
                <a:ln>
                  <a:noFill/>
                </a:ln>
                <a:effectLst/>
                <a:uLnTx/>
                <a:uFillTx/>
                <a:latin typeface="Times New Roman" panose="02020603050405020304" pitchFamily="18" charset="0"/>
                <a:ea typeface="+mn-ea"/>
                <a:cs typeface="+mn-cs"/>
                <a:sym typeface="+mn-ea"/>
              </a:rPr>
              <a:t> </a:t>
            </a:r>
            <a:r>
              <a:rPr lang="en-US" sz="1800" b="1" i="1" noProof="0" dirty="0" err="1">
                <a:ln>
                  <a:noFill/>
                </a:ln>
                <a:effectLst/>
                <a:uLnTx/>
                <a:uFillTx/>
                <a:latin typeface="Times New Roman" panose="02020603050405020304" pitchFamily="18" charset="0"/>
                <a:ea typeface="+mn-ea"/>
                <a:cs typeface="+mn-cs"/>
                <a:sym typeface="+mn-ea"/>
              </a:rPr>
              <a:t>giai</a:t>
            </a:r>
            <a:r>
              <a:rPr lang="en-US" sz="1800" b="1" i="1" noProof="0" dirty="0">
                <a:ln>
                  <a:noFill/>
                </a:ln>
                <a:effectLst/>
                <a:uLnTx/>
                <a:uFillTx/>
                <a:latin typeface="Times New Roman" panose="02020603050405020304" pitchFamily="18" charset="0"/>
                <a:ea typeface="+mn-ea"/>
                <a:cs typeface="+mn-cs"/>
                <a:sym typeface="+mn-ea"/>
              </a:rPr>
              <a:t> </a:t>
            </a:r>
            <a:r>
              <a:rPr lang="en-US" sz="1800" b="1" i="1" noProof="0" dirty="0" err="1">
                <a:ln>
                  <a:noFill/>
                </a:ln>
                <a:effectLst/>
                <a:uLnTx/>
                <a:uFillTx/>
                <a:latin typeface="Times New Roman" panose="02020603050405020304" pitchFamily="18" charset="0"/>
                <a:ea typeface="+mn-ea"/>
                <a:cs typeface="+mn-cs"/>
                <a:sym typeface="+mn-ea"/>
              </a:rPr>
              <a:t>cấp</a:t>
            </a:r>
            <a:endParaRPr lang="en-US" dirty="0"/>
          </a:p>
        </p:txBody>
      </p:sp>
      <p:sp>
        <p:nvSpPr>
          <p:cNvPr id="6" name="Oval 5"/>
          <p:cNvSpPr/>
          <p:nvPr/>
        </p:nvSpPr>
        <p:spPr>
          <a:xfrm>
            <a:off x="3211286" y="2667000"/>
            <a:ext cx="1817913" cy="111646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i="1" noProof="0" dirty="0" err="1">
                <a:ln>
                  <a:noFill/>
                </a:ln>
                <a:effectLst/>
                <a:uLnTx/>
                <a:uFillTx/>
                <a:latin typeface="Times New Roman" panose="02020603050405020304" pitchFamily="18" charset="0"/>
                <a:sym typeface="+mn-ea"/>
              </a:rPr>
              <a:t>Nguồn</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gốc</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trực</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tiếp</a:t>
            </a:r>
            <a:endParaRPr lang="en-US" dirty="0"/>
          </a:p>
        </p:txBody>
      </p:sp>
      <p:sp>
        <p:nvSpPr>
          <p:cNvPr id="7" name="Oval 6"/>
          <p:cNvSpPr/>
          <p:nvPr/>
        </p:nvSpPr>
        <p:spPr>
          <a:xfrm>
            <a:off x="3287487" y="4076022"/>
            <a:ext cx="1817913" cy="111646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i="1" noProof="0" dirty="0" err="1">
                <a:ln>
                  <a:noFill/>
                </a:ln>
                <a:effectLst/>
                <a:uLnTx/>
                <a:uFillTx/>
                <a:latin typeface="Times New Roman" panose="02020603050405020304" pitchFamily="18" charset="0"/>
                <a:sym typeface="+mn-ea"/>
              </a:rPr>
              <a:t>Nguồn</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gốc</a:t>
            </a:r>
            <a:r>
              <a:rPr lang="en-US" b="1" i="1" noProof="0" dirty="0">
                <a:ln>
                  <a:noFill/>
                </a:ln>
                <a:effectLst/>
                <a:uLnTx/>
                <a:uFillTx/>
                <a:latin typeface="Times New Roman" panose="02020603050405020304" pitchFamily="18" charset="0"/>
                <a:sym typeface="+mn-ea"/>
              </a:rPr>
              <a:t> </a:t>
            </a:r>
            <a:r>
              <a:rPr lang="en-US" b="1" i="1" noProof="0" dirty="0" err="1">
                <a:ln>
                  <a:noFill/>
                </a:ln>
                <a:effectLst/>
                <a:uLnTx/>
                <a:uFillTx/>
                <a:latin typeface="Times New Roman" panose="02020603050405020304" pitchFamily="18" charset="0"/>
                <a:sym typeface="+mn-ea"/>
              </a:rPr>
              <a:t>sâu</a:t>
            </a:r>
            <a:r>
              <a:rPr lang="en-US" b="1" i="1" noProof="0" dirty="0">
                <a:ln>
                  <a:noFill/>
                </a:ln>
                <a:effectLst/>
                <a:uLnTx/>
                <a:uFillTx/>
                <a:latin typeface="Times New Roman" panose="02020603050405020304" pitchFamily="18" charset="0"/>
                <a:sym typeface="+mn-ea"/>
              </a:rPr>
              <a:t> xa</a:t>
            </a:r>
            <a:endParaRPr lang="en-US" dirty="0"/>
          </a:p>
        </p:txBody>
      </p:sp>
      <p:sp>
        <p:nvSpPr>
          <p:cNvPr id="8" name="Rectangle: Rounded Corners 7"/>
          <p:cNvSpPr/>
          <p:nvPr/>
        </p:nvSpPr>
        <p:spPr>
          <a:xfrm>
            <a:off x="5029199" y="2667001"/>
            <a:ext cx="3526972" cy="11164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just" defTabSz="914400" rtl="0" eaLnBrk="1" fontAlgn="auto" latinLnBrk="0" hangingPunct="1">
              <a:lnSpc>
                <a:spcPct val="100000"/>
              </a:lnSpc>
              <a:spcBef>
                <a:spcPts val="1200"/>
              </a:spcBef>
              <a:spcAft>
                <a:spcPts val="1200"/>
              </a:spcAft>
              <a:buClr>
                <a:schemeClr val="accent1"/>
              </a:buClr>
              <a:buSzPct val="100000"/>
              <a:buFontTx/>
              <a:buNone/>
              <a:defRPr/>
            </a:pPr>
            <a:r>
              <a:rPr lang="en-US" sz="2000" noProof="0" dirty="0" err="1">
                <a:ln>
                  <a:noFill/>
                </a:ln>
                <a:effectLst/>
                <a:uLnTx/>
                <a:uFillTx/>
                <a:latin typeface="Times New Roman" panose="02020603050405020304" pitchFamily="18" charset="0"/>
                <a:sym typeface="+mn-ea"/>
              </a:rPr>
              <a:t>là</a:t>
            </a:r>
            <a:r>
              <a:rPr lang="en-US" sz="2000" noProof="0" dirty="0">
                <a:ln>
                  <a:noFill/>
                </a:ln>
                <a:effectLst/>
                <a:uLnTx/>
                <a:uFillTx/>
                <a:latin typeface="Times New Roman" panose="02020603050405020304" pitchFamily="18" charset="0"/>
                <a:sym typeface="+mn-ea"/>
              </a:rPr>
              <a:t> do </a:t>
            </a:r>
            <a:r>
              <a:rPr lang="en-US" sz="2000" noProof="0" dirty="0" err="1">
                <a:ln>
                  <a:noFill/>
                </a:ln>
                <a:effectLst/>
                <a:uLnTx/>
                <a:uFillTx/>
                <a:latin typeface="Times New Roman" panose="02020603050405020304" pitchFamily="18" charset="0"/>
                <a:sym typeface="+mn-ea"/>
              </a:rPr>
              <a:t>sự</a:t>
            </a:r>
            <a:r>
              <a:rPr lang="en-US" sz="2000" noProof="0" dirty="0">
                <a:ln>
                  <a:noFill/>
                </a:ln>
                <a:effectLst/>
                <a:uLnTx/>
                <a:uFillTx/>
                <a:latin typeface="Times New Roman" panose="02020603050405020304" pitchFamily="18" charset="0"/>
                <a:sym typeface="+mn-ea"/>
              </a:rPr>
              <a:t> </a:t>
            </a:r>
            <a:r>
              <a:rPr lang="en-US" sz="2000" noProof="0" dirty="0" err="1">
                <a:ln>
                  <a:noFill/>
                </a:ln>
                <a:effectLst/>
                <a:uLnTx/>
                <a:uFillTx/>
                <a:latin typeface="Times New Roman" panose="02020603050405020304" pitchFamily="18" charset="0"/>
                <a:sym typeface="+mn-ea"/>
              </a:rPr>
              <a:t>ra</a:t>
            </a:r>
            <a:r>
              <a:rPr lang="en-US" sz="2000" noProof="0" dirty="0">
                <a:ln>
                  <a:noFill/>
                </a:ln>
                <a:effectLst/>
                <a:uLnTx/>
                <a:uFillTx/>
                <a:latin typeface="Times New Roman" panose="02020603050405020304" pitchFamily="18" charset="0"/>
                <a:sym typeface="+mn-ea"/>
              </a:rPr>
              <a:t> </a:t>
            </a:r>
            <a:r>
              <a:rPr lang="en-US" sz="2000" noProof="0" dirty="0" err="1">
                <a:ln>
                  <a:noFill/>
                </a:ln>
                <a:effectLst/>
                <a:uLnTx/>
                <a:uFillTx/>
                <a:latin typeface="Times New Roman" panose="02020603050405020304" pitchFamily="18" charset="0"/>
                <a:sym typeface="+mn-ea"/>
              </a:rPr>
              <a:t>đời</a:t>
            </a:r>
            <a:r>
              <a:rPr lang="en-US" sz="2000" noProof="0" dirty="0">
                <a:ln>
                  <a:noFill/>
                </a:ln>
                <a:effectLst/>
                <a:uLnTx/>
                <a:uFillTx/>
                <a:latin typeface="Times New Roman" panose="02020603050405020304" pitchFamily="18" charset="0"/>
                <a:sym typeface="+mn-ea"/>
              </a:rPr>
              <a:t> </a:t>
            </a:r>
            <a:r>
              <a:rPr lang="en-US" sz="2000" noProof="0" dirty="0" err="1">
                <a:ln>
                  <a:noFill/>
                </a:ln>
                <a:effectLst/>
                <a:uLnTx/>
                <a:uFillTx/>
                <a:latin typeface="Times New Roman" panose="02020603050405020304" pitchFamily="18" charset="0"/>
                <a:sym typeface="+mn-ea"/>
              </a:rPr>
              <a:t>và</a:t>
            </a:r>
            <a:r>
              <a:rPr lang="en-US" sz="2000" noProof="0" dirty="0">
                <a:ln>
                  <a:noFill/>
                </a:ln>
                <a:effectLst/>
                <a:uLnTx/>
                <a:uFillTx/>
                <a:latin typeface="Times New Roman" panose="02020603050405020304" pitchFamily="18" charset="0"/>
                <a:sym typeface="+mn-ea"/>
              </a:rPr>
              <a:t> </a:t>
            </a:r>
            <a:r>
              <a:rPr lang="en-US" sz="2000" noProof="0" dirty="0" err="1">
                <a:ln>
                  <a:noFill/>
                </a:ln>
                <a:effectLst/>
                <a:uLnTx/>
                <a:uFillTx/>
                <a:latin typeface="Times New Roman" panose="02020603050405020304" pitchFamily="18" charset="0"/>
                <a:sym typeface="+mn-ea"/>
              </a:rPr>
              <a:t>tồn</a:t>
            </a:r>
            <a:r>
              <a:rPr lang="en-US" sz="2000" noProof="0" dirty="0">
                <a:ln>
                  <a:noFill/>
                </a:ln>
                <a:effectLst/>
                <a:uLnTx/>
                <a:uFillTx/>
                <a:latin typeface="Times New Roman" panose="02020603050405020304" pitchFamily="18" charset="0"/>
                <a:sym typeface="+mn-ea"/>
              </a:rPr>
              <a:t> </a:t>
            </a:r>
            <a:r>
              <a:rPr lang="en-US" sz="2000" noProof="0" dirty="0" err="1">
                <a:ln>
                  <a:noFill/>
                </a:ln>
                <a:effectLst/>
                <a:uLnTx/>
                <a:uFillTx/>
                <a:latin typeface="Times New Roman" panose="02020603050405020304" pitchFamily="18" charset="0"/>
                <a:sym typeface="+mn-ea"/>
              </a:rPr>
              <a:t>tại</a:t>
            </a:r>
            <a:r>
              <a:rPr lang="en-US" sz="2000" noProof="0" dirty="0">
                <a:ln>
                  <a:noFill/>
                </a:ln>
                <a:effectLst/>
                <a:uLnTx/>
                <a:uFillTx/>
                <a:latin typeface="Times New Roman" panose="02020603050405020304" pitchFamily="18" charset="0"/>
                <a:sym typeface="+mn-ea"/>
              </a:rPr>
              <a:t> </a:t>
            </a:r>
            <a:r>
              <a:rPr lang="en-US" sz="2000" noProof="0" dirty="0" err="1">
                <a:ln>
                  <a:noFill/>
                </a:ln>
                <a:effectLst/>
                <a:uLnTx/>
                <a:uFillTx/>
                <a:latin typeface="Times New Roman" panose="02020603050405020304" pitchFamily="18" charset="0"/>
                <a:sym typeface="+mn-ea"/>
              </a:rPr>
              <a:t>của</a:t>
            </a:r>
            <a:r>
              <a:rPr lang="en-US" sz="2000" noProof="0" dirty="0">
                <a:ln>
                  <a:noFill/>
                </a:ln>
                <a:effectLst/>
                <a:uLnTx/>
                <a:uFillTx/>
                <a:latin typeface="Times New Roman" panose="02020603050405020304" pitchFamily="18" charset="0"/>
                <a:sym typeface="+mn-ea"/>
              </a:rPr>
              <a:t> </a:t>
            </a:r>
            <a:r>
              <a:rPr lang="en-US" sz="2000" noProof="0" dirty="0" err="1">
                <a:ln>
                  <a:noFill/>
                </a:ln>
                <a:effectLst/>
                <a:uLnTx/>
                <a:uFillTx/>
                <a:latin typeface="Times New Roman" panose="02020603050405020304" pitchFamily="18" charset="0"/>
                <a:sym typeface="+mn-ea"/>
              </a:rPr>
              <a:t>chế</a:t>
            </a:r>
            <a:r>
              <a:rPr lang="en-US" sz="2000" noProof="0" dirty="0">
                <a:ln>
                  <a:noFill/>
                </a:ln>
                <a:effectLst/>
                <a:uLnTx/>
                <a:uFillTx/>
                <a:latin typeface="Times New Roman" panose="02020603050405020304" pitchFamily="18" charset="0"/>
                <a:sym typeface="+mn-ea"/>
              </a:rPr>
              <a:t> </a:t>
            </a:r>
            <a:r>
              <a:rPr lang="en-US" sz="2000" noProof="0" dirty="0" err="1">
                <a:ln>
                  <a:noFill/>
                </a:ln>
                <a:effectLst/>
                <a:uLnTx/>
                <a:uFillTx/>
                <a:latin typeface="Times New Roman" panose="02020603050405020304" pitchFamily="18" charset="0"/>
                <a:sym typeface="+mn-ea"/>
              </a:rPr>
              <a:t>độ</a:t>
            </a:r>
            <a:r>
              <a:rPr lang="en-US" sz="2000" noProof="0" dirty="0">
                <a:ln>
                  <a:noFill/>
                </a:ln>
                <a:effectLst/>
                <a:uLnTx/>
                <a:uFillTx/>
                <a:latin typeface="Times New Roman" panose="02020603050405020304" pitchFamily="18" charset="0"/>
                <a:sym typeface="+mn-ea"/>
              </a:rPr>
              <a:t> </a:t>
            </a:r>
            <a:r>
              <a:rPr lang="en-US" sz="2000" noProof="0" dirty="0" err="1">
                <a:ln>
                  <a:noFill/>
                </a:ln>
                <a:effectLst/>
                <a:uLnTx/>
                <a:uFillTx/>
                <a:latin typeface="Times New Roman" panose="02020603050405020304" pitchFamily="18" charset="0"/>
                <a:sym typeface="+mn-ea"/>
              </a:rPr>
              <a:t>chiếm</a:t>
            </a:r>
            <a:r>
              <a:rPr lang="en-US" sz="2000" noProof="0" dirty="0">
                <a:ln>
                  <a:noFill/>
                </a:ln>
                <a:effectLst/>
                <a:uLnTx/>
                <a:uFillTx/>
                <a:latin typeface="Times New Roman" panose="02020603050405020304" pitchFamily="18" charset="0"/>
                <a:sym typeface="+mn-ea"/>
              </a:rPr>
              <a:t> </a:t>
            </a:r>
            <a:r>
              <a:rPr lang="en-US" sz="2000" noProof="0" dirty="0" err="1">
                <a:ln>
                  <a:noFill/>
                </a:ln>
                <a:effectLst/>
                <a:uLnTx/>
                <a:uFillTx/>
                <a:latin typeface="Times New Roman" panose="02020603050405020304" pitchFamily="18" charset="0"/>
                <a:sym typeface="+mn-ea"/>
              </a:rPr>
              <a:t>hữu</a:t>
            </a:r>
            <a:r>
              <a:rPr lang="en-US" sz="2000" noProof="0" dirty="0">
                <a:ln>
                  <a:noFill/>
                </a:ln>
                <a:effectLst/>
                <a:uLnTx/>
                <a:uFillTx/>
                <a:latin typeface="Times New Roman" panose="02020603050405020304" pitchFamily="18" charset="0"/>
                <a:sym typeface="+mn-ea"/>
              </a:rPr>
              <a:t> </a:t>
            </a:r>
            <a:r>
              <a:rPr lang="en-US" sz="2000" noProof="0" dirty="0" err="1">
                <a:ln>
                  <a:noFill/>
                </a:ln>
                <a:effectLst/>
                <a:uLnTx/>
                <a:uFillTx/>
                <a:latin typeface="Times New Roman" panose="02020603050405020304" pitchFamily="18" charset="0"/>
                <a:sym typeface="+mn-ea"/>
              </a:rPr>
              <a:t>tư</a:t>
            </a:r>
            <a:r>
              <a:rPr lang="en-US" sz="2000" noProof="0" dirty="0">
                <a:ln>
                  <a:noFill/>
                </a:ln>
                <a:effectLst/>
                <a:uLnTx/>
                <a:uFillTx/>
                <a:latin typeface="Times New Roman" panose="02020603050405020304" pitchFamily="18" charset="0"/>
                <a:sym typeface="+mn-ea"/>
              </a:rPr>
              <a:t> </a:t>
            </a:r>
            <a:r>
              <a:rPr lang="en-US" sz="2000" noProof="0" dirty="0" err="1">
                <a:ln>
                  <a:noFill/>
                </a:ln>
                <a:effectLst/>
                <a:uLnTx/>
                <a:uFillTx/>
                <a:latin typeface="Times New Roman" panose="02020603050405020304" pitchFamily="18" charset="0"/>
                <a:sym typeface="+mn-ea"/>
              </a:rPr>
              <a:t>nhân</a:t>
            </a:r>
            <a:r>
              <a:rPr lang="en-US" sz="2000" noProof="0" dirty="0">
                <a:ln>
                  <a:noFill/>
                </a:ln>
                <a:effectLst/>
                <a:uLnTx/>
                <a:uFillTx/>
                <a:latin typeface="Times New Roman" panose="02020603050405020304" pitchFamily="18" charset="0"/>
                <a:sym typeface="+mn-ea"/>
              </a:rPr>
              <a:t> </a:t>
            </a:r>
            <a:r>
              <a:rPr lang="en-US" sz="2000" noProof="0" dirty="0" err="1">
                <a:ln>
                  <a:noFill/>
                </a:ln>
                <a:effectLst/>
                <a:uLnTx/>
                <a:uFillTx/>
                <a:latin typeface="Times New Roman" panose="02020603050405020304" pitchFamily="18" charset="0"/>
                <a:sym typeface="+mn-ea"/>
              </a:rPr>
              <a:t>về</a:t>
            </a:r>
            <a:r>
              <a:rPr lang="en-US" sz="2000" noProof="0" dirty="0">
                <a:ln>
                  <a:noFill/>
                </a:ln>
                <a:effectLst/>
                <a:uLnTx/>
                <a:uFillTx/>
                <a:latin typeface="Times New Roman" panose="02020603050405020304" pitchFamily="18" charset="0"/>
                <a:sym typeface="+mn-ea"/>
              </a:rPr>
              <a:t> TLSX.</a:t>
            </a: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
        <p:nvSpPr>
          <p:cNvPr id="9" name="Rectangle: Rounded Corners 8"/>
          <p:cNvSpPr/>
          <p:nvPr/>
        </p:nvSpPr>
        <p:spPr>
          <a:xfrm>
            <a:off x="5105399" y="4082144"/>
            <a:ext cx="3450771" cy="11103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just" defTabSz="914400" rtl="0" eaLnBrk="1" fontAlgn="auto" latinLnBrk="0" hangingPunct="1">
              <a:lnSpc>
                <a:spcPct val="100000"/>
              </a:lnSpc>
              <a:spcBef>
                <a:spcPts val="1200"/>
              </a:spcBef>
              <a:spcAft>
                <a:spcPts val="1200"/>
              </a:spcAft>
              <a:buClr>
                <a:schemeClr val="accent1"/>
              </a:buClr>
              <a:buSzPct val="100000"/>
              <a:buFontTx/>
              <a:buNone/>
              <a:defRPr/>
            </a:pPr>
            <a:r>
              <a:rPr lang="en-US" noProof="0" dirty="0" err="1">
                <a:ln>
                  <a:noFill/>
                </a:ln>
                <a:effectLst/>
                <a:uLnTx/>
                <a:uFillTx/>
                <a:latin typeface="Times New Roman" panose="02020603050405020304" pitchFamily="18" charset="0"/>
                <a:sym typeface="+mn-ea"/>
              </a:rPr>
              <a:t>là</a:t>
            </a:r>
            <a:r>
              <a:rPr lang="en-US" noProof="0" dirty="0">
                <a:ln>
                  <a:noFill/>
                </a:ln>
                <a:effectLst/>
                <a:uLnTx/>
                <a:uFillTx/>
                <a:latin typeface="Times New Roman" panose="02020603050405020304" pitchFamily="18" charset="0"/>
                <a:sym typeface="+mn-ea"/>
              </a:rPr>
              <a:t> do </a:t>
            </a:r>
            <a:r>
              <a:rPr lang="en-US" noProof="0" dirty="0" err="1">
                <a:ln>
                  <a:noFill/>
                </a:ln>
                <a:effectLst/>
                <a:uLnTx/>
                <a:uFillTx/>
                <a:latin typeface="Times New Roman" panose="02020603050405020304" pitchFamily="18" charset="0"/>
                <a:sym typeface="+mn-ea"/>
              </a:rPr>
              <a:t>tình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trạng</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phát</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triển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nhưng</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chưa</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đạt</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tới</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trình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độ</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xã</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hội</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hóa</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cao</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của</a:t>
            </a:r>
            <a:r>
              <a:rPr lang="en-US" noProof="0" dirty="0">
                <a:ln>
                  <a:noFill/>
                </a:ln>
                <a:effectLst/>
                <a:uLnTx/>
                <a:uFillTx/>
                <a:latin typeface="Times New Roman" panose="02020603050405020304" pitchFamily="18" charset="0"/>
                <a:sym typeface="+mn-ea"/>
              </a:rPr>
              <a:t> LLSX.</a:t>
            </a:r>
            <a:endPar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
        <p:nvSpPr>
          <p:cNvPr id="10" name="Rectangle 9"/>
          <p:cNvSpPr/>
          <p:nvPr/>
        </p:nvSpPr>
        <p:spPr>
          <a:xfrm>
            <a:off x="3450771" y="5453743"/>
            <a:ext cx="7728858" cy="72322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just" defTabSz="914400" rtl="0" eaLnBrk="1" fontAlgn="auto" latinLnBrk="0" hangingPunct="1">
              <a:lnSpc>
                <a:spcPct val="100000"/>
              </a:lnSpc>
              <a:spcBef>
                <a:spcPts val="1200"/>
              </a:spcBef>
              <a:spcAft>
                <a:spcPts val="1200"/>
              </a:spcAft>
              <a:buClr>
                <a:schemeClr val="accent1"/>
              </a:buClr>
              <a:buSzPct val="100000"/>
              <a:buFont typeface="Wingdings" panose="05000000000000000000" pitchFamily="2" charset="2"/>
              <a:buNone/>
              <a:defRPr/>
            </a:pPr>
            <a:r>
              <a:rPr lang="vi-VN"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Sự</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hình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thành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và</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phát</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triển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giai</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cấp</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trong</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lịch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sử</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có</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thể</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diễn</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ra</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với</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những</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hình</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thức</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mức</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độ</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khác</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nhau</a:t>
            </a:r>
            <a:r>
              <a:rPr lang="en-US" noProof="0" dirty="0">
                <a:ln>
                  <a:noFill/>
                </a:ln>
                <a:effectLst/>
                <a:uLnTx/>
                <a:uFillTx/>
                <a:latin typeface="Times New Roman" panose="02020603050405020304" pitchFamily="18" charset="0"/>
                <a:sym typeface="+mn-ea"/>
              </a:rPr>
              <a:t> ở </a:t>
            </a:r>
            <a:r>
              <a:rPr lang="en-US" noProof="0" dirty="0" err="1">
                <a:ln>
                  <a:noFill/>
                </a:ln>
                <a:effectLst/>
                <a:uLnTx/>
                <a:uFillTx/>
                <a:latin typeface="Times New Roman" panose="02020603050405020304" pitchFamily="18" charset="0"/>
                <a:sym typeface="+mn-ea"/>
              </a:rPr>
              <a:t>các</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cộng</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đồng</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xã</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hội</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khác</a:t>
            </a:r>
            <a:r>
              <a:rPr lang="en-US" noProof="0" dirty="0">
                <a:ln>
                  <a:noFill/>
                </a:ln>
                <a:effectLst/>
                <a:uLnTx/>
                <a:uFillTx/>
                <a:latin typeface="Times New Roman" panose="02020603050405020304" pitchFamily="18" charset="0"/>
                <a:sym typeface="+mn-ea"/>
              </a:rPr>
              <a:t> </a:t>
            </a:r>
            <a:r>
              <a:rPr lang="en-US" noProof="0" dirty="0" err="1">
                <a:ln>
                  <a:noFill/>
                </a:ln>
                <a:effectLst/>
                <a:uLnTx/>
                <a:uFillTx/>
                <a:latin typeface="Times New Roman" panose="02020603050405020304" pitchFamily="18" charset="0"/>
                <a:sym typeface="+mn-ea"/>
              </a:rPr>
              <a:t>nhau</a:t>
            </a:r>
            <a:r>
              <a:rPr lang="en-US" noProof="0" dirty="0">
                <a:ln>
                  <a:noFill/>
                </a:ln>
                <a:effectLst/>
                <a:uLnTx/>
                <a:uFillTx/>
                <a:latin typeface="Times New Roman" panose="02020603050405020304" pitchFamily="18" charset="0"/>
                <a:sym typeface="+mn-ea"/>
              </a:rPr>
              <a:t>.</a:t>
            </a:r>
            <a:endParaRPr kumimoji="0" lang="en-US"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cxnSp>
        <p:nvCxnSpPr>
          <p:cNvPr id="12" name="Straight Arrow Connector 11"/>
          <p:cNvCxnSpPr>
            <a:stCxn id="5" idx="3"/>
            <a:endCxn id="6" idx="2"/>
          </p:cNvCxnSpPr>
          <p:nvPr/>
        </p:nvCxnSpPr>
        <p:spPr>
          <a:xfrm flipV="1">
            <a:off x="2623457" y="3225232"/>
            <a:ext cx="587829" cy="7371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p:cNvCxnSpPr>
            <a:endCxn id="7" idx="2"/>
          </p:cNvCxnSpPr>
          <p:nvPr/>
        </p:nvCxnSpPr>
        <p:spPr>
          <a:xfrm>
            <a:off x="2623457" y="3995057"/>
            <a:ext cx="664030" cy="639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05046"/>
          </a:xfrm>
        </p:spPr>
        <p:txBody>
          <a:bodyPr/>
          <a:lstStyle/>
          <a:p>
            <a:endParaRPr lang="en-US" dirty="0"/>
          </a:p>
        </p:txBody>
      </p:sp>
      <p:sp>
        <p:nvSpPr>
          <p:cNvPr id="3" name="Rectangle: Rounded Corners 2"/>
          <p:cNvSpPr/>
          <p:nvPr/>
        </p:nvSpPr>
        <p:spPr>
          <a:xfrm>
            <a:off x="1273630" y="2743200"/>
            <a:ext cx="1469570" cy="117565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ctr">
              <a:buFont typeface="Wingdings" panose="05000000000000000000" pitchFamily="2" charset="2"/>
              <a:buChar char="v"/>
            </a:pPr>
            <a:r>
              <a:rPr lang="vi-VN" sz="2000" dirty="0">
                <a:latin typeface="Times New Roman" panose="02020603050405020304" pitchFamily="18" charset="0"/>
                <a:cs typeface="Times New Roman" panose="02020603050405020304" pitchFamily="18" charset="0"/>
              </a:rPr>
              <a:t>Kết cấu xã hội – giai cấp</a:t>
            </a:r>
            <a:endParaRPr lang="en-US" sz="2000" dirty="0">
              <a:latin typeface="Times New Roman" panose="02020603050405020304" pitchFamily="18" charset="0"/>
              <a:cs typeface="Times New Roman" panose="02020603050405020304" pitchFamily="18" charset="0"/>
            </a:endParaRPr>
          </a:p>
        </p:txBody>
      </p:sp>
      <p:sp>
        <p:nvSpPr>
          <p:cNvPr id="4" name="Rectangle: Rounded Corners 3"/>
          <p:cNvSpPr/>
          <p:nvPr/>
        </p:nvSpPr>
        <p:spPr>
          <a:xfrm>
            <a:off x="3712028" y="1567542"/>
            <a:ext cx="4757057" cy="11756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sz="2000" dirty="0">
                <a:latin typeface="Times New Roman" panose="02020603050405020304" pitchFamily="18" charset="0"/>
                <a:cs typeface="Times New Roman" panose="02020603050405020304" pitchFamily="18" charset="0"/>
              </a:rPr>
              <a:t>- Là tổng thể các giai cấp và mối quan hệ giữa các giai cấp, tồn tại trong một giai đoạn lịch sử nhất định</a:t>
            </a:r>
            <a:endParaRPr lang="en-US" sz="2000" dirty="0">
              <a:latin typeface="Times New Roman" panose="02020603050405020304" pitchFamily="18" charset="0"/>
              <a:cs typeface="Times New Roman" panose="02020603050405020304" pitchFamily="18" charset="0"/>
            </a:endParaRPr>
          </a:p>
        </p:txBody>
      </p:sp>
      <p:sp>
        <p:nvSpPr>
          <p:cNvPr id="5" name="Rectangle: Rounded Corners 4"/>
          <p:cNvSpPr/>
          <p:nvPr/>
        </p:nvSpPr>
        <p:spPr>
          <a:xfrm>
            <a:off x="3799113" y="3429000"/>
            <a:ext cx="4669971" cy="117565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Tx/>
              <a:buChar char="-"/>
            </a:pPr>
            <a:r>
              <a:rPr lang="vi-VN" sz="2000" dirty="0">
                <a:latin typeface="+mj-lt"/>
              </a:rPr>
              <a:t>Giai cấp cơ bản</a:t>
            </a:r>
            <a:endParaRPr lang="vi-VN" sz="2000" dirty="0">
              <a:latin typeface="+mj-lt"/>
            </a:endParaRPr>
          </a:p>
          <a:p>
            <a:pPr marL="342900" indent="-342900" algn="just">
              <a:buFontTx/>
              <a:buChar char="-"/>
            </a:pPr>
            <a:r>
              <a:rPr lang="vi-VN" sz="2000" dirty="0">
                <a:latin typeface="+mj-lt"/>
              </a:rPr>
              <a:t>Giai cấp không cơ bản</a:t>
            </a:r>
            <a:endParaRPr lang="vi-VN" sz="2000" dirty="0">
              <a:latin typeface="+mj-lt"/>
            </a:endParaRPr>
          </a:p>
          <a:p>
            <a:pPr marL="342900" indent="-342900" algn="just">
              <a:buFontTx/>
              <a:buChar char="-"/>
            </a:pPr>
            <a:r>
              <a:rPr lang="vi-VN" sz="2000" dirty="0">
                <a:latin typeface="+mj-lt"/>
              </a:rPr>
              <a:t>Tầng lớp và nhóm xã hội</a:t>
            </a:r>
            <a:endParaRPr lang="en-US" sz="2000" dirty="0">
              <a:latin typeface="+mj-lt"/>
            </a:endParaRPr>
          </a:p>
        </p:txBody>
      </p:sp>
      <p:cxnSp>
        <p:nvCxnSpPr>
          <p:cNvPr id="7" name="Straight Arrow Connector 6"/>
          <p:cNvCxnSpPr>
            <a:endCxn id="4" idx="1"/>
          </p:cNvCxnSpPr>
          <p:nvPr/>
        </p:nvCxnSpPr>
        <p:spPr>
          <a:xfrm flipV="1">
            <a:off x="2754086" y="2155371"/>
            <a:ext cx="957942" cy="12736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2819400" y="3429000"/>
            <a:ext cx="957942" cy="5878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185057"/>
            <a:ext cx="10515600" cy="783772"/>
          </a:xfrm>
        </p:spPr>
        <p:txBody>
          <a:bodyPr>
            <a:normAutofit/>
          </a:bodyPr>
          <a:lstStyle/>
          <a:p>
            <a:pPr algn="just"/>
            <a:r>
              <a:rPr lang="vi-VN" altLang="en-US" sz="3200" b="1" i="1" dirty="0">
                <a:latin typeface="Times New Roman" panose="02020603050405020304" pitchFamily="18" charset="0"/>
                <a:cs typeface="Times New Roman" panose="02020603050405020304" pitchFamily="18" charset="0"/>
              </a:rPr>
              <a:t>b. Đấu trang giai cấp</a:t>
            </a:r>
            <a:endParaRPr lang="vi-VN" altLang="en-US" sz="3200" b="1" i="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968829"/>
            <a:ext cx="10515600" cy="5208451"/>
          </a:xfrm>
        </p:spPr>
        <p:txBody>
          <a:bodyPr>
            <a:normAutofit fontScale="92500" lnSpcReduction="20000"/>
          </a:bodyPr>
          <a:lstStyle/>
          <a:p>
            <a:pPr algn="just">
              <a:spcBef>
                <a:spcPts val="1200"/>
              </a:spcBef>
              <a:spcAft>
                <a:spcPts val="1200"/>
              </a:spcAft>
              <a:buFont typeface="Wingdings" panose="05000000000000000000" pitchFamily="2" charset="2"/>
              <a:buChar char="v"/>
            </a:pPr>
            <a:r>
              <a:rPr lang="vi-VN" altLang="en-US" b="1" i="1" dirty="0">
                <a:latin typeface="Times New Roman" panose="02020603050405020304" pitchFamily="18" charset="0"/>
                <a:sym typeface="+mn-ea"/>
              </a:rPr>
              <a:t>Tính tất yếu và thực chất của đấu tranh giai cấp</a:t>
            </a:r>
            <a:endParaRPr lang="vi-VN" altLang="en-US" b="1" i="1" dirty="0">
              <a:latin typeface="Times New Roman" panose="02020603050405020304" pitchFamily="18" charset="0"/>
              <a:sym typeface="+mn-ea"/>
            </a:endParaRPr>
          </a:p>
          <a:p>
            <a:pPr marL="0" indent="0" algn="just" eaLnBrk="1" hangingPunct="1">
              <a:spcBef>
                <a:spcPts val="1200"/>
              </a:spcBef>
              <a:spcAft>
                <a:spcPts val="1200"/>
              </a:spcAft>
              <a:buFontTx/>
              <a:buNone/>
            </a:pPr>
            <a:r>
              <a:rPr lang="en-US" altLang="en-US" dirty="0">
                <a:latin typeface="Times New Roman" panose="02020603050405020304" pitchFamily="18" charset="0"/>
                <a:sym typeface="+mn-ea"/>
              </a:rPr>
              <a:t>Trong Xh có giai cấp tất yếu nảy sinh đấu tranh giai cấp.</a:t>
            </a:r>
            <a:endParaRPr lang="en-US" altLang="en-US" dirty="0">
              <a:solidFill>
                <a:schemeClr val="tx1"/>
              </a:solidFill>
              <a:latin typeface="Times New Roman" panose="02020603050405020304" pitchFamily="18" charset="0"/>
            </a:endParaRPr>
          </a:p>
          <a:p>
            <a:pPr marL="0" indent="0" algn="just" eaLnBrk="1" hangingPunct="1">
              <a:spcBef>
                <a:spcPts val="1200"/>
              </a:spcBef>
              <a:spcAft>
                <a:spcPts val="1200"/>
              </a:spcAft>
              <a:buFontTx/>
              <a:buNone/>
            </a:pPr>
            <a:r>
              <a:rPr lang="en-US" altLang="en-US" dirty="0">
                <a:latin typeface="Times New Roman" panose="02020603050405020304" pitchFamily="18" charset="0"/>
                <a:sym typeface="+mn-ea"/>
              </a:rPr>
              <a:t>Lênin định nghĩa “</a:t>
            </a:r>
            <a:r>
              <a:rPr lang="en-US" altLang="en-US" i="1" dirty="0">
                <a:latin typeface="Times New Roman" panose="02020603050405020304" pitchFamily="18" charset="0"/>
                <a:sym typeface="+mn-ea"/>
              </a:rPr>
              <a:t>đấu tranh giai cấp</a:t>
            </a:r>
            <a:r>
              <a:rPr lang="en-US" altLang="en-US" dirty="0">
                <a:latin typeface="Times New Roman" panose="02020603050405020304" pitchFamily="18" charset="0"/>
                <a:sym typeface="+mn-ea"/>
              </a:rPr>
              <a:t>”:</a:t>
            </a:r>
            <a:endParaRPr lang="en-US" altLang="en-US" dirty="0">
              <a:solidFill>
                <a:schemeClr val="tx1"/>
              </a:solidFill>
              <a:latin typeface="Times New Roman" panose="02020603050405020304" pitchFamily="18" charset="0"/>
            </a:endParaRPr>
          </a:p>
          <a:p>
            <a:pPr marL="0" indent="0" algn="just" eaLnBrk="1" hangingPunct="1">
              <a:spcBef>
                <a:spcPts val="1200"/>
              </a:spcBef>
              <a:spcAft>
                <a:spcPts val="1200"/>
              </a:spcAft>
              <a:buFontTx/>
              <a:buNone/>
            </a:pPr>
            <a:r>
              <a:rPr lang="en-US" altLang="en-US" dirty="0">
                <a:latin typeface="Times New Roman" panose="02020603050405020304" pitchFamily="18" charset="0"/>
                <a:sym typeface="+mn-ea"/>
              </a:rPr>
              <a:t>     “</a:t>
            </a:r>
            <a:r>
              <a:rPr lang="en-US" altLang="en-US" i="1" dirty="0">
                <a:latin typeface="Times New Roman" panose="02020603050405020304" pitchFamily="18" charset="0"/>
                <a:sym typeface="+mn-ea"/>
              </a:rPr>
              <a:t>Cuộc đấu tranh của quần chúng bị tước hết quyền, bị áp bức và lao động; chống lại bọn đặc quyền, đặc lợi, bọn áp bức và bọn ăn bám; cuộc đấu tranh của người vô sản chống những người tư hữu hay giai cấp tư sản”</a:t>
            </a:r>
            <a:endParaRPr lang="en-US" altLang="en-US" i="1" dirty="0">
              <a:latin typeface="Times New Roman" panose="02020603050405020304" pitchFamily="18" charset="0"/>
              <a:sym typeface="+mn-ea"/>
            </a:endParaRPr>
          </a:p>
          <a:p>
            <a:pPr marL="0" indent="0" algn="just" eaLnBrk="1" hangingPunct="1">
              <a:spcBef>
                <a:spcPts val="1200"/>
              </a:spcBef>
              <a:spcAft>
                <a:spcPts val="1200"/>
              </a:spcAft>
              <a:buFontTx/>
              <a:buNone/>
            </a:pPr>
            <a:r>
              <a:rPr lang="vi-VN" altLang="en-US" dirty="0">
                <a:latin typeface="Times New Roman" panose="02020603050405020304" pitchFamily="18" charset="0"/>
                <a:sym typeface="+mn-ea"/>
              </a:rPr>
              <a:t>- Đ</a:t>
            </a:r>
            <a:r>
              <a:rPr lang="en-US" altLang="en-US" dirty="0">
                <a:latin typeface="Times New Roman" panose="02020603050405020304" pitchFamily="18" charset="0"/>
                <a:sym typeface="+mn-ea"/>
              </a:rPr>
              <a:t>ấu tranh giai cấp</a:t>
            </a:r>
            <a:r>
              <a:rPr lang="vi-VN" altLang="en-US" dirty="0">
                <a:latin typeface="Times New Roman" panose="02020603050405020304" pitchFamily="18" charset="0"/>
                <a:sym typeface="+mn-ea"/>
              </a:rPr>
              <a:t> là cuộc đấu tranh của các tập đoàn người to lớn </a:t>
            </a:r>
            <a:r>
              <a:rPr lang="vi-VN" altLang="en-US" b="1" i="1" dirty="0">
                <a:latin typeface="Times New Roman" panose="02020603050405020304" pitchFamily="18" charset="0"/>
                <a:sym typeface="+mn-ea"/>
              </a:rPr>
              <a:t>có lợi ích căn bản đối lập nhau trong một PTSX xã hội nhất định.</a:t>
            </a:r>
            <a:endParaRPr lang="vi-VN" altLang="en-US" b="1" i="1" dirty="0">
              <a:latin typeface="Times New Roman" panose="02020603050405020304" pitchFamily="18" charset="0"/>
              <a:sym typeface="+mn-ea"/>
            </a:endParaRPr>
          </a:p>
          <a:p>
            <a:pPr marL="0" indent="0" algn="just" eaLnBrk="1" hangingPunct="1">
              <a:spcBef>
                <a:spcPts val="1200"/>
              </a:spcBef>
              <a:spcAft>
                <a:spcPts val="1200"/>
              </a:spcAft>
              <a:buFontTx/>
              <a:buNone/>
            </a:pPr>
            <a:r>
              <a:rPr lang="vi-VN" altLang="en-US" dirty="0">
                <a:solidFill>
                  <a:schemeClr val="tx1"/>
                </a:solidFill>
                <a:latin typeface="Times New Roman" panose="02020603050405020304" pitchFamily="18" charset="0"/>
              </a:rPr>
              <a:t>- </a:t>
            </a:r>
            <a:r>
              <a:rPr lang="vi-VN" altLang="en-US" dirty="0">
                <a:latin typeface="Times New Roman" panose="02020603050405020304" pitchFamily="18" charset="0"/>
                <a:sym typeface="+mn-ea"/>
              </a:rPr>
              <a:t>Đ</a:t>
            </a:r>
            <a:r>
              <a:rPr lang="en-US" altLang="en-US" dirty="0">
                <a:latin typeface="Times New Roman" panose="02020603050405020304" pitchFamily="18" charset="0"/>
                <a:sym typeface="+mn-ea"/>
              </a:rPr>
              <a:t>ấu tranh giai cấp</a:t>
            </a:r>
            <a:r>
              <a:rPr lang="vi-VN" altLang="en-US" dirty="0">
                <a:latin typeface="Times New Roman" panose="02020603050405020304" pitchFamily="18" charset="0"/>
                <a:sym typeface="+mn-ea"/>
              </a:rPr>
              <a:t> </a:t>
            </a:r>
            <a:r>
              <a:rPr lang="vi-VN" altLang="en-US" b="1" i="1" dirty="0">
                <a:latin typeface="Times New Roman" panose="02020603050405020304" pitchFamily="18" charset="0"/>
                <a:sym typeface="+mn-ea"/>
              </a:rPr>
              <a:t>là cuộc đấu tranh của quần chúng lao động bị áp bức, bóc lột, chống lại giai cấp bị áp bức, bóc lột nhằm lật đổ ách thống trị của chúng</a:t>
            </a:r>
            <a:r>
              <a:rPr lang="vi-VN" altLang="en-US" dirty="0">
                <a:latin typeface="Times New Roman" panose="02020603050405020304" pitchFamily="18" charset="0"/>
                <a:sym typeface="+mn-ea"/>
              </a:rPr>
              <a:t>.</a:t>
            </a:r>
            <a:endParaRPr lang="en-US" altLang="en-US" dirty="0">
              <a:solidFill>
                <a:schemeClr val="tx1"/>
              </a:solidFill>
              <a:latin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902335"/>
          </a:xfrm>
        </p:spPr>
        <p:txBody>
          <a:bodyPr/>
          <a:lstStyle/>
          <a:p>
            <a:pPr marL="457200" indent="-457200">
              <a:buFont typeface="Wingdings" panose="05000000000000000000" charset="0"/>
              <a:buChar char="v"/>
            </a:pPr>
            <a:r>
              <a:rPr lang="vi-VN" altLang="en-US" sz="2800" b="1">
                <a:latin typeface="Times New Roman" panose="02020603050405020304" pitchFamily="18" charset="0"/>
                <a:cs typeface="Times New Roman" panose="02020603050405020304" pitchFamily="18" charset="0"/>
              </a:rPr>
              <a:t>Vai trò của đấu tranh giai cấp trong sự phát triển của XH có giai cấp</a:t>
            </a:r>
            <a:endParaRPr lang="vi-VN" altLang="en-US" sz="28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266825"/>
            <a:ext cx="10515600" cy="4910455"/>
          </a:xfrm>
        </p:spPr>
        <p:txBody>
          <a:bodyPr>
            <a:normAutofit fontScale="92500"/>
          </a:bodyPr>
          <a:lstStyle/>
          <a:p>
            <a:pPr algn="l">
              <a:buFont typeface="Wingdings" panose="05000000000000000000" charset="0"/>
              <a:buChar char="Ø"/>
            </a:pPr>
            <a:r>
              <a:rPr lang="en-US" altLang="en-US" dirty="0">
                <a:latin typeface="Times New Roman" panose="02020603050405020304" pitchFamily="18" charset="0"/>
                <a:cs typeface="Times New Roman" panose="02020603050405020304" pitchFamily="18" charset="0"/>
                <a:sym typeface="+mn-ea"/>
              </a:rPr>
              <a:t>Đấu tranh giai cấp l</a:t>
            </a:r>
            <a:r>
              <a:rPr lang="en-US" altLang="en-US" dirty="0">
                <a:latin typeface="Times New Roman" panose="02020603050405020304" pitchFamily="18" charset="0"/>
                <a:ea typeface="Times New Roman" panose="02020603050405020304" pitchFamily="18" charset="0"/>
                <a:sym typeface="+mn-ea"/>
              </a:rPr>
              <a:t>à</a:t>
            </a:r>
            <a:r>
              <a:rPr lang="en-US" altLang="en-US" dirty="0">
                <a:latin typeface="Times New Roman" panose="02020603050405020304" pitchFamily="18" charset="0"/>
                <a:cs typeface="Times New Roman" panose="02020603050405020304" pitchFamily="18" charset="0"/>
                <a:sym typeface="+mn-ea"/>
              </a:rPr>
              <a:t> một trong những động lực phát triển của XH có giai cấp.</a:t>
            </a:r>
            <a:endParaRPr lang="en-US" altLang="en-US" dirty="0">
              <a:latin typeface="Times New Roman" panose="02020603050405020304" pitchFamily="18" charset="0"/>
              <a:cs typeface="Times New Roman" panose="02020603050405020304" pitchFamily="18" charset="0"/>
              <a:sym typeface="+mn-ea"/>
            </a:endParaRPr>
          </a:p>
          <a:p>
            <a:pPr algn="l">
              <a:buFont typeface="Arial" panose="020B0604020202020204" pitchFamily="34" charset="0"/>
              <a:buChar char="•"/>
            </a:pPr>
            <a:r>
              <a:rPr lang="vi-VN" altLang="en-US" dirty="0">
                <a:latin typeface="Times New Roman" panose="02020603050405020304" pitchFamily="18" charset="0"/>
                <a:cs typeface="Times New Roman" panose="02020603050405020304" pitchFamily="18" charset="0"/>
                <a:sym typeface="+mn-ea"/>
              </a:rPr>
              <a:t>Đ</a:t>
            </a:r>
            <a:r>
              <a:rPr lang="en-US" altLang="en-US" dirty="0">
                <a:latin typeface="Times New Roman" panose="02020603050405020304" pitchFamily="18" charset="0"/>
                <a:cs typeface="Times New Roman" panose="02020603050405020304" pitchFamily="18" charset="0"/>
                <a:sym typeface="+mn-ea"/>
              </a:rPr>
              <a:t>ỉnh cao của cuộc đấu tranh giai cấp tất yếu sẽ dẫn đến CMXHCN, thay thế PTSX cũ bằng một PTSX mới tiến bộ hơn.</a:t>
            </a:r>
            <a:endParaRPr lang="en-US" altLang="en-US" dirty="0">
              <a:latin typeface="Times New Roman" panose="02020603050405020304" pitchFamily="18" charset="0"/>
              <a:cs typeface="Times New Roman" panose="02020603050405020304" pitchFamily="18" charset="0"/>
              <a:sym typeface="+mn-ea"/>
            </a:endParaRPr>
          </a:p>
          <a:p>
            <a:pPr algn="l">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sym typeface="+mn-ea"/>
              </a:rPr>
              <a:t>Đấu tranh giai cấp góp phần xóa bỏ các thế lực phản động, lạc hậu đồng thời cải tạo cả bản thân giai cấp CM. GC n</a:t>
            </a:r>
            <a:r>
              <a:rPr lang="en-US" altLang="en-US" dirty="0">
                <a:latin typeface="Times New Roman" panose="02020603050405020304" pitchFamily="18" charset="0"/>
                <a:ea typeface="Times New Roman" panose="02020603050405020304" pitchFamily="18" charset="0"/>
                <a:sym typeface="+mn-ea"/>
              </a:rPr>
              <a:t>à</a:t>
            </a:r>
            <a:r>
              <a:rPr lang="en-US" altLang="en-US" dirty="0">
                <a:latin typeface="Times New Roman" panose="02020603050405020304" pitchFamily="18" charset="0"/>
                <a:cs typeface="Times New Roman" panose="02020603050405020304" pitchFamily="18" charset="0"/>
                <a:sym typeface="+mn-ea"/>
              </a:rPr>
              <a:t>o đại biểu cho PTSX mới, GC đó sẽ lãnh đạo CM.</a:t>
            </a:r>
            <a:endParaRPr lang="en-US" altLang="en-US" dirty="0">
              <a:latin typeface="Times New Roman" panose="02020603050405020304" pitchFamily="18" charset="0"/>
              <a:cs typeface="Times New Roman" panose="02020603050405020304" pitchFamily="18" charset="0"/>
              <a:sym typeface="+mn-ea"/>
            </a:endParaRPr>
          </a:p>
          <a:p>
            <a:pPr algn="l">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sym typeface="+mn-ea"/>
              </a:rPr>
              <a:t>Đấu tranh giai cấp giữa GCVS &amp; GCTS l</a:t>
            </a:r>
            <a:r>
              <a:rPr lang="en-US" altLang="en-US" dirty="0">
                <a:latin typeface="Times New Roman" panose="02020603050405020304" pitchFamily="18" charset="0"/>
                <a:ea typeface="Times New Roman" panose="02020603050405020304" pitchFamily="18" charset="0"/>
                <a:sym typeface="+mn-ea"/>
              </a:rPr>
              <a:t>à</a:t>
            </a:r>
            <a:r>
              <a:rPr lang="en-US" altLang="en-US" dirty="0">
                <a:latin typeface="Times New Roman" panose="02020603050405020304" pitchFamily="18" charset="0"/>
                <a:cs typeface="Times New Roman" panose="02020603050405020304" pitchFamily="18" charset="0"/>
                <a:sym typeface="+mn-ea"/>
              </a:rPr>
              <a:t> cuộc ĐT sau cùng trong LSXH có GC.</a:t>
            </a:r>
            <a:endParaRPr lang="en-US" altLang="en-US" dirty="0">
              <a:latin typeface="Times New Roman" panose="02020603050405020304" pitchFamily="18" charset="0"/>
              <a:cs typeface="Times New Roman" panose="02020603050405020304" pitchFamily="18" charset="0"/>
              <a:sym typeface="+mn-ea"/>
            </a:endParaRPr>
          </a:p>
          <a:p>
            <a:pPr algn="l">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sym typeface="+mn-ea"/>
              </a:rPr>
              <a:t>Trước khi gi</a:t>
            </a:r>
            <a:r>
              <a:rPr lang="en-US" altLang="en-US" dirty="0">
                <a:latin typeface="Times New Roman" panose="02020603050405020304" pitchFamily="18" charset="0"/>
                <a:ea typeface="Times New Roman" panose="02020603050405020304" pitchFamily="18" charset="0"/>
                <a:sym typeface="+mn-ea"/>
              </a:rPr>
              <a:t>à</a:t>
            </a:r>
            <a:r>
              <a:rPr lang="en-US" altLang="en-US" dirty="0">
                <a:latin typeface="Times New Roman" panose="02020603050405020304" pitchFamily="18" charset="0"/>
                <a:cs typeface="Times New Roman" panose="02020603050405020304" pitchFamily="18" charset="0"/>
                <a:sym typeface="+mn-ea"/>
              </a:rPr>
              <a:t>nh được chính quyền đấu tranh giai cấp giữa GCVS &amp; GCTS l</a:t>
            </a:r>
            <a:r>
              <a:rPr lang="en-US" altLang="en-US" dirty="0">
                <a:latin typeface="Times New Roman" panose="02020603050405020304" pitchFamily="18" charset="0"/>
                <a:ea typeface="Times New Roman" panose="02020603050405020304" pitchFamily="18" charset="0"/>
                <a:sym typeface="+mn-ea"/>
              </a:rPr>
              <a:t>à</a:t>
            </a:r>
            <a:r>
              <a:rPr lang="en-US" altLang="en-US" dirty="0">
                <a:latin typeface="Times New Roman" panose="02020603050405020304" pitchFamily="18" charset="0"/>
                <a:cs typeface="Times New Roman" panose="02020603050405020304" pitchFamily="18" charset="0"/>
                <a:sym typeface="+mn-ea"/>
              </a:rPr>
              <a:t> ĐT Kt, tư tưởng, đt chính trị. Khi gi</a:t>
            </a:r>
            <a:r>
              <a:rPr lang="en-US" altLang="en-US" dirty="0">
                <a:latin typeface="Times New Roman" panose="02020603050405020304" pitchFamily="18" charset="0"/>
                <a:ea typeface="Times New Roman" panose="02020603050405020304" pitchFamily="18" charset="0"/>
                <a:sym typeface="+mn-ea"/>
              </a:rPr>
              <a:t>à</a:t>
            </a:r>
            <a:r>
              <a:rPr lang="en-US" altLang="en-US" dirty="0">
                <a:latin typeface="Times New Roman" panose="02020603050405020304" pitchFamily="18" charset="0"/>
                <a:cs typeface="Times New Roman" panose="02020603050405020304" pitchFamily="18" charset="0"/>
                <a:sym typeface="+mn-ea"/>
              </a:rPr>
              <a:t>nh đc chính quyền, thiết lập nền chuyên chính của GCVS, mục tiêu &amp; hình thức ĐTGC cũng thay đổi </a:t>
            </a:r>
            <a:endParaRPr lang="en-US" altLang="en-US" dirty="0">
              <a:solidFill>
                <a:schemeClr val="tx1"/>
              </a:solidFill>
              <a:latin typeface="Times New Roman" panose="02020603050405020304" pitchFamily="18" charset="0"/>
              <a:ea typeface="Times New Roman" panose="02020603050405020304" pitchFamily="18" charset="0"/>
            </a:endParaRPr>
          </a:p>
          <a:p>
            <a:pPr algn="l"/>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827405"/>
          </a:xfrm>
        </p:spPr>
        <p:txBody>
          <a:bodyPr/>
          <a:lstStyle/>
          <a:p>
            <a:pPr algn="just"/>
            <a:r>
              <a:rPr lang="vi-VN" altLang="en-US" sz="2800" b="1">
                <a:latin typeface="Times New Roman" panose="02020603050405020304" pitchFamily="18" charset="0"/>
                <a:cs typeface="Times New Roman" panose="02020603050405020304" pitchFamily="18" charset="0"/>
              </a:rPr>
              <a:t>c. Đấu tranh giai cấp của giai cấp vô sản</a:t>
            </a:r>
            <a:endParaRPr lang="vi-VN" altLang="en-US" sz="28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263650"/>
            <a:ext cx="10515600" cy="4913630"/>
          </a:xfrm>
        </p:spPr>
        <p:txBody>
          <a:bodyPr/>
          <a:lstStyle/>
          <a:p>
            <a:pPr algn="just">
              <a:buFont typeface="Wingdings" panose="05000000000000000000" charset="0"/>
              <a:buChar char="v"/>
            </a:pPr>
            <a:r>
              <a:rPr lang="vi-VN" altLang="en-US" b="1" i="1" dirty="0">
                <a:latin typeface="Times New Roman" panose="02020603050405020304" pitchFamily="18" charset="0"/>
                <a:cs typeface="Times New Roman" panose="02020603050405020304" pitchFamily="18" charset="0"/>
                <a:sym typeface="+mn-ea"/>
              </a:rPr>
              <a:t>Đấu tranh giai cấp của giai cấp vô sản khi chưa có chính quyền.</a:t>
            </a:r>
            <a:endParaRPr lang="vi-VN" altLang="en-US" b="1" dirty="0">
              <a:latin typeface="Times New Roman" panose="02020603050405020304" pitchFamily="18" charset="0"/>
              <a:cs typeface="Times New Roman" panose="02020603050405020304" pitchFamily="18" charset="0"/>
              <a:sym typeface="+mn-ea"/>
            </a:endParaRPr>
          </a:p>
          <a:p>
            <a:pPr marL="0" indent="0" algn="just">
              <a:buFont typeface="Wingdings" panose="05000000000000000000" charset="0"/>
              <a:buNone/>
            </a:pPr>
            <a:r>
              <a:rPr lang="vi-VN" altLang="en-US" b="1" dirty="0">
                <a:latin typeface="Times New Roman" panose="02020603050405020304" pitchFamily="18" charset="0"/>
                <a:cs typeface="Times New Roman" panose="02020603050405020304" pitchFamily="18" charset="0"/>
              </a:rPr>
              <a:t>- </a:t>
            </a:r>
            <a:r>
              <a:rPr lang="vi-VN" altLang="en-US" dirty="0">
                <a:latin typeface="Times New Roman" panose="02020603050405020304" pitchFamily="18" charset="0"/>
                <a:cs typeface="Times New Roman" panose="02020603050405020304" pitchFamily="18" charset="0"/>
              </a:rPr>
              <a:t>Đấu tranh kinh tế. Nhằm bảo vệ lợ ích hằng ngày của gc công nhân: tăng lương, rút ngắn thời gian lao động, cải thiện điều kiện sống...</a:t>
            </a:r>
            <a:endParaRPr lang="vi-VN" altLang="en-US" dirty="0">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r>
              <a:rPr lang="vi-VN" altLang="en-US" dirty="0">
                <a:latin typeface="Times New Roman" panose="02020603050405020304" pitchFamily="18" charset="0"/>
                <a:cs typeface="Times New Roman" panose="02020603050405020304" pitchFamily="18" charset="0"/>
              </a:rPr>
              <a:t>- </a:t>
            </a:r>
            <a:r>
              <a:rPr lang="vi-VN" altLang="en-US" dirty="0">
                <a:latin typeface="Times New Roman" panose="02020603050405020304" pitchFamily="18" charset="0"/>
                <a:cs typeface="Times New Roman" panose="02020603050405020304" pitchFamily="18" charset="0"/>
                <a:sym typeface="+mn-ea"/>
              </a:rPr>
              <a:t>Đấu tranh  chính trị, đánh đổ ách thống trị của gc tư sản, phản động, giành chính quyền về tay gcvs.</a:t>
            </a:r>
            <a:endParaRPr lang="vi-VN" altLang="en-US" dirty="0">
              <a:latin typeface="Times New Roman" panose="02020603050405020304" pitchFamily="18" charset="0"/>
              <a:cs typeface="Times New Roman" panose="02020603050405020304" pitchFamily="18" charset="0"/>
              <a:sym typeface="+mn-ea"/>
            </a:endParaRPr>
          </a:p>
          <a:p>
            <a:pPr marL="0" indent="0" algn="just">
              <a:buFont typeface="Wingdings" panose="05000000000000000000" charset="0"/>
              <a:buNone/>
            </a:pPr>
            <a:r>
              <a:rPr lang="vi-VN" altLang="en-US" dirty="0">
                <a:latin typeface="Times New Roman" panose="02020603050405020304" pitchFamily="18" charset="0"/>
                <a:cs typeface="Times New Roman" panose="02020603050405020304" pitchFamily="18" charset="0"/>
                <a:sym typeface="+mn-ea"/>
              </a:rPr>
              <a:t>- Đấu tranh tư tưởng là đập tan hệ tư tưởng của giai cấp tư sản.</a:t>
            </a:r>
            <a:endParaRPr lang="vi-VN" altLang="en-US" dirty="0">
              <a:latin typeface="Times New Roman" panose="02020603050405020304" pitchFamily="18" charset="0"/>
              <a:cs typeface="Times New Roman" panose="02020603050405020304" pitchFamily="18" charset="0"/>
            </a:endParaRPr>
          </a:p>
          <a:p>
            <a:pPr algn="just">
              <a:buFont typeface="Wingdings" panose="05000000000000000000" charset="0"/>
              <a:buChar char="v"/>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880745"/>
          </a:xfrm>
        </p:spPr>
        <p:txBody>
          <a:bodyPr/>
          <a:lstStyle/>
          <a:p>
            <a:pPr marL="457200" indent="-457200" algn="just">
              <a:buFont typeface="Wingdings" panose="05000000000000000000" charset="0"/>
              <a:buChar char="v"/>
            </a:pPr>
            <a:r>
              <a:rPr lang="vi-VN" altLang="en-US" sz="2800" b="1" i="1">
                <a:latin typeface="Times New Roman" panose="02020603050405020304" pitchFamily="18" charset="0"/>
                <a:cs typeface="Times New Roman" panose="02020603050405020304" pitchFamily="18" charset="0"/>
                <a:sym typeface="+mn-ea"/>
              </a:rPr>
              <a:t>Đấu tranh giai cấp trong thời kỳ quá độ từ CNTB lên CNXH</a:t>
            </a:r>
            <a:endParaRPr lang="en-US" sz="280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412240"/>
            <a:ext cx="10515600" cy="4765040"/>
          </a:xfrm>
        </p:spPr>
        <p:txBody>
          <a:bodyPr/>
          <a:lstStyle/>
          <a:p>
            <a:pPr algn="just"/>
            <a:r>
              <a:rPr lang="vi-VN" altLang="en-US">
                <a:latin typeface="Times New Roman" panose="02020603050405020304" pitchFamily="18" charset="0"/>
                <a:cs typeface="Times New Roman" panose="02020603050405020304" pitchFamily="18" charset="0"/>
              </a:rPr>
              <a:t>Đấu tranh giai cấp là tất yếu.</a:t>
            </a:r>
            <a:endParaRPr lang="vi-VN" altLang="en-US">
              <a:latin typeface="Times New Roman" panose="02020603050405020304" pitchFamily="18" charset="0"/>
              <a:cs typeface="Times New Roman" panose="02020603050405020304" pitchFamily="18" charset="0"/>
            </a:endParaRPr>
          </a:p>
          <a:p>
            <a:pPr algn="just"/>
            <a:r>
              <a:rPr lang="vi-VN" altLang="en-US">
                <a:latin typeface="Times New Roman" panose="02020603050405020304" pitchFamily="18" charset="0"/>
                <a:cs typeface="Times New Roman" panose="02020603050405020304" pitchFamily="18" charset="0"/>
              </a:rPr>
              <a:t>Diễn ra trong điều kiện mới với những thuận lợi cơ bản.</a:t>
            </a:r>
            <a:endParaRPr lang="vi-VN" altLang="en-US">
              <a:latin typeface="Times New Roman" panose="02020603050405020304" pitchFamily="18" charset="0"/>
              <a:cs typeface="Times New Roman" panose="02020603050405020304" pitchFamily="18" charset="0"/>
            </a:endParaRPr>
          </a:p>
          <a:p>
            <a:pPr algn="just"/>
            <a:r>
              <a:rPr lang="vi-VN" altLang="en-US">
                <a:latin typeface="Times New Roman" panose="02020603050405020304" pitchFamily="18" charset="0"/>
                <a:cs typeface="Times New Roman" panose="02020603050405020304" pitchFamily="18" charset="0"/>
              </a:rPr>
              <a:t>Có nội dung mới.</a:t>
            </a:r>
            <a:endParaRPr lang="vi-VN" altLang="en-US">
              <a:latin typeface="Times New Roman" panose="02020603050405020304" pitchFamily="18" charset="0"/>
              <a:cs typeface="Times New Roman" panose="02020603050405020304" pitchFamily="18" charset="0"/>
            </a:endParaRPr>
          </a:p>
          <a:p>
            <a:pPr algn="just"/>
            <a:r>
              <a:rPr lang="vi-VN" altLang="en-US">
                <a:latin typeface="Times New Roman" panose="02020603050405020304" pitchFamily="18" charset="0"/>
                <a:cs typeface="Times New Roman" panose="02020603050405020304" pitchFamily="18" charset="0"/>
              </a:rPr>
              <a:t>Hình thức mới</a:t>
            </a:r>
            <a:endParaRPr lang="vi-V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marL="457200" indent="-457200">
              <a:buFont typeface="Wingdings" panose="05000000000000000000" charset="0"/>
              <a:buChar char="v"/>
            </a:pPr>
            <a:r>
              <a:rPr lang="vi-VN" altLang="en-US" sz="2800" b="1">
                <a:latin typeface="Times New Roman" panose="02020603050405020304" pitchFamily="18" charset="0"/>
                <a:cs typeface="Times New Roman" panose="02020603050405020304" pitchFamily="18" charset="0"/>
              </a:rPr>
              <a:t>Đặc điểm đấu tranh giai cấp trong thời kỳ quá độ lên CNXH ở VN hiện nay</a:t>
            </a:r>
            <a:endParaRPr lang="vi-VN" altLang="en-US" sz="28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algn="just"/>
            <a:r>
              <a:rPr lang="vi-VN" altLang="en-US">
                <a:latin typeface="Times New Roman" panose="02020603050405020304" pitchFamily="18" charset="0"/>
                <a:cs typeface="Times New Roman" panose="02020603050405020304" pitchFamily="18" charset="0"/>
                <a:sym typeface="+mn-ea"/>
              </a:rPr>
              <a:t>Đấu tranh giai cấp là tất yếu.</a:t>
            </a:r>
            <a:endParaRPr lang="vi-VN" altLang="en-US">
              <a:latin typeface="Times New Roman" panose="02020603050405020304" pitchFamily="18" charset="0"/>
              <a:cs typeface="Times New Roman" panose="02020603050405020304" pitchFamily="18" charset="0"/>
            </a:endParaRPr>
          </a:p>
          <a:p>
            <a:pPr algn="just"/>
            <a:r>
              <a:rPr lang="vi-VN" altLang="en-US">
                <a:latin typeface="Times New Roman" panose="02020603050405020304" pitchFamily="18" charset="0"/>
                <a:cs typeface="Times New Roman" panose="02020603050405020304" pitchFamily="18" charset="0"/>
              </a:rPr>
              <a:t>Trong điều kiện mới, với những thuận lợi cơ bản và khó khăn</a:t>
            </a:r>
            <a:endParaRPr lang="vi-VN" altLang="en-US">
              <a:latin typeface="Times New Roman" panose="02020603050405020304" pitchFamily="18" charset="0"/>
              <a:cs typeface="Times New Roman" panose="02020603050405020304" pitchFamily="18" charset="0"/>
            </a:endParaRPr>
          </a:p>
          <a:p>
            <a:pPr algn="just"/>
            <a:r>
              <a:rPr lang="vi-VN" altLang="en-US">
                <a:latin typeface="Times New Roman" panose="02020603050405020304" pitchFamily="18" charset="0"/>
                <a:cs typeface="Times New Roman" panose="02020603050405020304" pitchFamily="18" charset="0"/>
              </a:rPr>
              <a:t>Nội dung của cuộc </a:t>
            </a:r>
            <a:r>
              <a:rPr lang="vi-VN" altLang="en-US">
                <a:latin typeface="Times New Roman" panose="02020603050405020304" pitchFamily="18" charset="0"/>
                <a:cs typeface="Times New Roman" panose="02020603050405020304" pitchFamily="18" charset="0"/>
                <a:sym typeface="+mn-ea"/>
              </a:rPr>
              <a:t>Đấu tranh giai cấp trong thời kỳ quá độ lên CNXH ở VN hiện nay là thực hiện thắng lợi mục tiêu độc lập dân tộc và CNXH...</a:t>
            </a:r>
            <a:endParaRPr lang="vi-VN" altLang="en-US">
              <a:latin typeface="Times New Roman" panose="02020603050405020304" pitchFamily="18" charset="0"/>
              <a:cs typeface="Times New Roman" panose="02020603050405020304" pitchFamily="18" charset="0"/>
              <a:sym typeface="+mn-ea"/>
            </a:endParaRPr>
          </a:p>
          <a:p>
            <a:pPr algn="just"/>
            <a:r>
              <a:rPr lang="vi-VN" altLang="en-US">
                <a:latin typeface="Times New Roman" panose="02020603050405020304" pitchFamily="18" charset="0"/>
                <a:cs typeface="Times New Roman" panose="02020603050405020304" pitchFamily="18" charset="0"/>
              </a:rPr>
              <a:t>Được diễn ra với nhiều hình thức đa dạng, phong phú</a:t>
            </a:r>
            <a:endParaRPr lang="vi-V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774700"/>
          </a:xfrm>
        </p:spPr>
        <p:txBody>
          <a:bodyPr/>
          <a:lstStyle/>
          <a:p>
            <a:pPr algn="just"/>
            <a:r>
              <a:rPr lang="vi-VN" altLang="en-US" sz="2800" b="1">
                <a:latin typeface="Times New Roman" panose="02020603050405020304" pitchFamily="18" charset="0"/>
                <a:cs typeface="Times New Roman" panose="02020603050405020304" pitchFamily="18" charset="0"/>
              </a:rPr>
              <a:t>2. Dân tộc</a:t>
            </a:r>
            <a:endParaRPr lang="vi-VN" altLang="en-US" sz="28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139825"/>
            <a:ext cx="10515600" cy="5037455"/>
          </a:xfrm>
        </p:spPr>
        <p:txBody>
          <a:bodyPr/>
          <a:lstStyle/>
          <a:p>
            <a:pPr marL="0" indent="0" algn="just">
              <a:buNone/>
            </a:pPr>
            <a:r>
              <a:rPr lang="vi-VN" altLang="en-US" sz="3000" b="1" dirty="0">
                <a:latin typeface="Times New Roman" panose="02020603050405020304" pitchFamily="18" charset="0"/>
                <a:cs typeface="Times New Roman" panose="02020603050405020304" pitchFamily="18" charset="0"/>
              </a:rPr>
              <a:t>a. Các hình thức cộng đồng người trước khi hình thành dân tộc</a:t>
            </a:r>
            <a:endParaRPr lang="vi-VN" altLang="en-US" sz="3000" b="1" dirty="0">
              <a:latin typeface="Times New Roman" panose="02020603050405020304" pitchFamily="18" charset="0"/>
              <a:cs typeface="Times New Roman" panose="02020603050405020304" pitchFamily="18" charset="0"/>
            </a:endParaRPr>
          </a:p>
          <a:p>
            <a:pPr algn="just">
              <a:buFontTx/>
              <a:buChar char="-"/>
            </a:pPr>
            <a:r>
              <a:rPr lang="vi-VN" altLang="en-US" b="1" i="1" dirty="0">
                <a:latin typeface="Times New Roman" panose="02020603050405020304" pitchFamily="18" charset="0"/>
                <a:cs typeface="Times New Roman" panose="02020603050405020304" pitchFamily="18" charset="0"/>
              </a:rPr>
              <a:t>Thị tộc</a:t>
            </a:r>
            <a:r>
              <a:rPr lang="vi-VN" altLang="en-US" dirty="0">
                <a:latin typeface="Times New Roman" panose="02020603050405020304" pitchFamily="18" charset="0"/>
                <a:cs typeface="Times New Roman" panose="02020603050405020304" pitchFamily="18" charset="0"/>
              </a:rPr>
              <a:t>, Ph.Angghen nói: </a:t>
            </a:r>
            <a:r>
              <a:rPr lang="vi-VN" altLang="en-US" i="1" dirty="0">
                <a:latin typeface="Times New Roman" panose="02020603050405020304" pitchFamily="18" charset="0"/>
                <a:cs typeface="Times New Roman" panose="02020603050405020304" pitchFamily="18" charset="0"/>
              </a:rPr>
              <a:t>thị tộc là một thiết chế chung cho tất cả các dân dã man, cho tận đến khi họ bước vào thời đại văn minh, và thậm chí còn sau hơn nữa</a:t>
            </a:r>
            <a:endParaRPr lang="vi-VN" altLang="en-US" i="1" dirty="0">
              <a:latin typeface="Times New Roman" panose="02020603050405020304" pitchFamily="18" charset="0"/>
              <a:cs typeface="Times New Roman" panose="02020603050405020304" pitchFamily="18" charset="0"/>
            </a:endParaRPr>
          </a:p>
          <a:p>
            <a:pPr algn="just">
              <a:buFontTx/>
              <a:buChar char="-"/>
            </a:pPr>
            <a:r>
              <a:rPr lang="vi-VN" altLang="en-US" b="1" i="1" dirty="0">
                <a:latin typeface="Times New Roman" panose="02020603050405020304" pitchFamily="18" charset="0"/>
                <a:cs typeface="Times New Roman" panose="02020603050405020304" pitchFamily="18" charset="0"/>
              </a:rPr>
              <a:t>Bộ lạc: </a:t>
            </a:r>
            <a:r>
              <a:rPr lang="vi-VN" altLang="en-US" i="1" dirty="0">
                <a:latin typeface="Times New Roman" panose="02020603050405020304" pitchFamily="18" charset="0"/>
                <a:cs typeface="Times New Roman" panose="02020603050405020304" pitchFamily="18" charset="0"/>
              </a:rPr>
              <a:t>là cộng đồng bao gồm những thị tộc có quan hệ cùng huyết thống hoặc các thị tộc có quan hệ hôn nhân liên kết với nhau.</a:t>
            </a:r>
            <a:endParaRPr lang="vi-VN" altLang="en-US" i="1" dirty="0">
              <a:latin typeface="Times New Roman" panose="02020603050405020304" pitchFamily="18" charset="0"/>
              <a:cs typeface="Times New Roman" panose="02020603050405020304" pitchFamily="18" charset="0"/>
            </a:endParaRPr>
          </a:p>
          <a:p>
            <a:pPr algn="just">
              <a:buFontTx/>
              <a:buChar char="-"/>
            </a:pPr>
            <a:r>
              <a:rPr lang="vi-VN" altLang="en-US" b="1" i="1" dirty="0">
                <a:latin typeface="Times New Roman" panose="02020603050405020304" pitchFamily="18" charset="0"/>
                <a:cs typeface="Times New Roman" panose="02020603050405020304" pitchFamily="18" charset="0"/>
              </a:rPr>
              <a:t>Bộ tộc:</a:t>
            </a:r>
            <a:r>
              <a:rPr lang="vi-VN" altLang="en-US" dirty="0">
                <a:latin typeface="Times New Roman" panose="02020603050405020304" pitchFamily="18" charset="0"/>
                <a:cs typeface="Times New Roman" panose="02020603050405020304" pitchFamily="18" charset="0"/>
              </a:rPr>
              <a:t> </a:t>
            </a:r>
            <a:r>
              <a:rPr lang="vi-VN" altLang="en-US" i="1" dirty="0">
                <a:latin typeface="Times New Roman" panose="02020603050405020304" pitchFamily="18" charset="0"/>
                <a:cs typeface="Times New Roman" panose="02020603050405020304" pitchFamily="18" charset="0"/>
              </a:rPr>
              <a:t>Là hình thức cộng đồng người hình thành khi xã hội có sự phân chia thành giai cấp.</a:t>
            </a:r>
            <a:endParaRPr lang="vi-V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6989"/>
          </a:xfrm>
        </p:spPr>
        <p:txBody>
          <a:bodyPr>
            <a:normAutofit/>
          </a:bodyPr>
          <a:lstStyle/>
          <a:p>
            <a:r>
              <a:rPr lang="vi-VN" altLang="en-US" sz="3200" b="1" dirty="0">
                <a:latin typeface="Times New Roman" panose="02020603050405020304" pitchFamily="18" charset="0"/>
                <a:cs typeface="Times New Roman" panose="02020603050405020304" pitchFamily="18" charset="0"/>
              </a:rPr>
              <a:t>b. Dân tộc - hình thức cộng đồng người phổ biến hiện nay</a:t>
            </a:r>
            <a:endParaRPr lang="en-US" sz="3200" dirty="0"/>
          </a:p>
        </p:txBody>
      </p:sp>
      <p:sp>
        <p:nvSpPr>
          <p:cNvPr id="3" name="Content Placeholder 2"/>
          <p:cNvSpPr>
            <a:spLocks noGrp="1"/>
          </p:cNvSpPr>
          <p:nvPr>
            <p:ph idx="1"/>
          </p:nvPr>
        </p:nvSpPr>
        <p:spPr>
          <a:xfrm>
            <a:off x="838200" y="1208314"/>
            <a:ext cx="10515600" cy="4968649"/>
          </a:xfrm>
        </p:spPr>
        <p:txBody>
          <a:bodyPr/>
          <a:lstStyle/>
          <a:p>
            <a:pPr marL="0" indent="0">
              <a:buNone/>
            </a:pPr>
            <a:endParaRPr lang="en-US" dirty="0"/>
          </a:p>
        </p:txBody>
      </p:sp>
      <p:sp>
        <p:nvSpPr>
          <p:cNvPr id="5" name="Rectangle: Diagonal Corners Snipped 4"/>
          <p:cNvSpPr/>
          <p:nvPr/>
        </p:nvSpPr>
        <p:spPr>
          <a:xfrm>
            <a:off x="1088569" y="1284514"/>
            <a:ext cx="8469087" cy="1415143"/>
          </a:xfrm>
          <a:prstGeom prst="snip2Diag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buFont typeface="Wingdings" panose="05000000000000000000" charset="0"/>
              <a:buChar char="v"/>
            </a:pPr>
            <a:r>
              <a:rPr lang="vi-VN" altLang="en-US" sz="2000" b="1">
                <a:latin typeface="Times New Roman" panose="02020603050405020304" pitchFamily="18" charset="0"/>
                <a:cs typeface="Times New Roman" panose="02020603050405020304" pitchFamily="18" charset="0"/>
              </a:rPr>
              <a:t>Khái niệm dân tộc</a:t>
            </a:r>
            <a:endParaRPr lang="vi-VN" altLang="en-US" sz="2000" b="1">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r>
              <a:rPr lang="vi-VN" altLang="en-US" sz="1800" i="1">
                <a:latin typeface="Times New Roman" panose="02020603050405020304" pitchFamily="18" charset="0"/>
                <a:cs typeface="Times New Roman" panose="02020603050405020304" pitchFamily="18" charset="0"/>
                <a:sym typeface="+mn-ea"/>
              </a:rPr>
              <a:t>Dân tộc là một cộng đồng người ổn định, được hình thành trong lịch sử trên cơ sở một lãnh thổ, một ngôn ngữ, một nền kinh tế thống nhất, một nền văn hóa và tâm lý, tính cách, tính cách bền vững, với một nhà nước và pháp luật thống nhất</a:t>
            </a:r>
            <a:endParaRPr lang="vi-VN" altLang="en-US" sz="1800" i="1">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endParaRPr lang="vi-VN" altLang="en-US" sz="1800" i="1" dirty="0">
              <a:latin typeface="Times New Roman" panose="02020603050405020304" pitchFamily="18" charset="0"/>
              <a:cs typeface="Times New Roman" panose="02020603050405020304" pitchFamily="18" charset="0"/>
            </a:endParaRPr>
          </a:p>
        </p:txBody>
      </p:sp>
      <p:sp>
        <p:nvSpPr>
          <p:cNvPr id="6" name="Rectangle 5"/>
          <p:cNvSpPr/>
          <p:nvPr/>
        </p:nvSpPr>
        <p:spPr>
          <a:xfrm>
            <a:off x="990601" y="3581400"/>
            <a:ext cx="1143000" cy="17199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buFont typeface="Wingdings" panose="05000000000000000000" charset="0"/>
              <a:buChar char="v"/>
            </a:pPr>
            <a:r>
              <a:rPr lang="vi-VN" altLang="en-US" sz="1800" b="1" dirty="0">
                <a:latin typeface="Times New Roman" panose="02020603050405020304" pitchFamily="18" charset="0"/>
                <a:cs typeface="Times New Roman" panose="02020603050405020304" pitchFamily="18" charset="0"/>
              </a:rPr>
              <a:t>Đặc trưng của dân tộc</a:t>
            </a:r>
            <a:endParaRPr lang="vi-VN" altLang="en-US" sz="1800" b="1" dirty="0">
              <a:latin typeface="Times New Roman" panose="02020603050405020304" pitchFamily="18" charset="0"/>
              <a:cs typeface="Times New Roman" panose="02020603050405020304" pitchFamily="18" charset="0"/>
            </a:endParaRPr>
          </a:p>
        </p:txBody>
      </p:sp>
      <p:sp>
        <p:nvSpPr>
          <p:cNvPr id="7" name="Rectangle: Rounded Corners 6"/>
          <p:cNvSpPr/>
          <p:nvPr/>
        </p:nvSpPr>
        <p:spPr>
          <a:xfrm>
            <a:off x="2612571" y="2862944"/>
            <a:ext cx="6063344" cy="49598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indent="0" algn="just">
              <a:buFont typeface="Wingdings" panose="05000000000000000000" charset="0"/>
              <a:buNone/>
            </a:pPr>
            <a:r>
              <a:rPr lang="vi-VN" altLang="en-US" dirty="0">
                <a:latin typeface="Times New Roman" panose="02020603050405020304" pitchFamily="18" charset="0"/>
                <a:cs typeface="Times New Roman" panose="02020603050405020304" pitchFamily="18" charset="0"/>
              </a:rPr>
              <a:t>- là một cộng đồng người ổn định trên một lãnh thổ thống nhất.</a:t>
            </a:r>
            <a:endParaRPr lang="vi-VN" altLang="en-US" dirty="0">
              <a:latin typeface="Times New Roman" panose="02020603050405020304" pitchFamily="18" charset="0"/>
              <a:cs typeface="Times New Roman" panose="02020603050405020304" pitchFamily="18" charset="0"/>
            </a:endParaRPr>
          </a:p>
        </p:txBody>
      </p:sp>
      <p:sp>
        <p:nvSpPr>
          <p:cNvPr id="8" name="Rectangle: Rounded Corners 7"/>
          <p:cNvSpPr/>
          <p:nvPr/>
        </p:nvSpPr>
        <p:spPr>
          <a:xfrm>
            <a:off x="2612569" y="3488190"/>
            <a:ext cx="4256317" cy="4476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indent="0" algn="just">
              <a:buFont typeface="Wingdings" panose="05000000000000000000" charset="0"/>
              <a:buNone/>
            </a:pPr>
            <a:r>
              <a:rPr lang="vi-VN" altLang="en-US" dirty="0">
                <a:latin typeface="Times New Roman" panose="02020603050405020304" pitchFamily="18" charset="0"/>
                <a:cs typeface="Times New Roman" panose="02020603050405020304" pitchFamily="18" charset="0"/>
                <a:sym typeface="+mn-ea"/>
              </a:rPr>
              <a:t>- là một cộng đồng thống nhất về ngôn ngữ.</a:t>
            </a:r>
            <a:endParaRPr lang="vi-VN" altLang="en-US" dirty="0">
              <a:latin typeface="Times New Roman" panose="02020603050405020304" pitchFamily="18" charset="0"/>
              <a:cs typeface="Times New Roman" panose="02020603050405020304" pitchFamily="18" charset="0"/>
              <a:sym typeface="+mn-ea"/>
            </a:endParaRPr>
          </a:p>
        </p:txBody>
      </p:sp>
      <p:sp>
        <p:nvSpPr>
          <p:cNvPr id="9" name="Rectangle: Rounded Corners 8"/>
          <p:cNvSpPr/>
          <p:nvPr/>
        </p:nvSpPr>
        <p:spPr>
          <a:xfrm>
            <a:off x="2612571" y="4059008"/>
            <a:ext cx="4060372" cy="44018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indent="0" algn="just">
              <a:buFont typeface="Wingdings" panose="05000000000000000000" charset="0"/>
              <a:buNone/>
            </a:pPr>
            <a:r>
              <a:rPr lang="vi-VN" altLang="en-US" dirty="0">
                <a:latin typeface="Times New Roman" panose="02020603050405020304" pitchFamily="18" charset="0"/>
                <a:cs typeface="Times New Roman" panose="02020603050405020304" pitchFamily="18" charset="0"/>
                <a:sym typeface="+mn-ea"/>
              </a:rPr>
              <a:t>- là một cộng đồng thống nhất về kinh tế.</a:t>
            </a:r>
            <a:endParaRPr lang="vi-VN" altLang="en-US" dirty="0">
              <a:latin typeface="Times New Roman" panose="02020603050405020304" pitchFamily="18" charset="0"/>
              <a:cs typeface="Times New Roman" panose="02020603050405020304" pitchFamily="18" charset="0"/>
              <a:sym typeface="+mn-ea"/>
            </a:endParaRPr>
          </a:p>
        </p:txBody>
      </p:sp>
      <p:sp>
        <p:nvSpPr>
          <p:cNvPr id="10" name="Rectangle: Rounded Corners 9"/>
          <p:cNvSpPr/>
          <p:nvPr/>
        </p:nvSpPr>
        <p:spPr>
          <a:xfrm>
            <a:off x="2699656" y="4674757"/>
            <a:ext cx="5976259" cy="51708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indent="0" algn="just">
              <a:buFont typeface="Wingdings" panose="05000000000000000000" charset="0"/>
              <a:buNone/>
            </a:pPr>
            <a:r>
              <a:rPr lang="vi-VN" altLang="en-US" dirty="0">
                <a:latin typeface="Times New Roman" panose="02020603050405020304" pitchFamily="18" charset="0"/>
                <a:cs typeface="Times New Roman" panose="02020603050405020304" pitchFamily="18" charset="0"/>
                <a:sym typeface="+mn-ea"/>
              </a:rPr>
              <a:t>- là một cộng đồng  bền vững về văn hóa, tâm lý và tính cách.</a:t>
            </a:r>
            <a:endParaRPr lang="vi-VN" altLang="en-US" dirty="0">
              <a:latin typeface="Times New Roman" panose="02020603050405020304" pitchFamily="18" charset="0"/>
              <a:cs typeface="Times New Roman" panose="02020603050405020304" pitchFamily="18" charset="0"/>
              <a:sym typeface="+mn-ea"/>
            </a:endParaRPr>
          </a:p>
        </p:txBody>
      </p:sp>
      <p:sp>
        <p:nvSpPr>
          <p:cNvPr id="11" name="Rectangle: Rounded Corners 10"/>
          <p:cNvSpPr/>
          <p:nvPr/>
        </p:nvSpPr>
        <p:spPr>
          <a:xfrm>
            <a:off x="2699657" y="5296588"/>
            <a:ext cx="6520541" cy="51708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altLang="en-US" dirty="0">
                <a:latin typeface="Times New Roman" panose="02020603050405020304" pitchFamily="18" charset="0"/>
                <a:cs typeface="Times New Roman" panose="02020603050405020304" pitchFamily="18" charset="0"/>
                <a:sym typeface="+mn-ea"/>
              </a:rPr>
              <a:t>- là một cộng đồng người có một nhà nước và pháp luật thống nhất</a:t>
            </a:r>
            <a:endParaRPr lang="en-US" dirty="0"/>
          </a:p>
        </p:txBody>
      </p:sp>
      <p:cxnSp>
        <p:nvCxnSpPr>
          <p:cNvPr id="13" name="Straight Arrow Connector 12"/>
          <p:cNvCxnSpPr>
            <a:stCxn id="6" idx="3"/>
          </p:cNvCxnSpPr>
          <p:nvPr/>
        </p:nvCxnSpPr>
        <p:spPr>
          <a:xfrm flipV="1">
            <a:off x="2133601" y="3102429"/>
            <a:ext cx="478969" cy="13389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6" idx="3"/>
          </p:cNvCxnSpPr>
          <p:nvPr/>
        </p:nvCxnSpPr>
        <p:spPr>
          <a:xfrm flipV="1">
            <a:off x="2133601" y="3679371"/>
            <a:ext cx="478969" cy="7620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6" idx="3"/>
            <a:endCxn id="9" idx="1"/>
          </p:cNvCxnSpPr>
          <p:nvPr/>
        </p:nvCxnSpPr>
        <p:spPr>
          <a:xfrm flipV="1">
            <a:off x="2133601" y="4279103"/>
            <a:ext cx="478970" cy="1622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6" idx="3"/>
          </p:cNvCxnSpPr>
          <p:nvPr/>
        </p:nvCxnSpPr>
        <p:spPr>
          <a:xfrm>
            <a:off x="2133601" y="4441372"/>
            <a:ext cx="566056" cy="5225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6" idx="3"/>
          </p:cNvCxnSpPr>
          <p:nvPr/>
        </p:nvCxnSpPr>
        <p:spPr>
          <a:xfrm>
            <a:off x="2133601" y="4441372"/>
            <a:ext cx="566056" cy="12083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1060450"/>
          </a:xfrm>
        </p:spPr>
        <p:txBody>
          <a:bodyPr/>
          <a:lstStyle/>
          <a:p>
            <a:pPr algn="just"/>
            <a:r>
              <a:rPr lang="vi-VN" altLang="en-US" sz="2800" b="1">
                <a:latin typeface="Times New Roman" panose="02020603050405020304" pitchFamily="18" charset="0"/>
                <a:cs typeface="Times New Roman" panose="02020603050405020304" pitchFamily="18" charset="0"/>
              </a:rPr>
              <a:t>3. Mối quan hệ giai cấp - dân tộc - nhân loại</a:t>
            </a:r>
            <a:endParaRPr lang="vi-VN" altLang="en-US" sz="28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424940"/>
            <a:ext cx="10515600" cy="4752340"/>
          </a:xfrm>
        </p:spPr>
        <p:txBody>
          <a:bodyPr/>
          <a:lstStyle/>
          <a:p>
            <a:pPr marL="0" indent="0" algn="just">
              <a:buNone/>
            </a:pPr>
            <a:r>
              <a:rPr lang="vi-VN" altLang="en-US" sz="3200" b="1" dirty="0">
                <a:latin typeface="Times New Roman" panose="02020603050405020304" pitchFamily="18" charset="0"/>
                <a:cs typeface="Times New Roman" panose="02020603050405020304" pitchFamily="18" charset="0"/>
              </a:rPr>
              <a:t>a. Quan hệ giai cấp - dân tộc</a:t>
            </a:r>
            <a:endParaRPr lang="vi-VN" altLang="en-US" sz="3200" b="1" dirty="0">
              <a:latin typeface="Times New Roman" panose="02020603050405020304" pitchFamily="18" charset="0"/>
              <a:cs typeface="Times New Roman" panose="02020603050405020304" pitchFamily="18" charset="0"/>
            </a:endParaRPr>
          </a:p>
          <a:p>
            <a:pPr marL="0" indent="0" algn="just">
              <a:buNone/>
            </a:pPr>
            <a:endParaRPr lang="vi-VN" altLang="en-US" sz="3200" b="1" dirty="0">
              <a:latin typeface="Times New Roman" panose="02020603050405020304" pitchFamily="18" charset="0"/>
              <a:cs typeface="Times New Roman" panose="02020603050405020304" pitchFamily="18" charset="0"/>
            </a:endParaRPr>
          </a:p>
          <a:p>
            <a:pPr algn="just">
              <a:buFontTx/>
              <a:buChar char="-"/>
            </a:pPr>
            <a:r>
              <a:rPr lang="vi-VN" altLang="en-US" dirty="0">
                <a:latin typeface="Times New Roman" panose="02020603050405020304" pitchFamily="18" charset="0"/>
                <a:cs typeface="Times New Roman" panose="02020603050405020304" pitchFamily="18" charset="0"/>
              </a:rPr>
              <a:t>Giai cấp quyết định dân tộc: Quyết định khuynh hướng phát triển và tính chất của dân tộc.</a:t>
            </a:r>
            <a:endParaRPr lang="vi-VN" altLang="en-US" dirty="0">
              <a:latin typeface="Times New Roman" panose="02020603050405020304" pitchFamily="18" charset="0"/>
              <a:cs typeface="Times New Roman" panose="02020603050405020304" pitchFamily="18" charset="0"/>
            </a:endParaRPr>
          </a:p>
          <a:p>
            <a:pPr algn="just">
              <a:buFontTx/>
              <a:buChar char="-"/>
            </a:pPr>
            <a:r>
              <a:rPr lang="vi-VN" altLang="en-US" dirty="0">
                <a:latin typeface="Times New Roman" panose="02020603050405020304" pitchFamily="18" charset="0"/>
                <a:cs typeface="Times New Roman" panose="02020603050405020304" pitchFamily="18" charset="0"/>
              </a:rPr>
              <a:t>Vấn đề dân tộc có ảnh hưởng quan trọng đến vấn đề giai cấp.</a:t>
            </a:r>
            <a:endParaRPr lang="vi-VN" altLang="en-US" dirty="0">
              <a:latin typeface="Times New Roman" panose="02020603050405020304" pitchFamily="18" charset="0"/>
              <a:cs typeface="Times New Roman" panose="02020603050405020304" pitchFamily="18" charset="0"/>
            </a:endParaRPr>
          </a:p>
          <a:p>
            <a:pPr algn="just">
              <a:buFontTx/>
              <a:buChar char="-"/>
            </a:pPr>
            <a:r>
              <a:rPr lang="vi-VN" altLang="en-US" dirty="0">
                <a:latin typeface="Times New Roman" panose="02020603050405020304" pitchFamily="18" charset="0"/>
                <a:cs typeface="Times New Roman" panose="02020603050405020304" pitchFamily="18" charset="0"/>
              </a:rPr>
              <a:t>Đấu tranh giải phóng dân tộc là điều kiện, tiền đề cho đấu tranh giải phóng giai cấp.</a:t>
            </a:r>
            <a:endParaRPr lang="vi-V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881380"/>
          </a:xfrm>
        </p:spPr>
        <p:txBody>
          <a:bodyPr>
            <a:normAutofit fontScale="90000"/>
          </a:bodyPr>
          <a:lstStyle/>
          <a:p>
            <a:pPr algn="l"/>
            <a:br>
              <a:rPr lang="vi-VN" altLang="en-US" sz="3200" b="1">
                <a:latin typeface="Times New Roman" panose="02020603050405020304" pitchFamily="18" charset="0"/>
                <a:cs typeface="Times New Roman" panose="02020603050405020304" pitchFamily="18" charset="0"/>
                <a:sym typeface="+mn-ea"/>
              </a:rPr>
            </a:br>
            <a:r>
              <a:rPr lang="vi-VN" altLang="en-US" sz="3200" b="1">
                <a:latin typeface="Times New Roman" panose="02020603050405020304" pitchFamily="18" charset="0"/>
                <a:cs typeface="Times New Roman" panose="02020603050405020304" pitchFamily="18" charset="0"/>
                <a:sym typeface="+mn-ea"/>
              </a:rPr>
              <a:t>b. Quan hệ giai cấp, dân tộc với nhân loại</a:t>
            </a:r>
            <a:br>
              <a:rPr lang="vi-VN" altLang="en-US" sz="3200" b="1">
                <a:latin typeface="Times New Roman" panose="02020603050405020304" pitchFamily="18" charset="0"/>
                <a:cs typeface="Times New Roman" panose="02020603050405020304" pitchFamily="18" charset="0"/>
              </a:rPr>
            </a:br>
            <a:endParaRPr lang="en-US" sz="320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423670"/>
            <a:ext cx="10515600" cy="4753610"/>
          </a:xfrm>
        </p:spPr>
        <p:txBody>
          <a:bodyPr/>
          <a:lstStyle/>
          <a:p>
            <a:pPr algn="just"/>
            <a:r>
              <a:rPr lang="vi-VN" altLang="en-US" dirty="0">
                <a:latin typeface="Times New Roman" panose="02020603050405020304" pitchFamily="18" charset="0"/>
                <a:cs typeface="Times New Roman" panose="02020603050405020304" pitchFamily="18" charset="0"/>
                <a:sym typeface="+mn-ea"/>
              </a:rPr>
              <a:t>Giai cấp, dân tộc với nhân loạicó mối quan hệ biện chứng với nhau</a:t>
            </a:r>
            <a:endParaRPr lang="vi-VN" altLang="en-US" dirty="0">
              <a:latin typeface="Times New Roman" panose="02020603050405020304" pitchFamily="18" charset="0"/>
              <a:cs typeface="Times New Roman" panose="02020603050405020304" pitchFamily="18" charset="0"/>
              <a:sym typeface="+mn-ea"/>
            </a:endParaRPr>
          </a:p>
          <a:p>
            <a:pPr algn="l"/>
            <a:r>
              <a:rPr lang="vi-VN" altLang="en-US" dirty="0">
                <a:latin typeface="Times New Roman" panose="02020603050405020304" pitchFamily="18" charset="0"/>
                <a:cs typeface="Times New Roman" panose="02020603050405020304" pitchFamily="18" charset="0"/>
                <a:sym typeface="+mn-ea"/>
              </a:rPr>
              <a:t>Trong XH có giai cấp, lợi ích nhân loại không tách rời với lợi ích giai cấp, lợi ích dân tộc và bị chi phối bởi lợi ích giai cấp và dân tộc</a:t>
            </a:r>
            <a:endParaRPr lang="vi-VN" altLang="en-US" dirty="0">
              <a:latin typeface="Times New Roman" panose="02020603050405020304" pitchFamily="18" charset="0"/>
              <a:cs typeface="Times New Roman" panose="02020603050405020304" pitchFamily="18" charset="0"/>
              <a:sym typeface="+mn-ea"/>
            </a:endParaRPr>
          </a:p>
          <a:p>
            <a:pPr algn="l"/>
            <a:r>
              <a:rPr lang="vi-VN" altLang="en-US" dirty="0">
                <a:latin typeface="Times New Roman" panose="02020603050405020304" pitchFamily="18" charset="0"/>
                <a:cs typeface="Times New Roman" panose="02020603050405020304" pitchFamily="18" charset="0"/>
                <a:sym typeface="+mn-ea"/>
              </a:rPr>
              <a:t>Sự tồn tại của nhân loại là tiền đề, là điều kiện tất yếu, thường xuyên của sự tồn tại dân tộc và giai cấp.</a:t>
            </a:r>
            <a:endParaRPr lang="vi-VN" altLang="en-US" dirty="0">
              <a:latin typeface="Times New Roman" panose="02020603050405020304" pitchFamily="18" charset="0"/>
              <a:cs typeface="Times New Roman" panose="02020603050405020304" pitchFamily="18" charset="0"/>
              <a:sym typeface="+mn-ea"/>
            </a:endParaRPr>
          </a:p>
          <a:p>
            <a:pPr algn="l"/>
            <a:r>
              <a:rPr lang="vi-VN" altLang="en-US" dirty="0">
                <a:latin typeface="Times New Roman" panose="02020603050405020304" pitchFamily="18" charset="0"/>
                <a:cs typeface="Times New Roman" panose="02020603050405020304" pitchFamily="18" charset="0"/>
                <a:sym typeface="+mn-ea"/>
              </a:rPr>
              <a:t>Sự phát triển về mọi mặt của nhân loại tạo ra những điều kiện thuận lợi cho cuộc đấu tranh giải phóng dân tộc và giai cấp.</a:t>
            </a:r>
            <a:br>
              <a:rPr lang="vi-VN" altLang="en-US" dirty="0">
                <a:latin typeface="Times New Roman" panose="02020603050405020304" pitchFamily="18" charset="0"/>
                <a:cs typeface="Times New Roman" panose="02020603050405020304" pitchFamily="18" charset="0"/>
                <a:sym typeface="+mn-ea"/>
              </a:rPr>
            </a:b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955675"/>
          </a:xfrm>
        </p:spPr>
        <p:txBody>
          <a:bodyPr/>
          <a:lstStyle/>
          <a:p>
            <a:pPr algn="just"/>
            <a:r>
              <a:rPr lang="vi-VN" altLang="en-US" sz="2800" b="1">
                <a:latin typeface="Times New Roman" panose="02020603050405020304" pitchFamily="18" charset="0"/>
                <a:cs typeface="Times New Roman" panose="02020603050405020304" pitchFamily="18" charset="0"/>
              </a:rPr>
              <a:t>III. Nhà nước và CMXH</a:t>
            </a:r>
            <a:endParaRPr lang="vi-VN" altLang="en-US" sz="28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179830"/>
            <a:ext cx="10515600" cy="5133884"/>
          </a:xfrm>
        </p:spPr>
        <p:txBody>
          <a:bodyPr>
            <a:normAutofit/>
          </a:bodyPr>
          <a:lstStyle/>
          <a:p>
            <a:pPr marL="0" indent="0" algn="just">
              <a:buNone/>
            </a:pPr>
            <a:r>
              <a:rPr lang="vi-VN" altLang="en-US" sz="3600" b="1" dirty="0">
                <a:latin typeface="Times New Roman" panose="02020603050405020304" pitchFamily="18" charset="0"/>
                <a:cs typeface="Times New Roman" panose="02020603050405020304" pitchFamily="18" charset="0"/>
              </a:rPr>
              <a:t>1. Nhà nước</a:t>
            </a:r>
            <a:endParaRPr lang="vi-VN" altLang="en-US" sz="3600" b="1" dirty="0">
              <a:latin typeface="Times New Roman" panose="02020603050405020304" pitchFamily="18" charset="0"/>
              <a:cs typeface="Times New Roman" panose="02020603050405020304" pitchFamily="18" charset="0"/>
            </a:endParaRPr>
          </a:p>
          <a:p>
            <a:pPr marL="0" indent="0" algn="just">
              <a:buNone/>
            </a:pPr>
            <a:r>
              <a:rPr lang="vi-VN" altLang="en-US" sz="3600" b="1" dirty="0">
                <a:latin typeface="Times New Roman" panose="02020603050405020304" pitchFamily="18" charset="0"/>
                <a:cs typeface="Times New Roman" panose="02020603050405020304" pitchFamily="18" charset="0"/>
              </a:rPr>
              <a:t>a. Nguồn gốc của nhà nước</a:t>
            </a:r>
            <a:endParaRPr lang="vi-VN" altLang="en-US" sz="3600" b="1" dirty="0">
              <a:latin typeface="Times New Roman" panose="02020603050405020304" pitchFamily="18" charset="0"/>
              <a:cs typeface="Times New Roman" panose="02020603050405020304" pitchFamily="18" charset="0"/>
            </a:endParaRPr>
          </a:p>
          <a:p>
            <a:pPr marL="0" indent="0" algn="just">
              <a:buNone/>
            </a:pPr>
            <a:r>
              <a:rPr lang="vi-VN" altLang="en-US" dirty="0">
                <a:latin typeface="Times New Roman" panose="02020603050405020304" pitchFamily="18" charset="0"/>
                <a:cs typeface="Times New Roman" panose="02020603050405020304" pitchFamily="18" charset="0"/>
              </a:rPr>
              <a:t>Trong tác phẩm </a:t>
            </a:r>
            <a:r>
              <a:rPr lang="vi-VN" altLang="en-US" i="1" dirty="0">
                <a:latin typeface="Times New Roman" panose="02020603050405020304" pitchFamily="18" charset="0"/>
                <a:cs typeface="Times New Roman" panose="02020603050405020304" pitchFamily="18" charset="0"/>
              </a:rPr>
              <a:t>Nguồn gốc của gia đình, của chế độ tư hữu và của nhà nước</a:t>
            </a:r>
            <a:r>
              <a:rPr lang="vi-VN" altLang="en-US" dirty="0">
                <a:latin typeface="Times New Roman" panose="02020603050405020304" pitchFamily="18" charset="0"/>
                <a:cs typeface="Times New Roman" panose="02020603050405020304" pitchFamily="18" charset="0"/>
              </a:rPr>
              <a:t> Ph.Angghen viết</a:t>
            </a:r>
            <a:r>
              <a:rPr lang="vi-VN" altLang="en-US">
                <a:latin typeface="Times New Roman" panose="02020603050405020304" pitchFamily="18" charset="0"/>
                <a:cs typeface="Times New Roman" panose="02020603050405020304" pitchFamily="18" charset="0"/>
              </a:rPr>
              <a:t>: </a:t>
            </a:r>
            <a:r>
              <a:rPr lang="vi-VN" altLang="en-US" b="1">
                <a:latin typeface="Times New Roman" panose="02020603050405020304" pitchFamily="18" charset="0"/>
                <a:cs typeface="Times New Roman" panose="02020603050405020304" pitchFamily="18" charset="0"/>
              </a:rPr>
              <a:t>“</a:t>
            </a:r>
            <a:r>
              <a:rPr lang="vi-VN" altLang="en-US" b="1" i="1" dirty="0">
                <a:latin typeface="Times New Roman" panose="02020603050405020304" pitchFamily="18" charset="0"/>
                <a:cs typeface="Times New Roman" panose="02020603050405020304" pitchFamily="18" charset="0"/>
              </a:rPr>
              <a:t>Nhà nước là sản phẩm của XH đã phát triển tới một gia đoạn nhất định</a:t>
            </a:r>
            <a:r>
              <a:rPr lang="vi-VN" altLang="en-US" b="1" dirty="0">
                <a:latin typeface="Times New Roman" panose="02020603050405020304" pitchFamily="18" charset="0"/>
                <a:cs typeface="Times New Roman" panose="02020603050405020304" pitchFamily="18" charset="0"/>
              </a:rPr>
              <a:t>”</a:t>
            </a:r>
            <a:endParaRPr lang="vi-VN" altLang="en-US" b="1" dirty="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vi-VN" altLang="en-US" dirty="0">
                <a:latin typeface="Times New Roman" panose="02020603050405020304" pitchFamily="18" charset="0"/>
                <a:cs typeface="Times New Roman" panose="02020603050405020304" pitchFamily="18" charset="0"/>
              </a:rPr>
              <a:t>Nguyên nhân sâu xa của sự xuất hiện nhà nước: Là do sự phát triển của LLSX dẫn đến sự dư thừa tương đối của cải, xuất hiện chế độ tư hữu về TLSX và về của cải</a:t>
            </a:r>
            <a:endParaRPr lang="vi-VN" altLang="en-US" dirty="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vi-VN" altLang="en-US" dirty="0">
                <a:latin typeface="Times New Roman" panose="02020603050405020304" pitchFamily="18" charset="0"/>
                <a:cs typeface="Times New Roman" panose="02020603050405020304" pitchFamily="18" charset="0"/>
                <a:sym typeface="+mn-ea"/>
              </a:rPr>
              <a:t>Nguyên nhân trực tiếp của sự xuất hiện nhà nước là do mâu thuẫn giai cấp trong XH gay gắt không thể điều hòa.</a:t>
            </a:r>
            <a:endParaRPr lang="vi-VN" altLang="en-US" dirty="0">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endParaRPr lang="vi-V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795655"/>
          </a:xfrm>
        </p:spPr>
        <p:txBody>
          <a:bodyPr>
            <a:normAutofit/>
          </a:bodyPr>
          <a:lstStyle/>
          <a:p>
            <a:r>
              <a:rPr lang="vi-VN" altLang="en-US" sz="3600" b="1" dirty="0">
                <a:latin typeface="Times New Roman" panose="02020603050405020304" pitchFamily="18" charset="0"/>
                <a:cs typeface="Times New Roman" panose="02020603050405020304" pitchFamily="18" charset="0"/>
              </a:rPr>
              <a:t>b. Bản chất của nhà nước</a:t>
            </a:r>
            <a:endParaRPr lang="vi-VN" altLang="en-US" sz="3600" b="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358900"/>
            <a:ext cx="10515600" cy="4818380"/>
          </a:xfrm>
        </p:spPr>
        <p:txBody>
          <a:bodyPr/>
          <a:lstStyle/>
          <a:p>
            <a:pPr marL="0" indent="0" algn="just">
              <a:buNone/>
            </a:pPr>
            <a:r>
              <a:rPr lang="vi-VN" altLang="en-US" i="1" dirty="0">
                <a:latin typeface="Times New Roman" panose="02020603050405020304" pitchFamily="18" charset="0"/>
                <a:cs typeface="Times New Roman" panose="02020603050405020304" pitchFamily="18" charset="0"/>
              </a:rPr>
              <a:t>Bản chất nhà nước là một tổ chức chính trị của một giai cấp thống trị về mặt kinh tế nhằm bảo vệ trật tự hiện hành và đàn áp sự phản kháng của các gia cấp khác</a:t>
            </a:r>
            <a:endParaRPr lang="vi-VN" altLang="en-US" i="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6"/>
            <a:ext cx="10515600" cy="810532"/>
          </a:xfrm>
        </p:spPr>
        <p:txBody>
          <a:bodyPr>
            <a:normAutofit/>
          </a:bodyPr>
          <a:lstStyle/>
          <a:p>
            <a:pPr algn="just"/>
            <a:r>
              <a:rPr lang="vi-VN" altLang="en-US" sz="3600" b="1" dirty="0">
                <a:latin typeface="Times New Roman" panose="02020603050405020304" pitchFamily="18" charset="0"/>
                <a:cs typeface="Times New Roman" panose="02020603050405020304" pitchFamily="18" charset="0"/>
              </a:rPr>
              <a:t>c. Đặc trưng cơ bản của nhà nước</a:t>
            </a:r>
            <a:endParaRPr lang="vi-VN" altLang="en-US" sz="3600" b="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529715"/>
            <a:ext cx="10515600" cy="4647565"/>
          </a:xfrm>
        </p:spPr>
        <p:txBody>
          <a:bodyPr/>
          <a:lstStyle/>
          <a:p>
            <a:pPr algn="just">
              <a:buFont typeface="Arial" panose="020B0604020202020204" pitchFamily="34" charset="0"/>
              <a:buChar char="•"/>
            </a:pPr>
            <a:r>
              <a:rPr lang="vi-VN" altLang="en-US" dirty="0">
                <a:latin typeface="Times New Roman" panose="02020603050405020304" pitchFamily="18" charset="0"/>
                <a:cs typeface="Times New Roman" panose="02020603050405020304" pitchFamily="18" charset="0"/>
              </a:rPr>
              <a:t>Nhà nước quản lý cư dân trên một vùng lãnh thổ nhất định</a:t>
            </a:r>
            <a:endParaRPr lang="vi-VN" alt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vi-VN" altLang="en-US" dirty="0">
                <a:latin typeface="Times New Roman" panose="02020603050405020304" pitchFamily="18" charset="0"/>
                <a:cs typeface="Times New Roman" panose="02020603050405020304" pitchFamily="18" charset="0"/>
                <a:sym typeface="+mn-ea"/>
              </a:rPr>
              <a:t>Nhà nước có hệ thống các cơ quan quyền lực chuyên nghiệp mang tính cưỡng chế đối với mọi thành viên</a:t>
            </a:r>
            <a:endParaRPr lang="vi-VN" altLang="en-US" dirty="0">
              <a:latin typeface="Times New Roman" panose="02020603050405020304" pitchFamily="18" charset="0"/>
              <a:cs typeface="Times New Roman" panose="02020603050405020304" pitchFamily="18" charset="0"/>
              <a:sym typeface="+mn-ea"/>
            </a:endParaRPr>
          </a:p>
          <a:p>
            <a:pPr algn="just">
              <a:buFont typeface="Arial" panose="020B0604020202020204" pitchFamily="34" charset="0"/>
              <a:buChar char="•"/>
            </a:pPr>
            <a:r>
              <a:rPr lang="vi-VN" altLang="en-US" dirty="0">
                <a:latin typeface="Times New Roman" panose="02020603050405020304" pitchFamily="18" charset="0"/>
                <a:cs typeface="Times New Roman" panose="02020603050405020304" pitchFamily="18" charset="0"/>
                <a:sym typeface="+mn-ea"/>
              </a:rPr>
              <a:t>Nhà nước có hệ thống thuế khóa để nuôi bộ máy chính quyền</a:t>
            </a:r>
            <a:endParaRPr lang="vi-V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975995"/>
          </a:xfrm>
        </p:spPr>
        <p:txBody>
          <a:bodyPr/>
          <a:lstStyle/>
          <a:p>
            <a:pPr algn="just"/>
            <a:r>
              <a:rPr lang="vi-VN" altLang="en-US" sz="2800" b="1">
                <a:latin typeface="Times New Roman" panose="02020603050405020304" pitchFamily="18" charset="0"/>
                <a:cs typeface="Times New Roman" panose="02020603050405020304" pitchFamily="18" charset="0"/>
              </a:rPr>
              <a:t>d. Chức năng cơ bản của nhà nước</a:t>
            </a:r>
            <a:endParaRPr lang="vi-VN" altLang="en-US" sz="28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341120"/>
            <a:ext cx="10515600" cy="4836160"/>
          </a:xfrm>
        </p:spPr>
        <p:txBody>
          <a:bodyPr>
            <a:normAutofit lnSpcReduction="10000"/>
          </a:bodyPr>
          <a:lstStyle/>
          <a:p>
            <a:pPr algn="just">
              <a:buFont typeface="Wingdings" panose="05000000000000000000" charset="0"/>
              <a:buChar char="v"/>
            </a:pPr>
            <a:r>
              <a:rPr lang="vi-VN" altLang="en-US" b="1" dirty="0">
                <a:latin typeface="Times New Roman" panose="02020603050405020304" pitchFamily="18" charset="0"/>
                <a:cs typeface="Times New Roman" panose="02020603050405020304" pitchFamily="18" charset="0"/>
              </a:rPr>
              <a:t>Chức năng thống trị chính trị và chức năng XH</a:t>
            </a:r>
            <a:endParaRPr lang="vi-VN" altLang="en-US"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vi-VN" altLang="en-US" sz="2400" dirty="0">
                <a:latin typeface="Times New Roman" panose="02020603050405020304" pitchFamily="18" charset="0"/>
                <a:cs typeface="Times New Roman" panose="02020603050405020304" pitchFamily="18" charset="0"/>
                <a:sym typeface="+mn-ea"/>
              </a:rPr>
              <a:t>Chức năng thống trị chính trị là công cụ thống trị giai cấp, nhà nước thường xuyên sử dụng bộ máy quyền lực để duy trì sự thống trị, thông qua hệ thống chính sách và pháp luật.</a:t>
            </a:r>
            <a:endParaRPr lang="vi-VN" altLang="en-US" sz="2400" dirty="0">
              <a:latin typeface="Times New Roman" panose="02020603050405020304" pitchFamily="18" charset="0"/>
              <a:cs typeface="Times New Roman" panose="02020603050405020304" pitchFamily="18" charset="0"/>
              <a:sym typeface="+mn-ea"/>
            </a:endParaRPr>
          </a:p>
          <a:p>
            <a:pPr algn="just">
              <a:buFont typeface="Arial" panose="020B0604020202020204" pitchFamily="34" charset="0"/>
              <a:buChar char="•"/>
            </a:pPr>
            <a:r>
              <a:rPr lang="vi-VN" altLang="en-US" sz="2400" dirty="0">
                <a:latin typeface="Times New Roman" panose="02020603050405020304" pitchFamily="18" charset="0"/>
                <a:cs typeface="Times New Roman" panose="02020603050405020304" pitchFamily="18" charset="0"/>
                <a:sym typeface="+mn-ea"/>
              </a:rPr>
              <a:t>Chức năng XH biểu hiện, nhà nước nhân danh XH làm nhiệm vụ quản lý nhà nước về XH, điều hành các việc chung như: thủy lợi, giao thông, y tế, giáo dục...</a:t>
            </a:r>
            <a:endParaRPr lang="vi-VN" altLang="en-US" sz="2400" dirty="0">
              <a:latin typeface="Times New Roman" panose="02020603050405020304" pitchFamily="18" charset="0"/>
              <a:cs typeface="Times New Roman" panose="02020603050405020304" pitchFamily="18" charset="0"/>
            </a:endParaRPr>
          </a:p>
          <a:p>
            <a:pPr algn="just">
              <a:buFont typeface="Wingdings" panose="05000000000000000000" charset="0"/>
              <a:buChar char="v"/>
            </a:pPr>
            <a:r>
              <a:rPr lang="vi-VN" altLang="en-US" dirty="0">
                <a:solidFill>
                  <a:srgbClr val="FF0000"/>
                </a:solidFill>
                <a:latin typeface="Times New Roman" panose="02020603050405020304" pitchFamily="18" charset="0"/>
                <a:cs typeface="Times New Roman" panose="02020603050405020304" pitchFamily="18" charset="0"/>
                <a:sym typeface="+mn-ea"/>
              </a:rPr>
              <a:t>Chức năng đối nội và chức năng đối ngoại</a:t>
            </a:r>
            <a:endParaRPr lang="vi-VN" altLang="en-US" dirty="0">
              <a:solidFill>
                <a:srgbClr val="FF0000"/>
              </a:solidFill>
              <a:latin typeface="Times New Roman" panose="02020603050405020304" pitchFamily="18" charset="0"/>
              <a:cs typeface="Times New Roman" panose="02020603050405020304" pitchFamily="18" charset="0"/>
              <a:sym typeface="+mn-ea"/>
            </a:endParaRPr>
          </a:p>
          <a:p>
            <a:pPr algn="just">
              <a:buFontTx/>
              <a:buChar char="-"/>
            </a:pPr>
            <a:r>
              <a:rPr lang="vi-VN" altLang="en-US" sz="2400" dirty="0">
                <a:latin typeface="Times New Roman" panose="02020603050405020304" pitchFamily="18" charset="0"/>
                <a:cs typeface="Times New Roman" panose="02020603050405020304" pitchFamily="18" charset="0"/>
                <a:sym typeface="+mn-ea"/>
              </a:rPr>
              <a:t>Chức năng đối nội của nhà nước là thực hiện đường lối đối nội nhằm duy trì trật tự xã hội thông qua các công cụ: Chính sách XH. Luật pháp, cơ quan truyền thông, văn hóa, giáo dục...</a:t>
            </a:r>
            <a:endParaRPr lang="vi-VN" altLang="en-US" sz="2400" dirty="0">
              <a:latin typeface="Times New Roman" panose="02020603050405020304" pitchFamily="18" charset="0"/>
              <a:cs typeface="Times New Roman" panose="02020603050405020304" pitchFamily="18" charset="0"/>
              <a:sym typeface="+mn-ea"/>
            </a:endParaRPr>
          </a:p>
          <a:p>
            <a:pPr algn="just">
              <a:buFontTx/>
              <a:buChar char="-"/>
            </a:pPr>
            <a:r>
              <a:rPr lang="vi-VN" altLang="en-US" sz="2400" dirty="0">
                <a:latin typeface="Times New Roman" panose="02020603050405020304" pitchFamily="18" charset="0"/>
                <a:cs typeface="Times New Roman" panose="02020603050405020304" pitchFamily="18" charset="0"/>
                <a:sym typeface="+mn-ea"/>
              </a:rPr>
              <a:t>Chức năng đối nội ngoại của nhà nước là sự triển khai thực hiện chính sách đối ngoại của giai cấp thống trị nhằm giải quyết mối quan hệ với các thể chế nhà nước khác dưới danh nghĩa là quốc gia, dân tộc, nhằm bảo vệ lãnh thổ quốc gia.</a:t>
            </a:r>
            <a:endParaRPr lang="vi-VN" altLang="en-US" sz="24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0275"/>
          </a:xfrm>
        </p:spPr>
        <p:txBody>
          <a:bodyPr>
            <a:normAutofit/>
          </a:bodyPr>
          <a:lstStyle/>
          <a:p>
            <a:r>
              <a:rPr lang="vi-VN" sz="3200" b="1" dirty="0">
                <a:latin typeface="Times New Roman" panose="02020603050405020304" pitchFamily="18" charset="0"/>
                <a:cs typeface="Times New Roman" panose="02020603050405020304" pitchFamily="18" charset="0"/>
              </a:rPr>
              <a:t>đ. Các kiểu và hình thức nhà nước</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95400"/>
            <a:ext cx="10515600" cy="4881563"/>
          </a:xfrm>
        </p:spPr>
        <p:txBody>
          <a:bodyPr/>
          <a:lstStyle/>
          <a:p>
            <a:pPr algn="just">
              <a:buFont typeface="Wingdings" panose="05000000000000000000" pitchFamily="2" charset="2"/>
              <a:buChar char="v"/>
            </a:pPr>
            <a:r>
              <a:rPr lang="vi-VN" sz="2200" dirty="0">
                <a:latin typeface="+mj-lt"/>
              </a:rPr>
              <a:t>Căn cứ vào tính chất giai cấp của nhà nước, có thể phân biệt các kiểu nhà nước =˃nhà nước là công cụ thống trị.</a:t>
            </a:r>
            <a:endParaRPr lang="vi-VN" sz="2200" dirty="0">
              <a:latin typeface="+mj-lt"/>
            </a:endParaRPr>
          </a:p>
          <a:p>
            <a:pPr algn="just">
              <a:buFontTx/>
              <a:buChar char="-"/>
            </a:pPr>
            <a:r>
              <a:rPr lang="vi-VN" sz="2200" dirty="0">
                <a:latin typeface="+mj-lt"/>
              </a:rPr>
              <a:t>Các kiểu nhà nước cơ bản giống nhau</a:t>
            </a:r>
            <a:endParaRPr lang="vi-VN" sz="2200" dirty="0">
              <a:latin typeface="+mj-lt"/>
            </a:endParaRPr>
          </a:p>
          <a:p>
            <a:pPr algn="just">
              <a:buFont typeface="Wingdings" panose="05000000000000000000" pitchFamily="2" charset="2"/>
              <a:buChar char="v"/>
            </a:pPr>
            <a:r>
              <a:rPr lang="vi-VN" sz="2200" dirty="0">
                <a:latin typeface="+mj-lt"/>
              </a:rPr>
              <a:t>Hình thức nhà nước dùng để chỉ cách thức tổ chức, phương thức thực hiện quyền lực nhà nước.</a:t>
            </a:r>
            <a:endParaRPr lang="vi-VN" sz="2200" dirty="0">
              <a:latin typeface="+mj-lt"/>
            </a:endParaRPr>
          </a:p>
          <a:p>
            <a:pPr algn="just">
              <a:buFont typeface="Wingdings" panose="05000000000000000000" pitchFamily="2" charset="2"/>
              <a:buChar char="v"/>
            </a:pPr>
            <a:r>
              <a:rPr lang="vi-VN" sz="2200" dirty="0">
                <a:latin typeface="+mj-lt"/>
              </a:rPr>
              <a:t>Chức năng nhà nước: Chức năng tổ chức xây dựng và chức năng trấn áp</a:t>
            </a:r>
            <a:endParaRPr lang="vi-VN" sz="2200" dirty="0">
              <a:latin typeface="+mj-lt"/>
            </a:endParaRPr>
          </a:p>
          <a:p>
            <a:pPr algn="just"/>
            <a:r>
              <a:rPr lang="vi-VN" sz="2200" dirty="0">
                <a:latin typeface="+mj-lt"/>
              </a:rPr>
              <a:t>Chức năng tổ chức xây dựng một trật tự kinh tế mới, một trật tự xã hội mới có vai trò quyết định tới sự tồn tại của nhà nước vô sản.</a:t>
            </a:r>
            <a:endParaRPr lang="vi-VN" sz="2200" dirty="0">
              <a:latin typeface="+mj-lt"/>
            </a:endParaRPr>
          </a:p>
          <a:p>
            <a:pPr algn="just"/>
            <a:r>
              <a:rPr lang="vi-VN" sz="2200" dirty="0">
                <a:latin typeface="+mj-lt"/>
              </a:rPr>
              <a:t>Chức năng trấn áp sự phản kháng của các lực lượng chống đối</a:t>
            </a:r>
            <a:endParaRPr lang="vi-VN" sz="2200" dirty="0">
              <a:latin typeface="+mj-lt"/>
            </a:endParaRPr>
          </a:p>
          <a:p>
            <a:pPr algn="just"/>
            <a:endParaRPr lang="vi-VN" sz="2200" dirty="0">
              <a:latin typeface="+mj-lt"/>
            </a:endParaRPr>
          </a:p>
          <a:p>
            <a:pPr algn="just"/>
            <a:endParaRPr lang="vi-VN" sz="2200" dirty="0">
              <a:latin typeface="+mj-lt"/>
            </a:endParaRPr>
          </a:p>
          <a:p>
            <a:pPr algn="just">
              <a:buFontTx/>
              <a:buChar char="-"/>
            </a:pPr>
            <a:endParaRPr lang="vi-VN" sz="2200" dirty="0">
              <a:latin typeface="+mj-lt"/>
            </a:endParaRPr>
          </a:p>
          <a:p>
            <a:pPr>
              <a:buFontTx/>
              <a:buChar char="-"/>
            </a:pP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34332"/>
          </a:xfrm>
        </p:spPr>
        <p:txBody>
          <a:bodyPr>
            <a:normAutofit/>
          </a:bodyPr>
          <a:lstStyle/>
          <a:p>
            <a:pPr marL="342900" indent="-342900" algn="just">
              <a:buFont typeface="Wingdings" panose="05000000000000000000" pitchFamily="2" charset="2"/>
              <a:buChar char="v"/>
            </a:pPr>
            <a:r>
              <a:rPr lang="vi-VN" sz="2400" b="1" dirty="0"/>
              <a:t>Các hình thức nhà nước.</a:t>
            </a:r>
            <a:endParaRPr lang="en-US" sz="2400" b="1" dirty="0"/>
          </a:p>
        </p:txBody>
      </p:sp>
      <p:sp>
        <p:nvSpPr>
          <p:cNvPr id="3" name="Content Placeholder 2"/>
          <p:cNvSpPr>
            <a:spLocks noGrp="1"/>
          </p:cNvSpPr>
          <p:nvPr>
            <p:ph idx="1"/>
          </p:nvPr>
        </p:nvSpPr>
        <p:spPr>
          <a:xfrm>
            <a:off x="838200" y="1219200"/>
            <a:ext cx="10515600" cy="4957763"/>
          </a:xfrm>
        </p:spPr>
        <p:txBody>
          <a:bodyPr/>
          <a:lstStyle/>
          <a:p>
            <a:pPr algn="just"/>
            <a:r>
              <a:rPr lang="vi-VN" sz="2200" dirty="0">
                <a:latin typeface="Times New Roman" panose="02020603050405020304" pitchFamily="18" charset="0"/>
                <a:cs typeface="Times New Roman" panose="02020603050405020304" pitchFamily="18" charset="0"/>
              </a:rPr>
              <a:t>Thời đại chiếm hữu nô lệ ở phương Tây, kiểu nhà nước chủ nô quý tộc: nhà nước quân chủ chủ nô, nhà nước cộng hòa dân chủ chủ nô</a:t>
            </a:r>
            <a:r>
              <a:rPr lang="vi-VN" dirty="0">
                <a:latin typeface="Times New Roman" panose="02020603050405020304" pitchFamily="18" charset="0"/>
                <a:cs typeface="Times New Roman" panose="02020603050405020304" pitchFamily="18" charset="0"/>
              </a:rPr>
              <a:t>.</a:t>
            </a:r>
            <a:endParaRPr lang="vi-VN" dirty="0">
              <a:latin typeface="Times New Roman" panose="02020603050405020304" pitchFamily="18" charset="0"/>
              <a:cs typeface="Times New Roman" panose="02020603050405020304" pitchFamily="18" charset="0"/>
            </a:endParaRPr>
          </a:p>
          <a:p>
            <a:pPr algn="just"/>
            <a:r>
              <a:rPr lang="vi-VN" sz="2200" dirty="0">
                <a:latin typeface="Times New Roman" panose="02020603050405020304" pitchFamily="18" charset="0"/>
                <a:cs typeface="Times New Roman" panose="02020603050405020304" pitchFamily="18" charset="0"/>
              </a:rPr>
              <a:t>Thời trung cổ, giai cấp địa chủ, phong kiến nắm trong tay quyền thống trị xã hội: nhà nước phong kiến tập quyền và nhà nước phong kiến phân quyền.</a:t>
            </a:r>
            <a:endParaRPr lang="vi-VN" sz="2200" dirty="0">
              <a:latin typeface="Times New Roman" panose="02020603050405020304" pitchFamily="18" charset="0"/>
              <a:cs typeface="Times New Roman" panose="02020603050405020304" pitchFamily="18" charset="0"/>
            </a:endParaRPr>
          </a:p>
          <a:p>
            <a:pPr algn="just"/>
            <a:r>
              <a:rPr lang="vi-VN" sz="2200" dirty="0">
                <a:latin typeface="Times New Roman" panose="02020603050405020304" pitchFamily="18" charset="0"/>
                <a:cs typeface="Times New Roman" panose="02020603050405020304" pitchFamily="18" charset="0"/>
              </a:rPr>
              <a:t>Xã hội tư bản tồn tại nhiều hình thức nhà nước: chế độ cộng hòa, chế độ cộng hòa đại nghị, chế độ cộng hòa tổng thống, chế độ cộng hòa thủ tướng, chế độ quân chủ lập hiến, nhà nước liên bang...</a:t>
            </a:r>
            <a:endParaRPr lang="vi-VN" sz="2200" dirty="0">
              <a:latin typeface="Times New Roman" panose="02020603050405020304" pitchFamily="18" charset="0"/>
              <a:cs typeface="Times New Roman" panose="02020603050405020304" pitchFamily="18" charset="0"/>
            </a:endParaRPr>
          </a:p>
          <a:p>
            <a:pPr algn="just"/>
            <a:r>
              <a:rPr lang="vi-VN" sz="2200" dirty="0">
                <a:latin typeface="Times New Roman" panose="02020603050405020304" pitchFamily="18" charset="0"/>
                <a:cs typeface="Times New Roman" panose="02020603050405020304" pitchFamily="18" charset="0"/>
              </a:rPr>
              <a:t>Kiểu nhà nước vô sản là kiểu nhà nước “đặc biệt”, nhà nước của số đông thống trị số ít</a:t>
            </a:r>
            <a:endParaRPr lang="vi-VN" sz="2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vi-VN" sz="2200" dirty="0">
                <a:latin typeface="Times New Roman" panose="02020603050405020304" pitchFamily="18" charset="0"/>
                <a:cs typeface="Times New Roman" panose="02020603050405020304" pitchFamily="18" charset="0"/>
              </a:rPr>
              <a:t>Chức năng của nhà nước vô sản là xây dựng một trật tự xã hội mới, thủ tiêu chế độ người bóc lột người, đạp tan các thế lực phản động</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3189"/>
          </a:xfrm>
        </p:spPr>
        <p:txBody>
          <a:bodyPr>
            <a:normAutofit/>
          </a:bodyPr>
          <a:lstStyle/>
          <a:p>
            <a:r>
              <a:rPr lang="vi-VN" sz="2400" b="1" dirty="0">
                <a:latin typeface="Times New Roman" panose="02020603050405020304" pitchFamily="18" charset="0"/>
                <a:cs typeface="Times New Roman" panose="02020603050405020304" pitchFamily="18" charset="0"/>
              </a:rPr>
              <a:t>2. Cách mạng xã hội chủ nghĩa</a:t>
            </a:r>
            <a:endParaRPr lang="en-US"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08314"/>
            <a:ext cx="10515600" cy="4968649"/>
          </a:xfrm>
        </p:spPr>
        <p:txBody>
          <a:bodyPr/>
          <a:lstStyle/>
          <a:p>
            <a:pPr marL="514350" indent="-514350" algn="just">
              <a:buFont typeface="+mj-lt"/>
              <a:buAutoNum type="alphaLcPeriod"/>
            </a:pPr>
            <a:r>
              <a:rPr lang="vi-VN" b="1" dirty="0">
                <a:latin typeface="Times New Roman" panose="02020603050405020304" pitchFamily="18" charset="0"/>
                <a:cs typeface="Times New Roman" panose="02020603050405020304" pitchFamily="18" charset="0"/>
              </a:rPr>
              <a:t>Nguồn gốc của cách mạng xã hội</a:t>
            </a:r>
            <a:endParaRPr lang="vi-VN" b="1" dirty="0">
              <a:latin typeface="Times New Roman" panose="02020603050405020304" pitchFamily="18" charset="0"/>
              <a:cs typeface="Times New Roman" panose="02020603050405020304" pitchFamily="18" charset="0"/>
            </a:endParaRPr>
          </a:p>
          <a:p>
            <a:pPr algn="just">
              <a:buFontTx/>
              <a:buChar char="-"/>
            </a:pPr>
            <a:r>
              <a:rPr lang="vi-VN" sz="2400" dirty="0">
                <a:latin typeface="Times New Roman" panose="02020603050405020304" pitchFamily="18" charset="0"/>
                <a:cs typeface="Times New Roman" panose="02020603050405020304" pitchFamily="18" charset="0"/>
              </a:rPr>
              <a:t>CMXH là một hiện tượng lịch sử, có nguồn gốc sâu xa từ mâu thuẫn giữa LLSX tiến bộ đòi hỏi được giải phóng, phát triển với QHSX đã lỗi thời, lạc hậu, đang là trở ngại cho sự phát triển của LLSX.</a:t>
            </a:r>
            <a:endParaRPr lang="vi-VN" sz="2400" dirty="0">
              <a:latin typeface="Times New Roman" panose="02020603050405020304" pitchFamily="18" charset="0"/>
              <a:cs typeface="Times New Roman" panose="02020603050405020304" pitchFamily="18" charset="0"/>
            </a:endParaRPr>
          </a:p>
          <a:p>
            <a:pPr marL="0" indent="0" algn="just">
              <a:buNone/>
            </a:pPr>
            <a:r>
              <a:rPr lang="vi-VN" sz="2400" dirty="0">
                <a:latin typeface="Times New Roman" panose="02020603050405020304" pitchFamily="18" charset="0"/>
                <a:cs typeface="Times New Roman" panose="02020603050405020304" pitchFamily="18" charset="0"/>
              </a:rPr>
              <a:t>=˃ trong XH có giai cấp, đấu tranh giai cấp là nguyên nhân trực tiếp dẫn đến CMXH.</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56104"/>
          </a:xfrm>
        </p:spPr>
        <p:txBody>
          <a:bodyPr>
            <a:normAutofit/>
          </a:bodyPr>
          <a:lstStyle/>
          <a:p>
            <a:r>
              <a:rPr lang="vi-VN" sz="2800" b="1" dirty="0">
                <a:latin typeface="Times New Roman" panose="02020603050405020304" pitchFamily="18" charset="0"/>
                <a:cs typeface="Times New Roman" panose="02020603050405020304" pitchFamily="18" charset="0"/>
              </a:rPr>
              <a:t>b. Bản chất của CMXH</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21230"/>
            <a:ext cx="10515600" cy="5055733"/>
          </a:xfrm>
        </p:spPr>
        <p:txBody>
          <a:bodyPr>
            <a:normAutofit/>
          </a:bodyPr>
          <a:lstStyle/>
          <a:p>
            <a:pPr marL="0" indent="0">
              <a:buNone/>
            </a:pPr>
            <a:r>
              <a:rPr lang="vi-VN" sz="2200" b="1" i="1" dirty="0">
                <a:latin typeface="Times New Roman" panose="02020603050405020304" pitchFamily="18" charset="0"/>
                <a:cs typeface="Times New Roman" panose="02020603050405020304" pitchFamily="18" charset="0"/>
              </a:rPr>
              <a:t>CMXH là sự thay đổi căn bản về chất toàn bộ các lĩnh vực của đời sống XH.</a:t>
            </a:r>
            <a:endParaRPr lang="vi-VN" sz="2200" b="1" i="1" dirty="0">
              <a:latin typeface="Times New Roman" panose="02020603050405020304" pitchFamily="18" charset="0"/>
              <a:cs typeface="Times New Roman" panose="02020603050405020304" pitchFamily="18" charset="0"/>
            </a:endParaRPr>
          </a:p>
          <a:p>
            <a:pPr>
              <a:buFontTx/>
              <a:buChar char="-"/>
            </a:pPr>
            <a:r>
              <a:rPr lang="vi-VN" sz="2200" dirty="0">
                <a:latin typeface="Times New Roman" panose="02020603050405020304" pitchFamily="18" charset="0"/>
                <a:cs typeface="Times New Roman" panose="02020603050405020304" pitchFamily="18" charset="0"/>
              </a:rPr>
              <a:t>Tính chất của CMXH chịu sự quy định của mâu thuẫn cơ bản, của nhiệm vụ chính trị.</a:t>
            </a:r>
            <a:endParaRPr lang="vi-VN" sz="2200" dirty="0">
              <a:latin typeface="Times New Roman" panose="02020603050405020304" pitchFamily="18" charset="0"/>
              <a:cs typeface="Times New Roman" panose="02020603050405020304" pitchFamily="18" charset="0"/>
            </a:endParaRPr>
          </a:p>
          <a:p>
            <a:pPr>
              <a:buFontTx/>
              <a:buChar char="-"/>
            </a:pPr>
            <a:r>
              <a:rPr lang="vi-VN" sz="2200" dirty="0">
                <a:latin typeface="Times New Roman" panose="02020603050405020304" pitchFamily="18" charset="0"/>
                <a:cs typeface="Times New Roman" panose="02020603050405020304" pitchFamily="18" charset="0"/>
              </a:rPr>
              <a:t>Động lực của CMXH là các giai cấp có lợi ích gắn bó chặt chẽ và lâu dài đối với CM.</a:t>
            </a:r>
            <a:endParaRPr lang="vi-VN" sz="2200" dirty="0">
              <a:latin typeface="Times New Roman" panose="02020603050405020304" pitchFamily="18" charset="0"/>
              <a:cs typeface="Times New Roman" panose="02020603050405020304" pitchFamily="18" charset="0"/>
            </a:endParaRPr>
          </a:p>
          <a:p>
            <a:pPr>
              <a:buFontTx/>
              <a:buChar char="-"/>
            </a:pPr>
            <a:r>
              <a:rPr lang="vi-VN" sz="2200" dirty="0">
                <a:latin typeface="Times New Roman" panose="02020603050405020304" pitchFamily="18" charset="0"/>
                <a:cs typeface="Times New Roman" panose="02020603050405020304" pitchFamily="18" charset="0"/>
              </a:rPr>
              <a:t>Đối tượng của CMXH CMXH là các giai cấp và những lực lượng đối lập cần đánh đổ của cm.</a:t>
            </a:r>
            <a:endParaRPr lang="vi-VN" sz="2200" dirty="0">
              <a:latin typeface="Times New Roman" panose="02020603050405020304" pitchFamily="18" charset="0"/>
              <a:cs typeface="Times New Roman" panose="02020603050405020304" pitchFamily="18" charset="0"/>
            </a:endParaRPr>
          </a:p>
          <a:p>
            <a:pPr marL="0" indent="0">
              <a:buNone/>
            </a:pPr>
            <a:r>
              <a:rPr lang="vi-VN" sz="2200" dirty="0">
                <a:latin typeface="Times New Roman" panose="02020603050405020304" pitchFamily="18" charset="0"/>
                <a:cs typeface="Times New Roman" panose="02020603050405020304" pitchFamily="18" charset="0"/>
              </a:rPr>
              <a:t>=˃ Giai cấp lãnh đạo CMXH là giai cấp có hệ tư tưởng tiến bộ, đại diện cho phương thức sản xuất tiến bộ, cho xu hướng phát triển của XH.</a:t>
            </a:r>
            <a:endParaRPr lang="vi-VN" sz="22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Rectangle 3"/>
          <p:cNvSpPr/>
          <p:nvPr/>
        </p:nvSpPr>
        <p:spPr>
          <a:xfrm>
            <a:off x="1513113" y="4397829"/>
            <a:ext cx="740229" cy="62524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Điều kiện</a:t>
            </a: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3080657" y="3984171"/>
            <a:ext cx="7413172" cy="62524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 Khách quan của CMXH là điều kiện, hoàn cảnh kinh tế - xã hội, chính trị bên ngoài tác động đến, là tiến đề diễn ra các cuộc cách mạng</a:t>
            </a: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3080657" y="4833257"/>
            <a:ext cx="7413172" cy="62524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 Nhân tố chủ quan trong CMXH bao gồm ý chí, niềm tin, trình độ giác ngộ và nhận thức của LLCM</a:t>
            </a:r>
            <a:endParaRPr lang="en-US" dirty="0">
              <a:latin typeface="Times New Roman" panose="02020603050405020304" pitchFamily="18" charset="0"/>
              <a:cs typeface="Times New Roman" panose="02020603050405020304" pitchFamily="18" charset="0"/>
            </a:endParaRPr>
          </a:p>
        </p:txBody>
      </p:sp>
      <p:cxnSp>
        <p:nvCxnSpPr>
          <p:cNvPr id="8" name="Straight Arrow Connector 7"/>
          <p:cNvCxnSpPr>
            <a:stCxn id="4" idx="3"/>
            <a:endCxn id="5" idx="1"/>
          </p:cNvCxnSpPr>
          <p:nvPr/>
        </p:nvCxnSpPr>
        <p:spPr>
          <a:xfrm flipV="1">
            <a:off x="2253342" y="4296796"/>
            <a:ext cx="827315" cy="4136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p:cNvCxnSpPr>
            <a:stCxn id="4" idx="3"/>
            <a:endCxn id="6" idx="1"/>
          </p:cNvCxnSpPr>
          <p:nvPr/>
        </p:nvCxnSpPr>
        <p:spPr>
          <a:xfrm>
            <a:off x="2253342" y="4710454"/>
            <a:ext cx="827315" cy="4354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87332"/>
          </a:xfrm>
        </p:spPr>
        <p:txBody>
          <a:bodyPr/>
          <a:lstStyle/>
          <a:p>
            <a:endParaRPr lang="en-US" dirty="0"/>
          </a:p>
        </p:txBody>
      </p:sp>
      <p:sp>
        <p:nvSpPr>
          <p:cNvPr id="3" name="Rectangle 2"/>
          <p:cNvSpPr/>
          <p:nvPr/>
        </p:nvSpPr>
        <p:spPr>
          <a:xfrm>
            <a:off x="2296886" y="903514"/>
            <a:ext cx="1219200" cy="157842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latin typeface="Times New Roman" panose="02020603050405020304" pitchFamily="18" charset="0"/>
                <a:cs typeface="Times New Roman" panose="02020603050405020304" pitchFamily="18" charset="0"/>
              </a:rPr>
              <a:t>c. Phương pháp cách mạng</a:t>
            </a:r>
            <a:endParaRPr lang="en-US" b="1" dirty="0">
              <a:latin typeface="Times New Roman" panose="02020603050405020304" pitchFamily="18" charset="0"/>
              <a:cs typeface="Times New Roman" panose="02020603050405020304" pitchFamily="18" charset="0"/>
            </a:endParaRPr>
          </a:p>
        </p:txBody>
      </p:sp>
      <p:sp>
        <p:nvSpPr>
          <p:cNvPr id="4" name="Rectangle: Rounded Corners 3"/>
          <p:cNvSpPr/>
          <p:nvPr/>
        </p:nvSpPr>
        <p:spPr>
          <a:xfrm>
            <a:off x="4648200" y="478971"/>
            <a:ext cx="5116286" cy="10450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 Phương pháp cách mạng bạo lực là hình thức cách mạng phổ biến</a:t>
            </a:r>
            <a:endParaRPr lang="en-US" dirty="0">
              <a:latin typeface="Times New Roman" panose="02020603050405020304" pitchFamily="18" charset="0"/>
              <a:cs typeface="Times New Roman" panose="02020603050405020304" pitchFamily="18" charset="0"/>
            </a:endParaRPr>
          </a:p>
        </p:txBody>
      </p:sp>
      <p:sp>
        <p:nvSpPr>
          <p:cNvPr id="5" name="Rectangle: Rounded Corners 4"/>
          <p:cNvSpPr/>
          <p:nvPr/>
        </p:nvSpPr>
        <p:spPr>
          <a:xfrm>
            <a:off x="4648200" y="1790702"/>
            <a:ext cx="5116286" cy="104503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 Phương pháp hòa bình là phương pháp giành chính quyền, đáu tranh không dùng bạo lực CM</a:t>
            </a:r>
            <a:endParaRPr lang="en-US" dirty="0">
              <a:latin typeface="Times New Roman" panose="02020603050405020304" pitchFamily="18" charset="0"/>
              <a:cs typeface="Times New Roman" panose="02020603050405020304" pitchFamily="18" charset="0"/>
            </a:endParaRPr>
          </a:p>
        </p:txBody>
      </p:sp>
      <p:cxnSp>
        <p:nvCxnSpPr>
          <p:cNvPr id="7" name="Straight Arrow Connector 6"/>
          <p:cNvCxnSpPr>
            <a:stCxn id="3" idx="3"/>
            <a:endCxn id="4" idx="1"/>
          </p:cNvCxnSpPr>
          <p:nvPr/>
        </p:nvCxnSpPr>
        <p:spPr>
          <a:xfrm flipV="1">
            <a:off x="3516086" y="1001486"/>
            <a:ext cx="1132114" cy="6912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a:endCxn id="5" idx="1"/>
          </p:cNvCxnSpPr>
          <p:nvPr/>
        </p:nvCxnSpPr>
        <p:spPr>
          <a:xfrm>
            <a:off x="3516086" y="1692729"/>
            <a:ext cx="1132114" cy="6204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Oval 19"/>
          <p:cNvSpPr/>
          <p:nvPr/>
        </p:nvSpPr>
        <p:spPr>
          <a:xfrm>
            <a:off x="1730829" y="3766457"/>
            <a:ext cx="3418114"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b="1" dirty="0">
                <a:latin typeface="Times New Roman" panose="02020603050405020304" pitchFamily="18" charset="0"/>
                <a:cs typeface="Times New Roman" panose="02020603050405020304" pitchFamily="18" charset="0"/>
              </a:rPr>
              <a:t>d. Vấn đề CMXH trên thế giới hiện nay</a:t>
            </a:r>
            <a:endParaRPr 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2304"/>
          </a:xfrm>
        </p:spPr>
        <p:txBody>
          <a:bodyPr>
            <a:normAutofit/>
          </a:bodyPr>
          <a:lstStyle/>
          <a:p>
            <a:r>
              <a:rPr lang="vi-VN" sz="2800" b="1" dirty="0">
                <a:latin typeface="Times New Roman" panose="02020603050405020304" pitchFamily="18" charset="0"/>
                <a:cs typeface="Times New Roman" panose="02020603050405020304" pitchFamily="18" charset="0"/>
              </a:rPr>
              <a:t>IV. Ý THỨC XÃ HỘI</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97430"/>
            <a:ext cx="10515600" cy="4979533"/>
          </a:xfrm>
        </p:spPr>
        <p:txBody>
          <a:bodyPr>
            <a:normAutofit/>
          </a:bodyPr>
          <a:lstStyle/>
          <a:p>
            <a:pPr marL="457200" indent="-457200" algn="just">
              <a:buAutoNum type="arabicPeriod"/>
            </a:pPr>
            <a:r>
              <a:rPr lang="vi-VN" b="1" dirty="0">
                <a:latin typeface="Times New Roman" panose="02020603050405020304" pitchFamily="18" charset="0"/>
                <a:cs typeface="Times New Roman" panose="02020603050405020304" pitchFamily="18" charset="0"/>
              </a:rPr>
              <a:t>Khái niệm tồn tại xã hội và các yếu tố cơ bản của tồn tại xã hội.</a:t>
            </a:r>
            <a:endParaRPr lang="vi-VN" b="1" dirty="0">
              <a:latin typeface="Times New Roman" panose="02020603050405020304" pitchFamily="18" charset="0"/>
              <a:cs typeface="Times New Roman" panose="02020603050405020304" pitchFamily="18" charset="0"/>
            </a:endParaRPr>
          </a:p>
          <a:p>
            <a:pPr marL="0" indent="0" algn="just">
              <a:buNone/>
            </a:pPr>
            <a:r>
              <a:rPr lang="vi-VN" b="1" dirty="0">
                <a:latin typeface="Times New Roman" panose="02020603050405020304" pitchFamily="18" charset="0"/>
                <a:cs typeface="Times New Roman" panose="02020603050405020304" pitchFamily="18" charset="0"/>
              </a:rPr>
              <a:t>a. Khái niệm tồn tại xã hội </a:t>
            </a:r>
            <a:endParaRPr lang="vi-VN" b="1" dirty="0">
              <a:latin typeface="Times New Roman" panose="02020603050405020304" pitchFamily="18" charset="0"/>
              <a:cs typeface="Times New Roman" panose="02020603050405020304" pitchFamily="18" charset="0"/>
            </a:endParaRPr>
          </a:p>
          <a:p>
            <a:pPr marL="0" indent="0" algn="just">
              <a:buNone/>
            </a:pPr>
            <a:r>
              <a:rPr lang="vi-VN" sz="2400" i="1" dirty="0">
                <a:latin typeface="Times New Roman" panose="02020603050405020304" pitchFamily="18" charset="0"/>
                <a:cs typeface="Times New Roman" panose="02020603050405020304" pitchFamily="18" charset="0"/>
              </a:rPr>
              <a:t>Là toàn bộ sinh hoạt vật chất và những điều kiện sinh hoạt vật chất của xã hội</a:t>
            </a:r>
            <a:endParaRPr lang="en-US" sz="2400" i="1" dirty="0">
              <a:latin typeface="Times New Roman" panose="02020603050405020304" pitchFamily="18" charset="0"/>
              <a:cs typeface="Times New Roman" panose="02020603050405020304" pitchFamily="18" charset="0"/>
            </a:endParaRPr>
          </a:p>
        </p:txBody>
      </p:sp>
      <p:sp>
        <p:nvSpPr>
          <p:cNvPr id="4" name="Rectangle 3"/>
          <p:cNvSpPr/>
          <p:nvPr/>
        </p:nvSpPr>
        <p:spPr>
          <a:xfrm>
            <a:off x="1534886" y="3657601"/>
            <a:ext cx="1306285" cy="1524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b. </a:t>
            </a:r>
            <a:r>
              <a:rPr lang="vi-VN" b="1" dirty="0">
                <a:latin typeface="Times New Roman" panose="02020603050405020304" pitchFamily="18" charset="0"/>
                <a:cs typeface="Times New Roman" panose="02020603050405020304" pitchFamily="18" charset="0"/>
              </a:rPr>
              <a:t>Các yếu tố cơ bản của tồn tại xã hội</a:t>
            </a:r>
            <a:endParaRPr lang="en-US" b="1" dirty="0">
              <a:latin typeface="Times New Roman" panose="02020603050405020304" pitchFamily="18" charset="0"/>
              <a:cs typeface="Times New Roman" panose="02020603050405020304" pitchFamily="18" charset="0"/>
            </a:endParaRPr>
          </a:p>
        </p:txBody>
      </p:sp>
      <p:sp>
        <p:nvSpPr>
          <p:cNvPr id="5" name="Oval 4"/>
          <p:cNvSpPr/>
          <p:nvPr/>
        </p:nvSpPr>
        <p:spPr>
          <a:xfrm>
            <a:off x="4027714" y="2677886"/>
            <a:ext cx="3940629" cy="66380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 Phương thức sản xuất (yếu tố cơ bản)</a:t>
            </a:r>
            <a:endParaRPr lang="en-US" dirty="0">
              <a:latin typeface="Times New Roman" panose="02020603050405020304" pitchFamily="18" charset="0"/>
              <a:cs typeface="Times New Roman" panose="02020603050405020304" pitchFamily="18" charset="0"/>
            </a:endParaRPr>
          </a:p>
        </p:txBody>
      </p:sp>
      <p:sp>
        <p:nvSpPr>
          <p:cNvPr id="6" name="Oval 5"/>
          <p:cNvSpPr/>
          <p:nvPr/>
        </p:nvSpPr>
        <p:spPr>
          <a:xfrm>
            <a:off x="4027714" y="3478664"/>
            <a:ext cx="3940629" cy="69533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 Điều kiện tự nhiên</a:t>
            </a:r>
            <a:endParaRPr lang="en-US" dirty="0">
              <a:latin typeface="Times New Roman" panose="02020603050405020304" pitchFamily="18" charset="0"/>
              <a:cs typeface="Times New Roman" panose="02020603050405020304" pitchFamily="18" charset="0"/>
            </a:endParaRPr>
          </a:p>
        </p:txBody>
      </p:sp>
      <p:sp>
        <p:nvSpPr>
          <p:cNvPr id="7" name="Oval 6"/>
          <p:cNvSpPr/>
          <p:nvPr/>
        </p:nvSpPr>
        <p:spPr>
          <a:xfrm>
            <a:off x="4027714" y="4310968"/>
            <a:ext cx="3940629" cy="73366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 Hoàn cảnh địa lý</a:t>
            </a:r>
            <a:endParaRPr lang="en-US" dirty="0">
              <a:latin typeface="Times New Roman" panose="02020603050405020304" pitchFamily="18" charset="0"/>
              <a:cs typeface="Times New Roman" panose="02020603050405020304" pitchFamily="18" charset="0"/>
            </a:endParaRPr>
          </a:p>
        </p:txBody>
      </p:sp>
      <p:sp>
        <p:nvSpPr>
          <p:cNvPr id="8" name="Oval 7"/>
          <p:cNvSpPr/>
          <p:nvPr/>
        </p:nvSpPr>
        <p:spPr>
          <a:xfrm>
            <a:off x="4027714" y="5181602"/>
            <a:ext cx="3940629" cy="69533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 Dân số và mật độ dân số</a:t>
            </a:r>
            <a:endParaRPr lang="en-US" dirty="0">
              <a:latin typeface="Times New Roman" panose="02020603050405020304" pitchFamily="18" charset="0"/>
              <a:cs typeface="Times New Roman" panose="02020603050405020304" pitchFamily="18" charset="0"/>
            </a:endParaRPr>
          </a:p>
        </p:txBody>
      </p:sp>
      <p:cxnSp>
        <p:nvCxnSpPr>
          <p:cNvPr id="10" name="Straight Arrow Connector 9"/>
          <p:cNvCxnSpPr>
            <a:stCxn id="4" idx="3"/>
            <a:endCxn id="5" idx="2"/>
          </p:cNvCxnSpPr>
          <p:nvPr/>
        </p:nvCxnSpPr>
        <p:spPr>
          <a:xfrm flipV="1">
            <a:off x="2841171" y="3009789"/>
            <a:ext cx="1186543" cy="14098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a:stCxn id="4" idx="3"/>
            <a:endCxn id="6" idx="2"/>
          </p:cNvCxnSpPr>
          <p:nvPr/>
        </p:nvCxnSpPr>
        <p:spPr>
          <a:xfrm flipV="1">
            <a:off x="2841171" y="3826330"/>
            <a:ext cx="1186543" cy="5932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p:cNvCxnSpPr>
            <a:stCxn id="4" idx="3"/>
            <a:endCxn id="7" idx="2"/>
          </p:cNvCxnSpPr>
          <p:nvPr/>
        </p:nvCxnSpPr>
        <p:spPr>
          <a:xfrm>
            <a:off x="2841171" y="4419601"/>
            <a:ext cx="1186543" cy="2581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4" idx="3"/>
            <a:endCxn id="8" idx="2"/>
          </p:cNvCxnSpPr>
          <p:nvPr/>
        </p:nvCxnSpPr>
        <p:spPr>
          <a:xfrm>
            <a:off x="2841171" y="4419601"/>
            <a:ext cx="1186543" cy="11096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8760"/>
          </a:xfrm>
        </p:spPr>
        <p:txBody>
          <a:bodyPr>
            <a:normAutofit/>
          </a:bodyPr>
          <a:lstStyle/>
          <a:p>
            <a:r>
              <a:rPr lang="vi-VN" sz="2800" b="1" dirty="0">
                <a:latin typeface="Times New Roman" panose="02020603050405020304" pitchFamily="18" charset="0"/>
                <a:cs typeface="Times New Roman" panose="02020603050405020304" pitchFamily="18" charset="0"/>
              </a:rPr>
              <a:t>2. Khái niệm, kết cấu, tính giai cấp, các hình thái của ý thức xh</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84514"/>
            <a:ext cx="10515600" cy="4892449"/>
          </a:xfrm>
        </p:spPr>
        <p:txBody>
          <a:bodyPr/>
          <a:lstStyle/>
          <a:p>
            <a:pPr marL="514350" indent="-514350" algn="just">
              <a:buAutoNum type="alphaLcPeriod"/>
            </a:pPr>
            <a:r>
              <a:rPr lang="vi-VN" b="1" dirty="0">
                <a:latin typeface="Times New Roman" panose="02020603050405020304" pitchFamily="18" charset="0"/>
                <a:cs typeface="Times New Roman" panose="02020603050405020304" pitchFamily="18" charset="0"/>
              </a:rPr>
              <a:t>Khái niệm ý thức xã hội.</a:t>
            </a:r>
            <a:endParaRPr lang="vi-VN" b="1" dirty="0">
              <a:latin typeface="Times New Roman" panose="02020603050405020304" pitchFamily="18" charset="0"/>
              <a:cs typeface="Times New Roman" panose="02020603050405020304" pitchFamily="18" charset="0"/>
            </a:endParaRPr>
          </a:p>
          <a:p>
            <a:pPr marL="0" indent="0" algn="just">
              <a:buNone/>
            </a:pPr>
            <a:r>
              <a:rPr lang="vi-VN" sz="2400" i="1" dirty="0">
                <a:latin typeface="Times New Roman" panose="02020603050405020304" pitchFamily="18" charset="0"/>
                <a:cs typeface="Times New Roman" panose="02020603050405020304" pitchFamily="18" charset="0"/>
              </a:rPr>
              <a:t>Là phạm trù của CNDV lịch sử được vận dụng để giải quyết vấn đề cơ bản của triết học trong lĩnh vực xã hội.</a:t>
            </a:r>
            <a:endParaRPr lang="en-US" sz="2400" i="1" dirty="0">
              <a:latin typeface="Times New Roman" panose="02020603050405020304" pitchFamily="18" charset="0"/>
              <a:cs typeface="Times New Roman" panose="02020603050405020304" pitchFamily="18" charset="0"/>
            </a:endParaRPr>
          </a:p>
        </p:txBody>
      </p:sp>
      <p:sp>
        <p:nvSpPr>
          <p:cNvPr id="4" name="Rectangle 3"/>
          <p:cNvSpPr/>
          <p:nvPr/>
        </p:nvSpPr>
        <p:spPr>
          <a:xfrm>
            <a:off x="1262744" y="3744686"/>
            <a:ext cx="1665514" cy="10341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latin typeface="Times New Roman" panose="02020603050405020304" pitchFamily="18" charset="0"/>
                <a:cs typeface="Times New Roman" panose="02020603050405020304" pitchFamily="18" charset="0"/>
              </a:rPr>
              <a:t>b. Kết cấu của ý thức xã hội</a:t>
            </a:r>
            <a:endParaRPr lang="en-US" b="1" dirty="0">
              <a:latin typeface="Times New Roman" panose="02020603050405020304" pitchFamily="18" charset="0"/>
              <a:cs typeface="Times New Roman" panose="02020603050405020304" pitchFamily="18" charset="0"/>
            </a:endParaRPr>
          </a:p>
        </p:txBody>
      </p:sp>
      <p:sp>
        <p:nvSpPr>
          <p:cNvPr id="5" name="Rectangle: Rounded Corners 4"/>
          <p:cNvSpPr/>
          <p:nvPr/>
        </p:nvSpPr>
        <p:spPr>
          <a:xfrm>
            <a:off x="3918857" y="2732313"/>
            <a:ext cx="3015343" cy="59871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 Ý thức xã hội thông thường</a:t>
            </a:r>
            <a:endParaRPr lang="en-US" dirty="0">
              <a:latin typeface="Times New Roman" panose="02020603050405020304" pitchFamily="18" charset="0"/>
              <a:cs typeface="Times New Roman" panose="02020603050405020304" pitchFamily="18" charset="0"/>
            </a:endParaRPr>
          </a:p>
        </p:txBody>
      </p:sp>
      <p:sp>
        <p:nvSpPr>
          <p:cNvPr id="6" name="Rectangle: Rounded Corners 5"/>
          <p:cNvSpPr/>
          <p:nvPr/>
        </p:nvSpPr>
        <p:spPr>
          <a:xfrm>
            <a:off x="3918857" y="3526973"/>
            <a:ext cx="3015343" cy="65314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 Ý thức lý luận</a:t>
            </a:r>
            <a:endParaRPr lang="en-US" dirty="0">
              <a:latin typeface="Times New Roman" panose="02020603050405020304" pitchFamily="18" charset="0"/>
              <a:cs typeface="Times New Roman" panose="02020603050405020304" pitchFamily="18" charset="0"/>
            </a:endParaRPr>
          </a:p>
        </p:txBody>
      </p:sp>
      <p:sp>
        <p:nvSpPr>
          <p:cNvPr id="7" name="Rectangle: Rounded Corners 6"/>
          <p:cNvSpPr/>
          <p:nvPr/>
        </p:nvSpPr>
        <p:spPr>
          <a:xfrm>
            <a:off x="3918857" y="4376062"/>
            <a:ext cx="3015343" cy="66879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 Tâm lý xã hội</a:t>
            </a:r>
            <a:endParaRPr lang="en-US" dirty="0">
              <a:latin typeface="Times New Roman" panose="02020603050405020304" pitchFamily="18" charset="0"/>
              <a:cs typeface="Times New Roman" panose="02020603050405020304" pitchFamily="18" charset="0"/>
            </a:endParaRPr>
          </a:p>
        </p:txBody>
      </p:sp>
      <p:sp>
        <p:nvSpPr>
          <p:cNvPr id="9" name="Rectangle: Rounded Corners 8"/>
          <p:cNvSpPr/>
          <p:nvPr/>
        </p:nvSpPr>
        <p:spPr>
          <a:xfrm>
            <a:off x="3918857" y="5240800"/>
            <a:ext cx="3015343" cy="66879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 Hệ tư tưởng xã hội</a:t>
            </a:r>
            <a:endParaRPr lang="en-US" dirty="0">
              <a:latin typeface="Times New Roman" panose="02020603050405020304" pitchFamily="18" charset="0"/>
              <a:cs typeface="Times New Roman" panose="02020603050405020304" pitchFamily="18" charset="0"/>
            </a:endParaRPr>
          </a:p>
        </p:txBody>
      </p:sp>
      <p:cxnSp>
        <p:nvCxnSpPr>
          <p:cNvPr id="11" name="Straight Arrow Connector 10"/>
          <p:cNvCxnSpPr/>
          <p:nvPr/>
        </p:nvCxnSpPr>
        <p:spPr>
          <a:xfrm flipV="1">
            <a:off x="2928258" y="3048000"/>
            <a:ext cx="990599" cy="12192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a:stCxn id="4" idx="3"/>
            <a:endCxn id="6" idx="1"/>
          </p:cNvCxnSpPr>
          <p:nvPr/>
        </p:nvCxnSpPr>
        <p:spPr>
          <a:xfrm flipV="1">
            <a:off x="2928258" y="3853545"/>
            <a:ext cx="990599" cy="4082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4" idx="3"/>
            <a:endCxn id="7" idx="1"/>
          </p:cNvCxnSpPr>
          <p:nvPr/>
        </p:nvCxnSpPr>
        <p:spPr>
          <a:xfrm>
            <a:off x="2928258" y="4261758"/>
            <a:ext cx="990599" cy="4487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a:off x="2928258" y="4302245"/>
            <a:ext cx="990599" cy="12712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26818"/>
          </a:xfrm>
        </p:spPr>
        <p:txBody>
          <a:bodyPr>
            <a:normAutofit/>
          </a:bodyPr>
          <a:lstStyle/>
          <a:p>
            <a:endParaRPr lang="en-US" sz="2400" dirty="0">
              <a:latin typeface="Times New Roman" panose="02020603050405020304" pitchFamily="18" charset="0"/>
              <a:cs typeface="Times New Roman" panose="02020603050405020304" pitchFamily="18" charset="0"/>
            </a:endParaRPr>
          </a:p>
        </p:txBody>
      </p:sp>
      <p:sp>
        <p:nvSpPr>
          <p:cNvPr id="3" name="Rectangle 2"/>
          <p:cNvSpPr/>
          <p:nvPr/>
        </p:nvSpPr>
        <p:spPr>
          <a:xfrm>
            <a:off x="1110343" y="478972"/>
            <a:ext cx="4887686" cy="8708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b="1" dirty="0">
                <a:latin typeface="Times New Roman" panose="02020603050405020304" pitchFamily="18" charset="0"/>
                <a:cs typeface="Times New Roman" panose="02020603050405020304" pitchFamily="18" charset="0"/>
              </a:rPr>
              <a:t>c. Tính giai cấp của ý thức xã hội </a:t>
            </a:r>
            <a:r>
              <a:rPr lang="vi-VN" i="1" dirty="0">
                <a:latin typeface="Times New Roman" panose="02020603050405020304" pitchFamily="18" charset="0"/>
                <a:cs typeface="Times New Roman" panose="02020603050405020304" pitchFamily="18" charset="0"/>
              </a:rPr>
              <a:t>biểu hiện cả ở tâm lý xã hội lẫn hệ tư tưởng</a:t>
            </a:r>
            <a:endParaRPr lang="en-US" i="1" dirty="0">
              <a:latin typeface="Times New Roman" panose="02020603050405020304" pitchFamily="18" charset="0"/>
              <a:cs typeface="Times New Roman" panose="02020603050405020304" pitchFamily="18" charset="0"/>
            </a:endParaRPr>
          </a:p>
        </p:txBody>
      </p:sp>
      <p:sp>
        <p:nvSpPr>
          <p:cNvPr id="4" name="Rectangle: Rounded Corners 3"/>
          <p:cNvSpPr/>
          <p:nvPr/>
        </p:nvSpPr>
        <p:spPr>
          <a:xfrm>
            <a:off x="4778828" y="1578429"/>
            <a:ext cx="2090057" cy="69668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latin typeface="Times New Roman" panose="02020603050405020304" pitchFamily="18" charset="0"/>
                <a:cs typeface="Times New Roman" panose="02020603050405020304" pitchFamily="18" charset="0"/>
              </a:rPr>
              <a:t>d. Các hình thái ý thức xã hội</a:t>
            </a:r>
            <a:endParaRPr lang="en-US" b="1" dirty="0">
              <a:latin typeface="Times New Roman" panose="02020603050405020304" pitchFamily="18" charset="0"/>
              <a:cs typeface="Times New Roman" panose="02020603050405020304" pitchFamily="18" charset="0"/>
            </a:endParaRPr>
          </a:p>
        </p:txBody>
      </p:sp>
      <p:sp>
        <p:nvSpPr>
          <p:cNvPr id="5" name="Rectangle 4"/>
          <p:cNvSpPr/>
          <p:nvPr/>
        </p:nvSpPr>
        <p:spPr>
          <a:xfrm>
            <a:off x="914401" y="2862943"/>
            <a:ext cx="1175658"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Ý thức chính trị</a:t>
            </a: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2351315" y="2862943"/>
            <a:ext cx="1175658"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Ý thức pháp quyền</a:t>
            </a:r>
            <a:endParaRPr lang="en-US" dirty="0">
              <a:latin typeface="Times New Roman" panose="02020603050405020304" pitchFamily="18" charset="0"/>
              <a:cs typeface="Times New Roman" panose="02020603050405020304" pitchFamily="18" charset="0"/>
            </a:endParaRPr>
          </a:p>
        </p:txBody>
      </p:sp>
      <p:sp>
        <p:nvSpPr>
          <p:cNvPr id="7" name="Rectangle 6"/>
          <p:cNvSpPr/>
          <p:nvPr/>
        </p:nvSpPr>
        <p:spPr>
          <a:xfrm>
            <a:off x="3788229" y="2862944"/>
            <a:ext cx="1175659"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Ý thức đạo đức</a:t>
            </a:r>
            <a:endParaRPr lang="en-US" dirty="0">
              <a:latin typeface="Times New Roman" panose="02020603050405020304" pitchFamily="18" charset="0"/>
              <a:cs typeface="Times New Roman" panose="02020603050405020304" pitchFamily="18" charset="0"/>
            </a:endParaRPr>
          </a:p>
        </p:txBody>
      </p:sp>
      <p:sp>
        <p:nvSpPr>
          <p:cNvPr id="8" name="Rectangle 7"/>
          <p:cNvSpPr/>
          <p:nvPr/>
        </p:nvSpPr>
        <p:spPr>
          <a:xfrm>
            <a:off x="5225143" y="2862944"/>
            <a:ext cx="1121228"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Ý thức nghệ thuật</a:t>
            </a:r>
            <a:endParaRPr lang="en-US" dirty="0"/>
          </a:p>
        </p:txBody>
      </p:sp>
      <p:sp>
        <p:nvSpPr>
          <p:cNvPr id="9" name="Rectangle 8"/>
          <p:cNvSpPr/>
          <p:nvPr/>
        </p:nvSpPr>
        <p:spPr>
          <a:xfrm>
            <a:off x="6607627" y="2862943"/>
            <a:ext cx="1121228"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Ý thức tông giáo</a:t>
            </a:r>
            <a:endParaRPr lang="en-US" dirty="0"/>
          </a:p>
        </p:txBody>
      </p:sp>
      <p:sp>
        <p:nvSpPr>
          <p:cNvPr id="10" name="Rectangle 9"/>
          <p:cNvSpPr/>
          <p:nvPr/>
        </p:nvSpPr>
        <p:spPr>
          <a:xfrm>
            <a:off x="7913917" y="2862944"/>
            <a:ext cx="1121228"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Ý thức khoa học</a:t>
            </a:r>
            <a:endParaRPr lang="en-US" dirty="0"/>
          </a:p>
        </p:txBody>
      </p:sp>
      <p:sp>
        <p:nvSpPr>
          <p:cNvPr id="11" name="Rectangle 10"/>
          <p:cNvSpPr/>
          <p:nvPr/>
        </p:nvSpPr>
        <p:spPr>
          <a:xfrm>
            <a:off x="9220207" y="2862944"/>
            <a:ext cx="1121229"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Ý thức triết học</a:t>
            </a:r>
            <a:endParaRPr lang="en-US" dirty="0"/>
          </a:p>
        </p:txBody>
      </p:sp>
      <p:cxnSp>
        <p:nvCxnSpPr>
          <p:cNvPr id="13" name="Straight Arrow Connector 12"/>
          <p:cNvCxnSpPr>
            <a:stCxn id="4" idx="2"/>
          </p:cNvCxnSpPr>
          <p:nvPr/>
        </p:nvCxnSpPr>
        <p:spPr>
          <a:xfrm flipH="1">
            <a:off x="1469574" y="2275114"/>
            <a:ext cx="4354283" cy="5878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4" idx="2"/>
          </p:cNvCxnSpPr>
          <p:nvPr/>
        </p:nvCxnSpPr>
        <p:spPr>
          <a:xfrm flipH="1">
            <a:off x="2982682" y="2275114"/>
            <a:ext cx="2841175" cy="5878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flipH="1">
            <a:off x="4310743" y="2275114"/>
            <a:ext cx="1513114" cy="5878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4" idx="2"/>
          </p:cNvCxnSpPr>
          <p:nvPr/>
        </p:nvCxnSpPr>
        <p:spPr>
          <a:xfrm flipH="1">
            <a:off x="5747658" y="2275114"/>
            <a:ext cx="76199" cy="5878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a:endCxn id="9" idx="0"/>
          </p:cNvCxnSpPr>
          <p:nvPr/>
        </p:nvCxnSpPr>
        <p:spPr>
          <a:xfrm>
            <a:off x="5823857" y="2275114"/>
            <a:ext cx="1344384" cy="5878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p:cNvCxnSpPr/>
          <p:nvPr/>
        </p:nvCxnSpPr>
        <p:spPr>
          <a:xfrm>
            <a:off x="5823857" y="2275114"/>
            <a:ext cx="2612574" cy="5878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p:cNvCxnSpPr/>
          <p:nvPr/>
        </p:nvCxnSpPr>
        <p:spPr>
          <a:xfrm>
            <a:off x="5823857" y="2275114"/>
            <a:ext cx="3853543" cy="5878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64961"/>
          </a:xfrm>
        </p:spPr>
        <p:txBody>
          <a:bodyPr>
            <a:normAutofit/>
          </a:bodyPr>
          <a:lstStyle/>
          <a:p>
            <a:r>
              <a:rPr lang="vi-VN" sz="2800" b="1" dirty="0">
                <a:latin typeface="Times New Roman" panose="02020603050405020304" pitchFamily="18" charset="0"/>
                <a:cs typeface="Times New Roman" panose="02020603050405020304" pitchFamily="18" charset="0"/>
              </a:rPr>
              <a:t>3. Quan hệ biện chứng giữa tồn tại xã hội và ý thức xã hội, tính độc lập tương đối của ý thức xã hội</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93371"/>
            <a:ext cx="10515600" cy="4783592"/>
          </a:xfrm>
        </p:spPr>
        <p:txBody>
          <a:bodyPr>
            <a:normAutofit/>
          </a:bodyPr>
          <a:lstStyle/>
          <a:p>
            <a:pPr algn="just">
              <a:buFontTx/>
              <a:buChar char="-"/>
            </a:pPr>
            <a:r>
              <a:rPr lang="vi-VN" sz="2400" dirty="0">
                <a:latin typeface="Times New Roman" panose="02020603050405020304" pitchFamily="18" charset="0"/>
                <a:cs typeface="Times New Roman" panose="02020603050405020304" pitchFamily="18" charset="0"/>
              </a:rPr>
              <a:t>Ý thức xã hội thường lạc hậu hơn tồn tại xã hội.</a:t>
            </a:r>
            <a:endParaRPr lang="vi-VN" sz="2400" dirty="0">
              <a:latin typeface="Times New Roman" panose="02020603050405020304" pitchFamily="18" charset="0"/>
              <a:cs typeface="Times New Roman" panose="02020603050405020304" pitchFamily="18" charset="0"/>
            </a:endParaRPr>
          </a:p>
          <a:p>
            <a:pPr algn="just">
              <a:buFontTx/>
              <a:buChar char="-"/>
            </a:pPr>
            <a:r>
              <a:rPr lang="vi-VN" sz="2400" dirty="0">
                <a:latin typeface="Times New Roman" panose="02020603050405020304" pitchFamily="18" charset="0"/>
                <a:cs typeface="Times New Roman" panose="02020603050405020304" pitchFamily="18" charset="0"/>
              </a:rPr>
              <a:t>Ý thức xã hội có thể vượt trước tồn tại xã hội</a:t>
            </a:r>
            <a:endParaRPr lang="vi-VN" sz="2400" dirty="0">
              <a:latin typeface="Times New Roman" panose="02020603050405020304" pitchFamily="18" charset="0"/>
              <a:cs typeface="Times New Roman" panose="02020603050405020304" pitchFamily="18" charset="0"/>
            </a:endParaRPr>
          </a:p>
          <a:p>
            <a:pPr algn="just">
              <a:buFontTx/>
              <a:buChar char="-"/>
            </a:pPr>
            <a:r>
              <a:rPr lang="vi-VN" sz="2400" dirty="0">
                <a:latin typeface="Times New Roman" panose="02020603050405020304" pitchFamily="18" charset="0"/>
                <a:cs typeface="Times New Roman" panose="02020603050405020304" pitchFamily="18" charset="0"/>
              </a:rPr>
              <a:t>Ý thức xã hội có tính kế thừa</a:t>
            </a:r>
            <a:endParaRPr lang="vi-VN" sz="2400" dirty="0">
              <a:latin typeface="Times New Roman" panose="02020603050405020304" pitchFamily="18" charset="0"/>
              <a:cs typeface="Times New Roman" panose="02020603050405020304" pitchFamily="18" charset="0"/>
            </a:endParaRPr>
          </a:p>
          <a:p>
            <a:pPr algn="just">
              <a:buFontTx/>
              <a:buChar char="-"/>
            </a:pPr>
            <a:r>
              <a:rPr lang="vi-VN" sz="2400" dirty="0">
                <a:latin typeface="Times New Roman" panose="02020603050405020304" pitchFamily="18" charset="0"/>
                <a:cs typeface="Times New Roman" panose="02020603050405020304" pitchFamily="18" charset="0"/>
              </a:rPr>
              <a:t>Sự tác động qua lại giữa các hình thái ý thức xã hội</a:t>
            </a:r>
            <a:endParaRPr lang="vi-VN" sz="2400" dirty="0">
              <a:latin typeface="Times New Roman" panose="02020603050405020304" pitchFamily="18" charset="0"/>
              <a:cs typeface="Times New Roman" panose="02020603050405020304" pitchFamily="18" charset="0"/>
            </a:endParaRPr>
          </a:p>
          <a:p>
            <a:pPr algn="just">
              <a:buFontTx/>
              <a:buChar char="-"/>
            </a:pPr>
            <a:r>
              <a:rPr lang="vi-VN" sz="2400" dirty="0">
                <a:latin typeface="Times New Roman" panose="02020603050405020304" pitchFamily="18" charset="0"/>
                <a:cs typeface="Times New Roman" panose="02020603050405020304" pitchFamily="18" charset="0"/>
              </a:rPr>
              <a:t>Ý thức xã hội tác động trở lại tồn tại xã hội.</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0789"/>
          </a:xfrm>
        </p:spPr>
        <p:txBody>
          <a:bodyPr>
            <a:normAutofit/>
          </a:bodyPr>
          <a:lstStyle/>
          <a:p>
            <a:r>
              <a:rPr lang="vi-VN" sz="3200" b="1" dirty="0">
                <a:latin typeface="Times New Roman" panose="02020603050405020304" pitchFamily="18" charset="0"/>
                <a:cs typeface="Times New Roman" panose="02020603050405020304" pitchFamily="18" charset="0"/>
              </a:rPr>
              <a:t>V. TRIẾT HỌC VỀ CON NGƯỜI</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55914"/>
            <a:ext cx="10515600" cy="5121049"/>
          </a:xfrm>
        </p:spPr>
        <p:txBody>
          <a:bodyPr>
            <a:normAutofit/>
          </a:bodyPr>
          <a:lstStyle/>
          <a:p>
            <a:pPr marL="457200" indent="-457200" algn="just">
              <a:buAutoNum type="arabicPeriod"/>
            </a:pPr>
            <a:r>
              <a:rPr lang="vi-VN" sz="2400" b="1" dirty="0">
                <a:latin typeface="Times New Roman" panose="02020603050405020304" pitchFamily="18" charset="0"/>
                <a:cs typeface="Times New Roman" panose="02020603050405020304" pitchFamily="18" charset="0"/>
              </a:rPr>
              <a:t>Con người và bản chất con người</a:t>
            </a:r>
            <a:endParaRPr lang="vi-VN" sz="2400" b="1" dirty="0">
              <a:latin typeface="Times New Roman" panose="02020603050405020304" pitchFamily="18" charset="0"/>
              <a:cs typeface="Times New Roman" panose="02020603050405020304" pitchFamily="18" charset="0"/>
            </a:endParaRPr>
          </a:p>
          <a:p>
            <a:pPr marL="457200" indent="-457200" algn="just">
              <a:buAutoNum type="alphaLcPeriod"/>
            </a:pPr>
            <a:r>
              <a:rPr lang="vi-VN" sz="2000" b="1" dirty="0">
                <a:latin typeface="Times New Roman" panose="02020603050405020304" pitchFamily="18" charset="0"/>
                <a:cs typeface="Times New Roman" panose="02020603050405020304" pitchFamily="18" charset="0"/>
              </a:rPr>
              <a:t>Con người là thực thể sinh học – xã hội</a:t>
            </a:r>
            <a:endParaRPr lang="vi-VN" sz="2000" b="1" dirty="0">
              <a:latin typeface="Times New Roman" panose="02020603050405020304" pitchFamily="18" charset="0"/>
              <a:cs typeface="Times New Roman" panose="02020603050405020304" pitchFamily="18" charset="0"/>
            </a:endParaRPr>
          </a:p>
          <a:p>
            <a:pPr algn="just">
              <a:buFontTx/>
              <a:buChar char="-"/>
            </a:pPr>
            <a:r>
              <a:rPr lang="vi-VN" sz="2000" dirty="0">
                <a:latin typeface="Times New Roman" panose="02020603050405020304" pitchFamily="18" charset="0"/>
                <a:cs typeface="Times New Roman" panose="02020603050405020304" pitchFamily="18" charset="0"/>
              </a:rPr>
              <a:t>Theo C.Mac, con người là một sinh vật có tính xã hội ở trình độ cao nhất của giới tự nhiên và của lịch sử xã hội, là chủ thể của lịch sử, sáng tạo nên tất cả các thành tựu của văn minh và văn hóa.</a:t>
            </a:r>
            <a:endParaRPr lang="vi-VN" sz="2000" dirty="0">
              <a:latin typeface="Times New Roman" panose="02020603050405020304" pitchFamily="18" charset="0"/>
              <a:cs typeface="Times New Roman" panose="02020603050405020304" pitchFamily="18" charset="0"/>
            </a:endParaRPr>
          </a:p>
          <a:p>
            <a:pPr algn="just">
              <a:buFontTx/>
              <a:buChar char="-"/>
            </a:pPr>
            <a:r>
              <a:rPr lang="vi-VN" sz="2000" dirty="0">
                <a:latin typeface="Times New Roman" panose="02020603050405020304" pitchFamily="18" charset="0"/>
                <a:cs typeface="Times New Roman" panose="02020603050405020304" pitchFamily="18" charset="0"/>
              </a:rPr>
              <a:t>Khi xem xét con người, không thể tách rời hai phương diện sinh học và xã hội</a:t>
            </a:r>
            <a:endParaRPr lang="vi-VN" sz="2000" dirty="0">
              <a:latin typeface="Times New Roman" panose="02020603050405020304" pitchFamily="18" charset="0"/>
              <a:cs typeface="Times New Roman" panose="02020603050405020304" pitchFamily="18" charset="0"/>
            </a:endParaRPr>
          </a:p>
          <a:p>
            <a:pPr marL="0" indent="0" algn="just">
              <a:buNone/>
            </a:pPr>
            <a:r>
              <a:rPr lang="vi-VN" sz="2000" dirty="0">
                <a:latin typeface="Times New Roman" panose="02020603050405020304" pitchFamily="18" charset="0"/>
                <a:cs typeface="Times New Roman" panose="02020603050405020304" pitchFamily="18" charset="0"/>
              </a:rPr>
              <a:t>b. </a:t>
            </a:r>
            <a:r>
              <a:rPr lang="vi-VN" sz="2000" b="1" dirty="0">
                <a:latin typeface="Times New Roman" panose="02020603050405020304" pitchFamily="18" charset="0"/>
                <a:cs typeface="Times New Roman" panose="02020603050405020304" pitchFamily="18" charset="0"/>
              </a:rPr>
              <a:t>Con người khác biệt với con vật ngay từ khi con người bắt đầu sản xuất ra những tư liệu sinh hoạt của mình.</a:t>
            </a:r>
            <a:endParaRPr lang="vi-VN" sz="2000" b="1" dirty="0">
              <a:latin typeface="Times New Roman" panose="02020603050405020304" pitchFamily="18" charset="0"/>
              <a:cs typeface="Times New Roman" panose="02020603050405020304" pitchFamily="18" charset="0"/>
            </a:endParaRPr>
          </a:p>
          <a:p>
            <a:pPr marL="0" indent="0" algn="just">
              <a:buNone/>
            </a:pPr>
            <a:r>
              <a:rPr lang="vi-VN" sz="2000" b="1" dirty="0">
                <a:latin typeface="Times New Roman" panose="02020603050405020304" pitchFamily="18" charset="0"/>
                <a:cs typeface="Times New Roman" panose="02020603050405020304" pitchFamily="18" charset="0"/>
              </a:rPr>
              <a:t>c. Con người là sản phẩm của lịch sử và của chính bản thân con người</a:t>
            </a:r>
            <a:endParaRPr lang="vi-VN" sz="2000" b="1" dirty="0">
              <a:latin typeface="Times New Roman" panose="02020603050405020304" pitchFamily="18" charset="0"/>
              <a:cs typeface="Times New Roman" panose="02020603050405020304" pitchFamily="18" charset="0"/>
            </a:endParaRPr>
          </a:p>
          <a:p>
            <a:pPr marL="0" indent="0" algn="just">
              <a:buNone/>
            </a:pPr>
            <a:r>
              <a:rPr lang="vi-VN" sz="2000" b="1" dirty="0">
                <a:latin typeface="Times New Roman" panose="02020603050405020304" pitchFamily="18" charset="0"/>
                <a:cs typeface="Times New Roman" panose="02020603050405020304" pitchFamily="18" charset="0"/>
              </a:rPr>
              <a:t>d. Con người vừa là chủ thể của lịch sử, vừa là sản phẩm của lịch sử </a:t>
            </a:r>
            <a:endParaRPr lang="vi-VN" sz="2000" b="1" dirty="0">
              <a:latin typeface="Times New Roman" panose="02020603050405020304" pitchFamily="18" charset="0"/>
              <a:cs typeface="Times New Roman" panose="02020603050405020304" pitchFamily="18" charset="0"/>
            </a:endParaRPr>
          </a:p>
          <a:p>
            <a:pPr marL="0" indent="0" algn="just">
              <a:buNone/>
            </a:pPr>
            <a:r>
              <a:rPr lang="vi-VN" sz="2000" b="1" dirty="0">
                <a:latin typeface="Times New Roman" panose="02020603050405020304" pitchFamily="18" charset="0"/>
                <a:cs typeface="Times New Roman" panose="02020603050405020304" pitchFamily="18" charset="0"/>
              </a:rPr>
              <a:t>đ. Bản chất Con người là tổng hòa các quan hệ xã hội </a:t>
            </a:r>
            <a:endParaRPr 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0789"/>
          </a:xfrm>
        </p:spPr>
        <p:txBody>
          <a:bodyPr>
            <a:normAutofit/>
          </a:bodyPr>
          <a:lstStyle/>
          <a:p>
            <a:pPr algn="just"/>
            <a:r>
              <a:rPr lang="vi-VN" sz="2400" b="1" dirty="0">
                <a:solidFill>
                  <a:srgbClr val="FF0000"/>
                </a:solidFill>
                <a:latin typeface="Times New Roman" panose="02020603050405020304" pitchFamily="18" charset="0"/>
                <a:cs typeface="Times New Roman" panose="02020603050405020304" pitchFamily="18" charset="0"/>
              </a:rPr>
              <a:t>2. Hiện tượng tha hóa con người và vấn đề giải phóng con người</a:t>
            </a:r>
            <a:endParaRPr 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30086"/>
            <a:ext cx="10515600" cy="4946877"/>
          </a:xfrm>
        </p:spPr>
        <p:txBody>
          <a:bodyPr>
            <a:normAutofit/>
          </a:bodyPr>
          <a:lstStyle/>
          <a:p>
            <a:pPr marL="457200" indent="-457200" algn="just">
              <a:buAutoNum type="alphaLcPeriod"/>
            </a:pPr>
            <a:r>
              <a:rPr lang="vi-VN" sz="2200" dirty="0">
                <a:latin typeface="Times New Roman" panose="02020603050405020304" pitchFamily="18" charset="0"/>
                <a:cs typeface="Times New Roman" panose="02020603050405020304" pitchFamily="18" charset="0"/>
              </a:rPr>
              <a:t>Thực chất của hiện tượng tha hóa con người là lao động của con người bị tha hóa</a:t>
            </a:r>
            <a:endParaRPr lang="vi-VN" sz="2200" dirty="0">
              <a:latin typeface="Times New Roman" panose="02020603050405020304" pitchFamily="18" charset="0"/>
              <a:cs typeface="Times New Roman" panose="02020603050405020304" pitchFamily="18" charset="0"/>
            </a:endParaRPr>
          </a:p>
          <a:p>
            <a:pPr marL="457200" indent="-457200" algn="just">
              <a:buAutoNum type="alphaLcPeriod"/>
            </a:pPr>
            <a:r>
              <a:rPr lang="vi-VN" sz="2200" dirty="0">
                <a:latin typeface="Times New Roman" panose="02020603050405020304" pitchFamily="18" charset="0"/>
                <a:cs typeface="Times New Roman" panose="02020603050405020304" pitchFamily="18" charset="0"/>
              </a:rPr>
              <a:t>“Vĩnh viễn giải phóng toàn thể xã hội khỏi ách bóc lột, ách áp bức”</a:t>
            </a:r>
            <a:endParaRPr lang="vi-VN" sz="2200" dirty="0">
              <a:latin typeface="Times New Roman" panose="02020603050405020304" pitchFamily="18" charset="0"/>
              <a:cs typeface="Times New Roman" panose="02020603050405020304" pitchFamily="18" charset="0"/>
            </a:endParaRPr>
          </a:p>
          <a:p>
            <a:pPr marL="457200" indent="-457200" algn="just">
              <a:buAutoNum type="alphaLcPeriod"/>
            </a:pPr>
            <a:r>
              <a:rPr lang="vi-VN" sz="2200" dirty="0">
                <a:latin typeface="Times New Roman" panose="02020603050405020304" pitchFamily="18" charset="0"/>
                <a:cs typeface="Times New Roman" panose="02020603050405020304" pitchFamily="18" charset="0"/>
              </a:rPr>
              <a:t>“Sự phát triển tự do của mỗi người là điều kiện cho sự phát triển tự do của tất cả mọi người”</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5845"/>
          </a:xfrm>
        </p:spPr>
        <p:txBody>
          <a:bodyPr>
            <a:normAutofit/>
          </a:bodyPr>
          <a:lstStyle/>
          <a:p>
            <a:r>
              <a:rPr lang="vi-VN" sz="2200" b="1" dirty="0">
                <a:solidFill>
                  <a:srgbClr val="FF0000"/>
                </a:solidFill>
                <a:latin typeface="Times New Roman" panose="02020603050405020304" pitchFamily="18" charset="0"/>
                <a:cs typeface="Times New Roman" panose="02020603050405020304" pitchFamily="18" charset="0"/>
              </a:rPr>
              <a:t>3. Quan điểm của triết học Mac – Leenin về quan hệ cá nhân và xã hội, về vai trò của quần chúng nhân dân và lãnh tụ trong lịch sử</a:t>
            </a:r>
            <a:endParaRPr lang="en-US" sz="2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15143"/>
            <a:ext cx="10515600" cy="4761820"/>
          </a:xfrm>
        </p:spPr>
        <p:txBody>
          <a:bodyPr>
            <a:normAutofit/>
          </a:bodyPr>
          <a:lstStyle/>
          <a:p>
            <a:pPr marL="457200" indent="-457200" algn="just">
              <a:buAutoNum type="alphaLcPeriod"/>
            </a:pPr>
            <a:r>
              <a:rPr lang="vi-VN" sz="2400" dirty="0">
                <a:latin typeface="Times New Roman" panose="02020603050405020304" pitchFamily="18" charset="0"/>
                <a:cs typeface="Times New Roman" panose="02020603050405020304" pitchFamily="18" charset="0"/>
              </a:rPr>
              <a:t>Quan hệ giữa cá nhân và xã hội</a:t>
            </a:r>
            <a:endParaRPr lang="vi-VN" sz="2400" dirty="0">
              <a:latin typeface="Times New Roman" panose="02020603050405020304" pitchFamily="18" charset="0"/>
              <a:cs typeface="Times New Roman" panose="02020603050405020304" pitchFamily="18" charset="0"/>
            </a:endParaRPr>
          </a:p>
          <a:p>
            <a:pPr algn="just">
              <a:buFontTx/>
              <a:buChar char="-"/>
            </a:pPr>
            <a:r>
              <a:rPr lang="vi-VN" sz="2400" dirty="0">
                <a:latin typeface="Times New Roman" panose="02020603050405020304" pitchFamily="18" charset="0"/>
                <a:cs typeface="Times New Roman" panose="02020603050405020304" pitchFamily="18" charset="0"/>
              </a:rPr>
              <a:t>Cá nhân và xã hội không tách rời nhau. Xã hội do các cá nhân cụ thể hợp thành, mỗi cá nhân là một phần tử của xã hội sống và hoạt động trong xã hội đó.</a:t>
            </a:r>
            <a:endParaRPr lang="vi-VN" sz="2400" dirty="0">
              <a:latin typeface="Times New Roman" panose="02020603050405020304" pitchFamily="18" charset="0"/>
              <a:cs typeface="Times New Roman" panose="02020603050405020304" pitchFamily="18" charset="0"/>
            </a:endParaRPr>
          </a:p>
          <a:p>
            <a:pPr algn="just">
              <a:buFontTx/>
              <a:buChar char="-"/>
            </a:pPr>
            <a:r>
              <a:rPr lang="vi-VN" sz="2400" dirty="0">
                <a:latin typeface="Times New Roman" panose="02020603050405020304" pitchFamily="18" charset="0"/>
                <a:cs typeface="Times New Roman" panose="02020603050405020304" pitchFamily="18" charset="0"/>
              </a:rPr>
              <a:t>Được thể hiện trong quan hệ con người giai cấp và con người nhân loại</a:t>
            </a:r>
            <a:endParaRPr lang="vi-VN" sz="2400" dirty="0">
              <a:latin typeface="Times New Roman" panose="02020603050405020304" pitchFamily="18" charset="0"/>
              <a:cs typeface="Times New Roman" panose="02020603050405020304" pitchFamily="18" charset="0"/>
            </a:endParaRPr>
          </a:p>
          <a:p>
            <a:pPr marL="0" indent="0" algn="just">
              <a:buNone/>
            </a:pPr>
            <a:r>
              <a:rPr lang="vi-VN" sz="2400" dirty="0">
                <a:latin typeface="Times New Roman" panose="02020603050405020304" pitchFamily="18" charset="0"/>
                <a:cs typeface="Times New Roman" panose="02020603050405020304" pitchFamily="18" charset="0"/>
              </a:rPr>
              <a:t>b. Vai trò của quần chúng nhân dân và lãnh tụ trong lịch sử</a:t>
            </a:r>
            <a:endParaRPr lang="vi-VN" sz="2400" dirty="0">
              <a:latin typeface="Times New Roman" panose="02020603050405020304" pitchFamily="18" charset="0"/>
              <a:cs typeface="Times New Roman" panose="02020603050405020304" pitchFamily="18" charset="0"/>
            </a:endParaRPr>
          </a:p>
          <a:p>
            <a:pPr algn="just">
              <a:buFontTx/>
              <a:buChar char="-"/>
            </a:pPr>
            <a:r>
              <a:rPr lang="vi-VN" sz="2400" dirty="0">
                <a:latin typeface="Times New Roman" panose="02020603050405020304" pitchFamily="18" charset="0"/>
                <a:cs typeface="Times New Roman" panose="02020603050405020304" pitchFamily="18" charset="0"/>
              </a:rPr>
              <a:t>Yếu tố căn bản và quyết định của LLSX là quần chúng nhân dân lao động.</a:t>
            </a:r>
            <a:endParaRPr lang="vi-VN" sz="2400" dirty="0">
              <a:latin typeface="Times New Roman" panose="02020603050405020304" pitchFamily="18" charset="0"/>
              <a:cs typeface="Times New Roman" panose="02020603050405020304" pitchFamily="18" charset="0"/>
            </a:endParaRPr>
          </a:p>
          <a:p>
            <a:pPr algn="just">
              <a:buFontTx/>
              <a:buChar char="-"/>
            </a:pPr>
            <a:r>
              <a:rPr lang="vi-VN" sz="2400" dirty="0">
                <a:latin typeface="Times New Roman" panose="02020603050405020304" pitchFamily="18" charset="0"/>
                <a:cs typeface="Times New Roman" panose="02020603050405020304" pitchFamily="18" charset="0"/>
              </a:rPr>
              <a:t>Quần chúng nhân dân luôn là lực lượng chủ yếu, cơ bản và quyết định mọi thắng lợi của cuộc cách mạng và chuyển biến của đời sống Xh.</a:t>
            </a:r>
            <a:endParaRPr lang="vi-VN" sz="2400" dirty="0">
              <a:latin typeface="Times New Roman" panose="02020603050405020304" pitchFamily="18" charset="0"/>
              <a:cs typeface="Times New Roman" panose="02020603050405020304" pitchFamily="18" charset="0"/>
            </a:endParaRPr>
          </a:p>
          <a:p>
            <a:pPr algn="just">
              <a:buFontTx/>
              <a:buChar char="-"/>
            </a:pPr>
            <a:r>
              <a:rPr lang="vi-VN" sz="2400" dirty="0">
                <a:latin typeface="Times New Roman" panose="02020603050405020304" pitchFamily="18" charset="0"/>
                <a:cs typeface="Times New Roman" panose="02020603050405020304" pitchFamily="18" charset="0"/>
              </a:rPr>
              <a:t>Toàn bộ các giá trị văn hóa, tinh thần và đời sống tinh thần đều do quần chúng nhân dân sáng tạo ra.</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56104"/>
          </a:xfrm>
        </p:spPr>
        <p:txBody>
          <a:bodyPr>
            <a:normAutofit fontScale="90000"/>
          </a:bodyPr>
          <a:lstStyle/>
          <a:p>
            <a:br>
              <a:rPr lang="vi-VN" sz="2700" dirty="0">
                <a:latin typeface="Times New Roman" panose="02020603050405020304" pitchFamily="18" charset="0"/>
                <a:cs typeface="Times New Roman" panose="02020603050405020304" pitchFamily="18" charset="0"/>
              </a:rPr>
            </a:br>
            <a:r>
              <a:rPr lang="vi-VN" sz="2400" b="1" dirty="0">
                <a:latin typeface="Times New Roman" panose="02020603050405020304" pitchFamily="18" charset="0"/>
                <a:cs typeface="Times New Roman" panose="02020603050405020304" pitchFamily="18" charset="0"/>
              </a:rPr>
              <a:t>b. Vai trò của quần chúng nhân dân và lãnh tụ trong lịch sử</a:t>
            </a:r>
            <a:br>
              <a:rPr lang="vi-VN" sz="2400" b="1" dirty="0">
                <a:latin typeface="Times New Roman" panose="02020603050405020304" pitchFamily="18" charset="0"/>
                <a:cs typeface="Times New Roman" panose="02020603050405020304" pitchFamily="18" charset="0"/>
              </a:rPr>
            </a:br>
            <a:endParaRPr lang="en-US" sz="2400" b="1" dirty="0"/>
          </a:p>
        </p:txBody>
      </p:sp>
      <p:sp>
        <p:nvSpPr>
          <p:cNvPr id="3" name="Content Placeholder 2"/>
          <p:cNvSpPr>
            <a:spLocks noGrp="1"/>
          </p:cNvSpPr>
          <p:nvPr>
            <p:ph idx="1"/>
          </p:nvPr>
        </p:nvSpPr>
        <p:spPr>
          <a:xfrm>
            <a:off x="838200" y="1240971"/>
            <a:ext cx="10515600" cy="4935992"/>
          </a:xfrm>
        </p:spPr>
        <p:txBody>
          <a:bodyPr/>
          <a:lstStyle/>
          <a:p>
            <a:pPr algn="just">
              <a:buFont typeface="Wingdings" panose="05000000000000000000" pitchFamily="2" charset="2"/>
              <a:buChar char="v"/>
            </a:pPr>
            <a:r>
              <a:rPr lang="vi-VN" sz="2800" b="1" dirty="0">
                <a:latin typeface="Times New Roman" panose="02020603050405020304" pitchFamily="18" charset="0"/>
                <a:cs typeface="Times New Roman" panose="02020603050405020304" pitchFamily="18" charset="0"/>
              </a:rPr>
              <a:t>Vai trò của quần chúng nhân dân</a:t>
            </a:r>
            <a:endParaRPr lang="vi-VN" sz="2800" dirty="0">
              <a:latin typeface="Times New Roman" panose="02020603050405020304" pitchFamily="18" charset="0"/>
              <a:cs typeface="Times New Roman" panose="02020603050405020304" pitchFamily="18" charset="0"/>
            </a:endParaRPr>
          </a:p>
          <a:p>
            <a:pPr algn="just">
              <a:buFontTx/>
              <a:buChar char="-"/>
            </a:pPr>
            <a:r>
              <a:rPr lang="vi-VN" sz="2000" dirty="0">
                <a:latin typeface="Times New Roman" panose="02020603050405020304" pitchFamily="18" charset="0"/>
                <a:cs typeface="Times New Roman" panose="02020603050405020304" pitchFamily="18" charset="0"/>
              </a:rPr>
              <a:t>Yếu tố căn bản và quyết định của LLSX là quần chúng nhân dân lao động.</a:t>
            </a:r>
            <a:endParaRPr lang="vi-VN" sz="2000" dirty="0">
              <a:latin typeface="Times New Roman" panose="02020603050405020304" pitchFamily="18" charset="0"/>
              <a:cs typeface="Times New Roman" panose="02020603050405020304" pitchFamily="18" charset="0"/>
            </a:endParaRPr>
          </a:p>
          <a:p>
            <a:pPr algn="just">
              <a:buFontTx/>
              <a:buChar char="-"/>
            </a:pPr>
            <a:r>
              <a:rPr lang="vi-VN" sz="2000" dirty="0">
                <a:latin typeface="Times New Roman" panose="02020603050405020304" pitchFamily="18" charset="0"/>
                <a:cs typeface="Times New Roman" panose="02020603050405020304" pitchFamily="18" charset="0"/>
              </a:rPr>
              <a:t>Quần chúng nhân dân luôn là lực lượng chủ yếu, cơ bản và quyết định mọi thắng lợi của cuộc cách mạng và chuyển biến của đời sống Xh.</a:t>
            </a:r>
            <a:endParaRPr lang="vi-VN" sz="2000" dirty="0">
              <a:latin typeface="Times New Roman" panose="02020603050405020304" pitchFamily="18" charset="0"/>
              <a:cs typeface="Times New Roman" panose="02020603050405020304" pitchFamily="18" charset="0"/>
            </a:endParaRPr>
          </a:p>
          <a:p>
            <a:pPr algn="just">
              <a:buFontTx/>
              <a:buChar char="-"/>
            </a:pPr>
            <a:r>
              <a:rPr lang="vi-VN" sz="2000" dirty="0">
                <a:latin typeface="Times New Roman" panose="02020603050405020304" pitchFamily="18" charset="0"/>
                <a:cs typeface="Times New Roman" panose="02020603050405020304" pitchFamily="18" charset="0"/>
              </a:rPr>
              <a:t>Toàn bộ các giá trị văn hóa, tinh thần và đời sống tinh thần đều do quần chúng nhân dân sáng tạo ra.</a:t>
            </a: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vi-VN" sz="2400" dirty="0">
                <a:latin typeface="Times New Roman" panose="02020603050405020304" pitchFamily="18" charset="0"/>
                <a:cs typeface="Times New Roman" panose="02020603050405020304" pitchFamily="18" charset="0"/>
              </a:rPr>
              <a:t>Quan hệ giữa Lãnh tụ với quần chúng nhân là quan hệ thống nhất, biện chứng thể hiện:</a:t>
            </a:r>
            <a:endParaRPr lang="vi-VN" sz="2400" dirty="0">
              <a:latin typeface="Times New Roman" panose="02020603050405020304" pitchFamily="18" charset="0"/>
              <a:cs typeface="Times New Roman" panose="02020603050405020304" pitchFamily="18" charset="0"/>
            </a:endParaRPr>
          </a:p>
          <a:p>
            <a:pPr>
              <a:buFontTx/>
              <a:buChar char="-"/>
            </a:pPr>
            <a:r>
              <a:rPr lang="vi-VN" sz="2000" dirty="0">
                <a:latin typeface="Times New Roman" panose="02020603050405020304" pitchFamily="18" charset="0"/>
                <a:cs typeface="Times New Roman" panose="02020603050405020304" pitchFamily="18" charset="0"/>
              </a:rPr>
              <a:t>Mục đích và lợi ích của quần chúng nhân và lãnh tụ là thống nhất.</a:t>
            </a:r>
            <a:endParaRPr lang="vi-VN" sz="2000" dirty="0">
              <a:latin typeface="Times New Roman" panose="02020603050405020304" pitchFamily="18" charset="0"/>
              <a:cs typeface="Times New Roman" panose="02020603050405020304" pitchFamily="18" charset="0"/>
            </a:endParaRPr>
          </a:p>
          <a:p>
            <a:pPr>
              <a:buFontTx/>
              <a:buChar char="-"/>
            </a:pPr>
            <a:r>
              <a:rPr lang="vi-VN" sz="2000" dirty="0">
                <a:latin typeface="Times New Roman" panose="02020603050405020304" pitchFamily="18" charset="0"/>
                <a:cs typeface="Times New Roman" panose="02020603050405020304" pitchFamily="18" charset="0"/>
              </a:rPr>
              <a:t>Quần chúng nhân dân và phong trào của họ tạo nên lãnh tụ, những điều kiện, tiền đề khách quan để lãnh tụ xuất hiện và hoàn thành nhiệm vụ mà lịch sử đặt ra cho họ.</a:t>
            </a:r>
            <a:endParaRPr lang="vi-VN" sz="2000" dirty="0">
              <a:latin typeface="Times New Roman" panose="02020603050405020304" pitchFamily="18" charset="0"/>
              <a:cs typeface="Times New Roman" panose="02020603050405020304" pitchFamily="18" charset="0"/>
            </a:endParaRPr>
          </a:p>
          <a:p>
            <a:pPr>
              <a:buFontTx/>
              <a:buChar char="-"/>
            </a:pPr>
            <a:r>
              <a:rPr lang="vi-VN" sz="2000" dirty="0">
                <a:latin typeface="Times New Roman" panose="02020603050405020304" pitchFamily="18" charset="0"/>
                <a:cs typeface="Times New Roman" panose="02020603050405020304" pitchFamily="18" charset="0"/>
              </a:rPr>
              <a:t>Trong mối quan hệ thống nhất biện chứng giữa quần chúng nhân dân và lãnh tụ, Mac – Leenin khẳng định vai trò quần chúng nhân dân đồng thời đánh giá cao vai trò lãnh tụ.lãnh tụ</a:t>
            </a:r>
            <a:endParaRPr lang="vi-VN" sz="2000" dirty="0">
              <a:latin typeface="Times New Roman" panose="02020603050405020304" pitchFamily="18" charset="0"/>
              <a:cs typeface="Times New Roman" panose="02020603050405020304" pitchFamily="18" charset="0"/>
            </a:endParaRPr>
          </a:p>
          <a:p>
            <a:pPr>
              <a:buFontTx/>
              <a:buChar char="-"/>
            </a:pPr>
            <a:endParaRPr lang="vi-VN"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73818"/>
          </a:xfrm>
        </p:spPr>
        <p:txBody>
          <a:bodyPr>
            <a:normAutofit/>
          </a:bodyPr>
          <a:lstStyle/>
          <a:p>
            <a:pPr algn="just"/>
            <a:r>
              <a:rPr lang="vi-VN" sz="2800" b="1" dirty="0">
                <a:solidFill>
                  <a:srgbClr val="FF0000"/>
                </a:solidFill>
                <a:latin typeface="Times New Roman" panose="02020603050405020304" pitchFamily="18" charset="0"/>
                <a:cs typeface="Times New Roman" panose="02020603050405020304" pitchFamily="18" charset="0"/>
              </a:rPr>
              <a:t>4. Vấn đề con người trong sự nghiệp cách mạng ở Việt Nam</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36914"/>
            <a:ext cx="10515600" cy="4740049"/>
          </a:xfrm>
        </p:spPr>
        <p:txBody>
          <a:bodyPr>
            <a:normAutofit/>
          </a:bodyPr>
          <a:lstStyle/>
          <a:p>
            <a:pPr marL="0" indent="0" algn="just">
              <a:buNone/>
            </a:pPr>
            <a:r>
              <a:rPr lang="vi-VN" sz="2000" dirty="0">
                <a:latin typeface="Times New Roman" panose="02020603050405020304" pitchFamily="18" charset="0"/>
                <a:cs typeface="Times New Roman" panose="02020603050405020304" pitchFamily="18" charset="0"/>
              </a:rPr>
              <a:t>Theo Hồ Chí Minh, “Chữ người nghĩa hẹp là gia đình, anh em, họ hàng, bầu bạn. Nghĩa rộng là đồng bào cả nước. Rộng nữa là cả loài người”</a:t>
            </a:r>
            <a:endParaRPr lang="vi-VN" sz="2000" dirty="0">
              <a:latin typeface="Times New Roman" panose="02020603050405020304" pitchFamily="18" charset="0"/>
              <a:cs typeface="Times New Roman" panose="02020603050405020304" pitchFamily="18" charset="0"/>
            </a:endParaRPr>
          </a:p>
          <a:p>
            <a:pPr marL="0" indent="0" algn="just">
              <a:buNone/>
            </a:pPr>
            <a:r>
              <a:rPr lang="vi-VN" sz="2000" dirty="0">
                <a:latin typeface="Times New Roman" panose="02020603050405020304" pitchFamily="18" charset="0"/>
                <a:cs typeface="Times New Roman" panose="02020603050405020304" pitchFamily="18" charset="0"/>
              </a:rPr>
              <a:t>Tư tưởng Hồ Chí Minh về con người bao hàm nhiều nội dung khác nhau:</a:t>
            </a:r>
            <a:endParaRPr lang="vi-VN" sz="2000" dirty="0">
              <a:latin typeface="Times New Roman" panose="02020603050405020304" pitchFamily="18" charset="0"/>
              <a:cs typeface="Times New Roman" panose="02020603050405020304" pitchFamily="18" charset="0"/>
            </a:endParaRPr>
          </a:p>
          <a:p>
            <a:pPr algn="just">
              <a:buFontTx/>
              <a:buChar char="-"/>
            </a:pPr>
            <a:r>
              <a:rPr lang="vi-VN" sz="2000" dirty="0">
                <a:latin typeface="Times New Roman" panose="02020603050405020304" pitchFamily="18" charset="0"/>
                <a:cs typeface="Times New Roman" panose="02020603050405020304" pitchFamily="18" charset="0"/>
              </a:rPr>
              <a:t>Tư tưởng về giải phóng nhần dân lao động</a:t>
            </a:r>
            <a:endParaRPr lang="vi-VN" sz="2000" dirty="0">
              <a:latin typeface="Times New Roman" panose="02020603050405020304" pitchFamily="18" charset="0"/>
              <a:cs typeface="Times New Roman" panose="02020603050405020304" pitchFamily="18" charset="0"/>
            </a:endParaRPr>
          </a:p>
          <a:p>
            <a:pPr algn="just">
              <a:buFontTx/>
              <a:buChar char="-"/>
            </a:pPr>
            <a:r>
              <a:rPr lang="vi-VN" sz="2000" dirty="0">
                <a:latin typeface="Times New Roman" panose="02020603050405020304" pitchFamily="18" charset="0"/>
                <a:cs typeface="Times New Roman" panose="02020603050405020304" pitchFamily="18" charset="0"/>
              </a:rPr>
              <a:t>Giả phóng giai cấp</a:t>
            </a:r>
            <a:endParaRPr lang="vi-VN" sz="2000" dirty="0">
              <a:latin typeface="Times New Roman" panose="02020603050405020304" pitchFamily="18" charset="0"/>
              <a:cs typeface="Times New Roman" panose="02020603050405020304" pitchFamily="18" charset="0"/>
            </a:endParaRPr>
          </a:p>
          <a:p>
            <a:pPr algn="just">
              <a:buFontTx/>
              <a:buChar char="-"/>
            </a:pPr>
            <a:r>
              <a:rPr lang="vi-VN" sz="2000" dirty="0">
                <a:latin typeface="Times New Roman" panose="02020603050405020304" pitchFamily="18" charset="0"/>
                <a:cs typeface="Times New Roman" panose="02020603050405020304" pitchFamily="18" charset="0"/>
              </a:rPr>
              <a:t>Giải phóng dân tộc</a:t>
            </a:r>
            <a:endParaRPr lang="vi-VN" sz="2000" dirty="0">
              <a:latin typeface="Times New Roman" panose="02020603050405020304" pitchFamily="18" charset="0"/>
              <a:cs typeface="Times New Roman" panose="02020603050405020304" pitchFamily="18" charset="0"/>
            </a:endParaRPr>
          </a:p>
          <a:p>
            <a:pPr algn="just">
              <a:buFontTx/>
              <a:buChar char="-"/>
            </a:pPr>
            <a:r>
              <a:rPr lang="vi-VN" sz="2000" dirty="0">
                <a:latin typeface="Times New Roman" panose="02020603050405020304" pitchFamily="18" charset="0"/>
                <a:cs typeface="Times New Roman" panose="02020603050405020304" pitchFamily="18" charset="0"/>
              </a:rPr>
              <a:t>Tư tưởng về con người vừa là mục tiêu, vừa là động lực của cách mạng</a:t>
            </a:r>
            <a:endParaRPr lang="vi-VN" sz="2000" dirty="0">
              <a:latin typeface="Times New Roman" panose="02020603050405020304" pitchFamily="18" charset="0"/>
              <a:cs typeface="Times New Roman" panose="02020603050405020304" pitchFamily="18" charset="0"/>
            </a:endParaRPr>
          </a:p>
          <a:p>
            <a:pPr algn="just">
              <a:buFontTx/>
              <a:buChar char="-"/>
            </a:pPr>
            <a:r>
              <a:rPr lang="vi-VN" sz="2000" dirty="0">
                <a:latin typeface="Times New Roman" panose="02020603050405020304" pitchFamily="18" charset="0"/>
                <a:cs typeface="Times New Roman" panose="02020603050405020304" pitchFamily="18" charset="0"/>
              </a:rPr>
              <a:t>Tư tưởng về phát riển con người toàn diện</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26677</Words>
  <Application>WPS Presentation</Application>
  <PresentationFormat>Widescreen</PresentationFormat>
  <Paragraphs>619</Paragraphs>
  <Slides>58</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58</vt:i4>
      </vt:variant>
    </vt:vector>
  </HeadingPairs>
  <TitlesOfParts>
    <vt:vector size="69" baseType="lpstr">
      <vt:lpstr>Arial</vt:lpstr>
      <vt:lpstr>SimSun</vt:lpstr>
      <vt:lpstr>Wingdings</vt:lpstr>
      <vt:lpstr>Times New Roman</vt:lpstr>
      <vt:lpstr>Wingdings</vt:lpstr>
      <vt:lpstr>Microsoft YaHei</vt:lpstr>
      <vt:lpstr>Arial Unicode MS</vt:lpstr>
      <vt:lpstr>Calibri Light</vt:lpstr>
      <vt:lpstr>Calibri</vt:lpstr>
      <vt:lpstr>Symbol</vt:lpstr>
      <vt:lpstr>Office Theme</vt:lpstr>
      <vt:lpstr>Chương 3</vt:lpstr>
      <vt:lpstr>  I. Học thuyết hình thái kinh tế xã hội 1. Sản xuất vật chất là cơ sở của sự tồn tại và phát triển xã hội 2. Biện chứng giữa cơ sở hạ tầng và kiến trúc thượng tầng của XH 3. Sự phát triển các hình thái kinh tế - xã hội là một quá trình lịch sử tự nhiên II. Giai cấp và dân tộc 1. Giai cấp và đấu tranh giai cấp 2. Dân tộc 3. Mối quan hệ giai cấp – dân tộc – nhân loại III. Nhà nước và cách mạng xã hội 1. Nhà nước 2. Cách mạng XH IV. Ý thức xã hội 1. Tồn tại XH và các yếu tố cơ bản của tồn tại XH 2. Ý thức xã hội và kết cấu của YTXH V. Triết học về con người 1. Quan hệ cá nhân và xã hội; vai trò của quần chúng nhân dân và lãnh tụ trong lịch sử 2. Vấn đề con người trong sự nghiệp CM ở VN   </vt:lpstr>
      <vt:lpstr>I. Học thuyết hình thái kinh tế xã hội 1. Sản xuất vật chất là cơ sở của sự tồn tại và phát triển xã hội</vt:lpstr>
      <vt:lpstr>PowerPoint 演示文稿</vt:lpstr>
      <vt:lpstr>2. Biện chứng giữa LLSX và QHSX</vt:lpstr>
      <vt:lpstr>LLSX là sự kết hợp giữa người lao động với TLSX, tạo ra sức SX và năng lực thực tiễn làm biến đổi các đối tượng vật chất của giới tự nhiên theo nhu cầu của con người và XH </vt:lpstr>
      <vt:lpstr>PowerPoint 演示文稿</vt:lpstr>
      <vt:lpstr>PowerPoint 演示文稿</vt:lpstr>
      <vt:lpstr>PowerPoint 演示文稿</vt:lpstr>
      <vt:lpstr>QHSX là mối quan hệ giữa người với người trong quá trình sản xuất và tái sản xuất xã hội. QHSX gồm 3 mặt:</vt:lpstr>
      <vt:lpstr>b. Quy luật QHSX phù hợp với trình độ phát triển của LLSX</vt:lpstr>
      <vt:lpstr>PowerPoint 演示文稿</vt:lpstr>
      <vt:lpstr>PowerPoint 演示文稿</vt:lpstr>
      <vt:lpstr>PowerPoint 演示文稿</vt:lpstr>
      <vt:lpstr>Ý nghĩa trong đời sống XH</vt:lpstr>
      <vt:lpstr>3. Biện chứng giữa CSHT và KTTT</vt:lpstr>
      <vt:lpstr>Kiến trúc thượng tầng là toàn bộ những quan điểm chính trị, pháp quyền, triết học, đạo đức, tôn giáo, nghệ thuật…cùng với thiết chế XH tương  ứng như: nhà nước, đảng phái, giáo hội, các đoàn thể XH…được hình thành trên CSHT nhất định.</vt:lpstr>
      <vt:lpstr>b. Quy luật về mối quan hệ biện chứng giữa CSHT và KTTT của xã hội</vt:lpstr>
      <vt:lpstr>b. Quy luật về mối quan hệ biện chứng giữa CSHT và KTTT của xã hội</vt:lpstr>
      <vt:lpstr>PowerPoint 演示文稿</vt:lpstr>
      <vt:lpstr>PowerPoint 演示文稿</vt:lpstr>
      <vt:lpstr>PowerPoint 演示文稿</vt:lpstr>
      <vt:lpstr>Ý nghĩa trong đời sống XH</vt:lpstr>
      <vt:lpstr>4. Sự phát triển các hình thái KT - XH là một quá trình lịch sử - tự nhiên</vt:lpstr>
      <vt:lpstr>b. Tiến trình lịch sử - tự nhiên của XH loài người</vt:lpstr>
      <vt:lpstr>c. Giá trị khoa học bền vững và ý nghĩa cách mạng</vt:lpstr>
      <vt:lpstr>II. Giai cấp và dân tộc</vt:lpstr>
      <vt:lpstr>Ý nghĩa định nghĩa “giai cấp” của Lê-nin:</vt:lpstr>
      <vt:lpstr>PowerPoint 演示文稿</vt:lpstr>
      <vt:lpstr>Nguồn gốc giai cấp:</vt:lpstr>
      <vt:lpstr>PowerPoint 演示文稿</vt:lpstr>
      <vt:lpstr>b. Đấu trang giai cấp</vt:lpstr>
      <vt:lpstr>Vai trò của đấu tranh giai cấp trong sự phát triển của XH có giai cấp</vt:lpstr>
      <vt:lpstr>c. Đấu tranh giai cấp của giai cấp vô sản</vt:lpstr>
      <vt:lpstr>Đấu tranh giai cấp trong thời kỳ quá độ từ CNTB lên CNXH</vt:lpstr>
      <vt:lpstr>Đặc điểm đấu tranh giai cấp trong thời kỳ quá độ lên CNXH ở VN hiện nay</vt:lpstr>
      <vt:lpstr>2. Dân tộc</vt:lpstr>
      <vt:lpstr>b. Dân tộc - hình thức cộng đồng người phổ biến hiện nay</vt:lpstr>
      <vt:lpstr>3. Mối quan hệ giai cấp - dân tộc - nhân loại</vt:lpstr>
      <vt:lpstr> b. Quan hệ giai cấp, dân tộc với nhân loại </vt:lpstr>
      <vt:lpstr>III. Nhà nước và CMXH</vt:lpstr>
      <vt:lpstr>b. Bản chất của nhà nước</vt:lpstr>
      <vt:lpstr>c. Đặc trưng cơ bản của nhà nước</vt:lpstr>
      <vt:lpstr>d. Chức năng cơ bản của nhà nước</vt:lpstr>
      <vt:lpstr>đ. Các kiểu và hình thức nhà nước</vt:lpstr>
      <vt:lpstr>Các hình thức nhà nước.</vt:lpstr>
      <vt:lpstr>2. Cách mạng xã hội chủ nghĩa</vt:lpstr>
      <vt:lpstr>b. Bản chất của CMXH</vt:lpstr>
      <vt:lpstr>PowerPoint 演示文稿</vt:lpstr>
      <vt:lpstr>IV. Ý THỨC XÃ HỘI</vt:lpstr>
      <vt:lpstr>2. Khái niệm, kết cấu, tính giai cấp, các hình thái của ý thức xh</vt:lpstr>
      <vt:lpstr>PowerPoint 演示文稿</vt:lpstr>
      <vt:lpstr>3. Quan hệ biện chứng giữa tồn tại xã hội và ý thức xã hội, tính độc lập tương đối của ý thức xã hội</vt:lpstr>
      <vt:lpstr>V. TRIẾT HỌC VỀ CON NGƯỜI</vt:lpstr>
      <vt:lpstr>2. Hiện tượng tha hóa con người và vấn đề giải phóng con người</vt:lpstr>
      <vt:lpstr>3. Quan điểm của triết học Mac – Leenin về quan hệ cá nhân và xã hội, về vai trò của quần chúng nhân dân và lãnh tụ trong lịch sử</vt:lpstr>
      <vt:lpstr> b. Vai trò của quần chúng nhân dân và lãnh tụ trong lịch sử </vt:lpstr>
      <vt:lpstr>4. Vấn đề con người trong sự nghiệp cách mạng ở Việt Nam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3</dc:title>
  <dc:creator>Windows User</dc:creator>
  <cp:lastModifiedBy>Nhật Hoài</cp:lastModifiedBy>
  <cp:revision>167</cp:revision>
  <dcterms:created xsi:type="dcterms:W3CDTF">2021-01-18T06:14:00Z</dcterms:created>
  <dcterms:modified xsi:type="dcterms:W3CDTF">2026-01-03T05:43:11Z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BA1256227FFA4BCF96176360259DAE3B_13</vt:lpwstr>
  </property>
  <property fmtid="{D5CDD505-2E9C-101B-9397-08002B2CF9AE}" pid="3" name="KSOProductBuildVer">
    <vt:lpwstr>1033-12.2.0.23196</vt:lpwstr>
  </property>
</Properties>
</file>